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欢迎来到第六课。今天我们要综合旧命令、学习三个新工具，再完成一朵能展示、能署名的小红花。右侧的大仙老师已经准备好，左下角的文件名就是今天要保存的作品。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今天的一百二十分钟分成四关：十题热身、新命令实验、选择挑战和作品工坊。选择挑战后先保存，再休息十分钟；最后每个人都要运行作品、说明修改并完成离堂复盘。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上排是三个学习目标：综合旧命令、认识新命令、完成小红花。下排是两项可观察表现：一次只改一处并马上运行，以及正确保存、清楚展示。通关时要同时做到能运行、结构完整和会解释修改。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热身前先把旧命令放进五个工具盒：移动转向、循环次数、坐标回家、颜色填充、背景与圆。接下来的十道题都从这五盒里来；每题先口答，再点击揭晓，答错就马上完整修正。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6课_阶段测评与复盘_阳光积木实验室_202609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74d61e61c593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7ec0d2362240f6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f12c5c504abb70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db1435b9835fba.png"/>
  <Relationship Id="rId3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010150" y="-12382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4876800"/>
            <a:ext cx="3238500" cy="3238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4095750" cy="552450"/>
            <a:chOff x="590550" y="495300"/>
            <a:chExt cx="4095750" cy="552450"/>
          </a:xfrm>
        </p:grpSpPr>
        <p:sp>
          <p:nvSpPr>
            <p:cNvPr id="4" name="Rectangle 4"/>
            <p:cNvSpPr/>
            <p:nvPr/>
          </p:nvSpPr>
          <p:spPr>
            <a:xfrm>
              <a:off x="590550" y="495300"/>
              <a:ext cx="409575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" y="6191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704850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2906" y="643890"/>
              <a:ext cx="292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神奇海龟小画家 · 第 06 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6086094" cy="1770316"/>
            <a:chOff x="571500" y="1644968"/>
            <a:chExt cx="6086094" cy="177031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41372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阶段测评与复盘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222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把学过的命令拼成一朵会旋转的小红花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63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复习旧命令、学习新工具、运行验证，把代码拼成作品。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3638550"/>
            <a:ext cx="1847850" cy="723900"/>
            <a:chOff x="590550" y="3638550"/>
            <a:chExt cx="1847850" cy="72390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3668" y="3889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3650" y="3752850"/>
            <a:ext cx="1847850" cy="723900"/>
            <a:chOff x="2533650" y="3752850"/>
            <a:chExt cx="1847850" cy="723900"/>
          </a:xfrm>
        </p:grpSpPr>
        <p:sp>
          <p:nvSpPr>
            <p:cNvPr id="17" name="Rectangle 17"/>
            <p:cNvSpPr/>
            <p:nvPr/>
          </p:nvSpPr>
          <p:spPr>
            <a:xfrm>
              <a:off x="2533650" y="37528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5575" y="39909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6768" y="40033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学新命令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750" y="3638550"/>
            <a:ext cx="1847850" cy="723900"/>
            <a:chOff x="4476750" y="3638550"/>
            <a:chExt cx="1847850" cy="723900"/>
          </a:xfrm>
        </p:grpSpPr>
        <p:sp>
          <p:nvSpPr>
            <p:cNvPr id="21" name="Rectangle 21"/>
            <p:cNvSpPr/>
            <p:nvPr/>
          </p:nvSpPr>
          <p:spPr>
            <a:xfrm>
              <a:off x="44767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386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9868" y="38890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做小红花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762500"/>
            <a:ext cx="6096000" cy="1333500"/>
            <a:chOff x="590550" y="4762500"/>
            <a:chExt cx="60960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590550" y="4762500"/>
              <a:ext cx="6096000" cy="13335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9434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225" y="49434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66825" y="49434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5219700"/>
              <a:ext cx="5791200" cy="723900"/>
            </a:xfrm>
            <a:prstGeom prst="roundRect">
              <a:avLst>
                <a:gd name="adj" fmla="val 26316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4606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76850" y="5334000"/>
              <a:ext cx="1066800" cy="476250"/>
            </a:xfrm>
            <a:prstGeom prst="roundRect">
              <a:avLst>
                <a:gd name="adj" fmla="val 36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09260" y="547687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24700" y="838200"/>
            <a:ext cx="4552950" cy="5524500"/>
            <a:chOff x="7124700" y="838200"/>
            <a:chExt cx="45529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7124700" y="838200"/>
              <a:ext cx="4552950" cy="5524500"/>
            </a:xfrm>
            <a:prstGeom prst="roundRect">
              <a:avLst>
                <a:gd name="adj" fmla="val 112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48550" y="1104900"/>
              <a:ext cx="3448050" cy="1009650"/>
            </a:xfrm>
            <a:prstGeom prst="roundRect">
              <a:avLst>
                <a:gd name="adj" fmla="val 28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800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876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一起把命令拼成作品！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639300" y="5295900"/>
              <a:ext cx="18478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71500" y="978218"/>
            <a:ext cx="5378196" cy="1084516"/>
            <a:chOff x="571500" y="978218"/>
            <a:chExt cx="5378196" cy="1084516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9782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106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一百二十分钟，四关挑战，每一关都要动手验证。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819400"/>
            <a:ext cx="2476500" cy="1238250"/>
            <a:chOff x="685800" y="2819400"/>
            <a:chExt cx="247650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9337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8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十题热身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973" y="34628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十二分钟 · 唤醒旧命令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973" y="37104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先口答，再揭晓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0" y="3067050"/>
            <a:ext cx="2476500" cy="1238250"/>
            <a:chOff x="3467100" y="3067050"/>
            <a:chExt cx="2476500" cy="1238250"/>
          </a:xfrm>
        </p:grpSpPr>
        <p:sp>
          <p:nvSpPr>
            <p:cNvPr id="13" name="Rectangle 13"/>
            <p:cNvSpPr/>
            <p:nvPr/>
          </p:nvSpPr>
          <p:spPr>
            <a:xfrm>
              <a:off x="3467100" y="306705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3181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31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5656" y="3272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新命令实验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2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四十三分钟 · 显隐海龟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设置标题 · 花瓣实验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819400"/>
            <a:ext cx="2476500" cy="1238250"/>
            <a:chOff x="6248400" y="2819400"/>
            <a:chExt cx="2476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29337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44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69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573" y="34628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十分钟 · 八道题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573" y="3710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先想，再点击揭晓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29700" y="3067050"/>
            <a:ext cx="2667000" cy="1238250"/>
            <a:chOff x="9029700" y="3067050"/>
            <a:chExt cx="2667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3067050"/>
              <a:ext cx="26670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31813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257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68256" y="3272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作品工坊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8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四十五分钟 · 运行修改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87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完成展示与复盘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81350" y="3333750"/>
            <a:ext cx="5829300" cy="266700"/>
            <a:chOff x="3181350" y="3333750"/>
            <a:chExt cx="5829300" cy="266700"/>
          </a:xfrm>
        </p:grpSpPr>
        <p:sp>
          <p:nvSpPr>
            <p:cNvPr id="34" name="Freeform 34"/>
            <p:cNvSpPr/>
            <p:nvPr/>
          </p:nvSpPr>
          <p:spPr>
            <a:xfrm>
              <a:off x="31813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626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cubicBezTo>
                    <a:pt x="152400" y="266700"/>
                    <a:pt x="152400" y="0"/>
                    <a:pt x="266700" y="0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439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29700" y="4629150"/>
            <a:ext cx="2667000" cy="571500"/>
            <a:chOff x="9029700" y="4629150"/>
            <a:chExt cx="2667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9029700" y="4629150"/>
              <a:ext cx="2667000" cy="5715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4579" y="48277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今天做到：可署名小红花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4953000"/>
            <a:ext cx="7810500" cy="1066800"/>
            <a:chOff x="685800" y="4953000"/>
            <a:chExt cx="7810500" cy="10668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53000"/>
              <a:ext cx="7810500" cy="1066800"/>
            </a:xfrm>
            <a:prstGeom prst="roundRect">
              <a:avLst>
                <a:gd name="adj" fmla="val 26786"/>
              </a:avLst>
            </a:prstGeom>
            <a:solidFill>
              <a:srgbClr val="FFFFFF">
                <a:alpha val="94000"/>
              </a:srgbClr>
            </a:solidFill>
            <a:ln w="19050">
              <a:solidFill>
                <a:srgbClr val="FFD9A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6300" y="5143500"/>
              <a:ext cx="495300" cy="4953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7590" y="527304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4480" y="517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4861" y="5523071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选择挑战后先保存文件，再休息十分钟；每次修改只动一处，马上运行验证。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127" y="541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今天要带走什么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看得见的五项通关能力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1120" y="5972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三项目标 · 两项表现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移动 · 转向 · 循环 · 坐标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+mn-lt"/>
                  <a:ea typeface="+mn-ea"/>
                  <a:cs typeface="+mn-cs"/>
                </a:rPr>
                <a:t>颜色、填充和圆也能组合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认识新命令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661" y="218932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A6B80"/>
                  </a:solidFill>
                  <a:latin typeface="Consolas"/>
                  <a:ea typeface="Consolas"/>
                  <a:cs typeface="Consolas"/>
                </a:rPr>
                <a:t>showturtle() · hideturtle()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screen.title()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完成小红花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花瓣 · 花心 · 花茎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+mn-lt"/>
                  <a:ea typeface="+mn-ea"/>
                  <a:cs typeface="+mn-cs"/>
                </a:rPr>
                <a:t>能运行，也能说明修改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会小步测试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一次只改一处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2980" y="5362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A45"/>
                  </a:solidFill>
                  <a:latin typeface="+mn-lt"/>
                  <a:ea typeface="+mn-ea"/>
                  <a:cs typeface="+mn-cs"/>
                </a:rPr>
                <a:t>改完马上运行验证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会保存与展示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作品有名字，作者有说明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通关标准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能运行：没有报错；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有结构：花瓣、花心、花茎；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会解释：说清自己改了哪里。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5769" y="567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十题热身赛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五盒旧积木，马上开始抢答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1989" y="5972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第一站 · 十二分钟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移动与转向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让海龟走起来、转起来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forward() · left()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循环与次数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把同一组动作重复执行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for · range()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坐标与回家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去指定位置或回到原点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Consolas"/>
                  <a:ea typeface="Consolas"/>
                  <a:cs typeface="Consolas"/>
                </a:rPr>
                <a:t>goto() · home()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颜色与填充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给线条和封闭图形上色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color() · begin_fill()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设置舞台，再画出圆形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bgcolor() · circle()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热身玩法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先口答，再点击揭晓；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答错不扣分，马上完整修正；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十颗星，十次唤醒记忆。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先想，再亮答案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3041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快不是唯一目标，能说出“为什么”才算过关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课前复习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8555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听清题目，先自己想 3 秒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338508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用口答 / 手势 / 小白板亮答案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点击揭晓：答案和解释一起出现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答错不扣分，马上用完整句子修正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1–2 · 起步命令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1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导入海龟模块怎么写？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import turtle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530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先导入 turtle 模块，后面才能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使用海龟命令。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2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向前走用什么命令？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forward()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92455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forward() 让当前海龟沿朝向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前进。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3–4 · 重复动作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3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重复动作使用什么结构？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 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把同一组动作重复执行。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4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循环次数写在哪里？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097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range() 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range() 决定循环执行多少次。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5–6 · 位置导航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P08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5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移动到指定坐标用什么？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976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goto() 或 setpos()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57607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goto()/setpos() 都能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把海龟移动到指定坐标。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6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回到中心用什么？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home()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让海龟回到中心位置。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1720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7–8 · 颜色与填充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7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设置线条颜色用什么？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22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pencolor() 或 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63296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专管线条；colo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也能设置颜色。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8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开始和结束填充是哪两个命令？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2453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begin_fill() / end_fill()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开始与结束必须成对包住要填充的图形。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14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9–10 · 背景与圆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9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设置背景色用什么？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070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Screen().bgcolor()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2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背景属于图形窗口 Screen。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27157" y="1661160"/>
            <a:ext cx="623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10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画圆常用什么命令？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842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circle()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22758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是 Turtle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常用的画圆命令。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51823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驱动问题：怎样综合使用海龟命令，为同学画一朵会旋转的彩色花？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53730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最终成果：可展示、可署名的“小红花”单元作品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287891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+ 颜色 + 填充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54959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花心与花茎：dot + 方向 + 粗线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48276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最后：隐藏海龟、保存并向同伴说出修改点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做完，还要能讲出来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先看清成功标准，再开始写代码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7700" y="190500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79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能运行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基础版能够完整运行，没有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因为拼写或缩进中断。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1005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21005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400550" y="19050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5076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347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够完整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856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作品包含花瓣、花心、花茎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三个部分。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9629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9629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153400" y="19050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036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63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说得清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414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能指出自己修改的一处内容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，并解释变化。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5010150"/>
            <a:ext cx="10972800" cy="800100"/>
          </a:xfrm>
          <a:prstGeom prst="roundRect">
            <a:avLst>
              <a:gd name="adj" fmla="val 28571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811306" y="5292090"/>
            <a:ext cx="62645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通关口令：先跑通基础版 → 再只改 1–2 项 → 最后展示说明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② 新命令小实验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9761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每讲一个命令，马上运行一次；不要连续听讲不验证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35312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showturtle()：让小海龟上场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459989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hideturtle()：作品完成后让小海龟退场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screen.title()：给图形窗口起名字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小步测试：只改一处，再运行一次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把命令放回四盒彩卡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想不起来命令时，先问：我现在要做哪一类动作？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723900" y="184785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316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283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880" y="2466975"/>
            <a:ext cx="20143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forward() · left()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7695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43650" y="184785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291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258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5630" y="24669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for · range()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23900" y="394335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9316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83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位置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880" y="4562475"/>
            <a:ext cx="33470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goto() · home() · setheading()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7695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43650" y="394335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1291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4258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装饰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5630" y="4562475"/>
            <a:ext cx="2902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color() · fill · bgcolor()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490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小海龟：上场 / 退场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显示方便观察，完成后隐藏让作品更整洁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2419350" y="2076450"/>
            <a:ext cx="1704975" cy="1847850"/>
            <a:chOff x="2419350" y="2076450"/>
            <a:chExt cx="1704975" cy="1847850"/>
          </a:xfrm>
        </p:grpSpPr>
        <p:sp>
          <p:nvSpPr>
            <p:cNvPr id="12" name="Line 12"/>
            <p:cNvSpPr/>
            <p:nvPr/>
          </p:nvSpPr>
          <p:spPr>
            <a:xfrm>
              <a:off x="314325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81940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2194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2194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1940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4193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4193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1465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895725" y="2839818"/>
              <a:ext cx="228600" cy="197973"/>
            </a:xfrm>
            <a:custGeom>
              <a:avLst/>
              <a:gdLst/>
              <a:ahLst/>
              <a:cxnLst/>
              <a:rect l="l" t="t" r="r" b="b"/>
              <a:pathLst>
                <a:path w="228600" h="197973">
                  <a:moveTo>
                    <a:pt x="114300" y="0"/>
                  </a:moveTo>
                  <a:lnTo>
                    <a:pt x="0" y="197973"/>
                  </a:lnTo>
                  <a:lnTo>
                    <a:pt x="228600" y="197973"/>
                  </a:lnTo>
                  <a:close/>
                </a:path>
              </a:pathLst>
            </a:custGeom>
            <a:solidFill>
              <a:srgbClr val="22C55E"/>
            </a:solidFill>
            <a:ln w="19050">
              <a:solidFill>
                <a:srgbClr val="168A43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04417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t.showturtle()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79560" y="42605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显示小海龟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008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8343900" y="2076450"/>
            <a:ext cx="1447800" cy="1847850"/>
            <a:chOff x="8343900" y="2076450"/>
            <a:chExt cx="1447800" cy="1847850"/>
          </a:xfrm>
        </p:grpSpPr>
        <p:sp>
          <p:nvSpPr>
            <p:cNvPr id="25" name="Line 25"/>
            <p:cNvSpPr/>
            <p:nvPr/>
          </p:nvSpPr>
          <p:spPr>
            <a:xfrm>
              <a:off x="906780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74395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1440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440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74395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3439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3439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83920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796872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43775" y="42767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隐藏图标，但不会删除已经画好的图形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海龟显隐实验站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88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让海龟上场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6" name="Rectangle 16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53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让海龟退场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9" name="Rectangle 19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1" name="Rectangle 21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54882" y="1886902"/>
            <a:ext cx="20178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lesson06_turtle_visibility.py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6" name="Rectangle 26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2" name="Rectangle 3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8" name="Rectangle 3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1" name="Rectangle 4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4" name="Rectangle 4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7" name="Rectangle 47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02888" y="54506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运行中：切换海龟状态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0" name="Rectangle 50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实验完成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8220" y="2495550"/>
            <a:ext cx="859155" cy="1255395"/>
            <a:chOff x="8618220" y="2495550"/>
            <a:chExt cx="859155" cy="1255395"/>
          </a:xfrm>
        </p:grpSpPr>
        <p:grpSp>
          <p:nvGrpSpPr>
            <p:cNvPr id="65" name="Group 65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372600" y="2743200"/>
                <a:ext cx="38100" cy="38100"/>
              </a:xfrm>
              <a:prstGeom prst="ellipse">
                <a:avLst/>
              </a:prstGeom>
              <a:solidFill>
                <a:srgbClr val="17243A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618220" y="3457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海龟可见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17255" y="2495550"/>
            <a:ext cx="1024890" cy="1255395"/>
            <a:chOff x="8517255" y="2495550"/>
            <a:chExt cx="1024890" cy="1255395"/>
          </a:xfrm>
        </p:grpSpPr>
        <p:grpSp>
          <p:nvGrpSpPr>
            <p:cNvPr id="74" name="Group 74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68" name="Ellipse 6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517255" y="3457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海龟已隐藏</a:t>
              </a:r>
            </a:p>
          </p:txBody>
        </p:sp>
      </p:grpSp>
      <p:sp>
        <p:nvSpPr>
          <p:cNvPr id="77" name="Rectangle 7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79" name="TextBox 7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81" name="TextBox 8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运行中：切换海龟状态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3" name="TextBox 8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显示完成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5" name="TextBox 8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隐藏完成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88" name="Rectangle 8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0" name="Rectangle 9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301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screen.title() 给画展挂牌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标题写在图形窗口顶部，不会画进画布内部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00200"/>
            <a:ext cx="5619750" cy="3429000"/>
          </a:xfrm>
          <a:prstGeom prst="roundRect">
            <a:avLst>
              <a:gd name="adj" fmla="val 7778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66750" y="18097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57250" y="18097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" y="18097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61993" y="18107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942" y="21212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turtle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942" y="2406968"/>
            <a:ext cx="2420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2692718"/>
            <a:ext cx="25216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C7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942" y="297846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6002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819900" y="2095500"/>
            <a:ext cx="4572000" cy="2343150"/>
          </a:xfrm>
          <a:prstGeom prst="roundRect">
            <a:avLst>
              <a:gd name="adj" fmla="val 8130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819900" y="2095500"/>
            <a:ext cx="4572000" cy="400050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44700" y="22164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小红花画展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6115" y="3017044"/>
            <a:ext cx="193957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Turtle 图形窗口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19950" y="4629150"/>
            <a:ext cx="37719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88224" y="47663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只改双引号里的文字，就能换标题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窗口标题实验站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6347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716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7" name="Rectangle 37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2853214"/>
              <a:ext cx="2563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screen.title("我的海龟作品")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screen.title("送你一朵花")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2" name="Rectangle 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5" name="Rectangle 5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8" name="Rectangle 5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1" name="Rectangle 6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66590" y="5450681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正在设置窗口标题……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4" name="Rectangle 6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标题设置完成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70" name="TextBox 70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2" name="Rectangle 72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8" name="Rectangle 78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29447" y="20897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84" name="Rectangle 84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sp>
        <p:nvSpPr>
          <p:cNvPr id="90" name="Rectangle 9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92" name="TextBox 9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61023" y="5082064"/>
            <a:ext cx="1581008" cy="249364"/>
            <a:chOff x="6661023" y="5082064"/>
            <a:chExt cx="1581008" cy="249364"/>
          </a:xfrm>
        </p:grpSpPr>
        <p:sp>
          <p:nvSpPr>
            <p:cNvPr id="94" name="TextBox 94"/>
            <p:cNvSpPr txBox="1"/>
            <p:nvPr/>
          </p:nvSpPr>
          <p:spPr>
            <a:xfrm>
              <a:off x="6661023" y="50820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正在设置窗口标题……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96" name="TextBox 96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窗口标题：小红花画展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661594" y="5094208"/>
            <a:ext cx="1729562" cy="227362"/>
            <a:chOff x="6661594" y="5094208"/>
            <a:chExt cx="1729562" cy="227362"/>
          </a:xfrm>
        </p:grpSpPr>
        <p:sp>
          <p:nvSpPr>
            <p:cNvPr id="98" name="TextBox 98"/>
            <p:cNvSpPr txBox="1"/>
            <p:nvPr/>
          </p:nvSpPr>
          <p:spPr>
            <a:xfrm>
              <a:off x="6661594" y="5094208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窗口标题：我的海龟作品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100" name="TextBox 100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窗口标题：送你一朵花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3" name="Rectangle 10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5" name="Rectangle 10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7" name="Rectangle 10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6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8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9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0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2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0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5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4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0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一次只改一处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安全修改四步法：小步修改，更容易发现哪一步出了问题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测试与修改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运行基础版：先确认原程序能跑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只改一处：颜色、数字或标题选一项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43215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再次运行：马上观察变化是否符合预期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确认后保存：再进入下一次修改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4035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A · 用循环画花瓣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3" name="Rectangle 3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6" name="Rectangle 3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9" name="Rectangle 3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61767" y="545068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绘制中：6 次循环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2" name="Rectangle 4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12541" y="545068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6 片花瓣完成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57" name="Group 5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1408694" cy="249364"/>
            <a:chOff x="6661023" y="5082064"/>
            <a:chExt cx="1408694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绘制中：6 次循环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2" name="Rectangle 7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花瓣颜色实验站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18663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橙色版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3318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紫色版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55" name="Rectangle 55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"purple")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3" name="Rectangle 7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40994" y="5450681"/>
              <a:ext cx="1842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绘制中：次数 6 / 角度 60°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82" name="Rectangle 8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花瓣完成</a:t>
              </a:r>
            </a:p>
          </p:txBody>
        </p:sp>
      </p:grpSp>
      <p:sp>
        <p:nvSpPr>
          <p:cNvPr id="85" name="Rectangle 8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9" name="Group 8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97" name="Group 9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0" name="Ellipse 9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4" name="Ellipse 9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6" name="Ellipse 9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07" name="Group 107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06" name="Group 106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9" name="Ellipse 99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108" name="Ellipse 108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244415" cy="249364"/>
            <a:chOff x="6661023" y="5082064"/>
            <a:chExt cx="2244415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绘制中：次数 6 / 角度 60°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6片橙色圆形花瓣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6片紫色圆形花瓣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2" name="Rectangle 1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4" name="Rectangle 14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7" name="Group 14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6" name="Rectangle 1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6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2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2" fill="hold">
                      <p:stCondLst>
                        <p:cond delay="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4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5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5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7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2" fill="hold">
                      <p:stCondLst>
                        <p:cond delay="0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7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7" fill="hold">
                      <p:stCondLst>
                        <p:cond delay="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8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9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2" fill="hold">
                      <p:stCondLst>
                        <p:cond delay="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3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5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2" fill="hold">
                      <p:stCondLst>
                        <p:cond delay="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5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6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2" fill="hold">
                      <p:stCondLst>
                        <p:cond delay="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6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9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9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7" fill="hold">
                      <p:stCondLst>
                        <p:cond delay="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1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2" fill="hold">
                      <p:stCondLst>
                        <p:cond delay="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2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7" fill="hold">
                      <p:stCondLst>
                        <p:cond delay="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2" fill="hold">
                      <p:stCondLst>
                        <p:cond delay="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7" fill="hold">
                      <p:stCondLst>
                        <p:cond delay="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4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2" fill="hold">
                      <p:stCondLst>
                        <p:cond delay="0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9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7" fill="hold">
                      <p:stCondLst>
                        <p:cond delay="0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③ 八题选择挑战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2278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A/B/C/D，再点击揭晓；错题马上回到代码验证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2291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1–2：显示还是隐藏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3–4：窗口标题与花瓣转角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5–6：作品整洁与向下方向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4736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7–8：安全修改方法与本课目标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797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1–2 · 显示还是隐藏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第1题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隐藏画完后的海龟可用？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06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900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forward()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6332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input()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531923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解析：hideturtle() 只隐藏海龟图标，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已经画好的图形会保留。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第2题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重新显示海龟可用？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title()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31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end_fill()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goto()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31465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解析：showturtle() 用来重新显示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海龟图标。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3–4 · 标题与转角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第3题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给窗口设置名称可用？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2536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08991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t.forward()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676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range()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type()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37368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解析：screen.title("…") 用来修改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绘图窗口标题。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第4题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31613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6片花瓣围一圈，每次可左转？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30度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45度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60度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4695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120度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19636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解析：一圈 360° ÷ 6 片花瓣，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每次应转 60°。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5–6 · 整洁与方向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第5题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画完作品后隐藏海龟的好处是？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画面更整洁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删除作品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速度更慢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不能保存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429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解析：隐藏海龟能让最终作品更干净，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也不会遮住图形。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第6题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花茎向下可把方向设为？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107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2024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90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180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270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210105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解析：turtle 中 270° 指向下方，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适合画向下的花茎。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7–8 · 方法与目标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第7题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测试作品更安全的修改方法是？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一次改十处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每次改一处再运行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不运行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删除全部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18605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解析：一次只改一处再运行，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最容易发现是哪一步出错。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第8题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本课最重要的目标是？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背所有单词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综合命令完成作品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写最长代码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使用网络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解析：本课目标是综合多个命令，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完成一幅可展示的小红花作品。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861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保存好，再休息 10 分钟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文件名只用英文、数字和下划线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课间保存站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14450" y="1619250"/>
            <a:ext cx="9563100" cy="342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695450" y="2171700"/>
            <a:ext cx="1371600" cy="1371600"/>
          </a:xfrm>
          <a:prstGeom prst="ellipse">
            <a:avLst/>
          </a:prstGeom>
          <a:solidFill>
            <a:schemeClr val="lt2"/>
          </a:solidFill>
          <a:ln w="28575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2889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489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8740" y="3699986"/>
            <a:ext cx="92502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Ctrl +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3979" y="4110514"/>
            <a:ext cx="14345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保存当前 .py 文件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171700"/>
            <a:ext cx="1371600" cy="1371600"/>
          </a:xfrm>
          <a:prstGeom prst="ellipse">
            <a:avLst/>
          </a:prstGeom>
          <a:solidFill>
            <a:srgbClr val="FFF2DC"/>
          </a:solidFill>
          <a:ln w="28575">
            <a:solidFill>
              <a:schemeClr val="accent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4170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9764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5489" y="3699986"/>
            <a:ext cx="135702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休息 10 分钟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4425" y="41105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活动眼睛和手指</a:t>
            </a:r>
          </a:p>
        </p:txBody>
      </p:sp>
      <p:sp>
        <p:nvSpPr>
          <p:cNvPr id="22" name="Ellipse 22"/>
          <p:cNvSpPr/>
          <p:nvPr/>
        </p:nvSpPr>
        <p:spPr>
          <a:xfrm>
            <a:off x="7600950" y="2171700"/>
            <a:ext cx="1371600" cy="1371600"/>
          </a:xfrm>
          <a:prstGeom prst="ellipse">
            <a:avLst/>
          </a:prstGeom>
          <a:solidFill>
            <a:srgbClr val="E9FBEF"/>
          </a:solidFill>
          <a:ln w="2857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944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7637" y="2948940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9121" y="369998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回来先运行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4862" y="4110514"/>
            <a:ext cx="15637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确认已有代码仍正常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71950" y="5257800"/>
            <a:ext cx="38481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963281" y="5378768"/>
            <a:ext cx="22654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217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B · 花心 + 花茎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72510" y="1203960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标准长度 140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2" name="Rectangle 3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5" name="Rectangle 35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8" name="Rectangle 3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20828" y="5450681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运行中：花心 → 方向 → 花茎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1" name="Rectangle 4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29050" y="5450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花心和花茎完成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57" name="Group 57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2304725" cy="249364"/>
            <a:chOff x="6661023" y="5082064"/>
            <a:chExt cx="2304725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运行中：花心 → 方向 → 花茎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71" name="TextBox 71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4" name="Rectangle 7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花茎长度实验站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P29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821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 · 100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1965" y="1203960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 · 140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5726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 · 180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2" name="Rectangle 4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53" name="Rectangle 5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t.forward(180)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4" name="Rectangle 6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3" name="Rectangle 7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510197" y="5450681"/>
              <a:ext cx="210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运行中：只比较 forward 参数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长度对比完成</a:t>
              </a:r>
            </a:p>
          </p:txBody>
        </p:sp>
      </p:grpSp>
      <p:sp>
        <p:nvSpPr>
          <p:cNvPr id="82" name="Rectangle 8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4" name="Rectangle 8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492490" y="1874520"/>
            <a:ext cx="1112520" cy="1363980"/>
            <a:chOff x="8492490" y="1874520"/>
            <a:chExt cx="1112520" cy="1363980"/>
          </a:xfrm>
        </p:grpSpPr>
        <p:grpSp>
          <p:nvGrpSpPr>
            <p:cNvPr id="95" name="Group 95"/>
            <p:cNvGrpSpPr/>
            <p:nvPr/>
          </p:nvGrpSpPr>
          <p:grpSpPr>
            <a:xfrm>
              <a:off x="8492490" y="1874520"/>
              <a:ext cx="1112520" cy="1363980"/>
              <a:chOff x="8492490" y="1874520"/>
              <a:chExt cx="1112520" cy="136398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9048750" y="26289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06" name="Group 106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105" name="Group 105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97" name="Ellipse 9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04" name="Line 104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492490" y="1874520"/>
            <a:ext cx="1112520" cy="1973580"/>
            <a:chOff x="8492490" y="1874520"/>
            <a:chExt cx="1112520" cy="197358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492490" y="1874520"/>
              <a:ext cx="1112520" cy="1973580"/>
              <a:chOff x="8492490" y="1874520"/>
              <a:chExt cx="1112520" cy="1973580"/>
            </a:xfrm>
          </p:grpSpPr>
          <p:sp>
            <p:nvSpPr>
              <p:cNvPr id="107" name="Ellipse 10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8" name="Ellipse 10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9048750" y="26289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416729" cy="249364"/>
            <a:chOff x="6661023" y="5082064"/>
            <a:chExt cx="2416729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运行中：只比较 forward 参数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绿色花茎：100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41" name="TextBox 141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43" name="TextBox 143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绿色花茎：180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45" name="TextBox 145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8" name="Rectangle 14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1" name="Group 1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0" name="Rectangle 1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3" name="Group 1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2" name="Rectangle 1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9" fill="hold">
                      <p:stCondLst>
                        <p:cond delay="0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4" fill="hold">
                      <p:stCondLst>
                        <p:cond delay="0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4" fill="hold">
                      <p:stCondLst>
                        <p:cond delay="0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4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4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9" fill="hold">
                      <p:stCondLst>
                        <p:cond delay="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5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6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4" fill="hold">
                      <p:stCondLst>
                        <p:cond delay="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6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>
                      <p:stCondLst>
                        <p:cond delay="0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0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9" fill="hold">
                      <p:stCondLst>
                        <p:cond delay="0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2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4" fill="hold">
                      <p:stCondLst>
                        <p:cond delay="0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3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4" fill="hold">
                      <p:stCondLst>
                        <p:cond delay="0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3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6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4" fill="hold">
                      <p:stCondLst>
                        <p:cond delay="0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6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9" fill="hold">
                      <p:stCondLst>
                        <p:cond delay="0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8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9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4" fill="hold">
                      <p:stCondLst>
                        <p:cond delay="0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9" fill="hold">
                      <p:stCondLst>
                        <p:cond delay="0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9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4" fill="hold">
                      <p:stCondLst>
                        <p:cond delay="0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4" fill="hold">
                      <p:stCondLst>
                        <p:cond delay="0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9" fill="hold">
                      <p:stCondLst>
                        <p:cond delay="0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6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9" fill="hold">
                      <p:stCondLst>
                        <p:cond delay="0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4" fill="hold">
                      <p:stCondLst>
                        <p:cond delay="0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1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9" fill="hold">
                      <p:stCondLst>
                        <p:cond delay="0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6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9" fill="hold">
                      <p:stCondLst>
                        <p:cond delay="0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4" fill="hold">
                      <p:stCondLst>
                        <p:cond delay="0"/>
                      </p:stCondLst>
                      <p:childTnLst>
                        <p:par>
                          <p:cTn id="8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1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4" fill="hold">
                      <p:stCondLst>
                        <p:cond delay="0"/>
                      </p:stCondLst>
                      <p:childTnLst>
                        <p:par>
                          <p:cTn id="8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6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9" fill="hold">
                      <p:stCondLst>
                        <p:cond delay="0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>
                      <p:stCondLst>
                        <p:cond delay="0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4" fill="hold">
                      <p:stCondLst>
                        <p:cond delay="0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>
                      <p:stCondLst>
                        <p:cond delay="0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9" fill="hold">
                      <p:stCondLst>
                        <p:cond delay="0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171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④ 微项目 · 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不从空白重写：把已经跑通的代码积木逐段装起来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26384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窗口：title + bgcolor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284095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6 次完成填充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36002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花心花茎：dot + 270° + 粗绿线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9165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完成：hideturtle() → 保存 → 展示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长代码，也是一块块拼起来的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出错时不要从头删：回到对应区块逐段检查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77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窗口设置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704" y="2118360"/>
            <a:ext cx="2151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704" y="2375535"/>
            <a:ext cx="2241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04" y="263271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screen.bgcolor("lightblue")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1634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② 创建海龟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8254" y="2118360"/>
            <a:ext cx="1707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 = turtle.Turtle()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8254" y="237553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t.speed(0)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34300" y="1524000"/>
            <a:ext cx="4000500" cy="1809750"/>
          </a:xfrm>
          <a:prstGeom prst="roundRect">
            <a:avLst>
              <a:gd name="adj" fmla="val 13684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548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③ 花瓣循环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6804" y="21183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t.color("red","pink")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6804" y="23755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for petal in range(6):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6804" y="26327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... circle(45) 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6804" y="288988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t.left(60)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6004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7799" y="3792379"/>
            <a:ext cx="131347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④ 花心 + 花茎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04" y="41948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t.dot(45,"yellow")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9704" y="4451985"/>
            <a:ext cx="15226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t.setheading(270)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704" y="470916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t.forward(140)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00750" y="3600450"/>
            <a:ext cx="573405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221349" y="3792379"/>
            <a:ext cx="6312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⑤ 收尾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23254" y="419481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23254" y="44519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小红花作品实验站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0413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暖色花瓣版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0872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自定义标题版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194124" y="1886902"/>
            <a:ext cx="1678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52" name="Rectangle 5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8188" y="3186827"/>
              <a:ext cx="16798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73" name="Rectangle 7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8188" y="2607707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screen.title("小昆的小红花")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4" name="Rectangle 9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7" name="Rectangle 9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0" name="Rectangle 10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3" name="Rectangle 10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6" name="Rectangle 10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576726" y="54506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运行中：按代码区块逐步完成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9" name="Rectangle 10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79824" y="5450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作品完成！</a:t>
              </a:r>
            </a:p>
          </p:txBody>
        </p:sp>
      </p:grpSp>
      <p:sp>
        <p:nvSpPr>
          <p:cNvPr id="112" name="Rectangle 11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116" name="Group 11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115" name="TextBox 11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25" name="Group 125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17" name="Ellipse 117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8" name="Ellipse 118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36" name="Group 136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28" name="Ellipse 128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0" name="Ellipse 130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2" name="Ellipse 132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4" name="Ellipse 134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47" name="Group 147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39" name="Ellipse 139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6" name="Line 146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8558022" y="3604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小昆的小红花</a:t>
              </a:r>
            </a:p>
          </p:txBody>
        </p:sp>
      </p:grpSp>
      <p:sp>
        <p:nvSpPr>
          <p:cNvPr id="150" name="Rectangle 15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51" name="TextBox 15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52" name="TextBox 15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6661023" y="5082064"/>
            <a:ext cx="2253031" cy="249364"/>
            <a:chOff x="6661023" y="5082064"/>
            <a:chExt cx="2253031" cy="249364"/>
          </a:xfrm>
        </p:grpSpPr>
        <p:sp>
          <p:nvSpPr>
            <p:cNvPr id="154" name="TextBox 154"/>
            <p:cNvSpPr txBox="1"/>
            <p:nvPr/>
          </p:nvSpPr>
          <p:spPr>
            <a:xfrm>
              <a:off x="6661023" y="5082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运行中：按代码区块逐步完成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56" name="TextBox 15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58" name="TextBox 15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60" name="TextBox 16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62" name="TextBox 16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64" name="TextBox 16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66" name="TextBox 16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68" name="TextBox 16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6片橙色花瓣完成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70" name="TextBox 17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72" name="TextBox 17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74" name="TextBox 17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661594" y="5094208"/>
            <a:ext cx="1417244" cy="227362"/>
            <a:chOff x="6661594" y="5094208"/>
            <a:chExt cx="1417244" cy="227362"/>
          </a:xfrm>
        </p:grpSpPr>
        <p:sp>
          <p:nvSpPr>
            <p:cNvPr id="176" name="TextBox 176"/>
            <p:cNvSpPr txBox="1"/>
            <p:nvPr/>
          </p:nvSpPr>
          <p:spPr>
            <a:xfrm>
              <a:off x="6661594" y="5094208"/>
              <a:ext cx="141724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标题：小昆的小红花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78" name="TextBox 17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80" name="TextBox 18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82" name="TextBox 18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84" name="TextBox 18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sp>
        <p:nvSpPr>
          <p:cNvPr id="186" name="TextBox 18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88" name="Group 18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7" name="Rectangle 18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9" name="Rectangle 18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2" name="Group 19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91" name="Rectangle 19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1" fill="hold">
                      <p:stCondLst>
                        <p:cond delay="0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6" fill="hold">
                      <p:stCondLst>
                        <p:cond delay="0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6" fill="hold">
                      <p:stCondLst>
                        <p:cond delay="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6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6" fill="hold">
                      <p:stCondLst>
                        <p:cond delay="0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6" fill="hold">
                      <p:stCondLst>
                        <p:cond delay="0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1" fill="hold">
                      <p:stCondLst>
                        <p:cond delay="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6" fill="hold">
                      <p:stCondLst>
                        <p:cond delay="0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>
                      <p:stCondLst>
                        <p:cond delay="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>
                      <p:stCondLst>
                        <p:cond delay="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1" fill="hold">
                      <p:stCondLst>
                        <p:cond delay="0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6" fill="hold">
                      <p:stCondLst>
                        <p:cond delay="0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6" fill="hold">
                      <p:stCondLst>
                        <p:cond delay="0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6" fill="hold">
                      <p:stCondLst>
                        <p:cond delay="0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5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1" fill="hold">
                      <p:stCondLst>
                        <p:cond delay="0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6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1" fill="hold">
                      <p:stCondLst>
                        <p:cond delay="0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6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6" fill="hold">
                      <p:stCondLst>
                        <p:cond delay="0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7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6" fill="hold">
                      <p:stCondLst>
                        <p:cond delay="0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8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1" fill="hold">
                      <p:stCondLst>
                        <p:cond delay="0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9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6" fill="hold">
                      <p:stCondLst>
                        <p:cond delay="0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0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6" fill="hold">
                      <p:stCondLst>
                        <p:cond delay="0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1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1" fill="hold">
                      <p:stCondLst>
                        <p:cond delay="0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2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1" fill="hold">
                      <p:stCondLst>
                        <p:cond delay="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2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3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6" fill="hold">
                      <p:stCondLst>
                        <p:cond delay="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4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1" fill="hold">
                      <p:stCondLst>
                        <p:cond delay="0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5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1" fill="hold">
                      <p:stCondLst>
                        <p:cond delay="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6" fill="hold">
                      <p:stCondLst>
                        <p:cond delay="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6" fill="hold">
                      <p:stCondLst>
                        <p:cond delay="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1" fill="hold">
                      <p:stCondLst>
                        <p:cond delay="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1" fill="hold">
                      <p:stCondLst>
                        <p:cond delay="0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6" fill="hold">
                      <p:stCondLst>
                        <p:cond delay="0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6" fill="hold">
                      <p:stCondLst>
                        <p:cond delay="0"/>
                      </p:stCondLst>
                      <p:childTnLst>
                        <p:par>
                          <p:cTn id="9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1" fill="hold">
                      <p:stCondLst>
                        <p:cond delay="0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6" fill="hold">
                      <p:stCondLst>
                        <p:cond delay="0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6" fill="hold">
                      <p:stCondLst>
                        <p:cond delay="0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8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1" fill="hold">
                      <p:stCondLst>
                        <p:cond delay="0"/>
                      </p:stCondLst>
                      <p:childTnLst>
                        <p:par>
                          <p:cTn id="9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6" fill="hold">
                      <p:stCondLst>
                        <p:cond delay="0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3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6" fill="hold">
                      <p:stCondLst>
                        <p:cond delay="0"/>
                      </p:stCondLst>
                      <p:childTnLst>
                        <p:par>
                          <p:cTn id="9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8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1" fill="hold">
                      <p:stCondLst>
                        <p:cond delay="0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6" fill="hold">
                      <p:stCondLst>
                        <p:cond delay="0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3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6" fill="hold">
                      <p:stCondLst>
                        <p:cond delay="0"/>
                      </p:stCondLst>
                      <p:childTnLst>
                        <p:par>
                          <p:cTn id="9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1" fill="hold">
                      <p:stCondLst>
                        <p:cond delay="0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8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6" fill="hold">
                      <p:stCondLst>
                        <p:cond delay="0"/>
                      </p:stCondLst>
                      <p:childTnLst>
                        <p:par>
                          <p:cTn id="10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3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6" fill="hold">
                      <p:stCondLst>
                        <p:cond delay="0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1" fill="hold">
                      <p:stCondLst>
                        <p:cond delay="0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3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6" fill="hold">
                      <p:stCondLst>
                        <p:cond delay="0"/>
                      </p:stCondLst>
                      <p:childTnLst>
                        <p:par>
                          <p:cTn id="10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从基础版走到个人作品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4592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每一步完成后再走下一步；不要一次改很多处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项目实施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305607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用命令分类卡完成单元复习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分别运行花瓣、花心花茎两个小程序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30916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组合基础版并完成第一次测试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311934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只修改 1–2 项形成个人作品</a:t>
            </a:r>
          </a:p>
        </p:txBody>
      </p:sp>
      <p:sp>
        <p:nvSpPr>
          <p:cNvPr id="34" name="Ellipse 34"/>
          <p:cNvSpPr/>
          <p:nvPr/>
        </p:nvSpPr>
        <p:spPr>
          <a:xfrm>
            <a:off x="790575" y="50101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3892" y="51582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2075" y="51125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举行桌面画展：说出“我用了……命令”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画展开始：检查，再分享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每人只提一条具体、友善、能行动的建议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作品验收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47800"/>
            <a:ext cx="5143500" cy="876300"/>
          </a:xfrm>
          <a:prstGeom prst="roundRect">
            <a:avLst>
              <a:gd name="adj" fmla="val 26087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69545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199" y="1792129"/>
            <a:ext cx="19302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基础版能够完整运行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" y="257175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199" y="2916079"/>
            <a:ext cx="223126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 / 花心 / 花茎齐全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369570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685800" y="394335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199" y="404002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能指出自己修改的一处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19800" y="1447800"/>
            <a:ext cx="5715000" cy="3124200"/>
          </a:xfrm>
          <a:prstGeom prst="roundRect">
            <a:avLst>
              <a:gd name="adj" fmla="val 9146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72606" y="17297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展示句式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30518" y="224123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我的作品是……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0518" y="2755582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我使用了……命令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0518" y="3269932"/>
            <a:ext cx="11495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我修改了……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0518" y="378428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下一次我想……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10350" y="4895850"/>
            <a:ext cx="4476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16757" y="5033010"/>
            <a:ext cx="26639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建议只说一条：具体 + 友善 + 能行动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卡住时，先查这三处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先检查最可能的原因，不要删掉全部重来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海龟修理站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858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175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问题 1</a:t>
            </a:r>
          </a:p>
        </p:txBody>
      </p:sp>
      <p:sp>
        <p:nvSpPr>
          <p:cNvPr id="15" name="Ellipse 15"/>
          <p:cNvSpPr/>
          <p:nvPr/>
        </p:nvSpPr>
        <p:spPr>
          <a:xfrm>
            <a:off x="1533525" y="2095500"/>
            <a:ext cx="1371600" cy="137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19275" y="2693305"/>
            <a:ext cx="800100" cy="259445"/>
          </a:xfrm>
          <a:custGeom>
            <a:avLst/>
            <a:gdLst/>
            <a:ahLst/>
            <a:cxnLst/>
            <a:rect l="l" t="t" r="r" b="b"/>
            <a:pathLst>
              <a:path w="800100" h="259445">
                <a:moveTo>
                  <a:pt x="0" y="259445"/>
                </a:moveTo>
                <a:cubicBezTo>
                  <a:pt x="70500" y="101624"/>
                  <a:pt x="227198" y="0"/>
                  <a:pt x="400050" y="0"/>
                </a:cubicBezTo>
                <a:cubicBezTo>
                  <a:pt x="572902" y="0"/>
                  <a:pt x="729600" y="101624"/>
                  <a:pt x="800100" y="259445"/>
                </a:cubicBezTo>
              </a:path>
            </a:pathLst>
          </a:custGeom>
          <a:noFill/>
          <a:ln w="76200" cap="rnd">
            <a:solidFill>
              <a:schemeClr val="accent1"/>
            </a:solidFill>
          </a:ln>
        </p:spPr>
      </p:sp>
      <p:sp>
        <p:nvSpPr>
          <p:cNvPr id="17" name="Line 17"/>
          <p:cNvSpPr/>
          <p:nvPr/>
        </p:nvSpPr>
        <p:spPr>
          <a:xfrm>
            <a:off x="2219325" y="264795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>
                <a:moveTo>
                  <a:pt x="0" y="304800"/>
                </a:moveTo>
                <a:lnTo>
                  <a:pt x="285750" y="0"/>
                </a:lnTo>
              </a:path>
            </a:pathLst>
          </a:custGeom>
          <a:noFill/>
          <a:ln w="66675" cap="rnd">
            <a:solidFill>
              <a:schemeClr val="accent1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2143125" y="287655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40917" y="352044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花瓣重复填充很慢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092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" y="4076700"/>
            <a:ext cx="1466850" cy="419100"/>
            <a:chOff x="685800" y="4076700"/>
            <a:chExt cx="1466850" cy="419100"/>
          </a:xfrm>
        </p:grpSpPr>
        <p:sp>
          <p:nvSpPr>
            <p:cNvPr id="22" name="Rectangle 22"/>
            <p:cNvSpPr/>
            <p:nvPr/>
          </p:nvSpPr>
          <p:spPr>
            <a:xfrm>
              <a:off x="6858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4686300"/>
            <a:ext cx="3067050" cy="914400"/>
            <a:chOff x="685800" y="4686300"/>
            <a:chExt cx="3067050" cy="914400"/>
          </a:xfrm>
        </p:grpSpPr>
        <p:sp>
          <p:nvSpPr>
            <p:cNvPr id="24" name="Rectangle 24"/>
            <p:cNvSpPr/>
            <p:nvPr/>
          </p:nvSpPr>
          <p:spPr>
            <a:xfrm>
              <a:off x="6858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120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15351" y="5253514"/>
              <a:ext cx="120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 speed(0)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421005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21005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43865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77042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 2</a:t>
            </a:r>
          </a:p>
        </p:txBody>
      </p:sp>
      <p:sp>
        <p:nvSpPr>
          <p:cNvPr id="32" name="Ellipse 32"/>
          <p:cNvSpPr/>
          <p:nvPr/>
        </p:nvSpPr>
        <p:spPr>
          <a:xfrm>
            <a:off x="5286375" y="2095500"/>
            <a:ext cx="1371600" cy="13716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5572125" y="2381250"/>
            <a:ext cx="800100" cy="8001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2"/>
            </a:solidFill>
          </a:ln>
        </p:spPr>
      </p:sp>
      <p:sp>
        <p:nvSpPr>
          <p:cNvPr id="34" name="Line 34"/>
          <p:cNvSpPr/>
          <p:nvPr/>
        </p:nvSpPr>
        <p:spPr>
          <a:xfrm>
            <a:off x="5972175" y="2476500"/>
            <a:ext cx="9525" cy="523875"/>
          </a:xfrm>
          <a:custGeom>
            <a:avLst/>
            <a:gdLst/>
            <a:ahLst/>
            <a:cxnLst/>
            <a:rect l="l" t="t" r="r" b="b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5838825" y="2924175"/>
            <a:ext cx="266700" cy="180975"/>
          </a:xfrm>
          <a:custGeom>
            <a:avLst/>
            <a:gdLst/>
            <a:ahLst/>
            <a:cxnLst/>
            <a:rect l="l" t="t" r="r" b="b"/>
            <a:pathLst>
              <a:path w="266700" h="180975">
                <a:moveTo>
                  <a:pt x="0" y="0"/>
                </a:moveTo>
                <a:lnTo>
                  <a:pt x="266700" y="0"/>
                </a:lnTo>
                <a:lnTo>
                  <a:pt x="133350" y="180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23608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花茎方向错误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43865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76211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438650" y="4076700"/>
            <a:ext cx="1466850" cy="419100"/>
            <a:chOff x="4438650" y="4076700"/>
            <a:chExt cx="1466850" cy="419100"/>
          </a:xfrm>
        </p:grpSpPr>
        <p:sp>
          <p:nvSpPr>
            <p:cNvPr id="39" name="Rectangle 39"/>
            <p:cNvSpPr/>
            <p:nvPr/>
          </p:nvSpPr>
          <p:spPr>
            <a:xfrm>
              <a:off x="443865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4438650" y="4686300"/>
            <a:ext cx="3067050" cy="914400"/>
            <a:chOff x="4438650" y="4686300"/>
            <a:chExt cx="3067050" cy="914400"/>
          </a:xfrm>
        </p:grpSpPr>
        <p:sp>
          <p:nvSpPr>
            <p:cNvPr id="41" name="Rectangle 41"/>
            <p:cNvSpPr/>
            <p:nvPr/>
          </p:nvSpPr>
          <p:spPr>
            <a:xfrm>
              <a:off x="443865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491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42528" y="5253514"/>
              <a:ext cx="185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 setheading(270)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9629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629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1915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5232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问题 3</a:t>
            </a:r>
          </a:p>
        </p:txBody>
      </p:sp>
      <p:sp>
        <p:nvSpPr>
          <p:cNvPr id="49" name="Ellipse 49"/>
          <p:cNvSpPr/>
          <p:nvPr/>
        </p:nvSpPr>
        <p:spPr>
          <a:xfrm>
            <a:off x="9039225" y="2095500"/>
            <a:ext cx="1371600" cy="13716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305925" y="2533650"/>
            <a:ext cx="8382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9201150" y="2762250"/>
            <a:ext cx="104775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9382125" y="2990850"/>
            <a:ext cx="6858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98893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作品代码较长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1915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5149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191500" y="4076700"/>
            <a:ext cx="1466850" cy="419100"/>
            <a:chOff x="8191500" y="4076700"/>
            <a:chExt cx="1466850" cy="419100"/>
          </a:xfrm>
        </p:grpSpPr>
        <p:sp>
          <p:nvSpPr>
            <p:cNvPr id="56" name="Rectangle 56"/>
            <p:cNvSpPr/>
            <p:nvPr/>
          </p:nvSpPr>
          <p:spPr>
            <a:xfrm>
              <a:off x="81915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8191500" y="4686300"/>
            <a:ext cx="3067050" cy="914400"/>
            <a:chOff x="8191500" y="4686300"/>
            <a:chExt cx="3067050" cy="914400"/>
          </a:xfrm>
        </p:grpSpPr>
        <p:sp>
          <p:nvSpPr>
            <p:cNvPr id="58" name="Rectangle 58"/>
            <p:cNvSpPr/>
            <p:nvPr/>
          </p:nvSpPr>
          <p:spPr>
            <a:xfrm>
              <a:off x="81915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177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6980" y="52535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回到半成品，逐段运行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今天，我把旧积木拼成了新作品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1934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用 3 句话收好今天的学习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离堂小结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6953250" cy="409575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828800"/>
            <a:ext cx="533400" cy="53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6573" y="200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9225" y="196929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我会用的 1 个命令是……</a:t>
            </a:r>
          </a:p>
        </p:txBody>
      </p:sp>
      <p:sp>
        <p:nvSpPr>
          <p:cNvPr id="15" name="Ellipse 15"/>
          <p:cNvSpPr/>
          <p:nvPr/>
        </p:nvSpPr>
        <p:spPr>
          <a:xfrm>
            <a:off x="685800" y="2876550"/>
            <a:ext cx="533400" cy="533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6573" y="3057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225" y="301704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我完成的 1 个作品是……</a:t>
            </a:r>
          </a:p>
        </p:txBody>
      </p:sp>
      <p:sp>
        <p:nvSpPr>
          <p:cNvPr id="18" name="Ellipse 18"/>
          <p:cNvSpPr/>
          <p:nvPr/>
        </p:nvSpPr>
        <p:spPr>
          <a:xfrm>
            <a:off x="685800" y="3924300"/>
            <a:ext cx="533400" cy="5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6573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225" y="4064794"/>
            <a:ext cx="28422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我下次遇到报错先检查……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10500" y="1428750"/>
            <a:ext cx="3924300" cy="4095750"/>
          </a:xfrm>
          <a:prstGeom prst="roundRect">
            <a:avLst>
              <a:gd name="adj" fmla="val 8252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903970" y="2107882"/>
            <a:ext cx="1737360" cy="2666524"/>
            <a:chOff x="8903970" y="2107882"/>
            <a:chExt cx="1737360" cy="2666524"/>
          </a:xfrm>
        </p:grpSpPr>
        <p:sp>
          <p:nvSpPr>
            <p:cNvPr id="22" name="Ellipse 22"/>
            <p:cNvSpPr/>
            <p:nvPr/>
          </p:nvSpPr>
          <p:spPr>
            <a:xfrm>
              <a:off x="9367838" y="210788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831705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831705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67838" y="317849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03970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03970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534525" y="2809875"/>
              <a:ext cx="476250" cy="4762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772650" y="3286125"/>
              <a:ext cx="9525" cy="1488281"/>
            </a:xfrm>
            <a:custGeom>
              <a:avLst/>
              <a:gdLst/>
              <a:ahLst/>
              <a:cxnLst/>
              <a:rect l="l" t="t" r="r" b="b"/>
              <a:pathLst>
                <a:path w="9525" h="1488281">
                  <a:moveTo>
                    <a:pt x="0" y="0"/>
                  </a:moveTo>
                  <a:lnTo>
                    <a:pt x="0" y="1488281"/>
                  </a:lnTo>
                </a:path>
              </a:pathLst>
            </a:custGeom>
            <a:noFill/>
            <a:ln w="95250" cap="rnd">
              <a:solidFill>
                <a:srgbClr val="22C55E"/>
              </a:solidFill>
            </a:ln>
          </p:spPr>
        </p:sp>
      </p:grpSp>
      <p:sp>
        <p:nvSpPr>
          <p:cNvPr id="31" name="Rectangle 31"/>
          <p:cNvSpPr/>
          <p:nvPr/>
        </p:nvSpPr>
        <p:spPr>
          <a:xfrm>
            <a:off x="8382000" y="481012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58366" y="4955381"/>
            <a:ext cx="22285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保存 lesson06_red_flower.py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2026-09-05T18:42:46Z</dcterms:created>
  <dcterms:modified xsi:type="dcterms:W3CDTF">2026-09-05T18:42:46Z</dcterms:modified>
  <cp:category/>
  <cp:contentStatus/>
</cp:coreProperties>
</file>