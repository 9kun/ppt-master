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欢迎来到第六课。今天我们把前五课学过的海龟命令重新叫醒，再把它们拼成一朵能展示、能署名的小红花。先观察画面，说出你还记得哪些移动、转向、颜色和循环命令。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今天的课堂用一百二十分钟完成四段旅程：十题热身、新命令实验、选择挑战和作品工坊。中间会安排保存与休息；最后每个人都要运行作品、说明修改并完成离堂复盘。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第一类目标是复习移动、转向、循环、坐标、颜色与填充。第二类目标是学会显示或隐藏海龟，并给窗口设置标题。第三类目标是按照测试、修改、展示的顺序，保存为 lesson06_red_flower.py。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热身赛共有十题，每题先口答，再点击揭晓。答错不是失败，关键是马上说清为什么；十颗星代表十次唤醒记忆的机会。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先独立思考，再举手或用手势作答，最后点击答案。回答时不只报命令名称，还要说出它完成什么任务；发现错误就立即修正。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第一题回忆怎样导入海龟模块，正确写法是 import turtle。第二题回忆怎样让海龟向前移动，常用命令是 forward。请先回答，再分别点击右侧区域核对。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第三题考查重复结构，for 循环可以让一组动作反复执行。第四题考查次数来源，range 生成循环所需的序列。请说明 range 括号里的数字怎样影响重复次数。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第五题回忆 goto 或 setpos，它们能把海龟送到指定坐标。第六题是 home，它会让海龟回到原点并恢复默认方向。揭晓后，请比较“去指定地点”和“回家”的区别。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第七题回忆 pencolor 或 color，它们控制线条和填充颜色。第八题是一对命令 begin_fill 与 end_fill，只有把要填充的封闭图形包在中间，颜色才会填进去。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第九题用 Screen().bgcolor 设置窗口背景。第十题用 circle 绘制圆形，也是本课花瓣和花心的重要基础。完成两题后，把十个旧工具和即将开始的小红花项目连接起来。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驱动问题是怎样综合海龟命令，画出一朵会旋转的彩色花。作品要有花瓣、花心和花茎，还要能够运行和展示；作者需要指出自己改过的一处并解释理由。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成功作品首先必须稳定运行，其次结构完整，最后能够说清修改。今天不比谁改得最多，而是比谁能用小步测试保证每一次修改都有依据。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这一站学习三个新工具：让海龟出现、让海龟退场、给窗口起名字。它们帮助作品更整洁、更会自我介绍，也更方便我们观察和调试。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把旧命令分成四盒：移动、重复、位置和装饰。分类不是为了背表格，而是遇到任务时能快速找到合适的积木。请为每一盒举出一个已经用过的命令。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showturtle 会让海龟光标出现，适合观察绘制过程。hideturtle 会让光标隐藏，适合展示最终作品。两条命令只改变光标是否可见，不会擦掉已经画好的图形。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先选择“显示海龟”或“隐藏海龟”，左侧代码会切换到对应命令。点击运行后，状态先变成运行中，终端再逐字输出结果，完成后显示成功提示。可以反复切换任务和运行，比较 show 与 hide 的效果。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先创建窗口对象 screen，再调用 screen.title。标题文字必须放在引号里；不要写成 t.title，因为 t 是画笔海龟，而 screen 才是窗口。点击后观察标题效果。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顶部三个任务会切换不同的窗口标题代码。每次选择后再点击运行，终端逐字显示本次标题，旧输出会重置。请观察只有引号中的文字变化，调用结构保持不变。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安全调试分四步：先运行基础版，只改一处，再次运行，确认后保存。这样一旦出现问题，就能迅速定位是哪一处修改造成的。最后点击理解为什么不能同时改很多地方。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一片花瓣可以用圆形动作得到，循环六次就形成六片花瓣。每完成一片左转六十度，六次正好转完三百六十度。先预测把 range 改成八会发生什么，再运行验证。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选择红花、橙花或紫花，观察代码中只有颜色参数改变。点击对应运行按钮后，终端按步骤逐行出现，并在最后显示相应花朵预览。代码、输出与预览必须彼此一致。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接下来用八道选择题检查理解。每题先举手或用手势选择，再点击揭晓；绿色表示正确，粉色提示易错点，解析要回答为什么。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第一题正确答案是 hideturtle，用于隐藏海龟。第二题正确答案是 showturtle，用于显示海龟。可以用 hide 和 show 的英文含义帮助记忆。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窗口标题通过 screen.title 设置。六瓣花把一圈平均分成六份，所以每次转六十度。请口头说出三百六十除以六的计算关系。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作品完成后隐藏海龟会让画面更整洁。二百七十度表示向下，适合画花茎；可以用身体转向复习零度向右、九十度向上和一百八十度向左。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改一处后马上运行，是最安全的调试方法。本课目标是综合命令完成作品，而不是追求代码最长。把“小步测试”和“综合应用”两个关键词连起来理解。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休息前先保存当前的 Python 文件，确认文件名和位置。离开屏幕、望远处放松眼睛；回来后打开同一个文件继续，不要另建空白程序。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先独立补全花心和花茎，再点击核对。关键命令依次包括 dot、setheading、pensize、pencolor 和 forward。黄色圆点是花心，二百七十度让花茎向下，forward 的数值决定花茎长度。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依次选择短、标准和长三种花茎。每次只修改 forward 的数字，再点击运行比较结果；终端逐行说明设置方向、绘制花茎和完成。请用参数变化解释画面变化。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现在把花瓣、花心和花茎装配成完整作品。可以从背景、花瓣颜色、花茎长度或窗口标题中选择一到两项修改，但每次只改一处并立即测试。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完整程序按创建窗口、画花瓣、画花心、画花茎、隐藏海龟和保持窗口的顺序执行。阅读代码时先找大段职责，再看每段里的参数，不要从第一行一直猜到最后一行。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基础版、暖阳版和紫霞版分别采用不同的背景、花瓣颜色与花茎长度。先切换任务，再点击对应运行按钮；终端按创建窗口、花瓣、花心、花茎和完成的顺序逐行出现，最后显示作品预览。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完成作品要依次做到运行基础版、选择一处修改、再次运行、隐藏海龟并设置标题、最后保存。请跟着点击顺序逐步完成，不要跳过再次运行这一关。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展示时用四句话介绍：我的作品是，我使用了，我修改了，下一次我想。听众只给一条具体建议，重点检查能否运行、结构是否完整，以及作者能否解释修改。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程序太慢时检查 speed 是否设为零；花茎方向不对时检查 setheading 是否为二百七十；花茎过长时只调整 forward。遇到问题先定位参数，再做一次小改动并重新运行。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今天的关键词是综合：把旧命令和三个新工具组合成可署名的小红花。我们还带走了只改一处、马上运行的小步测试方法。下次遇到错误，依次检查拼写、符号和缩进。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ython应用课_第06课_阶段测评与复盘_阳光积木实验室_2026090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ython应用课_第06课_阶段测评与复盘_阳光积木实验室_2026090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5c82ce685dcb2bf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47ec0d2362240f6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496862aa57274b1.png"/>
  <Relationship Id="rId3" Type="http://schemas.openxmlformats.org/officeDocument/2006/relationships/image" Target="../media/image_cb374d61e61c593f.pn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fdfbb805ccb1684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fdfbb805ccb1684.pn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105650" y="304800"/>
            <a:ext cx="4629150" cy="6252401"/>
            <a:chOff x="7105650" y="304800"/>
            <a:chExt cx="4629150" cy="6252401"/>
          </a:xfrm>
        </p:grpSpPr>
        <p:sp>
          <p:nvSpPr>
            <p:cNvPr id="2" name="Rectangle 2"/>
            <p:cNvSpPr/>
            <p:nvPr/>
          </p:nvSpPr>
          <p:spPr>
            <a:xfrm>
              <a:off x="7105650" y="304800"/>
              <a:ext cx="4629150" cy="6248400"/>
            </a:xfrm>
            <a:prstGeom prst="roundRect">
              <a:avLst>
                <a:gd name="adj" fmla="val 9877"/>
              </a:avLst>
            </a:prstGeom>
            <a:solidFill>
              <a:srgbClr val="FFF3D6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40813" y="304800"/>
              <a:ext cx="4158824" cy="62484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10229850" y="6191250"/>
              <a:ext cx="1504950" cy="3619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25940" y="6293168"/>
              <a:ext cx="1112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120 分钟闯关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23850" y="266700"/>
            <a:ext cx="1123950" cy="657225"/>
            <a:chOff x="323850" y="266700"/>
            <a:chExt cx="1123950" cy="657225"/>
          </a:xfrm>
        </p:grpSpPr>
        <p:sp>
          <p:nvSpPr>
            <p:cNvPr id="7" name="Rectangle 7"/>
            <p:cNvSpPr/>
            <p:nvPr/>
          </p:nvSpPr>
          <p:spPr>
            <a:xfrm>
              <a:off x="323850" y="266700"/>
              <a:ext cx="876300" cy="2667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90600" y="457200"/>
              <a:ext cx="457200" cy="457200"/>
            </a:xfrm>
            <a:prstGeom prst="roundRect">
              <a:avLst>
                <a:gd name="adj" fmla="val 29167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85775" y="676275"/>
              <a:ext cx="247650" cy="2476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23821" y="1066800"/>
            <a:ext cx="2829009" cy="457200"/>
            <a:chOff x="423821" y="1066800"/>
            <a:chExt cx="2829009" cy="457200"/>
          </a:xfrm>
        </p:grpSpPr>
        <p:sp>
          <p:nvSpPr>
            <p:cNvPr id="11" name="Rectangle 11"/>
            <p:cNvSpPr/>
            <p:nvPr/>
          </p:nvSpPr>
          <p:spPr>
            <a:xfrm>
              <a:off x="647700" y="1066800"/>
              <a:ext cx="2381250" cy="457200"/>
            </a:xfrm>
            <a:prstGeom prst="roundRect">
              <a:avLst>
                <a:gd name="adj" fmla="val 50000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23821" y="1193482"/>
              <a:ext cx="28290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Segoe UI"/>
                  <a:ea typeface="Microsoft YaHei"/>
                  <a:cs typeface="Segoe UI"/>
                </a:rPr>
                <a:t>PYTHON 应用课 · 第 06 课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8650" y="1905952"/>
            <a:ext cx="5410200" cy="2557082"/>
            <a:chOff x="628650" y="1905952"/>
            <a:chExt cx="5410200" cy="2557082"/>
          </a:xfrm>
        </p:grpSpPr>
        <p:sp>
          <p:nvSpPr>
            <p:cNvPr id="14" name="TextBox 14"/>
            <p:cNvSpPr txBox="1"/>
            <p:nvPr/>
          </p:nvSpPr>
          <p:spPr>
            <a:xfrm>
              <a:off x="628650" y="1905952"/>
              <a:ext cx="221894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阶段测评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8650" y="2591752"/>
              <a:ext cx="1673733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与复盘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47700" y="3352800"/>
              <a:ext cx="5391150" cy="66675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7700" y="3352800"/>
              <a:ext cx="1790700" cy="66675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6270" y="3633788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6FA5"/>
                  </a:solidFill>
                  <a:latin typeface="Segoe UI"/>
                  <a:ea typeface="Microsoft YaHei"/>
                  <a:cs typeface="Segoe UI"/>
                </a:rPr>
                <a:t>神奇海龟小画家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8556" y="411099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把学过的命令，拼成一朵会旋转的彩色花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7700" y="4819650"/>
            <a:ext cx="5753100" cy="1123950"/>
            <a:chOff x="647700" y="4819650"/>
            <a:chExt cx="5753100" cy="1123950"/>
          </a:xfrm>
        </p:grpSpPr>
        <p:sp>
          <p:nvSpPr>
            <p:cNvPr id="21" name="Rectangle 21"/>
            <p:cNvSpPr/>
            <p:nvPr/>
          </p:nvSpPr>
          <p:spPr>
            <a:xfrm>
              <a:off x="647700" y="4819650"/>
              <a:ext cx="5753100" cy="1123950"/>
            </a:xfrm>
            <a:prstGeom prst="roundRect">
              <a:avLst>
                <a:gd name="adj" fmla="val 25424"/>
              </a:avLst>
            </a:prstGeom>
            <a:solidFill>
              <a:srgbClr val="FFFFFF"/>
            </a:solidFill>
            <a:ln w="19050">
              <a:solidFill>
                <a:srgbClr val="DDEBF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95350" y="5114925"/>
              <a:ext cx="533400" cy="533400"/>
            </a:xfrm>
            <a:prstGeom prst="ellipse">
              <a:avLst/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028700" y="5172075"/>
              <a:ext cx="352425" cy="390525"/>
            </a:xfrm>
            <a:custGeom>
              <a:avLst/>
              <a:gdLst/>
              <a:ahLst/>
              <a:cxnLst/>
              <a:rect l="l" t="t" r="r" b="b"/>
              <a:pathLst>
                <a:path w="352425" h="390525">
                  <a:moveTo>
                    <a:pt x="0" y="219075"/>
                  </a:moveTo>
                  <a:cubicBezTo>
                    <a:pt x="0" y="85725"/>
                    <a:pt x="114300" y="0"/>
                    <a:pt x="228600" y="57150"/>
                  </a:cubicBezTo>
                  <a:cubicBezTo>
                    <a:pt x="352425" y="114300"/>
                    <a:pt x="333375" y="285750"/>
                    <a:pt x="171450" y="390525"/>
                  </a:cubicBezTo>
                  <a:cubicBezTo>
                    <a:pt x="95250" y="342900"/>
                    <a:pt x="0" y="285750"/>
                    <a:pt x="0" y="219075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592580" y="51054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F1C"/>
                  </a:solidFill>
                  <a:latin typeface="Segoe UI"/>
                  <a:ea typeface="Microsoft YaHei"/>
                  <a:cs typeface="Segoe UI"/>
                </a:rPr>
                <a:t>今日终点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89532" y="5383530"/>
              <a:ext cx="40229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完成可展示、可署名的“小红花”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8000"/>
          </a:blip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514350" y="400050"/>
            <a:ext cx="5405042" cy="637985"/>
            <a:chOff x="514350" y="400050"/>
            <a:chExt cx="5405042" cy="637985"/>
          </a:xfrm>
        </p:grpSpPr>
        <p:sp>
          <p:nvSpPr>
            <p:cNvPr id="3" name="Rectangle 3"/>
            <p:cNvSpPr/>
            <p:nvPr/>
          </p:nvSpPr>
          <p:spPr>
            <a:xfrm>
              <a:off x="514350" y="400050"/>
              <a:ext cx="2000250" cy="4572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3387" y="526732"/>
              <a:ext cx="1582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120 分钟路线图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765298" y="421958"/>
              <a:ext cx="31540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今天的 120 分钟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14350" y="1676400"/>
            <a:ext cx="11163300" cy="2895600"/>
            <a:chOff x="514350" y="1676400"/>
            <a:chExt cx="11163300" cy="2895600"/>
          </a:xfrm>
        </p:grpSpPr>
        <p:sp>
          <p:nvSpPr>
            <p:cNvPr id="7" name="Freeform 7"/>
            <p:cNvSpPr/>
            <p:nvPr/>
          </p:nvSpPr>
          <p:spPr>
            <a:xfrm>
              <a:off x="1466850" y="3200400"/>
              <a:ext cx="9182100" cy="9525"/>
            </a:xfrm>
            <a:custGeom>
              <a:avLst/>
              <a:gdLst/>
              <a:ahLst/>
              <a:cxnLst/>
              <a:rect l="l" t="t" r="r" b="b"/>
              <a:pathLst>
                <a:path w="9182100" h="9525">
                  <a:moveTo>
                    <a:pt x="0" y="0"/>
                  </a:moveTo>
                  <a:lnTo>
                    <a:pt x="9182100" y="0"/>
                  </a:lnTo>
                </a:path>
              </a:pathLst>
            </a:custGeom>
            <a:solidFill>
              <a:srgbClr val="000000"/>
            </a:solidFill>
            <a:ln w="133350" cap="rnd">
              <a:solidFill>
                <a:srgbClr val="D9E8F5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14350" y="1676400"/>
              <a:ext cx="2438400" cy="2895600"/>
              <a:chOff x="514350" y="1676400"/>
              <a:chExt cx="2438400" cy="28956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14350" y="1676400"/>
                <a:ext cx="2438400" cy="2895600"/>
              </a:xfrm>
              <a:prstGeom prst="roundRect">
                <a:avLst>
                  <a:gd name="adj" fmla="val 11719"/>
                </a:avLst>
              </a:prstGeom>
              <a:solidFill>
                <a:srgbClr val="FFFFFF"/>
              </a:solidFill>
              <a:ln w="19050">
                <a:solidFill>
                  <a:srgbClr val="CFE5F8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762000" y="1905000"/>
                <a:ext cx="533400" cy="533400"/>
              </a:xfrm>
              <a:prstGeom prst="ellipse">
                <a:avLst/>
              </a:prstGeom>
              <a:solidFill>
                <a:srgbClr val="FF6FA5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46097" y="2064544"/>
                <a:ext cx="1652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8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07720" y="2576512"/>
                <a:ext cx="12344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rgbClr val="33415C"/>
                    </a:solidFill>
                    <a:latin typeface="Segoe UI"/>
                    <a:ea typeface="Microsoft YaHei"/>
                    <a:cs typeface="Segoe UI"/>
                  </a:rPr>
                  <a:t>知识抢答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10768" y="3060382"/>
                <a:ext cx="156051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7085"/>
                    </a:solidFill>
                    <a:latin typeface="Segoe UI"/>
                    <a:ea typeface="Microsoft YaHei"/>
                    <a:cs typeface="Segoe UI"/>
                  </a:rPr>
                  <a:t>10 题 · 12 分钟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11149" y="3659029"/>
                <a:ext cx="12922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33415C"/>
                    </a:solidFill>
                    <a:latin typeface="Segoe UI"/>
                    <a:ea typeface="Microsoft YaHei"/>
                    <a:cs typeface="Segoe UI"/>
                  </a:rPr>
                  <a:t>唤醒基础命令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314700" y="1676400"/>
              <a:ext cx="2438400" cy="2895600"/>
              <a:chOff x="3314700" y="1676400"/>
              <a:chExt cx="2438400" cy="28956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3314700" y="1676400"/>
                <a:ext cx="2438400" cy="2895600"/>
              </a:xfrm>
              <a:prstGeom prst="roundRect">
                <a:avLst>
                  <a:gd name="adj" fmla="val 11719"/>
                </a:avLst>
              </a:prstGeom>
              <a:solidFill>
                <a:srgbClr val="FFFFFF"/>
              </a:solidFill>
              <a:ln w="19050">
                <a:solidFill>
                  <a:srgbClr val="CFE5F8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3562350" y="1905000"/>
                <a:ext cx="533400" cy="533400"/>
              </a:xfrm>
              <a:prstGeom prst="ellipse">
                <a:avLst/>
              </a:pr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746447" y="2064544"/>
                <a:ext cx="1652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8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08070" y="2576512"/>
                <a:ext cx="12344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rgbClr val="33415C"/>
                    </a:solidFill>
                    <a:latin typeface="Segoe UI"/>
                    <a:ea typeface="Microsoft YaHei"/>
                    <a:cs typeface="Segoe UI"/>
                  </a:rPr>
                  <a:t>新知动手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11118" y="3060382"/>
                <a:ext cx="77198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7085"/>
                    </a:solidFill>
                    <a:latin typeface="Segoe UI"/>
                    <a:ea typeface="Microsoft YaHei"/>
                    <a:cs typeface="Segoe UI"/>
                  </a:rPr>
                  <a:t>43 分钟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611499" y="3659029"/>
                <a:ext cx="174950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33415C"/>
                    </a:solidFill>
                    <a:latin typeface="Segoe UI"/>
                    <a:ea typeface="Microsoft YaHei"/>
                    <a:cs typeface="Segoe UI"/>
                  </a:rPr>
                  <a:t>新命令 + 花瓣实验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115050" y="1676400"/>
              <a:ext cx="2438400" cy="2895600"/>
              <a:chOff x="6115050" y="1676400"/>
              <a:chExt cx="2438400" cy="28956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115050" y="1676400"/>
                <a:ext cx="2438400" cy="2895600"/>
              </a:xfrm>
              <a:prstGeom prst="roundRect">
                <a:avLst>
                  <a:gd name="adj" fmla="val 11719"/>
                </a:avLst>
              </a:prstGeom>
              <a:solidFill>
                <a:srgbClr val="FFFFFF"/>
              </a:solidFill>
              <a:ln w="19050">
                <a:solidFill>
                  <a:srgbClr val="CFE5F8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6362700" y="1905000"/>
                <a:ext cx="533400" cy="533400"/>
              </a:xfrm>
              <a:prstGeom prst="ellipse">
                <a:avLst/>
              </a:pr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546797" y="2064544"/>
                <a:ext cx="1652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8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08420" y="2576512"/>
                <a:ext cx="12344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rgbClr val="33415C"/>
                    </a:solidFill>
                    <a:latin typeface="Segoe UI"/>
                    <a:ea typeface="Microsoft YaHei"/>
                    <a:cs typeface="Segoe UI"/>
                  </a:rPr>
                  <a:t>选择挑战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11468" y="3060382"/>
                <a:ext cx="143835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7085"/>
                    </a:solidFill>
                    <a:latin typeface="Segoe UI"/>
                    <a:ea typeface="Microsoft YaHei"/>
                    <a:cs typeface="Segoe UI"/>
                  </a:rPr>
                  <a:t>8 题 · 10 分钟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411849" y="3659029"/>
                <a:ext cx="171759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33415C"/>
                    </a:solidFill>
                    <a:latin typeface="Segoe UI"/>
                    <a:ea typeface="Microsoft YaHei"/>
                    <a:cs typeface="Segoe UI"/>
                  </a:rPr>
                  <a:t>先想，再点击揭晓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915400" y="1676400"/>
              <a:ext cx="2762250" cy="2895600"/>
              <a:chOff x="8915400" y="1676400"/>
              <a:chExt cx="2762250" cy="28956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8915400" y="1676400"/>
                <a:ext cx="2762250" cy="289560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19050">
                <a:solidFill>
                  <a:srgbClr val="CFE5F8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9163050" y="1905000"/>
                <a:ext cx="533400" cy="533400"/>
              </a:xfrm>
              <a:prstGeom prst="ellipse">
                <a:avLst/>
              </a:prstGeom>
              <a:solidFill>
                <a:srgbClr val="65C466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347147" y="2064544"/>
                <a:ext cx="1652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8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208770" y="2576512"/>
                <a:ext cx="12344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rgbClr val="33415C"/>
                    </a:solidFill>
                    <a:latin typeface="Segoe UI"/>
                    <a:ea typeface="Microsoft YaHei"/>
                    <a:cs typeface="Segoe UI"/>
                  </a:rPr>
                  <a:t>作品工坊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211818" y="3060382"/>
                <a:ext cx="77198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7085"/>
                    </a:solidFill>
                    <a:latin typeface="Segoe UI"/>
                    <a:ea typeface="Microsoft YaHei"/>
                    <a:cs typeface="Segoe UI"/>
                  </a:rPr>
                  <a:t>45 分钟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212199" y="3659029"/>
                <a:ext cx="171759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33415C"/>
                    </a:solidFill>
                    <a:latin typeface="Segoe UI"/>
                    <a:ea typeface="Microsoft YaHei"/>
                    <a:cs typeface="Segoe UI"/>
                  </a:rPr>
                  <a:t>运行、修改、展示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3067050" y="5219700"/>
            <a:ext cx="6057900" cy="773239"/>
            <a:chOff x="3067050" y="5219700"/>
            <a:chExt cx="6057900" cy="773239"/>
          </a:xfrm>
        </p:grpSpPr>
        <p:sp>
          <p:nvSpPr>
            <p:cNvPr id="37" name="Rectangle 37"/>
            <p:cNvSpPr/>
            <p:nvPr/>
          </p:nvSpPr>
          <p:spPr>
            <a:xfrm>
              <a:off x="3067050" y="5219700"/>
              <a:ext cx="6057900" cy="762000"/>
            </a:xfrm>
            <a:prstGeom prst="roundRect">
              <a:avLst>
                <a:gd name="adj" fmla="val 35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12256" y="5381625"/>
              <a:ext cx="17674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F1C"/>
                  </a:solidFill>
                  <a:latin typeface="Segoe UI"/>
                  <a:ea typeface="Microsoft YaHei"/>
                  <a:cs typeface="Segoe UI"/>
                </a:rPr>
                <a:t>中场休息 · 10 分钟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16187" y="5670232"/>
              <a:ext cx="35596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选择挑战后先保存 .py，再休息眼睛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6824" y="408622"/>
            <a:ext cx="3286125" cy="674751"/>
            <a:chOff x="496824" y="408622"/>
            <a:chExt cx="3286125" cy="674751"/>
          </a:xfrm>
        </p:grpSpPr>
        <p:sp>
          <p:nvSpPr>
            <p:cNvPr id="2" name="TextBox 2"/>
            <p:cNvSpPr txBox="1"/>
            <p:nvPr/>
          </p:nvSpPr>
          <p:spPr>
            <a:xfrm>
              <a:off x="496824" y="408622"/>
              <a:ext cx="328612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203044"/>
                  </a:solidFill>
                  <a:latin typeface="YouYuan"/>
                  <a:ea typeface="YouYuan"/>
                  <a:cs typeface="YouYuan"/>
                </a:rPr>
                <a:t>今天要带走什么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14350" y="952500"/>
              <a:ext cx="2209800" cy="7620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1428750"/>
            <a:ext cx="3238500" cy="3219450"/>
            <a:chOff x="571500" y="1428750"/>
            <a:chExt cx="3238500" cy="3219450"/>
          </a:xfrm>
        </p:grpSpPr>
        <p:sp>
          <p:nvSpPr>
            <p:cNvPr id="5" name="Rectangle 5"/>
            <p:cNvSpPr/>
            <p:nvPr/>
          </p:nvSpPr>
          <p:spPr>
            <a:xfrm>
              <a:off x="571500" y="1885950"/>
              <a:ext cx="3238500" cy="2762250"/>
            </a:xfrm>
            <a:prstGeom prst="roundRect">
              <a:avLst>
                <a:gd name="adj" fmla="val 1103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04850" y="1428750"/>
              <a:ext cx="838200" cy="838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11874" y="16868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936618" y="244157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70482" y="24974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综合旧命令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6206" y="3101340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移动 · 转向 · 循环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6206" y="3482340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坐标 · 颜色 · 填充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7730" y="40862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把散落的积木重新装回工具箱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76750" y="1143000"/>
            <a:ext cx="3238500" cy="3505200"/>
            <a:chOff x="4476750" y="1143000"/>
            <a:chExt cx="3238500" cy="3505200"/>
          </a:xfrm>
        </p:grpSpPr>
        <p:sp>
          <p:nvSpPr>
            <p:cNvPr id="14" name="Rectangle 14"/>
            <p:cNvSpPr/>
            <p:nvPr/>
          </p:nvSpPr>
          <p:spPr>
            <a:xfrm>
              <a:off x="4476750" y="1600200"/>
              <a:ext cx="3238500" cy="3048000"/>
            </a:xfrm>
            <a:prstGeom prst="roundRect">
              <a:avLst>
                <a:gd name="adj" fmla="val 1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610100" y="1143000"/>
              <a:ext cx="838200" cy="8382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17124" y="140112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4820338" y="2197100"/>
              <a:ext cx="454904" cy="330201"/>
            </a:xfrm>
            <a:custGeom>
              <a:avLst/>
              <a:gdLst/>
              <a:ahLst/>
              <a:cxnLst/>
              <a:rect l="l" t="t" r="r" b="b"/>
              <a:pathLst>
                <a:path w="454904" h="330201">
                  <a:moveTo>
                    <a:pt x="227912" y="0"/>
                  </a:moveTo>
                  <a:cubicBezTo>
                    <a:pt x="316447" y="0"/>
                    <a:pt x="390185" y="50129"/>
                    <a:pt x="448011" y="147641"/>
                  </a:cubicBezTo>
                  <a:lnTo>
                    <a:pt x="452552" y="155463"/>
                  </a:lnTo>
                  <a:lnTo>
                    <a:pt x="453480" y="157526"/>
                  </a:lnTo>
                  <a:lnTo>
                    <a:pt x="454099" y="159239"/>
                  </a:lnTo>
                  <a:lnTo>
                    <a:pt x="454388" y="160374"/>
                  </a:lnTo>
                  <a:lnTo>
                    <a:pt x="454677" y="162067"/>
                  </a:lnTo>
                  <a:lnTo>
                    <a:pt x="454904" y="164130"/>
                  </a:lnTo>
                  <a:lnTo>
                    <a:pt x="454904" y="166400"/>
                  </a:lnTo>
                  <a:lnTo>
                    <a:pt x="454615" y="168691"/>
                  </a:lnTo>
                  <a:cubicBezTo>
                    <a:pt x="454480" y="169457"/>
                    <a:pt x="454301" y="170215"/>
                    <a:pt x="454079" y="170961"/>
                  </a:cubicBezTo>
                  <a:lnTo>
                    <a:pt x="453274" y="173190"/>
                  </a:lnTo>
                  <a:lnTo>
                    <a:pt x="452531" y="174738"/>
                  </a:lnTo>
                  <a:lnTo>
                    <a:pt x="452201" y="175357"/>
                  </a:lnTo>
                  <a:cubicBezTo>
                    <a:pt x="395159" y="275160"/>
                    <a:pt x="322184" y="327662"/>
                    <a:pt x="234372" y="330118"/>
                  </a:cubicBezTo>
                  <a:lnTo>
                    <a:pt x="227912" y="330201"/>
                  </a:lnTo>
                  <a:cubicBezTo>
                    <a:pt x="137189" y="330201"/>
                    <a:pt x="62048" y="277595"/>
                    <a:pt x="3623" y="175336"/>
                  </a:cubicBezTo>
                  <a:cubicBezTo>
                    <a:pt x="0" y="168993"/>
                    <a:pt x="0" y="161207"/>
                    <a:pt x="3623" y="154864"/>
                  </a:cubicBezTo>
                  <a:cubicBezTo>
                    <a:pt x="62048" y="52605"/>
                    <a:pt x="137189" y="0"/>
                    <a:pt x="227912" y="0"/>
                  </a:cubicBezTo>
                  <a:close/>
                  <a:moveTo>
                    <a:pt x="227912" y="103188"/>
                  </a:moveTo>
                  <a:cubicBezTo>
                    <a:pt x="193719" y="103188"/>
                    <a:pt x="165999" y="130907"/>
                    <a:pt x="165999" y="165100"/>
                  </a:cubicBezTo>
                  <a:cubicBezTo>
                    <a:pt x="165999" y="199294"/>
                    <a:pt x="193719" y="227013"/>
                    <a:pt x="227912" y="227013"/>
                  </a:cubicBezTo>
                  <a:cubicBezTo>
                    <a:pt x="262105" y="227013"/>
                    <a:pt x="289825" y="199294"/>
                    <a:pt x="289825" y="165100"/>
                  </a:cubicBezTo>
                  <a:cubicBezTo>
                    <a:pt x="289825" y="130907"/>
                    <a:pt x="262105" y="103188"/>
                    <a:pt x="227912" y="103188"/>
                  </a:cubicBezTo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475732" y="22117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认识新命令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91456" y="2834640"/>
              <a:ext cx="1605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203044"/>
                  </a:solidFill>
                  <a:latin typeface="Arial"/>
                  <a:ea typeface="Arial"/>
                  <a:cs typeface="Arial"/>
                </a:rPr>
                <a:t>showturtle()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1456" y="3215640"/>
              <a:ext cx="1496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203044"/>
                  </a:solidFill>
                  <a:latin typeface="Arial"/>
                  <a:ea typeface="Arial"/>
                  <a:cs typeface="Arial"/>
                </a:rPr>
                <a:t>hideturtle()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91456" y="3596640"/>
              <a:ext cx="17629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203044"/>
                  </a:solidFill>
                  <a:latin typeface="Arial"/>
                  <a:ea typeface="Arial"/>
                  <a:cs typeface="Arial"/>
                </a:rPr>
                <a:t>screen.title()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92980" y="41433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每学一个，马上运行一次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382000" y="1428750"/>
            <a:ext cx="3380613" cy="3219450"/>
            <a:chOff x="8382000" y="1428750"/>
            <a:chExt cx="3380613" cy="3219450"/>
          </a:xfrm>
        </p:grpSpPr>
        <p:sp>
          <p:nvSpPr>
            <p:cNvPr id="24" name="Rectangle 24"/>
            <p:cNvSpPr/>
            <p:nvPr/>
          </p:nvSpPr>
          <p:spPr>
            <a:xfrm>
              <a:off x="8382000" y="1885950"/>
              <a:ext cx="3238500" cy="2762250"/>
            </a:xfrm>
            <a:prstGeom prst="roundRect">
              <a:avLst>
                <a:gd name="adj" fmla="val 1103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515350" y="1428750"/>
              <a:ext cx="838200" cy="8382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22374" y="16868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735470" y="2420938"/>
              <a:ext cx="436069" cy="454026"/>
            </a:xfrm>
            <a:custGeom>
              <a:avLst/>
              <a:gdLst/>
              <a:ahLst/>
              <a:cxnLst/>
              <a:rect l="l" t="t" r="r" b="b"/>
              <a:pathLst>
                <a:path w="436069" h="454026">
                  <a:moveTo>
                    <a:pt x="218031" y="0"/>
                  </a:moveTo>
                  <a:cubicBezTo>
                    <a:pt x="263622" y="0"/>
                    <a:pt x="300581" y="36959"/>
                    <a:pt x="300581" y="82550"/>
                  </a:cubicBezTo>
                  <a:lnTo>
                    <a:pt x="300540" y="83685"/>
                  </a:lnTo>
                  <a:lnTo>
                    <a:pt x="301159" y="83314"/>
                  </a:lnTo>
                  <a:cubicBezTo>
                    <a:pt x="318550" y="73225"/>
                    <a:pt x="339043" y="69883"/>
                    <a:pt x="358738" y="73924"/>
                  </a:cubicBezTo>
                  <a:lnTo>
                    <a:pt x="363629" y="75079"/>
                  </a:lnTo>
                  <a:cubicBezTo>
                    <a:pt x="384683" y="80772"/>
                    <a:pt x="402598" y="94625"/>
                    <a:pt x="413406" y="113568"/>
                  </a:cubicBezTo>
                  <a:cubicBezTo>
                    <a:pt x="436069" y="153004"/>
                    <a:pt x="422658" y="203338"/>
                    <a:pt x="383379" y="226270"/>
                  </a:cubicBezTo>
                  <a:lnTo>
                    <a:pt x="381975" y="227013"/>
                  </a:lnTo>
                  <a:lnTo>
                    <a:pt x="383441" y="227818"/>
                  </a:lnTo>
                  <a:cubicBezTo>
                    <a:pt x="421197" y="249895"/>
                    <a:pt x="435256" y="297540"/>
                    <a:pt x="415532" y="336578"/>
                  </a:cubicBezTo>
                  <a:lnTo>
                    <a:pt x="413448" y="340416"/>
                  </a:lnTo>
                  <a:cubicBezTo>
                    <a:pt x="402634" y="359387"/>
                    <a:pt x="384694" y="373256"/>
                    <a:pt x="363611" y="378944"/>
                  </a:cubicBezTo>
                  <a:cubicBezTo>
                    <a:pt x="342529" y="384632"/>
                    <a:pt x="320047" y="381669"/>
                    <a:pt x="301159" y="370712"/>
                  </a:cubicBezTo>
                  <a:lnTo>
                    <a:pt x="300540" y="370299"/>
                  </a:lnTo>
                  <a:lnTo>
                    <a:pt x="300581" y="371476"/>
                  </a:lnTo>
                  <a:cubicBezTo>
                    <a:pt x="300581" y="415462"/>
                    <a:pt x="266090" y="451723"/>
                    <a:pt x="222158" y="453923"/>
                  </a:cubicBezTo>
                  <a:lnTo>
                    <a:pt x="218031" y="454026"/>
                  </a:lnTo>
                  <a:cubicBezTo>
                    <a:pt x="172440" y="454026"/>
                    <a:pt x="135481" y="417067"/>
                    <a:pt x="135481" y="371476"/>
                  </a:cubicBezTo>
                  <a:lnTo>
                    <a:pt x="135501" y="370320"/>
                  </a:lnTo>
                  <a:lnTo>
                    <a:pt x="134903" y="370712"/>
                  </a:lnTo>
                  <a:cubicBezTo>
                    <a:pt x="117515" y="380808"/>
                    <a:pt x="97022" y="384157"/>
                    <a:pt x="77324" y="380123"/>
                  </a:cubicBezTo>
                  <a:lnTo>
                    <a:pt x="72454" y="378967"/>
                  </a:lnTo>
                  <a:cubicBezTo>
                    <a:pt x="51392" y="373279"/>
                    <a:pt x="33468" y="359426"/>
                    <a:pt x="22655" y="340478"/>
                  </a:cubicBezTo>
                  <a:cubicBezTo>
                    <a:pt x="0" y="301058"/>
                    <a:pt x="13390" y="250743"/>
                    <a:pt x="52642" y="227797"/>
                  </a:cubicBezTo>
                  <a:lnTo>
                    <a:pt x="54086" y="227013"/>
                  </a:lnTo>
                  <a:lnTo>
                    <a:pt x="52621" y="226229"/>
                  </a:lnTo>
                  <a:cubicBezTo>
                    <a:pt x="14865" y="204152"/>
                    <a:pt x="806" y="156506"/>
                    <a:pt x="20530" y="117469"/>
                  </a:cubicBezTo>
                  <a:lnTo>
                    <a:pt x="22593" y="113610"/>
                  </a:lnTo>
                  <a:cubicBezTo>
                    <a:pt x="33408" y="94622"/>
                    <a:pt x="51359" y="80741"/>
                    <a:pt x="72456" y="75052"/>
                  </a:cubicBezTo>
                  <a:cubicBezTo>
                    <a:pt x="93554" y="69363"/>
                    <a:pt x="116050" y="72337"/>
                    <a:pt x="134944" y="83314"/>
                  </a:cubicBezTo>
                  <a:lnTo>
                    <a:pt x="135481" y="83685"/>
                  </a:lnTo>
                  <a:lnTo>
                    <a:pt x="135481" y="82550"/>
                  </a:lnTo>
                  <a:cubicBezTo>
                    <a:pt x="135481" y="38563"/>
                    <a:pt x="169972" y="2303"/>
                    <a:pt x="213903" y="103"/>
                  </a:cubicBezTo>
                  <a:close/>
                  <a:moveTo>
                    <a:pt x="218031" y="165100"/>
                  </a:moveTo>
                  <a:cubicBezTo>
                    <a:pt x="183837" y="165100"/>
                    <a:pt x="156118" y="192819"/>
                    <a:pt x="156118" y="227013"/>
                  </a:cubicBezTo>
                  <a:cubicBezTo>
                    <a:pt x="156118" y="261206"/>
                    <a:pt x="183837" y="288925"/>
                    <a:pt x="218031" y="288925"/>
                  </a:cubicBezTo>
                  <a:cubicBezTo>
                    <a:pt x="252224" y="288925"/>
                    <a:pt x="279943" y="261206"/>
                    <a:pt x="279943" y="227013"/>
                  </a:cubicBezTo>
                  <a:cubicBezTo>
                    <a:pt x="279943" y="192819"/>
                    <a:pt x="252224" y="165100"/>
                    <a:pt x="218031" y="165100"/>
                  </a:cubicBezTo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80982" y="24974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完成小红花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96706" y="3101340"/>
              <a:ext cx="1993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能运行 · 有三部分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96706" y="34823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能说出自己改了哪里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98230" y="4086225"/>
              <a:ext cx="30643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保存为 lesson06_red_flower.py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4500" y="5448300"/>
            <a:ext cx="8763000" cy="685800"/>
            <a:chOff x="1714500" y="5448300"/>
            <a:chExt cx="8763000" cy="685800"/>
          </a:xfrm>
        </p:grpSpPr>
        <p:sp>
          <p:nvSpPr>
            <p:cNvPr id="33" name="Rectangle 33"/>
            <p:cNvSpPr/>
            <p:nvPr/>
          </p:nvSpPr>
          <p:spPr>
            <a:xfrm>
              <a:off x="1714500" y="5448300"/>
              <a:ext cx="8763000" cy="685800"/>
            </a:xfrm>
            <a:prstGeom prst="roundRect">
              <a:avLst>
                <a:gd name="adj" fmla="val 38889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309405" y="5675948"/>
              <a:ext cx="557319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会综合　+　会测试　+　会展示　＝　阶段通关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5">
              <a:alpha val="18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242060"/>
            <a:ext cx="4423410" cy="3050857"/>
            <a:chOff x="571500" y="1242060"/>
            <a:chExt cx="4423410" cy="3050857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242060"/>
              <a:ext cx="2090517" cy="2533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200" b="1" dirty="0">
                  <a:solidFill>
                    <a:srgbClr val="FF9F1C">
                      <a:alphaMod val="18000"/>
                    </a:srgbClr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4850" y="3133725"/>
              <a:ext cx="306705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03044"/>
                  </a:solidFill>
                  <a:latin typeface="YouYuan"/>
                  <a:ea typeface="YouYuan"/>
                  <a:cs typeface="YouYuan"/>
                </a:rPr>
                <a:t>十题热身赛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1520" y="3852862"/>
              <a:ext cx="42633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先口答，再揭晓；答错马上修正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24650" y="1371600"/>
            <a:ext cx="4629150" cy="2476500"/>
            <a:chOff x="6724650" y="1371600"/>
            <a:chExt cx="4629150" cy="2476500"/>
          </a:xfrm>
        </p:grpSpPr>
        <p:sp>
          <p:nvSpPr>
            <p:cNvPr id="8" name="Rectangle 8"/>
            <p:cNvSpPr/>
            <p:nvPr/>
          </p:nvSpPr>
          <p:spPr>
            <a:xfrm>
              <a:off x="6724650" y="1371600"/>
              <a:ext cx="4629150" cy="2476500"/>
            </a:xfrm>
            <a:prstGeom prst="roundRect">
              <a:avLst>
                <a:gd name="adj" fmla="val 14615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134606" y="16916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十颗星，十次唤醒记忆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0034" y="2108835"/>
              <a:ext cx="22809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2E9BFF"/>
                  </a:solidFill>
                  <a:latin typeface="Arial"/>
                  <a:ea typeface="Arial"/>
                  <a:cs typeface="Arial"/>
                </a:rPr>
                <a:t>★ ★ ★ ★ 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0034" y="2604135"/>
              <a:ext cx="22809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9F1C"/>
                  </a:solidFill>
                  <a:latin typeface="Arial"/>
                  <a:ea typeface="Arial"/>
                  <a:cs typeface="Arial"/>
                </a:rPr>
                <a:t>★ ★ ★ ★ 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5368" y="3269932"/>
              <a:ext cx="28710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每题约 40 秒 · 同桌可以互助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58000" y="3905250"/>
            <a:ext cx="3604157" cy="2400300"/>
            <a:chOff x="6858000" y="3905250"/>
            <a:chExt cx="3604157" cy="2400300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25944" y="3905250"/>
              <a:ext cx="1836213" cy="2400300"/>
            </a:xfrm>
            <a:prstGeom prst="rect">
              <a:avLst/>
            </a:prstGeom>
          </p:spPr>
        </p:pic>
        <p:sp>
          <p:nvSpPr>
            <p:cNvPr id="15" name="Rectangle 15"/>
            <p:cNvSpPr/>
            <p:nvPr/>
          </p:nvSpPr>
          <p:spPr>
            <a:xfrm>
              <a:off x="6858000" y="4400550"/>
              <a:ext cx="2571750" cy="876300"/>
            </a:xfrm>
            <a:prstGeom prst="roundRect">
              <a:avLst>
                <a:gd name="adj" fmla="val 3043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69124" y="4584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准备好了吗？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15544" y="4924425"/>
              <a:ext cx="22566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会说“为什么”才算通关！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6824" y="400050"/>
            <a:ext cx="11180826" cy="702373"/>
            <a:chOff x="496824" y="400050"/>
            <a:chExt cx="11180826" cy="702373"/>
          </a:xfrm>
        </p:grpSpPr>
        <p:sp>
          <p:nvSpPr>
            <p:cNvPr id="2" name="TextBox 2"/>
            <p:cNvSpPr txBox="1"/>
            <p:nvPr/>
          </p:nvSpPr>
          <p:spPr>
            <a:xfrm>
              <a:off x="496824" y="427672"/>
              <a:ext cx="328612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203044"/>
                  </a:solidFill>
                  <a:latin typeface="YouYuan"/>
                  <a:ea typeface="YouYuan"/>
                  <a:cs typeface="YouYuan"/>
                </a:rPr>
                <a:t>先想，再亮答案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20250" y="400050"/>
              <a:ext cx="2057400" cy="4762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237470" y="5524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热身规则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9650" y="1714500"/>
            <a:ext cx="1676400" cy="2512695"/>
            <a:chOff x="1009650" y="1714500"/>
            <a:chExt cx="1676400" cy="2512695"/>
          </a:xfrm>
        </p:grpSpPr>
        <p:sp>
          <p:nvSpPr>
            <p:cNvPr id="6" name="Ellipse 6"/>
            <p:cNvSpPr/>
            <p:nvPr/>
          </p:nvSpPr>
          <p:spPr>
            <a:xfrm>
              <a:off x="1009650" y="1714500"/>
              <a:ext cx="1676400" cy="1676400"/>
            </a:xfrm>
            <a:prstGeom prst="ellipse">
              <a:avLst/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90650" y="2095500"/>
              <a:ext cx="914400" cy="9144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15995" y="2362200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1778" y="35071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听清题目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35405" y="39338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先不抢着喊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829050" y="1714500"/>
            <a:ext cx="1676400" cy="2512695"/>
            <a:chOff x="3829050" y="1714500"/>
            <a:chExt cx="1676400" cy="2512695"/>
          </a:xfrm>
        </p:grpSpPr>
        <p:sp>
          <p:nvSpPr>
            <p:cNvPr id="12" name="Ellipse 12"/>
            <p:cNvSpPr/>
            <p:nvPr/>
          </p:nvSpPr>
          <p:spPr>
            <a:xfrm>
              <a:off x="3829050" y="1714500"/>
              <a:ext cx="1676400" cy="1676400"/>
            </a:xfrm>
            <a:prstGeom prst="ellipse">
              <a:avLst/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210050" y="2095500"/>
              <a:ext cx="914400" cy="914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35395" y="2362200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49827" y="35071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独立想一想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51910" y="39338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手势或小白板作答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48450" y="1714500"/>
            <a:ext cx="1676400" cy="2512695"/>
            <a:chOff x="6648450" y="1714500"/>
            <a:chExt cx="1676400" cy="2512695"/>
          </a:xfrm>
        </p:grpSpPr>
        <p:sp>
          <p:nvSpPr>
            <p:cNvPr id="18" name="Ellipse 18"/>
            <p:cNvSpPr/>
            <p:nvPr/>
          </p:nvSpPr>
          <p:spPr>
            <a:xfrm>
              <a:off x="6648450" y="1714500"/>
              <a:ext cx="1676400" cy="1676400"/>
            </a:xfrm>
            <a:prstGeom prst="ellipse">
              <a:avLst/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7029450" y="2095500"/>
              <a:ext cx="914400" cy="914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54795" y="2362200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10578" y="35071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点击揭晓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74205" y="39338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说出为什么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67850" y="1714500"/>
            <a:ext cx="1676400" cy="2512695"/>
            <a:chOff x="9467850" y="1714500"/>
            <a:chExt cx="1676400" cy="2512695"/>
          </a:xfrm>
        </p:grpSpPr>
        <p:sp>
          <p:nvSpPr>
            <p:cNvPr id="24" name="Ellipse 24"/>
            <p:cNvSpPr/>
            <p:nvPr/>
          </p:nvSpPr>
          <p:spPr>
            <a:xfrm>
              <a:off x="9467850" y="1714500"/>
              <a:ext cx="1676400" cy="1676400"/>
            </a:xfrm>
            <a:prstGeom prst="ellipse">
              <a:avLst/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48850" y="2095500"/>
              <a:ext cx="914400" cy="914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174195" y="2362200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29978" y="35071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口头修正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93605" y="39338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答错不扣分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66850" y="5048250"/>
            <a:ext cx="9258300" cy="876300"/>
            <a:chOff x="1466850" y="5048250"/>
            <a:chExt cx="9258300" cy="876300"/>
          </a:xfrm>
        </p:grpSpPr>
        <p:sp>
          <p:nvSpPr>
            <p:cNvPr id="30" name="Rectangle 30"/>
            <p:cNvSpPr/>
            <p:nvPr/>
          </p:nvSpPr>
          <p:spPr>
            <a:xfrm>
              <a:off x="1466850" y="5048250"/>
              <a:ext cx="9258300" cy="876300"/>
            </a:xfrm>
            <a:prstGeom prst="roundRect">
              <a:avLst>
                <a:gd name="adj" fmla="val 32609"/>
              </a:avLst>
            </a:prstGeom>
            <a:solidFill>
              <a:srgbClr val="203044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826304" y="5294348"/>
              <a:ext cx="385800" cy="367696"/>
            </a:xfrm>
            <a:custGeom>
              <a:avLst/>
              <a:gdLst/>
              <a:ahLst/>
              <a:cxnLst/>
              <a:rect l="l" t="t" r="r" b="b"/>
              <a:pathLst>
                <a:path w="385800" h="367696">
                  <a:moveTo>
                    <a:pt x="127389" y="110677"/>
                  </a:moveTo>
                  <a:lnTo>
                    <a:pt x="15979" y="126829"/>
                  </a:lnTo>
                  <a:lnTo>
                    <a:pt x="14005" y="127231"/>
                  </a:lnTo>
                  <a:cubicBezTo>
                    <a:pt x="7924" y="128845"/>
                    <a:pt x="3181" y="133607"/>
                    <a:pt x="1591" y="139694"/>
                  </a:cubicBezTo>
                  <a:cubicBezTo>
                    <a:pt x="0" y="145782"/>
                    <a:pt x="1807" y="152255"/>
                    <a:pt x="6322" y="156638"/>
                  </a:cubicBezTo>
                  <a:lnTo>
                    <a:pt x="87033" y="235201"/>
                  </a:lnTo>
                  <a:lnTo>
                    <a:pt x="67999" y="346175"/>
                  </a:lnTo>
                  <a:lnTo>
                    <a:pt x="67772" y="348096"/>
                  </a:lnTo>
                  <a:cubicBezTo>
                    <a:pt x="67400" y="354386"/>
                    <a:pt x="70445" y="360389"/>
                    <a:pt x="75741" y="363804"/>
                  </a:cubicBezTo>
                  <a:cubicBezTo>
                    <a:pt x="81037" y="367219"/>
                    <a:pt x="87761" y="367516"/>
                    <a:pt x="93337" y="364581"/>
                  </a:cubicBezTo>
                  <a:lnTo>
                    <a:pt x="192978" y="312193"/>
                  </a:lnTo>
                  <a:lnTo>
                    <a:pt x="292392" y="364581"/>
                  </a:lnTo>
                  <a:lnTo>
                    <a:pt x="294138" y="365384"/>
                  </a:lnTo>
                  <a:cubicBezTo>
                    <a:pt x="300007" y="367696"/>
                    <a:pt x="306666" y="366663"/>
                    <a:pt x="311559" y="362682"/>
                  </a:cubicBezTo>
                  <a:cubicBezTo>
                    <a:pt x="316451" y="358701"/>
                    <a:pt x="318817" y="352392"/>
                    <a:pt x="317748" y="346175"/>
                  </a:cubicBezTo>
                  <a:lnTo>
                    <a:pt x="298696" y="235201"/>
                  </a:lnTo>
                  <a:lnTo>
                    <a:pt x="379442" y="156620"/>
                  </a:lnTo>
                  <a:lnTo>
                    <a:pt x="380804" y="155136"/>
                  </a:lnTo>
                  <a:cubicBezTo>
                    <a:pt x="384766" y="150257"/>
                    <a:pt x="385800" y="143627"/>
                    <a:pt x="383513" y="137774"/>
                  </a:cubicBezTo>
                  <a:cubicBezTo>
                    <a:pt x="381226" y="131920"/>
                    <a:pt x="375970" y="127748"/>
                    <a:pt x="369751" y="126847"/>
                  </a:cubicBezTo>
                  <a:lnTo>
                    <a:pt x="258340" y="110677"/>
                  </a:lnTo>
                  <a:lnTo>
                    <a:pt x="208537" y="9744"/>
                  </a:lnTo>
                  <a:cubicBezTo>
                    <a:pt x="205597" y="3778"/>
                    <a:pt x="199524" y="0"/>
                    <a:pt x="192873" y="0"/>
                  </a:cubicBezTo>
                  <a:cubicBezTo>
                    <a:pt x="186223" y="0"/>
                    <a:pt x="180149" y="3778"/>
                    <a:pt x="177210" y="9744"/>
                  </a:cubicBezTo>
                  <a:lnTo>
                    <a:pt x="127389" y="110677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446782" y="5374005"/>
              <a:ext cx="51099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快不是唯一目标，能解释才是真正通关。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24840"/>
            <a:chOff x="514350" y="323850"/>
            <a:chExt cx="11170158" cy="624840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76400" cy="4381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107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十题热身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42210" y="361950"/>
              <a:ext cx="283326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1–2 · 起步命令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853422" y="501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先口答，再点右侧揭晓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" y="1200150"/>
            <a:ext cx="11163300" cy="2190750"/>
            <a:chOff x="514350" y="1200150"/>
            <a:chExt cx="11163300" cy="2190750"/>
          </a:xfrm>
        </p:grpSpPr>
        <p:sp>
          <p:nvSpPr>
            <p:cNvPr id="7" name="Rectangle 7"/>
            <p:cNvSpPr/>
            <p:nvPr/>
          </p:nvSpPr>
          <p:spPr>
            <a:xfrm>
              <a:off x="514350" y="12001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04850" y="1409700"/>
              <a:ext cx="533400" cy="5334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9030" y="15840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8082" y="15449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导入海龟模块怎么写？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69364" y="19935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想好了吗？点击揭晓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9218" y="2368868"/>
              <a:ext cx="2676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提示：先把 turtle 工具箱带进来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5" name="Rectangle 15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45608" y="1931670"/>
              <a:ext cx="22633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25677" y="24260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先导入模块，后面才能使用海龟命令。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9" name="Rectangle 19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14350" y="3638550"/>
            <a:ext cx="11163300" cy="2190750"/>
            <a:chOff x="514350" y="3638550"/>
            <a:chExt cx="11163300" cy="2190750"/>
          </a:xfrm>
        </p:grpSpPr>
        <p:sp>
          <p:nvSpPr>
            <p:cNvPr id="21" name="Rectangle 21"/>
            <p:cNvSpPr/>
            <p:nvPr/>
          </p:nvSpPr>
          <p:spPr>
            <a:xfrm>
              <a:off x="514350" y="36385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04850" y="3848100"/>
              <a:ext cx="533400" cy="533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9030" y="40224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18082" y="39833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向前走用什么命令？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69364" y="44319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想好了吗？点击揭晓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52626" y="4807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括号里写前进的距离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91559" y="4370070"/>
              <a:ext cx="17714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forward()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79975" y="4864418"/>
              <a:ext cx="19946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例如：t.forward(100)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33" name="Rectangle 33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24840"/>
            <a:chOff x="514350" y="323850"/>
            <a:chExt cx="11170158" cy="624840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76400" cy="4381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107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十题热身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42210" y="361950"/>
              <a:ext cx="283326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3–4 · 重复动作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853422" y="501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先口答，再点右侧揭晓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" y="1200150"/>
            <a:ext cx="11163300" cy="2190750"/>
            <a:chOff x="514350" y="1200150"/>
            <a:chExt cx="11163300" cy="2190750"/>
          </a:xfrm>
        </p:grpSpPr>
        <p:sp>
          <p:nvSpPr>
            <p:cNvPr id="7" name="Rectangle 7"/>
            <p:cNvSpPr/>
            <p:nvPr/>
          </p:nvSpPr>
          <p:spPr>
            <a:xfrm>
              <a:off x="514350" y="12001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04850" y="1409700"/>
              <a:ext cx="533400" cy="5334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9030" y="15840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8082" y="1544955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重复动作使用什么结构？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4672" y="1993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点击揭晓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61757" y="23688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让同一组动作多做几次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5" name="Rectangle 15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11259" y="1931670"/>
              <a:ext cx="133208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for 循环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9152" y="24260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循环体里的代码会重复执行。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9" name="Rectangle 19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14350" y="3638550"/>
            <a:ext cx="11163300" cy="2190750"/>
            <a:chOff x="514350" y="3638550"/>
            <a:chExt cx="11163300" cy="2190750"/>
          </a:xfrm>
        </p:grpSpPr>
        <p:sp>
          <p:nvSpPr>
            <p:cNvPr id="21" name="Rectangle 21"/>
            <p:cNvSpPr/>
            <p:nvPr/>
          </p:nvSpPr>
          <p:spPr>
            <a:xfrm>
              <a:off x="514350" y="36385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04850" y="3848100"/>
              <a:ext cx="533400" cy="533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9030" y="40224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18082" y="39833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循环次数写在哪里？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4672" y="44319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点击揭晓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48171" y="4807268"/>
              <a:ext cx="20582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它藏在 for 后面的括号里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99636" y="4370070"/>
              <a:ext cx="17553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range() 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84519" y="4864418"/>
              <a:ext cx="1985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03044"/>
                  </a:solidFill>
                  <a:latin typeface="Arial"/>
                  <a:ea typeface="Arial"/>
                  <a:cs typeface="Arial"/>
                </a:rPr>
                <a:t>for petal in range(6):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33" name="Rectangle 33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24840"/>
            <a:chOff x="514350" y="323850"/>
            <a:chExt cx="11170158" cy="624840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76400" cy="4381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107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十题热身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42210" y="361950"/>
              <a:ext cx="283326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5–6 · 位置导航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671685" y="501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一个去坐标，一个回中心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" y="1200150"/>
            <a:ext cx="11163300" cy="2190750"/>
            <a:chOff x="514350" y="1200150"/>
            <a:chExt cx="11163300" cy="2190750"/>
          </a:xfrm>
        </p:grpSpPr>
        <p:sp>
          <p:nvSpPr>
            <p:cNvPr id="7" name="Rectangle 7"/>
            <p:cNvSpPr/>
            <p:nvPr/>
          </p:nvSpPr>
          <p:spPr>
            <a:xfrm>
              <a:off x="514350" y="12001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04850" y="1409700"/>
              <a:ext cx="533400" cy="5334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9030" y="15840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8082" y="1544955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移动到指定坐标用什么？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4672" y="1993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点击揭晓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61757" y="23688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坐标像地图上的目的地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5" name="Rectangle 15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94558" y="1947862"/>
              <a:ext cx="29654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goto() 或 setpos()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98149" y="2426018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括号里填写 x、y 坐标。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9" name="Rectangle 19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14350" y="3638550"/>
            <a:ext cx="11163300" cy="2190750"/>
            <a:chOff x="514350" y="3638550"/>
            <a:chExt cx="11163300" cy="2190750"/>
          </a:xfrm>
        </p:grpSpPr>
        <p:sp>
          <p:nvSpPr>
            <p:cNvPr id="21" name="Rectangle 21"/>
            <p:cNvSpPr/>
            <p:nvPr/>
          </p:nvSpPr>
          <p:spPr>
            <a:xfrm>
              <a:off x="514350" y="36385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04850" y="3848100"/>
              <a:ext cx="533400" cy="533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9030" y="40224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18082" y="39833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回到画布中心用什么？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4672" y="44319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点击揭晓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34407" y="4807268"/>
              <a:ext cx="1485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像按下“一键回家”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685820" y="4451314"/>
              <a:ext cx="344610" cy="334998"/>
            </a:xfrm>
            <a:custGeom>
              <a:avLst/>
              <a:gdLst/>
              <a:ahLst/>
              <a:cxnLst/>
              <a:rect l="l" t="t" r="r" b="b"/>
              <a:pathLst>
                <a:path w="344610" h="334998">
                  <a:moveTo>
                    <a:pt x="184090" y="6507"/>
                  </a:moveTo>
                  <a:lnTo>
                    <a:pt x="334108" y="156526"/>
                  </a:lnTo>
                  <a:cubicBezTo>
                    <a:pt x="344610" y="167027"/>
                    <a:pt x="337175" y="184979"/>
                    <a:pt x="322324" y="184979"/>
                  </a:cubicBezTo>
                  <a:lnTo>
                    <a:pt x="305655" y="184979"/>
                  </a:lnTo>
                  <a:lnTo>
                    <a:pt x="305655" y="284992"/>
                  </a:lnTo>
                  <a:cubicBezTo>
                    <a:pt x="305655" y="312610"/>
                    <a:pt x="283266" y="334998"/>
                    <a:pt x="255649" y="334998"/>
                  </a:cubicBezTo>
                  <a:lnTo>
                    <a:pt x="238980" y="334998"/>
                  </a:lnTo>
                  <a:lnTo>
                    <a:pt x="238980" y="218317"/>
                  </a:lnTo>
                  <a:cubicBezTo>
                    <a:pt x="238981" y="191838"/>
                    <a:pt x="218341" y="169948"/>
                    <a:pt x="191907" y="168394"/>
                  </a:cubicBezTo>
                  <a:lnTo>
                    <a:pt x="188974" y="168311"/>
                  </a:lnTo>
                  <a:lnTo>
                    <a:pt x="155636" y="168311"/>
                  </a:lnTo>
                  <a:cubicBezTo>
                    <a:pt x="128018" y="168311"/>
                    <a:pt x="105630" y="190699"/>
                    <a:pt x="105630" y="218317"/>
                  </a:cubicBezTo>
                  <a:lnTo>
                    <a:pt x="105630" y="334998"/>
                  </a:lnTo>
                  <a:lnTo>
                    <a:pt x="88961" y="334998"/>
                  </a:lnTo>
                  <a:cubicBezTo>
                    <a:pt x="61343" y="334998"/>
                    <a:pt x="38955" y="312610"/>
                    <a:pt x="38955" y="284992"/>
                  </a:cubicBezTo>
                  <a:lnTo>
                    <a:pt x="38955" y="184979"/>
                  </a:lnTo>
                  <a:lnTo>
                    <a:pt x="22286" y="184979"/>
                  </a:lnTo>
                  <a:cubicBezTo>
                    <a:pt x="7451" y="184979"/>
                    <a:pt x="0" y="167027"/>
                    <a:pt x="10501" y="156526"/>
                  </a:cubicBezTo>
                  <a:lnTo>
                    <a:pt x="160520" y="6507"/>
                  </a:lnTo>
                  <a:cubicBezTo>
                    <a:pt x="167029" y="0"/>
                    <a:pt x="177581" y="0"/>
                    <a:pt x="184090" y="6507"/>
                  </a:cubicBezTo>
                  <a:moveTo>
                    <a:pt x="188974" y="201648"/>
                  </a:moveTo>
                  <a:cubicBezTo>
                    <a:pt x="198180" y="201648"/>
                    <a:pt x="205642" y="209111"/>
                    <a:pt x="205642" y="218317"/>
                  </a:cubicBezTo>
                  <a:lnTo>
                    <a:pt x="205642" y="334998"/>
                  </a:lnTo>
                  <a:lnTo>
                    <a:pt x="138967" y="334998"/>
                  </a:lnTo>
                  <a:lnTo>
                    <a:pt x="138967" y="218317"/>
                  </a:lnTo>
                  <a:cubicBezTo>
                    <a:pt x="138968" y="209866"/>
                    <a:pt x="145293" y="202754"/>
                    <a:pt x="153686" y="201765"/>
                  </a:cubicBezTo>
                  <a:lnTo>
                    <a:pt x="155636" y="201648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62167" y="4430078"/>
              <a:ext cx="12874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home()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80020" y="49025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回到中心并恢复初始方向。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34" name="Rectangle 34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24840"/>
            <a:chOff x="514350" y="323850"/>
            <a:chExt cx="11170158" cy="624840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76400" cy="4381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107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十题热身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42210" y="361950"/>
              <a:ext cx="32371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7–8 · 颜色与填充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762107" y="5019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装饰工具箱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" y="1200150"/>
            <a:ext cx="11163300" cy="2190750"/>
            <a:chOff x="514350" y="1200150"/>
            <a:chExt cx="11163300" cy="2190750"/>
          </a:xfrm>
        </p:grpSpPr>
        <p:sp>
          <p:nvSpPr>
            <p:cNvPr id="7" name="Rectangle 7"/>
            <p:cNvSpPr/>
            <p:nvPr/>
          </p:nvSpPr>
          <p:spPr>
            <a:xfrm>
              <a:off x="514350" y="12001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04850" y="1409700"/>
              <a:ext cx="533400" cy="5334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9030" y="15840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8082" y="15449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设置线条颜色用什么？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4672" y="1993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点击揭晓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25677" y="23688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可以只设画笔，也可以同时设线和填充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5" name="Rectangle 15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234238" y="2052638"/>
              <a:ext cx="333375" cy="333716"/>
            </a:xfrm>
            <a:custGeom>
              <a:avLst/>
              <a:gdLst/>
              <a:ahLst/>
              <a:cxnLst/>
              <a:rect l="l" t="t" r="r" b="b"/>
              <a:pathLst>
                <a:path w="333375" h="333716">
                  <a:moveTo>
                    <a:pt x="166688" y="0"/>
                  </a:moveTo>
                  <a:cubicBezTo>
                    <a:pt x="258332" y="0"/>
                    <a:pt x="333375" y="66708"/>
                    <a:pt x="333375" y="150019"/>
                  </a:cubicBezTo>
                  <a:cubicBezTo>
                    <a:pt x="333375" y="172538"/>
                    <a:pt x="323374" y="194024"/>
                    <a:pt x="305805" y="209626"/>
                  </a:cubicBezTo>
                  <a:cubicBezTo>
                    <a:pt x="288636" y="224861"/>
                    <a:pt x="265600" y="233362"/>
                    <a:pt x="241697" y="233362"/>
                  </a:cubicBezTo>
                  <a:lnTo>
                    <a:pt x="199758" y="233362"/>
                  </a:lnTo>
                  <a:cubicBezTo>
                    <a:pt x="192108" y="233239"/>
                    <a:pt x="185355" y="238341"/>
                    <a:pt x="183384" y="245734"/>
                  </a:cubicBezTo>
                  <a:cubicBezTo>
                    <a:pt x="181412" y="253128"/>
                    <a:pt x="184728" y="260914"/>
                    <a:pt x="191424" y="264616"/>
                  </a:cubicBezTo>
                  <a:cubicBezTo>
                    <a:pt x="192591" y="265262"/>
                    <a:pt x="193677" y="266046"/>
                    <a:pt x="194658" y="266950"/>
                  </a:cubicBezTo>
                  <a:cubicBezTo>
                    <a:pt x="206343" y="277733"/>
                    <a:pt x="210160" y="294610"/>
                    <a:pt x="204251" y="309371"/>
                  </a:cubicBezTo>
                  <a:cubicBezTo>
                    <a:pt x="198343" y="324133"/>
                    <a:pt x="183936" y="333716"/>
                    <a:pt x="168038" y="333458"/>
                  </a:cubicBezTo>
                  <a:lnTo>
                    <a:pt x="165437" y="333308"/>
                  </a:lnTo>
                  <a:lnTo>
                    <a:pt x="166571" y="333375"/>
                  </a:lnTo>
                  <a:lnTo>
                    <a:pt x="162020" y="333308"/>
                  </a:lnTo>
                  <a:cubicBezTo>
                    <a:pt x="73676" y="330875"/>
                    <a:pt x="2500" y="259699"/>
                    <a:pt x="67" y="171355"/>
                  </a:cubicBezTo>
                  <a:lnTo>
                    <a:pt x="0" y="166688"/>
                  </a:lnTo>
                  <a:cubicBezTo>
                    <a:pt x="0" y="74626"/>
                    <a:pt x="74626" y="0"/>
                    <a:pt x="166688" y="0"/>
                  </a:cubicBezTo>
                  <a:moveTo>
                    <a:pt x="108347" y="108347"/>
                  </a:moveTo>
                  <a:cubicBezTo>
                    <a:pt x="90901" y="108341"/>
                    <a:pt x="76401" y="121787"/>
                    <a:pt x="75093" y="139184"/>
                  </a:cubicBezTo>
                  <a:lnTo>
                    <a:pt x="75009" y="141684"/>
                  </a:lnTo>
                  <a:cubicBezTo>
                    <a:pt x="75009" y="160096"/>
                    <a:pt x="89935" y="175022"/>
                    <a:pt x="108347" y="175022"/>
                  </a:cubicBezTo>
                  <a:cubicBezTo>
                    <a:pt x="126759" y="175022"/>
                    <a:pt x="141684" y="160096"/>
                    <a:pt x="141684" y="141684"/>
                  </a:cubicBezTo>
                  <a:cubicBezTo>
                    <a:pt x="141684" y="123273"/>
                    <a:pt x="126759" y="108347"/>
                    <a:pt x="108347" y="108347"/>
                  </a:cubicBezTo>
                  <a:moveTo>
                    <a:pt x="241697" y="108347"/>
                  </a:moveTo>
                  <a:cubicBezTo>
                    <a:pt x="224251" y="108341"/>
                    <a:pt x="209751" y="121787"/>
                    <a:pt x="208443" y="139184"/>
                  </a:cubicBezTo>
                  <a:lnTo>
                    <a:pt x="208359" y="141684"/>
                  </a:lnTo>
                  <a:cubicBezTo>
                    <a:pt x="208359" y="160096"/>
                    <a:pt x="223285" y="175022"/>
                    <a:pt x="241697" y="175022"/>
                  </a:cubicBezTo>
                  <a:cubicBezTo>
                    <a:pt x="260109" y="175022"/>
                    <a:pt x="275034" y="160096"/>
                    <a:pt x="275034" y="141684"/>
                  </a:cubicBezTo>
                  <a:cubicBezTo>
                    <a:pt x="275034" y="123273"/>
                    <a:pt x="260109" y="108347"/>
                    <a:pt x="241697" y="108347"/>
                  </a:cubicBezTo>
                  <a:moveTo>
                    <a:pt x="175022" y="58341"/>
                  </a:moveTo>
                  <a:cubicBezTo>
                    <a:pt x="157576" y="58335"/>
                    <a:pt x="143076" y="71781"/>
                    <a:pt x="141768" y="89178"/>
                  </a:cubicBezTo>
                  <a:lnTo>
                    <a:pt x="141684" y="91678"/>
                  </a:lnTo>
                  <a:cubicBezTo>
                    <a:pt x="141684" y="110090"/>
                    <a:pt x="156610" y="125016"/>
                    <a:pt x="175022" y="125016"/>
                  </a:cubicBezTo>
                  <a:cubicBezTo>
                    <a:pt x="193434" y="125016"/>
                    <a:pt x="208359" y="110090"/>
                    <a:pt x="208359" y="91678"/>
                  </a:cubicBezTo>
                  <a:cubicBezTo>
                    <a:pt x="208359" y="73266"/>
                    <a:pt x="193434" y="58341"/>
                    <a:pt x="175022" y="58341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01022" y="2048351"/>
              <a:ext cx="29907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pencolor() 或 color()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70888" y="24641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颜色名放在英文引号里。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20" name="Rectangle 20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14350" y="3638550"/>
            <a:ext cx="11163300" cy="2190750"/>
            <a:chOff x="514350" y="3638550"/>
            <a:chExt cx="11163300" cy="2190750"/>
          </a:xfrm>
        </p:grpSpPr>
        <p:sp>
          <p:nvSpPr>
            <p:cNvPr id="22" name="Rectangle 22"/>
            <p:cNvSpPr/>
            <p:nvPr/>
          </p:nvSpPr>
          <p:spPr>
            <a:xfrm>
              <a:off x="514350" y="36385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04850" y="3848100"/>
              <a:ext cx="533400" cy="533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99030" y="40224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18082" y="398335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开始和结束填充是哪两个命令？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24672" y="44319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点击揭晓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43494" y="48072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它们必须成对出现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30" name="Rectangle 30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25221" y="4410551"/>
              <a:ext cx="330415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02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begin_fill() + end_fill()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16546" y="48644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开始记录边界，结束后把区域填满。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34" name="Rectangle 34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24840"/>
            <a:chOff x="514350" y="323850"/>
            <a:chExt cx="11170158" cy="624840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76400" cy="4381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107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十题热身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42210" y="361950"/>
              <a:ext cx="306649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9–10 · 背景与圆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762107" y="5019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最后两颗星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" y="1200150"/>
            <a:ext cx="11163300" cy="2190750"/>
            <a:chOff x="514350" y="1200150"/>
            <a:chExt cx="11163300" cy="2190750"/>
          </a:xfrm>
        </p:grpSpPr>
        <p:sp>
          <p:nvSpPr>
            <p:cNvPr id="7" name="Rectangle 7"/>
            <p:cNvSpPr/>
            <p:nvPr/>
          </p:nvSpPr>
          <p:spPr>
            <a:xfrm>
              <a:off x="514350" y="12001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04850" y="1409700"/>
              <a:ext cx="533400" cy="5334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9030" y="15840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9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8082" y="15449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设置背景色用什么？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4672" y="1993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点击揭晓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62357" y="2368868"/>
              <a:ext cx="18298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舞台属于 Screen 对象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5" name="Rectangle 15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28157" y="1964055"/>
              <a:ext cx="28982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Screen().bgcolor()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375" y="2426018"/>
              <a:ext cx="33758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也可以先保存 screen，再调用 bgcolor。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9" name="Rectangle 19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14350" y="3638550"/>
            <a:ext cx="11163300" cy="2190750"/>
            <a:chOff x="514350" y="3638550"/>
            <a:chExt cx="11163300" cy="2190750"/>
          </a:xfrm>
        </p:grpSpPr>
        <p:sp>
          <p:nvSpPr>
            <p:cNvPr id="21" name="Rectangle 21"/>
            <p:cNvSpPr/>
            <p:nvPr/>
          </p:nvSpPr>
          <p:spPr>
            <a:xfrm>
              <a:off x="514350" y="36385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04850" y="3848100"/>
              <a:ext cx="533400" cy="533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4892" y="4022408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18082" y="39833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画圆常用什么命令？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4672" y="44319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点击揭晓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43494" y="48072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花瓣就是圆形积木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61478" y="4353878"/>
              <a:ext cx="14316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circle()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43539" y="48644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例如：t.circle(45)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33" name="Rectangle 33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8858250" y="5905500"/>
            <a:ext cx="2324100" cy="514350"/>
            <a:chOff x="8858250" y="5905500"/>
            <a:chExt cx="2324100" cy="514350"/>
          </a:xfrm>
        </p:grpSpPr>
        <p:sp>
          <p:nvSpPr>
            <p:cNvPr id="35" name="Rectangle 35"/>
            <p:cNvSpPr/>
            <p:nvPr/>
          </p:nvSpPr>
          <p:spPr>
            <a:xfrm>
              <a:off x="8858250" y="5905500"/>
              <a:ext cx="2324100" cy="514350"/>
            </a:xfrm>
            <a:prstGeom prst="roundRect">
              <a:avLst>
                <a:gd name="adj" fmla="val 4074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82522" y="6060758"/>
              <a:ext cx="14755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★ 10/10 完成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400050"/>
            <a:ext cx="7360920" cy="624840"/>
            <a:chOff x="514350" y="400050"/>
            <a:chExt cx="7360920" cy="624840"/>
          </a:xfrm>
        </p:grpSpPr>
        <p:sp>
          <p:nvSpPr>
            <p:cNvPr id="2" name="Rectangle 2"/>
            <p:cNvSpPr/>
            <p:nvPr/>
          </p:nvSpPr>
          <p:spPr>
            <a:xfrm>
              <a:off x="514350" y="400050"/>
              <a:ext cx="1809750" cy="45720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66597" y="526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项目挑战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594610" y="4381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怎样画一朵会旋转的彩色花？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4350" y="1504950"/>
            <a:ext cx="4495800" cy="4552950"/>
            <a:chOff x="514350" y="1504950"/>
            <a:chExt cx="4495800" cy="4552950"/>
          </a:xfrm>
        </p:grpSpPr>
        <p:sp>
          <p:nvSpPr>
            <p:cNvPr id="6" name="Rectangle 6"/>
            <p:cNvSpPr/>
            <p:nvPr/>
          </p:nvSpPr>
          <p:spPr>
            <a:xfrm>
              <a:off x="514350" y="1504950"/>
              <a:ext cx="4495800" cy="4552950"/>
            </a:xfrm>
            <a:prstGeom prst="roundRect">
              <a:avLst>
                <a:gd name="adj" fmla="val 7203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6968" y="1917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DF1FF"/>
                  </a:solidFill>
                  <a:latin typeface="Segoe UI"/>
                  <a:ea typeface="Microsoft YaHei"/>
                  <a:cs typeface="Segoe UI"/>
                </a:rPr>
                <a:t>最终成果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1634" y="2337435"/>
              <a:ext cx="257175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可展示、可署名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1634" y="2832735"/>
              <a:ext cx="190114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的“小红花”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95350" y="3638550"/>
              <a:ext cx="33528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5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6206" y="3939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成功标准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6968" y="437483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✓ 程序能运行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6968" y="4755832"/>
              <a:ext cx="25267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✓ 花瓣、花心、花茎完整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6968" y="5136832"/>
              <a:ext cx="20825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✓ 能指出自己的修改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72100" y="1504950"/>
            <a:ext cx="6305550" cy="4095750"/>
            <a:chOff x="5372100" y="1504950"/>
            <a:chExt cx="6305550" cy="4095750"/>
          </a:xfrm>
        </p:grpSpPr>
        <p:sp>
          <p:nvSpPr>
            <p:cNvPr id="16" name="Rectangle 16"/>
            <p:cNvSpPr/>
            <p:nvPr/>
          </p:nvSpPr>
          <p:spPr>
            <a:xfrm>
              <a:off x="5372100" y="1504950"/>
              <a:ext cx="6305550" cy="895350"/>
            </a:xfrm>
            <a:prstGeom prst="roundRect">
              <a:avLst>
                <a:gd name="adj" fmla="val 29787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81650" y="1685925"/>
              <a:ext cx="1066800" cy="533400"/>
            </a:xfrm>
            <a:prstGeom prst="roundRect">
              <a:avLst>
                <a:gd name="adj" fmla="val 35714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63590" y="18440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花瓣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43344" y="1846898"/>
              <a:ext cx="19932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6个圆 + 左转60°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72100" y="2571750"/>
              <a:ext cx="6305550" cy="895350"/>
            </a:xfrm>
            <a:prstGeom prst="roundRect">
              <a:avLst>
                <a:gd name="adj" fmla="val 29787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581650" y="2752725"/>
              <a:ext cx="10668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63590" y="29108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花心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43344" y="2913698"/>
              <a:ext cx="24453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dot(45, "yellow")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72100" y="3638550"/>
              <a:ext cx="6305550" cy="895350"/>
            </a:xfrm>
            <a:prstGeom prst="roundRect">
              <a:avLst>
                <a:gd name="adj" fmla="val 29787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581650" y="3819525"/>
              <a:ext cx="1066800" cy="533400"/>
            </a:xfrm>
            <a:prstGeom prst="roundRect">
              <a:avLst>
                <a:gd name="adj" fmla="val 35714"/>
              </a:avLst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63590" y="3977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花茎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43344" y="3980498"/>
              <a:ext cx="25845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方向270° + forward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72100" y="4705350"/>
              <a:ext cx="6305550" cy="895350"/>
            </a:xfrm>
            <a:prstGeom prst="roundRect">
              <a:avLst>
                <a:gd name="adj" fmla="val 29787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581650" y="4886325"/>
              <a:ext cx="1066800" cy="533400"/>
            </a:xfrm>
            <a:prstGeom prst="roundRect">
              <a:avLst>
                <a:gd name="adj" fmla="val 3571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63590" y="50444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名牌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43344" y="5047298"/>
              <a:ext cx="200438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screen.title()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6824" y="427672"/>
            <a:ext cx="4215003" cy="808673"/>
            <a:chOff x="496824" y="427672"/>
            <a:chExt cx="4215003" cy="808673"/>
          </a:xfrm>
        </p:grpSpPr>
        <p:sp>
          <p:nvSpPr>
            <p:cNvPr id="2" name="TextBox 2"/>
            <p:cNvSpPr txBox="1"/>
            <p:nvPr/>
          </p:nvSpPr>
          <p:spPr>
            <a:xfrm>
              <a:off x="496824" y="427672"/>
              <a:ext cx="421500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203044"/>
                  </a:solidFill>
                  <a:latin typeface="YouYuan"/>
                  <a:ea typeface="YouYuan"/>
                  <a:cs typeface="YouYuan"/>
                </a:rPr>
                <a:t>做完，还要能讲出来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6730" y="9429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三项都做到，才算作品验收通过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6750" y="1619250"/>
            <a:ext cx="3333750" cy="3124200"/>
            <a:chOff x="666750" y="1619250"/>
            <a:chExt cx="3333750" cy="3124200"/>
          </a:xfrm>
        </p:grpSpPr>
        <p:sp>
          <p:nvSpPr>
            <p:cNvPr id="5" name="Rectangle 5"/>
            <p:cNvSpPr/>
            <p:nvPr/>
          </p:nvSpPr>
          <p:spPr>
            <a:xfrm>
              <a:off x="666750" y="1619250"/>
              <a:ext cx="3333750" cy="3124200"/>
            </a:xfrm>
            <a:prstGeom prst="roundRect">
              <a:avLst>
                <a:gd name="adj" fmla="val 103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95350" y="1828800"/>
              <a:ext cx="647700" cy="6477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23949" y="2008982"/>
              <a:ext cx="238134" cy="287336"/>
            </a:xfrm>
            <a:custGeom>
              <a:avLst/>
              <a:gdLst/>
              <a:ahLst/>
              <a:cxnLst/>
              <a:rect l="l" t="t" r="r" b="b"/>
              <a:pathLst>
                <a:path w="238134" h="287336">
                  <a:moveTo>
                    <a:pt x="2" y="16668"/>
                  </a:moveTo>
                  <a:lnTo>
                    <a:pt x="2" y="270668"/>
                  </a:lnTo>
                  <a:cubicBezTo>
                    <a:pt x="0" y="276420"/>
                    <a:pt x="3110" y="281723"/>
                    <a:pt x="8130" y="284529"/>
                  </a:cubicBezTo>
                  <a:cubicBezTo>
                    <a:pt x="13150" y="287336"/>
                    <a:pt x="19296" y="287208"/>
                    <a:pt x="24195" y="284194"/>
                  </a:cubicBezTo>
                  <a:lnTo>
                    <a:pt x="230571" y="157194"/>
                  </a:lnTo>
                  <a:cubicBezTo>
                    <a:pt x="235271" y="154305"/>
                    <a:pt x="238134" y="149185"/>
                    <a:pt x="238134" y="143668"/>
                  </a:cubicBezTo>
                  <a:cubicBezTo>
                    <a:pt x="238134" y="138152"/>
                    <a:pt x="235271" y="133031"/>
                    <a:pt x="230571" y="130143"/>
                  </a:cubicBezTo>
                  <a:lnTo>
                    <a:pt x="24195" y="3142"/>
                  </a:lnTo>
                  <a:cubicBezTo>
                    <a:pt x="19296" y="128"/>
                    <a:pt x="13150" y="0"/>
                    <a:pt x="8130" y="2807"/>
                  </a:cubicBezTo>
                  <a:cubicBezTo>
                    <a:pt x="3110" y="5613"/>
                    <a:pt x="0" y="10916"/>
                    <a:pt x="2" y="166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3832" y="20212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基础版能运行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1456" y="28155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没有语法错误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1456" y="32346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图形窗口能弹出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2980" y="39338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先跑通，再个性化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29125" y="1428750"/>
            <a:ext cx="3333750" cy="3314700"/>
            <a:chOff x="4429125" y="1428750"/>
            <a:chExt cx="3333750" cy="3314700"/>
          </a:xfrm>
        </p:grpSpPr>
        <p:sp>
          <p:nvSpPr>
            <p:cNvPr id="13" name="Rectangle 13"/>
            <p:cNvSpPr/>
            <p:nvPr/>
          </p:nvSpPr>
          <p:spPr>
            <a:xfrm>
              <a:off x="4429125" y="1428750"/>
              <a:ext cx="3333750" cy="3314700"/>
            </a:xfrm>
            <a:prstGeom prst="roundRect">
              <a:avLst>
                <a:gd name="adj" fmla="val 977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4657725" y="1638300"/>
              <a:ext cx="647700" cy="6477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813859" y="1787525"/>
              <a:ext cx="335438" cy="349251"/>
            </a:xfrm>
            <a:custGeom>
              <a:avLst/>
              <a:gdLst/>
              <a:ahLst/>
              <a:cxnLst/>
              <a:rect l="l" t="t" r="r" b="b"/>
              <a:pathLst>
                <a:path w="335438" h="349251">
                  <a:moveTo>
                    <a:pt x="167716" y="0"/>
                  </a:moveTo>
                  <a:cubicBezTo>
                    <a:pt x="202786" y="0"/>
                    <a:pt x="231216" y="28430"/>
                    <a:pt x="231216" y="63500"/>
                  </a:cubicBezTo>
                  <a:lnTo>
                    <a:pt x="231185" y="64373"/>
                  </a:lnTo>
                  <a:lnTo>
                    <a:pt x="231661" y="64088"/>
                  </a:lnTo>
                  <a:cubicBezTo>
                    <a:pt x="245038" y="56327"/>
                    <a:pt x="260802" y="53756"/>
                    <a:pt x="275952" y="56864"/>
                  </a:cubicBezTo>
                  <a:lnTo>
                    <a:pt x="279714" y="57753"/>
                  </a:lnTo>
                  <a:cubicBezTo>
                    <a:pt x="295910" y="62132"/>
                    <a:pt x="309691" y="72788"/>
                    <a:pt x="318005" y="87360"/>
                  </a:cubicBezTo>
                  <a:cubicBezTo>
                    <a:pt x="335438" y="117695"/>
                    <a:pt x="325122" y="156414"/>
                    <a:pt x="294907" y="174054"/>
                  </a:cubicBezTo>
                  <a:lnTo>
                    <a:pt x="293827" y="174625"/>
                  </a:lnTo>
                  <a:lnTo>
                    <a:pt x="294955" y="175244"/>
                  </a:lnTo>
                  <a:cubicBezTo>
                    <a:pt x="323998" y="192227"/>
                    <a:pt x="334812" y="228877"/>
                    <a:pt x="319640" y="258906"/>
                  </a:cubicBezTo>
                  <a:lnTo>
                    <a:pt x="318037" y="261859"/>
                  </a:lnTo>
                  <a:cubicBezTo>
                    <a:pt x="309718" y="276452"/>
                    <a:pt x="295918" y="287120"/>
                    <a:pt x="279701" y="291495"/>
                  </a:cubicBezTo>
                  <a:cubicBezTo>
                    <a:pt x="263484" y="295871"/>
                    <a:pt x="246190" y="293592"/>
                    <a:pt x="231661" y="285163"/>
                  </a:cubicBezTo>
                  <a:lnTo>
                    <a:pt x="231185" y="284846"/>
                  </a:lnTo>
                  <a:lnTo>
                    <a:pt x="231216" y="285751"/>
                  </a:lnTo>
                  <a:cubicBezTo>
                    <a:pt x="231216" y="319587"/>
                    <a:pt x="204685" y="347480"/>
                    <a:pt x="170891" y="349171"/>
                  </a:cubicBezTo>
                  <a:lnTo>
                    <a:pt x="167716" y="349251"/>
                  </a:lnTo>
                  <a:cubicBezTo>
                    <a:pt x="132646" y="349251"/>
                    <a:pt x="104216" y="320821"/>
                    <a:pt x="104216" y="285751"/>
                  </a:cubicBezTo>
                  <a:lnTo>
                    <a:pt x="104232" y="284862"/>
                  </a:lnTo>
                  <a:lnTo>
                    <a:pt x="103771" y="285163"/>
                  </a:lnTo>
                  <a:cubicBezTo>
                    <a:pt x="90396" y="292929"/>
                    <a:pt x="74632" y="295506"/>
                    <a:pt x="59480" y="292402"/>
                  </a:cubicBezTo>
                  <a:lnTo>
                    <a:pt x="55734" y="291513"/>
                  </a:lnTo>
                  <a:cubicBezTo>
                    <a:pt x="39532" y="287138"/>
                    <a:pt x="25745" y="276482"/>
                    <a:pt x="17427" y="261906"/>
                  </a:cubicBezTo>
                  <a:cubicBezTo>
                    <a:pt x="0" y="231583"/>
                    <a:pt x="10300" y="192879"/>
                    <a:pt x="40494" y="175229"/>
                  </a:cubicBezTo>
                  <a:lnTo>
                    <a:pt x="41605" y="174625"/>
                  </a:lnTo>
                  <a:lnTo>
                    <a:pt x="40478" y="174022"/>
                  </a:lnTo>
                  <a:cubicBezTo>
                    <a:pt x="11434" y="157040"/>
                    <a:pt x="620" y="120390"/>
                    <a:pt x="15792" y="90361"/>
                  </a:cubicBezTo>
                  <a:lnTo>
                    <a:pt x="17380" y="87392"/>
                  </a:lnTo>
                  <a:cubicBezTo>
                    <a:pt x="25698" y="72786"/>
                    <a:pt x="39507" y="62108"/>
                    <a:pt x="55736" y="57732"/>
                  </a:cubicBezTo>
                  <a:cubicBezTo>
                    <a:pt x="71965" y="53356"/>
                    <a:pt x="89269" y="55644"/>
                    <a:pt x="103803" y="64088"/>
                  </a:cubicBezTo>
                  <a:lnTo>
                    <a:pt x="104216" y="64373"/>
                  </a:lnTo>
                  <a:lnTo>
                    <a:pt x="104216" y="63500"/>
                  </a:lnTo>
                  <a:cubicBezTo>
                    <a:pt x="104216" y="29664"/>
                    <a:pt x="130747" y="1771"/>
                    <a:pt x="164541" y="79"/>
                  </a:cubicBezTo>
                  <a:close/>
                  <a:moveTo>
                    <a:pt x="167716" y="127000"/>
                  </a:moveTo>
                  <a:cubicBezTo>
                    <a:pt x="141414" y="127000"/>
                    <a:pt x="120091" y="148323"/>
                    <a:pt x="120091" y="174625"/>
                  </a:cubicBezTo>
                  <a:cubicBezTo>
                    <a:pt x="120091" y="200928"/>
                    <a:pt x="141414" y="222250"/>
                    <a:pt x="167716" y="222250"/>
                  </a:cubicBezTo>
                  <a:cubicBezTo>
                    <a:pt x="194019" y="222250"/>
                    <a:pt x="215341" y="200928"/>
                    <a:pt x="215341" y="174625"/>
                  </a:cubicBezTo>
                  <a:cubicBezTo>
                    <a:pt x="215341" y="148323"/>
                    <a:pt x="194019" y="127000"/>
                    <a:pt x="167716" y="1270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466207" y="18307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三个部分齐全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43831" y="2625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花瓣　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43831" y="30441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花心　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43831" y="3463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花茎　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45355" y="41433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缺一块，就回到对应代码段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191500" y="1619250"/>
            <a:ext cx="3333750" cy="3124200"/>
            <a:chOff x="8191500" y="1619250"/>
            <a:chExt cx="3333750" cy="3124200"/>
          </a:xfrm>
        </p:grpSpPr>
        <p:sp>
          <p:nvSpPr>
            <p:cNvPr id="22" name="Rectangle 22"/>
            <p:cNvSpPr/>
            <p:nvPr/>
          </p:nvSpPr>
          <p:spPr>
            <a:xfrm>
              <a:off x="8191500" y="1619250"/>
              <a:ext cx="3333750" cy="3124200"/>
            </a:xfrm>
            <a:prstGeom prst="roundRect">
              <a:avLst>
                <a:gd name="adj" fmla="val 1036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8420100" y="1828800"/>
              <a:ext cx="647700" cy="6477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584753" y="1993900"/>
              <a:ext cx="318395" cy="317501"/>
              <a:chOff x="8584753" y="1993900"/>
              <a:chExt cx="318395" cy="31750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584753" y="2136775"/>
                <a:ext cx="4852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8520" h="31750">
                    <a:moveTo>
                      <a:pt x="32197" y="0"/>
                    </a:moveTo>
                    <a:cubicBezTo>
                      <a:pt x="40597" y="9"/>
                      <a:pt x="47535" y="6560"/>
                      <a:pt x="48028" y="14945"/>
                    </a:cubicBezTo>
                    <a:cubicBezTo>
                      <a:pt x="48520" y="23330"/>
                      <a:pt x="42395" y="30647"/>
                      <a:pt x="34055" y="31639"/>
                    </a:cubicBezTo>
                    <a:lnTo>
                      <a:pt x="32197" y="31750"/>
                    </a:lnTo>
                    <a:lnTo>
                      <a:pt x="16322" y="31750"/>
                    </a:lnTo>
                    <a:cubicBezTo>
                      <a:pt x="7923" y="31741"/>
                      <a:pt x="984" y="25190"/>
                      <a:pt x="492" y="16805"/>
                    </a:cubicBezTo>
                    <a:cubicBezTo>
                      <a:pt x="0" y="8420"/>
                      <a:pt x="6124" y="1103"/>
                      <a:pt x="14465" y="111"/>
                    </a:cubicBezTo>
                    <a:lnTo>
                      <a:pt x="16322" y="0"/>
                    </a:lnTo>
                    <a:lnTo>
                      <a:pt x="3219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28075" y="1993900"/>
                <a:ext cx="31750" cy="48072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48072">
                    <a:moveTo>
                      <a:pt x="15875" y="0"/>
                    </a:moveTo>
                    <a:cubicBezTo>
                      <a:pt x="23923" y="1"/>
                      <a:pt x="30697" y="6025"/>
                      <a:pt x="31639" y="14018"/>
                    </a:cubicBezTo>
                    <a:lnTo>
                      <a:pt x="31750" y="15875"/>
                    </a:lnTo>
                    <a:lnTo>
                      <a:pt x="31750" y="31750"/>
                    </a:lnTo>
                    <a:cubicBezTo>
                      <a:pt x="31741" y="40149"/>
                      <a:pt x="25190" y="47088"/>
                      <a:pt x="16805" y="47580"/>
                    </a:cubicBezTo>
                    <a:cubicBezTo>
                      <a:pt x="8420" y="48072"/>
                      <a:pt x="1103" y="41948"/>
                      <a:pt x="111" y="33607"/>
                    </a:cubicBezTo>
                    <a:lnTo>
                      <a:pt x="0" y="31750"/>
                    </a:ln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854628" y="2136775"/>
                <a:ext cx="4852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8520" h="31750">
                    <a:moveTo>
                      <a:pt x="32197" y="0"/>
                    </a:moveTo>
                    <a:cubicBezTo>
                      <a:pt x="40597" y="9"/>
                      <a:pt x="47535" y="6560"/>
                      <a:pt x="48028" y="14945"/>
                    </a:cubicBezTo>
                    <a:cubicBezTo>
                      <a:pt x="48520" y="23330"/>
                      <a:pt x="42395" y="30647"/>
                      <a:pt x="34055" y="31639"/>
                    </a:cubicBezTo>
                    <a:lnTo>
                      <a:pt x="32197" y="31750"/>
                    </a:lnTo>
                    <a:lnTo>
                      <a:pt x="16322" y="31750"/>
                    </a:lnTo>
                    <a:cubicBezTo>
                      <a:pt x="7923" y="31741"/>
                      <a:pt x="984" y="25190"/>
                      <a:pt x="492" y="16805"/>
                    </a:cubicBezTo>
                    <a:cubicBezTo>
                      <a:pt x="0" y="8420"/>
                      <a:pt x="6124" y="1103"/>
                      <a:pt x="14465" y="111"/>
                    </a:cubicBezTo>
                    <a:lnTo>
                      <a:pt x="16322" y="0"/>
                    </a:lnTo>
                    <a:lnTo>
                      <a:pt x="3219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624929" y="2033607"/>
                <a:ext cx="45956" cy="46218"/>
              </a:xfrm>
              <a:custGeom>
                <a:avLst/>
                <a:gdLst/>
                <a:ahLst/>
                <a:cxnLst/>
                <a:rect l="l" t="t" r="r" b="b"/>
                <a:pathLst>
                  <a:path w="45956" h="46218">
                    <a:moveTo>
                      <a:pt x="6197" y="6220"/>
                    </a:moveTo>
                    <a:cubicBezTo>
                      <a:pt x="11853" y="565"/>
                      <a:pt x="20833" y="0"/>
                      <a:pt x="27152" y="4902"/>
                    </a:cubicBezTo>
                    <a:lnTo>
                      <a:pt x="28645" y="6220"/>
                    </a:lnTo>
                    <a:lnTo>
                      <a:pt x="39757" y="17332"/>
                    </a:lnTo>
                    <a:cubicBezTo>
                      <a:pt x="45666" y="23261"/>
                      <a:pt x="45956" y="32760"/>
                      <a:pt x="40420" y="39038"/>
                    </a:cubicBezTo>
                    <a:cubicBezTo>
                      <a:pt x="34884" y="45316"/>
                      <a:pt x="25424" y="46218"/>
                      <a:pt x="18802" y="41097"/>
                    </a:cubicBezTo>
                    <a:lnTo>
                      <a:pt x="17310" y="39780"/>
                    </a:lnTo>
                    <a:lnTo>
                      <a:pt x="6197" y="28667"/>
                    </a:lnTo>
                    <a:cubicBezTo>
                      <a:pt x="0" y="22468"/>
                      <a:pt x="0" y="12419"/>
                      <a:pt x="6197" y="62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816777" y="2033628"/>
                <a:ext cx="46436" cy="45958"/>
              </a:xfrm>
              <a:custGeom>
                <a:avLst/>
                <a:gdLst/>
                <a:ahLst/>
                <a:cxnLst/>
                <a:rect l="l" t="t" r="r" b="b"/>
                <a:pathLst>
                  <a:path w="46436" h="45958">
                    <a:moveTo>
                      <a:pt x="17550" y="6199"/>
                    </a:moveTo>
                    <a:cubicBezTo>
                      <a:pt x="23479" y="290"/>
                      <a:pt x="32978" y="0"/>
                      <a:pt x="39256" y="5536"/>
                    </a:cubicBezTo>
                    <a:cubicBezTo>
                      <a:pt x="45534" y="11072"/>
                      <a:pt x="46436" y="20532"/>
                      <a:pt x="41315" y="27154"/>
                    </a:cubicBezTo>
                    <a:lnTo>
                      <a:pt x="39998" y="28646"/>
                    </a:lnTo>
                    <a:lnTo>
                      <a:pt x="28885" y="39759"/>
                    </a:lnTo>
                    <a:cubicBezTo>
                      <a:pt x="22956" y="45668"/>
                      <a:pt x="13458" y="45958"/>
                      <a:pt x="7180" y="40422"/>
                    </a:cubicBezTo>
                    <a:cubicBezTo>
                      <a:pt x="901" y="34885"/>
                      <a:pt x="0" y="25426"/>
                      <a:pt x="5120" y="18804"/>
                    </a:cubicBezTo>
                    <a:lnTo>
                      <a:pt x="6438" y="17311"/>
                    </a:lnTo>
                    <a:lnTo>
                      <a:pt x="17550" y="61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696325" y="2247901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79375" y="0"/>
                    </a:moveTo>
                    <a:cubicBezTo>
                      <a:pt x="88143" y="0"/>
                      <a:pt x="95250" y="7107"/>
                      <a:pt x="95250" y="15875"/>
                    </a:cubicBezTo>
                    <a:cubicBezTo>
                      <a:pt x="95250" y="42178"/>
                      <a:pt x="73928" y="63500"/>
                      <a:pt x="47625" y="63500"/>
                    </a:cubicBezTo>
                    <a:cubicBezTo>
                      <a:pt x="21322" y="63500"/>
                      <a:pt x="0" y="42178"/>
                      <a:pt x="0" y="15875"/>
                    </a:cubicBezTo>
                    <a:cubicBezTo>
                      <a:pt x="1" y="7827"/>
                      <a:pt x="6025" y="1053"/>
                      <a:pt x="14018" y="111"/>
                    </a:cubicBezTo>
                    <a:lnTo>
                      <a:pt x="15875" y="0"/>
                    </a:lnTo>
                    <a:lnTo>
                      <a:pt x="79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640623" y="2057400"/>
                <a:ext cx="206654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206654" h="174625">
                    <a:moveTo>
                      <a:pt x="103327" y="0"/>
                    </a:moveTo>
                    <a:cubicBezTo>
                      <a:pt x="144326" y="0"/>
                      <a:pt x="180725" y="26235"/>
                      <a:pt x="193689" y="65129"/>
                    </a:cubicBezTo>
                    <a:cubicBezTo>
                      <a:pt x="206654" y="104024"/>
                      <a:pt x="193276" y="146851"/>
                      <a:pt x="160477" y="171450"/>
                    </a:cubicBezTo>
                    <a:cubicBezTo>
                      <a:pt x="158289" y="173094"/>
                      <a:pt x="155714" y="174144"/>
                      <a:pt x="153000" y="174498"/>
                    </a:cubicBezTo>
                    <a:lnTo>
                      <a:pt x="150952" y="174625"/>
                    </a:lnTo>
                    <a:lnTo>
                      <a:pt x="55702" y="174625"/>
                    </a:lnTo>
                    <a:cubicBezTo>
                      <a:pt x="52267" y="174625"/>
                      <a:pt x="48925" y="173511"/>
                      <a:pt x="46177" y="171450"/>
                    </a:cubicBezTo>
                    <a:cubicBezTo>
                      <a:pt x="13378" y="146851"/>
                      <a:pt x="0" y="104024"/>
                      <a:pt x="12965" y="65129"/>
                    </a:cubicBezTo>
                    <a:cubicBezTo>
                      <a:pt x="25930" y="26235"/>
                      <a:pt x="62329" y="0"/>
                      <a:pt x="1033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9228582" y="20212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说出修改点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06206" y="28155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我把＿＿改成＿＿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06206" y="32346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结果发生了＿＿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07730" y="3933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会解释，才是真的会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809750" y="5276850"/>
            <a:ext cx="8572500" cy="647700"/>
            <a:chOff x="1809750" y="5276850"/>
            <a:chExt cx="8572500" cy="647700"/>
          </a:xfrm>
        </p:grpSpPr>
        <p:sp>
          <p:nvSpPr>
            <p:cNvPr id="37" name="Rectangle 37"/>
            <p:cNvSpPr/>
            <p:nvPr/>
          </p:nvSpPr>
          <p:spPr>
            <a:xfrm>
              <a:off x="1809750" y="5276850"/>
              <a:ext cx="8572500" cy="647700"/>
            </a:xfrm>
            <a:prstGeom prst="roundRect">
              <a:avLst>
                <a:gd name="adj" fmla="val 3823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571914" y="5485448"/>
              <a:ext cx="5048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能运行　+　三部分完整　+　能指出修改处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47700" y="666750"/>
            <a:ext cx="4632198" cy="1700784"/>
            <a:chOff x="647700" y="666750"/>
            <a:chExt cx="4632198" cy="1700784"/>
          </a:xfrm>
        </p:grpSpPr>
        <p:sp>
          <p:nvSpPr>
            <p:cNvPr id="2" name="Rectangle 2"/>
            <p:cNvSpPr/>
            <p:nvPr/>
          </p:nvSpPr>
          <p:spPr>
            <a:xfrm>
              <a:off x="666750" y="666750"/>
              <a:ext cx="1809750" cy="4762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230058" y="80295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第二站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47700" y="1353502"/>
              <a:ext cx="330936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新命令小实验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57606" y="201549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让作品更整洁、更会自我介绍、更容易调试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2876550"/>
            <a:ext cx="7315200" cy="2362200"/>
            <a:chOff x="666750" y="2876550"/>
            <a:chExt cx="7315200" cy="2362200"/>
          </a:xfrm>
        </p:grpSpPr>
        <p:sp>
          <p:nvSpPr>
            <p:cNvPr id="7" name="Rectangle 7"/>
            <p:cNvSpPr/>
            <p:nvPr/>
          </p:nvSpPr>
          <p:spPr>
            <a:xfrm>
              <a:off x="666750" y="2876550"/>
              <a:ext cx="7315200" cy="68580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38200" y="2990850"/>
              <a:ext cx="457200" cy="4572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54989" y="31499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56182" y="3078480"/>
              <a:ext cx="20589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显示 / 隐藏海龟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66750" y="3714750"/>
              <a:ext cx="7315200" cy="68580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38200" y="3829050"/>
              <a:ext cx="457200" cy="4572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4989" y="39881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56182" y="391668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给窗口设置标题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66750" y="4552950"/>
              <a:ext cx="7315200" cy="68580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838200" y="466725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54989" y="4826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56182" y="475488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一次只改一处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382000" y="2143125"/>
            <a:ext cx="3048000" cy="3048000"/>
            <a:chOff x="8382000" y="2143125"/>
            <a:chExt cx="3048000" cy="3048000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0" y="2143125"/>
              <a:ext cx="3048000" cy="304800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8348" y="450533"/>
            <a:ext cx="11179302" cy="616077"/>
            <a:chOff x="498348" y="450533"/>
            <a:chExt cx="111793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498348" y="450533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先把命令放回工具箱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8591550" y="457200"/>
              <a:ext cx="3086100" cy="438150"/>
            </a:xfrm>
            <a:prstGeom prst="roundRect">
              <a:avLst>
                <a:gd name="adj" fmla="val 50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97345" y="581025"/>
              <a:ext cx="1874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F1C"/>
                  </a:solidFill>
                  <a:latin typeface="Segoe UI"/>
                  <a:ea typeface="Microsoft YaHei"/>
                  <a:cs typeface="Segoe UI"/>
                </a:rPr>
                <a:t>分类 → 更快选对命令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14350" y="1485900"/>
            <a:ext cx="11049000" cy="4400550"/>
            <a:chOff x="514350" y="1485900"/>
            <a:chExt cx="11049000" cy="4400550"/>
          </a:xfrm>
        </p:grpSpPr>
        <p:sp>
          <p:nvSpPr>
            <p:cNvPr id="6" name="Rectangle 6"/>
            <p:cNvSpPr/>
            <p:nvPr/>
          </p:nvSpPr>
          <p:spPr>
            <a:xfrm>
              <a:off x="514350" y="1485900"/>
              <a:ext cx="5391150" cy="20574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42950" y="1714500"/>
              <a:ext cx="1123950" cy="4572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4616" y="1833086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移动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0575" y="2445544"/>
              <a:ext cx="250371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33415C"/>
                  </a:solidFill>
                  <a:latin typeface="Consolas"/>
                  <a:ea typeface="Consolas"/>
                  <a:cs typeface="Consolas"/>
                </a:rPr>
                <a:t>forward() · left()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2099" y="2916079"/>
              <a:ext cx="13666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667085"/>
                  </a:solidFill>
                  <a:latin typeface="Segoe UI"/>
                  <a:ea typeface="Segoe UI"/>
                  <a:cs typeface="Segoe UI"/>
                </a:rPr>
                <a:t>setheading()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1485900"/>
              <a:ext cx="5391150" cy="20574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400800" y="1714500"/>
              <a:ext cx="1123950" cy="45720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22466" y="1833086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重复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48425" y="2445544"/>
              <a:ext cx="178622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33415C"/>
                  </a:solidFill>
                  <a:latin typeface="Consolas"/>
                  <a:ea typeface="Consolas"/>
                  <a:cs typeface="Consolas"/>
                </a:rPr>
                <a:t>for · range()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49949" y="2916079"/>
              <a:ext cx="1079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让动作重复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14350" y="3829050"/>
              <a:ext cx="5391150" cy="20574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42950" y="4057650"/>
              <a:ext cx="1123950" cy="457200"/>
            </a:xfrm>
            <a:prstGeom prst="roundRect">
              <a:avLst>
                <a:gd name="adj" fmla="val 50000"/>
              </a:avLst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64616" y="4176236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位置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0575" y="4788694"/>
              <a:ext cx="213168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33415C"/>
                  </a:solidFill>
                  <a:latin typeface="Consolas"/>
                  <a:ea typeface="Consolas"/>
                  <a:cs typeface="Consolas"/>
                </a:rPr>
                <a:t>goto() · home()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2099" y="5259229"/>
              <a:ext cx="153680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去坐标 / 回原点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72200" y="3829050"/>
              <a:ext cx="5391150" cy="20574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00800" y="4057650"/>
              <a:ext cx="1123950" cy="457200"/>
            </a:xfrm>
            <a:prstGeom prst="roundRect">
              <a:avLst>
                <a:gd name="adj" fmla="val 500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22466" y="4176236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装饰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48425" y="4788694"/>
              <a:ext cx="231770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33415C"/>
                  </a:solidFill>
                  <a:latin typeface="Consolas"/>
                  <a:ea typeface="Consolas"/>
                  <a:cs typeface="Consolas"/>
                </a:rPr>
                <a:t>color() · circle()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49949" y="5259229"/>
              <a:ext cx="17814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填充 / 背景 / 画圆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8348" y="441008"/>
            <a:ext cx="4466844" cy="827531"/>
            <a:chOff x="498348" y="441008"/>
            <a:chExt cx="4466844" cy="827531"/>
          </a:xfrm>
        </p:grpSpPr>
        <p:sp>
          <p:nvSpPr>
            <p:cNvPr id="2" name="TextBox 2"/>
            <p:cNvSpPr txBox="1"/>
            <p:nvPr/>
          </p:nvSpPr>
          <p:spPr>
            <a:xfrm>
              <a:off x="498348" y="441008"/>
              <a:ext cx="42725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海龟出场，还是退场？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5968" y="9458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只改变光标是否可见，不会擦除已经画好的图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14350" y="1485900"/>
            <a:ext cx="11163300" cy="3505200"/>
            <a:chOff x="514350" y="1485900"/>
            <a:chExt cx="11163300" cy="3505200"/>
          </a:xfrm>
        </p:grpSpPr>
        <p:sp>
          <p:nvSpPr>
            <p:cNvPr id="5" name="Rectangle 5"/>
            <p:cNvSpPr/>
            <p:nvPr/>
          </p:nvSpPr>
          <p:spPr>
            <a:xfrm>
              <a:off x="514350" y="1485900"/>
              <a:ext cx="5295900" cy="35052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381750" y="1485900"/>
              <a:ext cx="5295900" cy="35052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4682" y="1773555"/>
              <a:ext cx="19656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E9BFF"/>
                  </a:solidFill>
                  <a:latin typeface="Segoe UI"/>
                  <a:ea typeface="Segoe UI"/>
                  <a:cs typeface="Segoe UI"/>
                </a:rPr>
                <a:t>showturtle()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52082" y="1773555"/>
              <a:ext cx="18320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6FA5"/>
                  </a:solidFill>
                  <a:latin typeface="Segoe UI"/>
                  <a:ea typeface="Segoe UI"/>
                  <a:cs typeface="Segoe UI"/>
                </a:rPr>
                <a:t>hideturtle()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662504" y="2114550"/>
              <a:ext cx="2199492" cy="2209800"/>
              <a:chOff x="1662504" y="2114550"/>
              <a:chExt cx="2199492" cy="220980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2476500" y="2114550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 rot="3600000">
                <a:off x="2954936" y="2390775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 rot="7200000">
                <a:off x="2954936" y="2943225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 rot="10800000">
                <a:off x="2476500" y="3219450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 rot="-7200000">
                <a:off x="1998064" y="2943225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 rot="-3600000">
                <a:off x="1998064" y="2390775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476500" y="2933700"/>
                <a:ext cx="571500" cy="5715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333750" y="3581400"/>
                <a:ext cx="3238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342900">
                    <a:moveTo>
                      <a:pt x="0" y="0"/>
                    </a:moveTo>
                    <a:lnTo>
                      <a:pt x="323850" y="171450"/>
                    </a:lnTo>
                    <a:lnTo>
                      <a:pt x="0" y="342900"/>
                    </a:lnTo>
                    <a:close/>
                  </a:path>
                </a:pathLst>
              </a:custGeom>
              <a:solidFill>
                <a:srgbClr val="65C466"/>
              </a:solidFill>
              <a:ln>
                <a:noFill/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7529904" y="2114550"/>
              <a:ext cx="2199492" cy="2209800"/>
              <a:chOff x="7529904" y="2114550"/>
              <a:chExt cx="2199492" cy="220980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8343900" y="2114550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 rot="3600000">
                <a:off x="8822336" y="2390775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 rot="7200000">
                <a:off x="8822336" y="2943225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 rot="10800000">
                <a:off x="8343900" y="3219450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 rot="-7200000">
                <a:off x="7865464" y="2943225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 rot="-3600000">
                <a:off x="7865464" y="2390775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8343900" y="2933700"/>
                <a:ext cx="571500" cy="5715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2303501" y="4363879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作画时看得到海龟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70901" y="4363879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展示时画面更整洁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14350" y="5314950"/>
            <a:ext cx="5295900" cy="819150"/>
            <a:chOff x="514350" y="5314950"/>
            <a:chExt cx="5295900" cy="819150"/>
          </a:xfrm>
        </p:grpSpPr>
        <p:sp>
          <p:nvSpPr>
            <p:cNvPr id="29" name="Rectangle 29"/>
            <p:cNvSpPr/>
            <p:nvPr/>
          </p:nvSpPr>
          <p:spPr>
            <a:xfrm>
              <a:off x="514350" y="5314950"/>
              <a:ext cx="5295900" cy="819150"/>
            </a:xfrm>
            <a:prstGeom prst="roundRect">
              <a:avLst>
                <a:gd name="adj" fmla="val 32558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78102" y="56159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72B8"/>
                  </a:solidFill>
                  <a:latin typeface="Segoe UI"/>
                  <a:ea typeface="Microsoft YaHei"/>
                  <a:cs typeface="Segoe UI"/>
                </a:rPr>
                <a:t>显示海龟：适合观察绘制过程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381750" y="5314950"/>
            <a:ext cx="5295900" cy="819150"/>
            <a:chOff x="6381750" y="5314950"/>
            <a:chExt cx="5295900" cy="819150"/>
          </a:xfrm>
        </p:grpSpPr>
        <p:sp>
          <p:nvSpPr>
            <p:cNvPr id="32" name="Rectangle 32"/>
            <p:cNvSpPr/>
            <p:nvPr/>
          </p:nvSpPr>
          <p:spPr>
            <a:xfrm>
              <a:off x="6381750" y="5314950"/>
              <a:ext cx="5295900" cy="819150"/>
            </a:xfrm>
            <a:prstGeom prst="roundRect">
              <a:avLst>
                <a:gd name="adj" fmla="val 32558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45502" y="56159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B83E68"/>
                  </a:solidFill>
                  <a:latin typeface="Segoe UI"/>
                  <a:ea typeface="Microsoft YaHei"/>
                  <a:cs typeface="Segoe UI"/>
                </a:rPr>
                <a:t>隐藏海龟：适合展示最终作品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14350" y="5314950"/>
            <a:ext cx="5295900" cy="819150"/>
            <a:chOff x="514350" y="5314950"/>
            <a:chExt cx="5295900" cy="819150"/>
          </a:xfrm>
        </p:grpSpPr>
        <p:sp>
          <p:nvSpPr>
            <p:cNvPr id="35" name="Rectangle 35"/>
            <p:cNvSpPr/>
            <p:nvPr/>
          </p:nvSpPr>
          <p:spPr>
            <a:xfrm>
              <a:off x="514350" y="5314950"/>
              <a:ext cx="5295900" cy="819150"/>
            </a:xfrm>
            <a:prstGeom prst="roundRect">
              <a:avLst>
                <a:gd name="adj" fmla="val 3255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381750" y="5314950"/>
            <a:ext cx="5295900" cy="819150"/>
            <a:chOff x="6381750" y="5314950"/>
            <a:chExt cx="5295900" cy="819150"/>
          </a:xfrm>
        </p:grpSpPr>
        <p:sp>
          <p:nvSpPr>
            <p:cNvPr id="37" name="Rectangle 37"/>
            <p:cNvSpPr/>
            <p:nvPr/>
          </p:nvSpPr>
          <p:spPr>
            <a:xfrm>
              <a:off x="6381750" y="5314950"/>
              <a:ext cx="5295900" cy="819150"/>
            </a:xfrm>
            <a:prstGeom prst="roundRect">
              <a:avLst>
                <a:gd name="adj" fmla="val 3255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498473" y="432081"/>
            <a:ext cx="11236327" cy="709014"/>
            <a:chOff x="498473" y="432081"/>
            <a:chExt cx="11236327" cy="709014"/>
          </a:xfrm>
        </p:grpSpPr>
        <p:sp>
          <p:nvSpPr>
            <p:cNvPr id="3" name="Freeform 3"/>
            <p:cNvSpPr/>
            <p:nvPr/>
          </p:nvSpPr>
          <p:spPr>
            <a:xfrm>
              <a:off x="498473" y="4320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9472" y="43529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03044"/>
                  </a:solidFill>
                  <a:latin typeface="YouYuan"/>
                  <a:ea typeface="YouYuan"/>
                  <a:cs typeface="YouYuan"/>
                </a:rPr>
                <a:t>海龟显隐实验站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16330" y="8477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选任务，观察小海龟上场或退场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753350" y="438150"/>
              <a:ext cx="3981450" cy="5143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98586" y="616268"/>
              <a:ext cx="3090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①选任务 → ②看代码 → ③运行 → ④看结果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457200" y="1219200"/>
            <a:ext cx="11277600" cy="990600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 w="19050">
            <a:solidFill>
              <a:srgbClr val="CFE5F8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685800" y="1409700"/>
            <a:ext cx="5143500" cy="609600"/>
            <a:chOff x="685800" y="1409700"/>
            <a:chExt cx="5143500" cy="609600"/>
          </a:xfrm>
        </p:grpSpPr>
        <p:sp>
          <p:nvSpPr>
            <p:cNvPr id="10" name="Rectangle 10"/>
            <p:cNvSpPr/>
            <p:nvPr/>
          </p:nvSpPr>
          <p:spPr>
            <a:xfrm>
              <a:off x="685800" y="1409700"/>
              <a:ext cx="5143500" cy="609600"/>
            </a:xfrm>
            <a:prstGeom prst="roundRect">
              <a:avLst>
                <a:gd name="adj" fmla="val 34375"/>
              </a:avLst>
            </a:prstGeom>
            <a:solidFill>
              <a:srgbClr val="EAF5FF"/>
            </a:solidFill>
            <a:ln w="19050">
              <a:solidFill>
                <a:srgbClr val="A8D5FF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927306" y="1616075"/>
              <a:ext cx="297438" cy="215901"/>
            </a:xfrm>
            <a:custGeom>
              <a:avLst/>
              <a:gdLst/>
              <a:ahLst/>
              <a:cxnLst/>
              <a:rect l="l" t="t" r="r" b="b"/>
              <a:pathLst>
                <a:path w="297438" h="215901">
                  <a:moveTo>
                    <a:pt x="149020" y="0"/>
                  </a:moveTo>
                  <a:cubicBezTo>
                    <a:pt x="206908" y="0"/>
                    <a:pt x="255121" y="32776"/>
                    <a:pt x="292931" y="96535"/>
                  </a:cubicBezTo>
                  <a:lnTo>
                    <a:pt x="295899" y="101649"/>
                  </a:lnTo>
                  <a:lnTo>
                    <a:pt x="296507" y="102998"/>
                  </a:lnTo>
                  <a:lnTo>
                    <a:pt x="296911" y="104118"/>
                  </a:lnTo>
                  <a:lnTo>
                    <a:pt x="297100" y="104860"/>
                  </a:lnTo>
                  <a:lnTo>
                    <a:pt x="297289" y="105967"/>
                  </a:lnTo>
                  <a:lnTo>
                    <a:pt x="297438" y="107316"/>
                  </a:lnTo>
                  <a:lnTo>
                    <a:pt x="297438" y="108800"/>
                  </a:lnTo>
                  <a:lnTo>
                    <a:pt x="297249" y="110298"/>
                  </a:lnTo>
                  <a:cubicBezTo>
                    <a:pt x="297160" y="110799"/>
                    <a:pt x="297043" y="111295"/>
                    <a:pt x="296898" y="111782"/>
                  </a:cubicBezTo>
                  <a:lnTo>
                    <a:pt x="296372" y="113240"/>
                  </a:lnTo>
                  <a:lnTo>
                    <a:pt x="295886" y="114252"/>
                  </a:lnTo>
                  <a:lnTo>
                    <a:pt x="295670" y="114657"/>
                  </a:lnTo>
                  <a:cubicBezTo>
                    <a:pt x="258373" y="179913"/>
                    <a:pt x="210659" y="214241"/>
                    <a:pt x="153243" y="215847"/>
                  </a:cubicBezTo>
                  <a:lnTo>
                    <a:pt x="149020" y="215901"/>
                  </a:lnTo>
                  <a:cubicBezTo>
                    <a:pt x="89701" y="215901"/>
                    <a:pt x="40570" y="181505"/>
                    <a:pt x="2369" y="114643"/>
                  </a:cubicBezTo>
                  <a:cubicBezTo>
                    <a:pt x="0" y="110496"/>
                    <a:pt x="0" y="105405"/>
                    <a:pt x="2369" y="101257"/>
                  </a:cubicBezTo>
                  <a:cubicBezTo>
                    <a:pt x="40570" y="34396"/>
                    <a:pt x="89701" y="0"/>
                    <a:pt x="149020" y="0"/>
                  </a:cubicBezTo>
                  <a:close/>
                  <a:moveTo>
                    <a:pt x="149020" y="67469"/>
                  </a:moveTo>
                  <a:cubicBezTo>
                    <a:pt x="126662" y="67469"/>
                    <a:pt x="108538" y="85593"/>
                    <a:pt x="108538" y="107950"/>
                  </a:cubicBezTo>
                  <a:cubicBezTo>
                    <a:pt x="108538" y="130307"/>
                    <a:pt x="126662" y="148432"/>
                    <a:pt x="149020" y="148432"/>
                  </a:cubicBezTo>
                  <a:cubicBezTo>
                    <a:pt x="171377" y="148432"/>
                    <a:pt x="189501" y="130307"/>
                    <a:pt x="189501" y="107950"/>
                  </a:cubicBezTo>
                  <a:cubicBezTo>
                    <a:pt x="189501" y="85593"/>
                    <a:pt x="171377" y="67469"/>
                    <a:pt x="149020" y="67469"/>
                  </a:cubicBezTo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01318" y="1631632"/>
              <a:ext cx="23384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任务 A：让小海龟上场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57900" y="1409700"/>
            <a:ext cx="5448300" cy="609600"/>
            <a:chOff x="6057900" y="1409700"/>
            <a:chExt cx="5448300" cy="609600"/>
          </a:xfrm>
        </p:grpSpPr>
        <p:sp>
          <p:nvSpPr>
            <p:cNvPr id="14" name="Rectangle 14"/>
            <p:cNvSpPr/>
            <p:nvPr/>
          </p:nvSpPr>
          <p:spPr>
            <a:xfrm>
              <a:off x="6057900" y="1409700"/>
              <a:ext cx="5448300" cy="609600"/>
            </a:xfrm>
            <a:prstGeom prst="roundRect">
              <a:avLst>
                <a:gd name="adj" fmla="val 34375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286500" y="1543050"/>
              <a:ext cx="342900" cy="3429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92023" y="16192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11518" y="1631632"/>
              <a:ext cx="23384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任务 B：让小海龟退场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1409700"/>
            <a:ext cx="5143500" cy="609600"/>
            <a:chOff x="685800" y="1409700"/>
            <a:chExt cx="5143500" cy="609600"/>
          </a:xfrm>
        </p:grpSpPr>
        <p:sp>
          <p:nvSpPr>
            <p:cNvPr id="19" name="Rectangle 19"/>
            <p:cNvSpPr/>
            <p:nvPr/>
          </p:nvSpPr>
          <p:spPr>
            <a:xfrm>
              <a:off x="685800" y="1409700"/>
              <a:ext cx="5143500" cy="609600"/>
            </a:xfrm>
            <a:prstGeom prst="roundRect">
              <a:avLst>
                <a:gd name="adj" fmla="val 34375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57900" y="1409700"/>
            <a:ext cx="5448300" cy="609600"/>
            <a:chOff x="6057900" y="1409700"/>
            <a:chExt cx="5448300" cy="609600"/>
          </a:xfrm>
        </p:grpSpPr>
        <p:sp>
          <p:nvSpPr>
            <p:cNvPr id="21" name="Rectangle 21"/>
            <p:cNvSpPr/>
            <p:nvPr/>
          </p:nvSpPr>
          <p:spPr>
            <a:xfrm>
              <a:off x="6057900" y="1409700"/>
              <a:ext cx="5448300" cy="609600"/>
            </a:xfrm>
            <a:prstGeom prst="roundRect">
              <a:avLst>
                <a:gd name="adj" fmla="val 34375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457200" y="2419350"/>
            <a:ext cx="6667500" cy="3886200"/>
            <a:chOff x="457200" y="2419350"/>
            <a:chExt cx="6667500" cy="3886200"/>
          </a:xfrm>
        </p:grpSpPr>
        <p:sp>
          <p:nvSpPr>
            <p:cNvPr id="23" name="Rectangle 23"/>
            <p:cNvSpPr/>
            <p:nvPr/>
          </p:nvSpPr>
          <p:spPr>
            <a:xfrm>
              <a:off x="457200" y="2419350"/>
              <a:ext cx="6667500" cy="38862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04850" y="26670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52500" y="26670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200150" y="2667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649730" y="26574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代码编辑器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85800" y="3009900"/>
              <a:ext cx="6210300" cy="2286000"/>
            </a:xfrm>
            <a:prstGeom prst="roundRect">
              <a:avLst>
                <a:gd name="adj" fmla="val 9167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6780" y="322897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6780" y="3609975"/>
              <a:ext cx="1931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19150" y="4000500"/>
              <a:ext cx="5905500" cy="552450"/>
            </a:xfrm>
            <a:prstGeom prst="roundRect">
              <a:avLst>
                <a:gd name="adj" fmla="val 25862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6780" y="4867275"/>
              <a:ext cx="1408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58418" y="4203382"/>
            <a:ext cx="1800967" cy="322707"/>
            <a:chOff x="1058418" y="4203382"/>
            <a:chExt cx="1800967" cy="322707"/>
          </a:xfrm>
        </p:grpSpPr>
        <p:sp>
          <p:nvSpPr>
            <p:cNvPr id="34" name="TextBox 34"/>
            <p:cNvSpPr txBox="1"/>
            <p:nvPr/>
          </p:nvSpPr>
          <p:spPr>
            <a:xfrm>
              <a:off x="1058418" y="4203382"/>
              <a:ext cx="18009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t.showturtle()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58418" y="4203382"/>
            <a:ext cx="1800967" cy="322707"/>
            <a:chOff x="1058418" y="4203382"/>
            <a:chExt cx="1800967" cy="322707"/>
          </a:xfrm>
        </p:grpSpPr>
        <p:sp>
          <p:nvSpPr>
            <p:cNvPr id="36" name="TextBox 36"/>
            <p:cNvSpPr txBox="1"/>
            <p:nvPr/>
          </p:nvSpPr>
          <p:spPr>
            <a:xfrm>
              <a:off x="1058418" y="4203382"/>
              <a:ext cx="18009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t.showturtle()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58418" y="4203382"/>
            <a:ext cx="1696014" cy="322707"/>
            <a:chOff x="1058418" y="4203382"/>
            <a:chExt cx="1696014" cy="322707"/>
          </a:xfrm>
        </p:grpSpPr>
        <p:sp>
          <p:nvSpPr>
            <p:cNvPr id="38" name="TextBox 38"/>
            <p:cNvSpPr txBox="1"/>
            <p:nvPr/>
          </p:nvSpPr>
          <p:spPr>
            <a:xfrm>
              <a:off x="1058418" y="4203382"/>
              <a:ext cx="16960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40" name="Rectangle 40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77550" y="570833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▶ 运行程序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43" name="Rectangle 43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77550" y="570833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▶ 运行程序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46" name="Rectangle 46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48" name="Rectangle 48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7353300" y="2419350"/>
            <a:ext cx="4381500" cy="3886200"/>
            <a:chOff x="7353300" y="2419350"/>
            <a:chExt cx="4381500" cy="3886200"/>
          </a:xfrm>
        </p:grpSpPr>
        <p:sp>
          <p:nvSpPr>
            <p:cNvPr id="50" name="Rectangle 50"/>
            <p:cNvSpPr/>
            <p:nvPr/>
          </p:nvSpPr>
          <p:spPr>
            <a:xfrm>
              <a:off x="7353300" y="2419350"/>
              <a:ext cx="4381500" cy="3886200"/>
            </a:xfrm>
            <a:prstGeom prst="roundRect">
              <a:avLst>
                <a:gd name="adj" fmla="val 8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87056" y="26631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终端输出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581900" y="3048000"/>
              <a:ext cx="3924300" cy="2266950"/>
            </a:xfrm>
            <a:prstGeom prst="roundRect">
              <a:avLst>
                <a:gd name="adj" fmla="val 10924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7800975" y="3267075"/>
              <a:ext cx="133350" cy="1333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8029575" y="3267075"/>
              <a:ext cx="133350" cy="1333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8258175" y="32670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620000" y="552450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8485429" y="5704046"/>
            <a:ext cx="2117242" cy="278702"/>
            <a:chOff x="8485429" y="5704046"/>
            <a:chExt cx="2117242" cy="278702"/>
          </a:xfrm>
        </p:grpSpPr>
        <p:sp>
          <p:nvSpPr>
            <p:cNvPr id="58" name="TextBox 58"/>
            <p:cNvSpPr txBox="1"/>
            <p:nvPr/>
          </p:nvSpPr>
          <p:spPr>
            <a:xfrm>
              <a:off x="8485429" y="570404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点击运行，观察状态变化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116920" y="5695950"/>
            <a:ext cx="854259" cy="293370"/>
            <a:chOff x="9116920" y="5695950"/>
            <a:chExt cx="854259" cy="293370"/>
          </a:xfrm>
        </p:grpSpPr>
        <p:sp>
          <p:nvSpPr>
            <p:cNvPr id="60" name="TextBox 60"/>
            <p:cNvSpPr txBox="1"/>
            <p:nvPr/>
          </p:nvSpPr>
          <p:spPr>
            <a:xfrm>
              <a:off x="9116920" y="5695950"/>
              <a:ext cx="854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运行中……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425815" y="5695950"/>
            <a:ext cx="2236470" cy="293370"/>
            <a:chOff x="8425815" y="5695950"/>
            <a:chExt cx="2236470" cy="293370"/>
          </a:xfrm>
        </p:grpSpPr>
        <p:sp>
          <p:nvSpPr>
            <p:cNvPr id="62" name="TextBox 62"/>
            <p:cNvSpPr txBox="1"/>
            <p:nvPr/>
          </p:nvSpPr>
          <p:spPr>
            <a:xfrm>
              <a:off x="8425815" y="56959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实验完成，可以再点一次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161972" y="3967162"/>
            <a:ext cx="325755" cy="440055"/>
            <a:chOff x="8161972" y="3967162"/>
            <a:chExt cx="325755" cy="440055"/>
          </a:xfrm>
        </p:grpSpPr>
        <p:sp>
          <p:nvSpPr>
            <p:cNvPr id="64" name="TextBox 64"/>
            <p:cNvSpPr txBox="1"/>
            <p:nvPr/>
          </p:nvSpPr>
          <p:spPr>
            <a:xfrm>
              <a:off x="8161972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显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619172" y="3967162"/>
            <a:ext cx="325755" cy="440055"/>
            <a:chOff x="8619172" y="3967162"/>
            <a:chExt cx="325755" cy="440055"/>
          </a:xfrm>
        </p:grpSpPr>
        <p:sp>
          <p:nvSpPr>
            <p:cNvPr id="66" name="TextBox 66"/>
            <p:cNvSpPr txBox="1"/>
            <p:nvPr/>
          </p:nvSpPr>
          <p:spPr>
            <a:xfrm>
              <a:off x="8619172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示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076372" y="3967162"/>
            <a:ext cx="325755" cy="440055"/>
            <a:chOff x="9076372" y="3967162"/>
            <a:chExt cx="325755" cy="440055"/>
          </a:xfrm>
        </p:grpSpPr>
        <p:sp>
          <p:nvSpPr>
            <p:cNvPr id="68" name="TextBox 68"/>
            <p:cNvSpPr txBox="1"/>
            <p:nvPr/>
          </p:nvSpPr>
          <p:spPr>
            <a:xfrm>
              <a:off x="9076372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完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533572" y="3967162"/>
            <a:ext cx="325755" cy="440055"/>
            <a:chOff x="9533572" y="3967162"/>
            <a:chExt cx="325755" cy="440055"/>
          </a:xfrm>
        </p:grpSpPr>
        <p:sp>
          <p:nvSpPr>
            <p:cNvPr id="70" name="TextBox 70"/>
            <p:cNvSpPr txBox="1"/>
            <p:nvPr/>
          </p:nvSpPr>
          <p:spPr>
            <a:xfrm>
              <a:off x="9533572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成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161972" y="3967162"/>
            <a:ext cx="325755" cy="440055"/>
            <a:chOff x="8161972" y="3967162"/>
            <a:chExt cx="325755" cy="440055"/>
          </a:xfrm>
        </p:grpSpPr>
        <p:sp>
          <p:nvSpPr>
            <p:cNvPr id="72" name="TextBox 72"/>
            <p:cNvSpPr txBox="1"/>
            <p:nvPr/>
          </p:nvSpPr>
          <p:spPr>
            <a:xfrm>
              <a:off x="8161972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隐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619172" y="3967162"/>
            <a:ext cx="325755" cy="440055"/>
            <a:chOff x="8619172" y="3967162"/>
            <a:chExt cx="325755" cy="440055"/>
          </a:xfrm>
        </p:grpSpPr>
        <p:sp>
          <p:nvSpPr>
            <p:cNvPr id="74" name="TextBox 74"/>
            <p:cNvSpPr txBox="1"/>
            <p:nvPr/>
          </p:nvSpPr>
          <p:spPr>
            <a:xfrm>
              <a:off x="8619172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藏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076372" y="3967162"/>
            <a:ext cx="325755" cy="440055"/>
            <a:chOff x="9076372" y="3967162"/>
            <a:chExt cx="325755" cy="440055"/>
          </a:xfrm>
        </p:grpSpPr>
        <p:sp>
          <p:nvSpPr>
            <p:cNvPr id="76" name="TextBox 76"/>
            <p:cNvSpPr txBox="1"/>
            <p:nvPr/>
          </p:nvSpPr>
          <p:spPr>
            <a:xfrm>
              <a:off x="9076372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完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533572" y="3967162"/>
            <a:ext cx="325755" cy="440055"/>
            <a:chOff x="9533572" y="3967162"/>
            <a:chExt cx="325755" cy="440055"/>
          </a:xfrm>
        </p:grpSpPr>
        <p:sp>
          <p:nvSpPr>
            <p:cNvPr id="78" name="TextBox 78"/>
            <p:cNvSpPr txBox="1"/>
            <p:nvPr/>
          </p:nvSpPr>
          <p:spPr>
            <a:xfrm>
              <a:off x="9533572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0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2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3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7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9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0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2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4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6" presetID="1" presetClass="exit" presetSubtype="0" fill="hold" grpId="0" nodeType="withEffect" restart="always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8" presetID="1" presetClass="entr" presetSubtype="0" fill="hold" grpId="0" nodeType="withEffect" restart="always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90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5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7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9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1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3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5" presetID="1" presetClass="exit" presetSubtype="0" fill="hold" grpId="0" nodeType="withEffect" restart="always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7" presetID="1" presetClass="entr" presetSubtype="0" fill="hold" grpId="0" nodeType="withEffect" restart="always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8348" y="441008"/>
            <a:ext cx="620621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33415C"/>
                </a:solidFill>
                <a:latin typeface="Segoe UI"/>
                <a:ea typeface="Microsoft YaHei"/>
                <a:cs typeface="Segoe UI"/>
              </a:rPr>
              <a:t>screen.title()：给作品写名牌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14350" y="1409700"/>
            <a:ext cx="5353050" cy="3638550"/>
            <a:chOff x="514350" y="1409700"/>
            <a:chExt cx="5353050" cy="3638550"/>
          </a:xfrm>
        </p:grpSpPr>
        <p:sp>
          <p:nvSpPr>
            <p:cNvPr id="3" name="Rectangle 3"/>
            <p:cNvSpPr/>
            <p:nvPr/>
          </p:nvSpPr>
          <p:spPr>
            <a:xfrm>
              <a:off x="514350" y="1409700"/>
              <a:ext cx="5353050" cy="3638550"/>
            </a:xfrm>
            <a:prstGeom prst="roundRect">
              <a:avLst>
                <a:gd name="adj" fmla="val 7853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14350" y="1409700"/>
              <a:ext cx="5353050" cy="514350"/>
            </a:xfrm>
            <a:prstGeom prst="roundRect">
              <a:avLst>
                <a:gd name="adj" fmla="val 50000"/>
              </a:avLst>
            </a:prstGeom>
            <a:solidFill>
              <a:srgbClr val="EEF6FF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762000" y="1590675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09650" y="1590675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257300" y="1590675"/>
              <a:ext cx="152400" cy="15240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006" y="2263140"/>
              <a:ext cx="1617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0006" y="2910840"/>
              <a:ext cx="30446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3415C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006" y="3558540"/>
              <a:ext cx="32410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33415C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1149" y="4306729"/>
              <a:ext cx="313205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先创建窗口对象，再调用 title()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1409700"/>
            <a:ext cx="5391150" cy="3638550"/>
            <a:chOff x="6286500" y="1409700"/>
            <a:chExt cx="5391150" cy="3638550"/>
          </a:xfrm>
        </p:grpSpPr>
        <p:sp>
          <p:nvSpPr>
            <p:cNvPr id="13" name="Rectangle 13"/>
            <p:cNvSpPr/>
            <p:nvPr/>
          </p:nvSpPr>
          <p:spPr>
            <a:xfrm>
              <a:off x="6286500" y="1409700"/>
              <a:ext cx="5391150" cy="3638550"/>
            </a:xfrm>
            <a:prstGeom prst="roundRect">
              <a:avLst>
                <a:gd name="adj" fmla="val 7853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86500" y="1409700"/>
              <a:ext cx="5391150" cy="609600"/>
            </a:xfrm>
            <a:prstGeom prst="roundRect">
              <a:avLst>
                <a:gd name="adj" fmla="val 4687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534150" y="1638300"/>
              <a:ext cx="152400" cy="152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877050" y="1628775"/>
              <a:ext cx="1714500" cy="1714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924849" y="2362200"/>
              <a:ext cx="2114452" cy="2133600"/>
              <a:chOff x="7924849" y="2362200"/>
              <a:chExt cx="2114452" cy="2133600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8715375" y="2362200"/>
                <a:ext cx="533400" cy="10668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 rot="3600000">
                <a:off x="9177313" y="2628900"/>
                <a:ext cx="533400" cy="10668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 rot="7200000">
                <a:off x="9177313" y="3162300"/>
                <a:ext cx="533400" cy="10668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 rot="10800000">
                <a:off x="8715375" y="3429000"/>
                <a:ext cx="533400" cy="10668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 rot="-7200000">
                <a:off x="8253437" y="3162300"/>
                <a:ext cx="533400" cy="10668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 rot="-3600000">
                <a:off x="8253437" y="2628900"/>
                <a:ext cx="533400" cy="10668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8715375" y="3162300"/>
                <a:ext cx="533400" cy="5334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</p:grpSp>
      </p:grpSp>
      <p:grpSp>
        <p:nvGrpSpPr>
          <p:cNvPr id="28" name="Group 28"/>
          <p:cNvGrpSpPr/>
          <p:nvPr/>
        </p:nvGrpSpPr>
        <p:grpSpPr>
          <a:xfrm>
            <a:off x="6877050" y="1524000"/>
            <a:ext cx="3429000" cy="401765"/>
            <a:chOff x="6877050" y="1524000"/>
            <a:chExt cx="3429000" cy="401765"/>
          </a:xfrm>
        </p:grpSpPr>
        <p:sp>
          <p:nvSpPr>
            <p:cNvPr id="26" name="Rectangle 26"/>
            <p:cNvSpPr/>
            <p:nvPr/>
          </p:nvSpPr>
          <p:spPr>
            <a:xfrm>
              <a:off x="6877050" y="1524000"/>
              <a:ext cx="3429000" cy="381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27861" y="160305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小红花画展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5372100"/>
            <a:ext cx="5391150" cy="742950"/>
            <a:chOff x="6286500" y="5372100"/>
            <a:chExt cx="5391150" cy="742950"/>
          </a:xfrm>
        </p:grpSpPr>
        <p:sp>
          <p:nvSpPr>
            <p:cNvPr id="29" name="Rectangle 29"/>
            <p:cNvSpPr/>
            <p:nvPr/>
          </p:nvSpPr>
          <p:spPr>
            <a:xfrm>
              <a:off x="6286500" y="5372100"/>
              <a:ext cx="5391150" cy="742950"/>
            </a:xfrm>
            <a:prstGeom prst="roundRect">
              <a:avLst>
                <a:gd name="adj" fmla="val 3333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03667" y="56540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点击设置窗口标题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86500" y="5372100"/>
              <a:ext cx="5391150" cy="742950"/>
            </a:xfrm>
            <a:prstGeom prst="roundRect">
              <a:avLst>
                <a:gd name="adj" fmla="val 333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498475" y="435292"/>
            <a:ext cx="11236325" cy="705803"/>
            <a:chOff x="498475" y="435292"/>
            <a:chExt cx="11236325" cy="705803"/>
          </a:xfrm>
        </p:grpSpPr>
        <p:sp>
          <p:nvSpPr>
            <p:cNvPr id="3" name="Freeform 3"/>
            <p:cNvSpPr/>
            <p:nvPr/>
          </p:nvSpPr>
          <p:spPr>
            <a:xfrm>
              <a:off x="498475" y="461963"/>
              <a:ext cx="412751" cy="371476"/>
            </a:xfrm>
            <a:custGeom>
              <a:avLst/>
              <a:gdLst/>
              <a:ahLst/>
              <a:cxnLst/>
              <a:rect l="l" t="t" r="r" b="b"/>
              <a:pathLst>
                <a:path w="412751" h="371476">
                  <a:moveTo>
                    <a:pt x="103188" y="371476"/>
                  </a:moveTo>
                  <a:cubicBezTo>
                    <a:pt x="91790" y="371476"/>
                    <a:pt x="82550" y="362236"/>
                    <a:pt x="82550" y="350838"/>
                  </a:cubicBezTo>
                  <a:cubicBezTo>
                    <a:pt x="82550" y="339440"/>
                    <a:pt x="91790" y="330201"/>
                    <a:pt x="103188" y="330201"/>
                  </a:cubicBezTo>
                  <a:lnTo>
                    <a:pt x="123825" y="330201"/>
                  </a:lnTo>
                  <a:lnTo>
                    <a:pt x="123825" y="288925"/>
                  </a:lnTo>
                  <a:lnTo>
                    <a:pt x="41275" y="288925"/>
                  </a:lnTo>
                  <a:cubicBezTo>
                    <a:pt x="18479" y="288925"/>
                    <a:pt x="0" y="270446"/>
                    <a:pt x="0" y="247650"/>
                  </a:cubicBezTo>
                  <a:lnTo>
                    <a:pt x="0" y="41275"/>
                  </a:lnTo>
                  <a:cubicBezTo>
                    <a:pt x="0" y="18479"/>
                    <a:pt x="18479" y="0"/>
                    <a:pt x="41275" y="0"/>
                  </a:cubicBezTo>
                  <a:lnTo>
                    <a:pt x="371476" y="0"/>
                  </a:lnTo>
                  <a:cubicBezTo>
                    <a:pt x="394271" y="0"/>
                    <a:pt x="412751" y="18479"/>
                    <a:pt x="412751" y="41275"/>
                  </a:cubicBezTo>
                  <a:lnTo>
                    <a:pt x="412751" y="247650"/>
                  </a:lnTo>
                  <a:cubicBezTo>
                    <a:pt x="412751" y="270446"/>
                    <a:pt x="394271" y="288925"/>
                    <a:pt x="371476" y="288925"/>
                  </a:cubicBezTo>
                  <a:lnTo>
                    <a:pt x="288925" y="288925"/>
                  </a:lnTo>
                  <a:lnTo>
                    <a:pt x="288925" y="330201"/>
                  </a:lnTo>
                  <a:lnTo>
                    <a:pt x="309563" y="330201"/>
                  </a:lnTo>
                  <a:cubicBezTo>
                    <a:pt x="320961" y="330201"/>
                    <a:pt x="330201" y="339440"/>
                    <a:pt x="330201" y="350838"/>
                  </a:cubicBezTo>
                  <a:cubicBezTo>
                    <a:pt x="330201" y="362236"/>
                    <a:pt x="320961" y="371476"/>
                    <a:pt x="309563" y="371476"/>
                  </a:cubicBezTo>
                  <a:close/>
                  <a:moveTo>
                    <a:pt x="247650" y="288925"/>
                  </a:moveTo>
                  <a:lnTo>
                    <a:pt x="165100" y="288925"/>
                  </a:lnTo>
                  <a:lnTo>
                    <a:pt x="165100" y="330201"/>
                  </a:lnTo>
                  <a:lnTo>
                    <a:pt x="247650" y="330201"/>
                  </a:ln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9472" y="43529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03044"/>
                  </a:solidFill>
                  <a:latin typeface="YouYuan"/>
                  <a:ea typeface="YouYuan"/>
                  <a:cs typeface="YouYuan"/>
                </a:rPr>
                <a:t>窗口标题实验站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16330" y="8477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只改双引号里的文字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753350" y="438150"/>
              <a:ext cx="3981450" cy="5143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98586" y="616268"/>
              <a:ext cx="3090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①选任务 → ②看代码 → ③运行 → ④看结果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457200" y="1219200"/>
            <a:ext cx="11277600" cy="990600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 w="19050">
            <a:solidFill>
              <a:srgbClr val="CFE5F8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647700" y="1409700"/>
            <a:ext cx="3352800" cy="609600"/>
            <a:chOff x="647700" y="1409700"/>
            <a:chExt cx="3352800" cy="609600"/>
          </a:xfrm>
        </p:grpSpPr>
        <p:sp>
          <p:nvSpPr>
            <p:cNvPr id="10" name="Rectangle 10"/>
            <p:cNvSpPr/>
            <p:nvPr/>
          </p:nvSpPr>
          <p:spPr>
            <a:xfrm>
              <a:off x="647700" y="1409700"/>
              <a:ext cx="3352800" cy="609600"/>
            </a:xfrm>
            <a:prstGeom prst="roundRect">
              <a:avLst>
                <a:gd name="adj" fmla="val 3437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84350" y="1620679"/>
              <a:ext cx="1079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小红花画展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191000" y="1409700"/>
            <a:ext cx="3352800" cy="609600"/>
            <a:chOff x="4191000" y="1409700"/>
            <a:chExt cx="3352800" cy="609600"/>
          </a:xfrm>
        </p:grpSpPr>
        <p:sp>
          <p:nvSpPr>
            <p:cNvPr id="13" name="Rectangle 13"/>
            <p:cNvSpPr/>
            <p:nvPr/>
          </p:nvSpPr>
          <p:spPr>
            <a:xfrm>
              <a:off x="4191000" y="1409700"/>
              <a:ext cx="3352800" cy="609600"/>
            </a:xfrm>
            <a:prstGeom prst="roundRect">
              <a:avLst>
                <a:gd name="adj" fmla="val 3437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1300" y="1620679"/>
              <a:ext cx="1292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我的海龟作品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734300" y="1409700"/>
            <a:ext cx="3810000" cy="609600"/>
            <a:chOff x="7734300" y="1409700"/>
            <a:chExt cx="3810000" cy="609600"/>
          </a:xfrm>
        </p:grpSpPr>
        <p:sp>
          <p:nvSpPr>
            <p:cNvPr id="16" name="Rectangle 16"/>
            <p:cNvSpPr/>
            <p:nvPr/>
          </p:nvSpPr>
          <p:spPr>
            <a:xfrm>
              <a:off x="7734300" y="1409700"/>
              <a:ext cx="3810000" cy="609600"/>
            </a:xfrm>
            <a:prstGeom prst="roundRect">
              <a:avLst>
                <a:gd name="adj" fmla="val 3437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99550" y="1620679"/>
              <a:ext cx="1079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送你一朵花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7700" y="1409700"/>
            <a:ext cx="3352800" cy="609600"/>
            <a:chOff x="647700" y="1409700"/>
            <a:chExt cx="3352800" cy="609600"/>
          </a:xfrm>
        </p:grpSpPr>
        <p:sp>
          <p:nvSpPr>
            <p:cNvPr id="19" name="Rectangle 19"/>
            <p:cNvSpPr/>
            <p:nvPr/>
          </p:nvSpPr>
          <p:spPr>
            <a:xfrm>
              <a:off x="647700" y="1409700"/>
              <a:ext cx="3352800" cy="609600"/>
            </a:xfrm>
            <a:prstGeom prst="roundRect">
              <a:avLst>
                <a:gd name="adj" fmla="val 34375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191000" y="1409700"/>
            <a:ext cx="3352800" cy="609600"/>
            <a:chOff x="4191000" y="1409700"/>
            <a:chExt cx="3352800" cy="609600"/>
          </a:xfrm>
        </p:grpSpPr>
        <p:sp>
          <p:nvSpPr>
            <p:cNvPr id="21" name="Rectangle 21"/>
            <p:cNvSpPr/>
            <p:nvPr/>
          </p:nvSpPr>
          <p:spPr>
            <a:xfrm>
              <a:off x="4191000" y="1409700"/>
              <a:ext cx="3352800" cy="609600"/>
            </a:xfrm>
            <a:prstGeom prst="roundRect">
              <a:avLst>
                <a:gd name="adj" fmla="val 34375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734300" y="1409700"/>
            <a:ext cx="3810000" cy="609600"/>
            <a:chOff x="7734300" y="1409700"/>
            <a:chExt cx="3810000" cy="6096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409700"/>
              <a:ext cx="3810000" cy="609600"/>
            </a:xfrm>
            <a:prstGeom prst="roundRect">
              <a:avLst>
                <a:gd name="adj" fmla="val 34375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457200" y="2419350"/>
            <a:ext cx="6667500" cy="3886200"/>
            <a:chOff x="457200" y="2419350"/>
            <a:chExt cx="6667500" cy="3886200"/>
          </a:xfrm>
        </p:grpSpPr>
        <p:sp>
          <p:nvSpPr>
            <p:cNvPr id="25" name="Rectangle 25"/>
            <p:cNvSpPr/>
            <p:nvPr/>
          </p:nvSpPr>
          <p:spPr>
            <a:xfrm>
              <a:off x="457200" y="2419350"/>
              <a:ext cx="6667500" cy="38862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04850" y="26670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52500" y="26670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200150" y="2667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649730" y="26574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代码编辑器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5800" y="3009900"/>
              <a:ext cx="6210300" cy="2286000"/>
            </a:xfrm>
            <a:prstGeom prst="roundRect">
              <a:avLst>
                <a:gd name="adj" fmla="val 9167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6780" y="322897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6780" y="3609975"/>
              <a:ext cx="25371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19150" y="4000500"/>
              <a:ext cx="5905500" cy="552450"/>
            </a:xfrm>
            <a:prstGeom prst="roundRect">
              <a:avLst>
                <a:gd name="adj" fmla="val 25862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6780" y="4867275"/>
              <a:ext cx="1408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58418" y="4203382"/>
            <a:ext cx="3063181" cy="322707"/>
            <a:chOff x="1058418" y="4203382"/>
            <a:chExt cx="3063181" cy="322707"/>
          </a:xfrm>
        </p:grpSpPr>
        <p:sp>
          <p:nvSpPr>
            <p:cNvPr id="36" name="TextBox 36"/>
            <p:cNvSpPr txBox="1"/>
            <p:nvPr/>
          </p:nvSpPr>
          <p:spPr>
            <a:xfrm>
              <a:off x="1058418" y="4203382"/>
              <a:ext cx="30631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9BFF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58418" y="4203382"/>
            <a:ext cx="3063181" cy="322707"/>
            <a:chOff x="1058418" y="4203382"/>
            <a:chExt cx="3063181" cy="322707"/>
          </a:xfrm>
        </p:grpSpPr>
        <p:sp>
          <p:nvSpPr>
            <p:cNvPr id="38" name="TextBox 38"/>
            <p:cNvSpPr txBox="1"/>
            <p:nvPr/>
          </p:nvSpPr>
          <p:spPr>
            <a:xfrm>
              <a:off x="1058418" y="4203382"/>
              <a:ext cx="30631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9BFF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58418" y="4203382"/>
            <a:ext cx="3285304" cy="322707"/>
            <a:chOff x="1058418" y="4203382"/>
            <a:chExt cx="3285304" cy="322707"/>
          </a:xfrm>
        </p:grpSpPr>
        <p:sp>
          <p:nvSpPr>
            <p:cNvPr id="40" name="TextBox 40"/>
            <p:cNvSpPr txBox="1"/>
            <p:nvPr/>
          </p:nvSpPr>
          <p:spPr>
            <a:xfrm>
              <a:off x="1058418" y="4203382"/>
              <a:ext cx="32853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F1C"/>
                  </a:solidFill>
                  <a:latin typeface="Consolas"/>
                  <a:ea typeface="Microsoft YaHei"/>
                  <a:cs typeface="Consolas"/>
                </a:rPr>
                <a:t>screen.title("我的海龟作品")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58418" y="4203382"/>
            <a:ext cx="3063181" cy="322707"/>
            <a:chOff x="1058418" y="4203382"/>
            <a:chExt cx="3063181" cy="322707"/>
          </a:xfrm>
        </p:grpSpPr>
        <p:sp>
          <p:nvSpPr>
            <p:cNvPr id="42" name="TextBox 42"/>
            <p:cNvSpPr txBox="1"/>
            <p:nvPr/>
          </p:nvSpPr>
          <p:spPr>
            <a:xfrm>
              <a:off x="1058418" y="4203382"/>
              <a:ext cx="30631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6FA5"/>
                  </a:solidFill>
                  <a:latin typeface="Consolas"/>
                  <a:ea typeface="Microsoft YaHei"/>
                  <a:cs typeface="Consolas"/>
                </a:rPr>
                <a:t>screen.title("送你一朵花")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44" name="Rectangle 44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77550" y="570833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▶ 运行程序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47" name="Rectangle 47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77550" y="570833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▶ 运行程序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50" name="Rectangle 50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77550" y="570833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▶ 运行程序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53" name="Rectangle 53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55" name="Rectangle 55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57" name="Rectangle 57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7353300" y="2419350"/>
            <a:ext cx="4381500" cy="3886200"/>
            <a:chOff x="7353300" y="2419350"/>
            <a:chExt cx="4381500" cy="3886200"/>
          </a:xfrm>
        </p:grpSpPr>
        <p:sp>
          <p:nvSpPr>
            <p:cNvPr id="59" name="Rectangle 59"/>
            <p:cNvSpPr/>
            <p:nvPr/>
          </p:nvSpPr>
          <p:spPr>
            <a:xfrm>
              <a:off x="7353300" y="2419350"/>
              <a:ext cx="4381500" cy="3886200"/>
            </a:xfrm>
            <a:prstGeom prst="roundRect">
              <a:avLst>
                <a:gd name="adj" fmla="val 8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87056" y="26631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终端输出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581900" y="3048000"/>
              <a:ext cx="3924300" cy="2266950"/>
            </a:xfrm>
            <a:prstGeom prst="roundRect">
              <a:avLst>
                <a:gd name="adj" fmla="val 10924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7800975" y="3267075"/>
              <a:ext cx="133350" cy="1333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8029575" y="3267075"/>
              <a:ext cx="133350" cy="1333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8258175" y="32670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20000" y="552450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8485429" y="5704046"/>
            <a:ext cx="2117242" cy="278702"/>
            <a:chOff x="8485429" y="5704046"/>
            <a:chExt cx="2117242" cy="278702"/>
          </a:xfrm>
        </p:grpSpPr>
        <p:sp>
          <p:nvSpPr>
            <p:cNvPr id="67" name="TextBox 67"/>
            <p:cNvSpPr txBox="1"/>
            <p:nvPr/>
          </p:nvSpPr>
          <p:spPr>
            <a:xfrm>
              <a:off x="8485429" y="570404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点击运行，设置窗口标题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116920" y="5695950"/>
            <a:ext cx="854259" cy="293370"/>
            <a:chOff x="9116920" y="5695950"/>
            <a:chExt cx="854259" cy="293370"/>
          </a:xfrm>
        </p:grpSpPr>
        <p:sp>
          <p:nvSpPr>
            <p:cNvPr id="69" name="TextBox 69"/>
            <p:cNvSpPr txBox="1"/>
            <p:nvPr/>
          </p:nvSpPr>
          <p:spPr>
            <a:xfrm>
              <a:off x="9116920" y="5695950"/>
              <a:ext cx="854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运行中……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930640" y="5695950"/>
            <a:ext cx="1226820" cy="293370"/>
            <a:chOff x="8930640" y="5695950"/>
            <a:chExt cx="1226820" cy="293370"/>
          </a:xfrm>
        </p:grpSpPr>
        <p:sp>
          <p:nvSpPr>
            <p:cNvPr id="71" name="TextBox 71"/>
            <p:cNvSpPr txBox="1"/>
            <p:nvPr/>
          </p:nvSpPr>
          <p:spPr>
            <a:xfrm>
              <a:off x="8930640" y="56959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窗口挂牌成功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076248" y="3967162"/>
            <a:ext cx="325755" cy="440055"/>
            <a:chOff x="8076248" y="3967162"/>
            <a:chExt cx="325755" cy="440055"/>
          </a:xfrm>
        </p:grpSpPr>
        <p:sp>
          <p:nvSpPr>
            <p:cNvPr id="73" name="TextBox 73"/>
            <p:cNvSpPr txBox="1"/>
            <p:nvPr/>
          </p:nvSpPr>
          <p:spPr>
            <a:xfrm>
              <a:off x="807624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小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514398" y="3967162"/>
            <a:ext cx="325755" cy="440055"/>
            <a:chOff x="8514398" y="3967162"/>
            <a:chExt cx="325755" cy="440055"/>
          </a:xfrm>
        </p:grpSpPr>
        <p:sp>
          <p:nvSpPr>
            <p:cNvPr id="75" name="TextBox 75"/>
            <p:cNvSpPr txBox="1"/>
            <p:nvPr/>
          </p:nvSpPr>
          <p:spPr>
            <a:xfrm>
              <a:off x="851439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红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952548" y="3967162"/>
            <a:ext cx="325755" cy="440055"/>
            <a:chOff x="8952548" y="3967162"/>
            <a:chExt cx="325755" cy="440055"/>
          </a:xfrm>
        </p:grpSpPr>
        <p:sp>
          <p:nvSpPr>
            <p:cNvPr id="77" name="TextBox 77"/>
            <p:cNvSpPr txBox="1"/>
            <p:nvPr/>
          </p:nvSpPr>
          <p:spPr>
            <a:xfrm>
              <a:off x="895254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花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390698" y="3967162"/>
            <a:ext cx="325755" cy="440055"/>
            <a:chOff x="9390698" y="3967162"/>
            <a:chExt cx="325755" cy="440055"/>
          </a:xfrm>
        </p:grpSpPr>
        <p:sp>
          <p:nvSpPr>
            <p:cNvPr id="79" name="TextBox 79"/>
            <p:cNvSpPr txBox="1"/>
            <p:nvPr/>
          </p:nvSpPr>
          <p:spPr>
            <a:xfrm>
              <a:off x="939069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画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828847" y="3967162"/>
            <a:ext cx="325755" cy="440055"/>
            <a:chOff x="9828847" y="3967162"/>
            <a:chExt cx="325755" cy="440055"/>
          </a:xfrm>
        </p:grpSpPr>
        <p:sp>
          <p:nvSpPr>
            <p:cNvPr id="81" name="TextBox 81"/>
            <p:cNvSpPr txBox="1"/>
            <p:nvPr/>
          </p:nvSpPr>
          <p:spPr>
            <a:xfrm>
              <a:off x="9828847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展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866698" y="3967162"/>
            <a:ext cx="325755" cy="440055"/>
            <a:chOff x="7866698" y="3967162"/>
            <a:chExt cx="325755" cy="440055"/>
          </a:xfrm>
        </p:grpSpPr>
        <p:sp>
          <p:nvSpPr>
            <p:cNvPr id="83" name="TextBox 83"/>
            <p:cNvSpPr txBox="1"/>
            <p:nvPr/>
          </p:nvSpPr>
          <p:spPr>
            <a:xfrm>
              <a:off x="786669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我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304848" y="3967162"/>
            <a:ext cx="325755" cy="440055"/>
            <a:chOff x="8304848" y="3967162"/>
            <a:chExt cx="325755" cy="440055"/>
          </a:xfrm>
        </p:grpSpPr>
        <p:sp>
          <p:nvSpPr>
            <p:cNvPr id="85" name="TextBox 85"/>
            <p:cNvSpPr txBox="1"/>
            <p:nvPr/>
          </p:nvSpPr>
          <p:spPr>
            <a:xfrm>
              <a:off x="830484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的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742998" y="3967162"/>
            <a:ext cx="325755" cy="440055"/>
            <a:chOff x="8742998" y="3967162"/>
            <a:chExt cx="325755" cy="440055"/>
          </a:xfrm>
        </p:grpSpPr>
        <p:sp>
          <p:nvSpPr>
            <p:cNvPr id="87" name="TextBox 87"/>
            <p:cNvSpPr txBox="1"/>
            <p:nvPr/>
          </p:nvSpPr>
          <p:spPr>
            <a:xfrm>
              <a:off x="874299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海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181148" y="3967162"/>
            <a:ext cx="325755" cy="440055"/>
            <a:chOff x="9181148" y="3967162"/>
            <a:chExt cx="325755" cy="440055"/>
          </a:xfrm>
        </p:grpSpPr>
        <p:sp>
          <p:nvSpPr>
            <p:cNvPr id="89" name="TextBox 89"/>
            <p:cNvSpPr txBox="1"/>
            <p:nvPr/>
          </p:nvSpPr>
          <p:spPr>
            <a:xfrm>
              <a:off x="918114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龟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619298" y="3967162"/>
            <a:ext cx="325755" cy="440055"/>
            <a:chOff x="9619298" y="3967162"/>
            <a:chExt cx="325755" cy="440055"/>
          </a:xfrm>
        </p:grpSpPr>
        <p:sp>
          <p:nvSpPr>
            <p:cNvPr id="91" name="TextBox 91"/>
            <p:cNvSpPr txBox="1"/>
            <p:nvPr/>
          </p:nvSpPr>
          <p:spPr>
            <a:xfrm>
              <a:off x="961929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作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0057447" y="3967162"/>
            <a:ext cx="325755" cy="440055"/>
            <a:chOff x="10057447" y="3967162"/>
            <a:chExt cx="325755" cy="440055"/>
          </a:xfrm>
        </p:grpSpPr>
        <p:sp>
          <p:nvSpPr>
            <p:cNvPr id="93" name="TextBox 93"/>
            <p:cNvSpPr txBox="1"/>
            <p:nvPr/>
          </p:nvSpPr>
          <p:spPr>
            <a:xfrm>
              <a:off x="10057447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品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076248" y="3967162"/>
            <a:ext cx="325755" cy="440055"/>
            <a:chOff x="8076248" y="3967162"/>
            <a:chExt cx="325755" cy="440055"/>
          </a:xfrm>
        </p:grpSpPr>
        <p:sp>
          <p:nvSpPr>
            <p:cNvPr id="95" name="TextBox 95"/>
            <p:cNvSpPr txBox="1"/>
            <p:nvPr/>
          </p:nvSpPr>
          <p:spPr>
            <a:xfrm>
              <a:off x="807624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送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514398" y="3967162"/>
            <a:ext cx="325755" cy="440055"/>
            <a:chOff x="8514398" y="3967162"/>
            <a:chExt cx="325755" cy="440055"/>
          </a:xfrm>
        </p:grpSpPr>
        <p:sp>
          <p:nvSpPr>
            <p:cNvPr id="97" name="TextBox 97"/>
            <p:cNvSpPr txBox="1"/>
            <p:nvPr/>
          </p:nvSpPr>
          <p:spPr>
            <a:xfrm>
              <a:off x="851439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你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8952548" y="3967162"/>
            <a:ext cx="325755" cy="440055"/>
            <a:chOff x="8952548" y="3967162"/>
            <a:chExt cx="325755" cy="440055"/>
          </a:xfrm>
        </p:grpSpPr>
        <p:sp>
          <p:nvSpPr>
            <p:cNvPr id="99" name="TextBox 99"/>
            <p:cNvSpPr txBox="1"/>
            <p:nvPr/>
          </p:nvSpPr>
          <p:spPr>
            <a:xfrm>
              <a:off x="895254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390698" y="3967162"/>
            <a:ext cx="325755" cy="440055"/>
            <a:chOff x="9390698" y="3967162"/>
            <a:chExt cx="325755" cy="440055"/>
          </a:xfrm>
        </p:grpSpPr>
        <p:sp>
          <p:nvSpPr>
            <p:cNvPr id="101" name="TextBox 101"/>
            <p:cNvSpPr txBox="1"/>
            <p:nvPr/>
          </p:nvSpPr>
          <p:spPr>
            <a:xfrm>
              <a:off x="939069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朵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9828847" y="3967162"/>
            <a:ext cx="325755" cy="440055"/>
            <a:chOff x="9828847" y="3967162"/>
            <a:chExt cx="325755" cy="440055"/>
          </a:xfrm>
        </p:grpSpPr>
        <p:sp>
          <p:nvSpPr>
            <p:cNvPr id="103" name="TextBox 103"/>
            <p:cNvSpPr txBox="1"/>
            <p:nvPr/>
          </p:nvSpPr>
          <p:spPr>
            <a:xfrm>
              <a:off x="9828847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花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1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3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7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0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2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6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9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1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3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5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7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9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1" presetID="1" presetClass="exit" presetSubtype="0" fill="hold" grpId="0" nodeType="withEffect" restart="always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3" presetID="1" presetClass="entr" presetSubtype="0" fill="hold" grpId="0" nodeType="withEffect" restart="always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65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6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8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0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2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4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6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8" presetID="1" presetClass="entr" presetSubtype="0" fill="hold" grpId="0" nodeType="with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0" presetID="1" presetClass="exit" presetSubtype="0" fill="hold" grpId="0" nodeType="withEffect" restart="always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2" presetID="1" presetClass="entr" presetSubtype="0" fill="hold" grpId="0" nodeType="withEffect" restart="always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5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7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9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1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3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5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7" presetID="1" presetClass="exit" presetSubtype="0" fill="hold" grpId="0" nodeType="withEffect" restart="always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9" presetID="1" presetClass="entr" presetSubtype="0" fill="hold" grpId="0" nodeType="withEffect" restart="always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8348" y="441008"/>
            <a:ext cx="4244721" cy="827531"/>
            <a:chOff x="498348" y="441008"/>
            <a:chExt cx="4244721" cy="827531"/>
          </a:xfrm>
        </p:grpSpPr>
        <p:sp>
          <p:nvSpPr>
            <p:cNvPr id="2" name="TextBox 2"/>
            <p:cNvSpPr txBox="1"/>
            <p:nvPr/>
          </p:nvSpPr>
          <p:spPr>
            <a:xfrm>
              <a:off x="498348" y="44100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一次只改一处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5968" y="945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小步测试：错误更容易定位，也更容易回退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14350" y="1771650"/>
            <a:ext cx="10991850" cy="2095500"/>
            <a:chOff x="514350" y="1771650"/>
            <a:chExt cx="10991850" cy="2095500"/>
          </a:xfrm>
        </p:grpSpPr>
        <p:sp>
          <p:nvSpPr>
            <p:cNvPr id="5" name="Rectangle 5"/>
            <p:cNvSpPr/>
            <p:nvPr/>
          </p:nvSpPr>
          <p:spPr>
            <a:xfrm>
              <a:off x="514350" y="1771650"/>
              <a:ext cx="2476500" cy="209550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723900" y="1981200"/>
              <a:ext cx="533400" cy="5334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11487" y="21488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5177" y="2821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运行基础版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2990850" y="270510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114300"/>
                  </a:moveTo>
                  <a:lnTo>
                    <a:pt x="304800" y="114300"/>
                  </a:lnTo>
                  <a:lnTo>
                    <a:pt x="190500" y="0"/>
                  </a:lnTo>
                  <a:moveTo>
                    <a:pt x="304800" y="114300"/>
                  </a:moveTo>
                  <a:lnTo>
                    <a:pt x="190500" y="228600"/>
                  </a:lnTo>
                </a:path>
              </a:pathLst>
            </a:custGeom>
            <a:noFill/>
            <a:ln w="57150" cap="rnd">
              <a:solidFill>
                <a:srgbClr val="AFC7DC"/>
              </a:solidFill>
              <a:round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352800" y="1771650"/>
              <a:ext cx="2476500" cy="209550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3562350" y="1981200"/>
              <a:ext cx="533400" cy="533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749937" y="21488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4978" y="28213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只改一处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829300" y="270510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114300"/>
                  </a:moveTo>
                  <a:lnTo>
                    <a:pt x="304800" y="114300"/>
                  </a:lnTo>
                  <a:lnTo>
                    <a:pt x="190500" y="0"/>
                  </a:lnTo>
                  <a:moveTo>
                    <a:pt x="304800" y="114300"/>
                  </a:moveTo>
                  <a:lnTo>
                    <a:pt x="190500" y="228600"/>
                  </a:lnTo>
                </a:path>
              </a:pathLst>
            </a:custGeom>
            <a:noFill/>
            <a:ln w="57150" cap="rnd">
              <a:solidFill>
                <a:srgbClr val="AFC7DC"/>
              </a:solidFill>
              <a:round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191250" y="1771650"/>
              <a:ext cx="2476500" cy="209550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400800" y="198120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88387" y="21488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53428" y="28213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再次运行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667750" y="270510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114300"/>
                  </a:moveTo>
                  <a:lnTo>
                    <a:pt x="304800" y="114300"/>
                  </a:lnTo>
                  <a:lnTo>
                    <a:pt x="190500" y="0"/>
                  </a:lnTo>
                  <a:moveTo>
                    <a:pt x="304800" y="114300"/>
                  </a:moveTo>
                  <a:lnTo>
                    <a:pt x="190500" y="228600"/>
                  </a:lnTo>
                </a:path>
              </a:pathLst>
            </a:custGeom>
            <a:noFill/>
            <a:ln w="57150" cap="rnd">
              <a:solidFill>
                <a:srgbClr val="AFC7DC"/>
              </a:solidFill>
              <a:round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029700" y="1771650"/>
              <a:ext cx="2476500" cy="209550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9239250" y="1981200"/>
              <a:ext cx="533400" cy="53340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26837" y="21488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50527" y="2821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确认后保存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28750" y="4724400"/>
            <a:ext cx="9334500" cy="1104900"/>
            <a:chOff x="1428750" y="4724400"/>
            <a:chExt cx="9334500" cy="1104900"/>
          </a:xfrm>
        </p:grpSpPr>
        <p:sp>
          <p:nvSpPr>
            <p:cNvPr id="25" name="Rectangle 25"/>
            <p:cNvSpPr/>
            <p:nvPr/>
          </p:nvSpPr>
          <p:spPr>
            <a:xfrm>
              <a:off x="1428750" y="4724400"/>
              <a:ext cx="9334500" cy="1104900"/>
            </a:xfrm>
            <a:prstGeom prst="roundRect">
              <a:avLst>
                <a:gd name="adj" fmla="val 2931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58255" y="5000625"/>
              <a:ext cx="3075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F1C"/>
                  </a:solidFill>
                  <a:latin typeface="Segoe UI"/>
                  <a:ea typeface="Microsoft YaHei"/>
                  <a:cs typeface="Segoe UI"/>
                </a:rPr>
                <a:t>如果刚才还能运行，现在报错了……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89120" y="531685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只需检查刚刚改过的那一处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8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400050"/>
            <a:ext cx="5687778" cy="624840"/>
            <a:chOff x="514350" y="400050"/>
            <a:chExt cx="5687778" cy="624840"/>
          </a:xfrm>
        </p:grpSpPr>
        <p:sp>
          <p:nvSpPr>
            <p:cNvPr id="2" name="Rectangle 2"/>
            <p:cNvSpPr/>
            <p:nvPr/>
          </p:nvSpPr>
          <p:spPr>
            <a:xfrm>
              <a:off x="514350" y="400050"/>
              <a:ext cx="1562100" cy="4572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589" y="526732"/>
              <a:ext cx="6956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动手 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327910" y="438150"/>
              <a:ext cx="387421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6个圆 + 每次左转60°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485900"/>
            <a:ext cx="4857750" cy="4648200"/>
            <a:chOff x="514350" y="1485900"/>
            <a:chExt cx="4857750" cy="4648200"/>
          </a:xfrm>
        </p:grpSpPr>
        <p:sp>
          <p:nvSpPr>
            <p:cNvPr id="6" name="Rectangle 6"/>
            <p:cNvSpPr/>
            <p:nvPr/>
          </p:nvSpPr>
          <p:spPr>
            <a:xfrm>
              <a:off x="514350" y="1485900"/>
              <a:ext cx="4857750" cy="4648200"/>
            </a:xfrm>
            <a:prstGeom prst="roundRect">
              <a:avLst>
                <a:gd name="adj" fmla="val 6967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87304" y="1809750"/>
              <a:ext cx="3511842" cy="3505200"/>
              <a:chOff x="1187304" y="1809750"/>
              <a:chExt cx="3511842" cy="350520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2466975" y="1809750"/>
                <a:ext cx="952500" cy="17526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 rot="3600000">
                <a:off x="3225873" y="2247900"/>
                <a:ext cx="952500" cy="1752600"/>
              </a:xfrm>
              <a:prstGeom prst="ellipse">
                <a:avLst/>
              </a:prstGeom>
              <a:solidFill>
                <a:srgbClr val="FF8FB5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 rot="7200000">
                <a:off x="3225873" y="3124200"/>
                <a:ext cx="952500" cy="17526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 rot="10800000">
                <a:off x="2466975" y="3562350"/>
                <a:ext cx="952500" cy="1752600"/>
              </a:xfrm>
              <a:prstGeom prst="ellipse">
                <a:avLst/>
              </a:prstGeom>
              <a:solidFill>
                <a:srgbClr val="FF8FB5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 rot="-7200000">
                <a:off x="1708077" y="3124200"/>
                <a:ext cx="952500" cy="17526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 rot="-3600000">
                <a:off x="1708077" y="2247900"/>
                <a:ext cx="952500" cy="1752600"/>
              </a:xfrm>
              <a:prstGeom prst="ellipse">
                <a:avLst/>
              </a:prstGeom>
              <a:solidFill>
                <a:srgbClr val="FF8FB5"/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2543175" y="3162300"/>
                <a:ext cx="800100" cy="8001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824228" y="55749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6 次循环 × 60° = 360°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53100" y="1485900"/>
            <a:ext cx="5924550" cy="4648200"/>
            <a:chOff x="5753100" y="1485900"/>
            <a:chExt cx="5924550" cy="4648200"/>
          </a:xfrm>
        </p:grpSpPr>
        <p:sp>
          <p:nvSpPr>
            <p:cNvPr id="17" name="Rectangle 17"/>
            <p:cNvSpPr/>
            <p:nvPr/>
          </p:nvSpPr>
          <p:spPr>
            <a:xfrm>
              <a:off x="5753100" y="1485900"/>
              <a:ext cx="5924550" cy="4648200"/>
            </a:xfrm>
            <a:prstGeom prst="roundRect">
              <a:avLst>
                <a:gd name="adj" fmla="val 6967"/>
              </a:avLst>
            </a:prstGeom>
            <a:solidFill>
              <a:srgbClr val="2B3A5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87618" y="1803082"/>
              <a:ext cx="24267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ED0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8618" y="2222182"/>
              <a:ext cx="15049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8618" y="2641282"/>
              <a:ext cx="13717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8618" y="3060382"/>
              <a:ext cx="13161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8618" y="34794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D36A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0" y="4171950"/>
              <a:ext cx="5086350" cy="1352550"/>
            </a:xfrm>
            <a:prstGeom prst="roundRect">
              <a:avLst>
                <a:gd name="adj" fmla="val 16901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92418" y="4412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B2CA"/>
                  </a:solidFill>
                  <a:latin typeface="Segoe UI"/>
                  <a:ea typeface="Microsoft YaHei"/>
                  <a:cs typeface="Segoe UI"/>
                </a:rPr>
                <a:t>想一想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92418" y="4812982"/>
              <a:ext cx="23934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range(6) 决定花瓣数量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92418" y="515588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left(60) 决定环形分布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4810" y="342900"/>
            <a:ext cx="11223498" cy="586740"/>
            <a:chOff x="384810" y="342900"/>
            <a:chExt cx="11223498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384810" y="342900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花瓣实验室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395574" y="48291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先选案例，再点“运行程序”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00050" y="1047750"/>
            <a:ext cx="11391900" cy="495300"/>
            <a:chOff x="400050" y="1047750"/>
            <a:chExt cx="11391900" cy="495300"/>
          </a:xfrm>
        </p:grpSpPr>
        <p:grpSp>
          <p:nvGrpSpPr>
            <p:cNvPr id="7" name="Group 7"/>
            <p:cNvGrpSpPr/>
            <p:nvPr/>
          </p:nvGrpSpPr>
          <p:grpSpPr>
            <a:xfrm>
              <a:off x="400050" y="1047750"/>
              <a:ext cx="1581150" cy="495300"/>
              <a:chOff x="400050" y="1047750"/>
              <a:chExt cx="1581150" cy="4953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400050" y="1047750"/>
                <a:ext cx="1581150" cy="495300"/>
              </a:xfrm>
              <a:prstGeom prst="roundRect">
                <a:avLst>
                  <a:gd name="adj" fmla="val 38462"/>
                </a:avLst>
              </a:prstGeom>
              <a:solidFill>
                <a:srgbClr val="FF6FA5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969924" y="1201579"/>
                <a:ext cx="4414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红花</a:t>
                </a:r>
              </a:p>
            </p:txBody>
          </p:sp>
        </p:grpSp>
        <p:sp>
          <p:nvSpPr>
            <p:cNvPr id="8" name="Rectangle 8"/>
            <p:cNvSpPr/>
            <p:nvPr/>
          </p:nvSpPr>
          <p:spPr>
            <a:xfrm>
              <a:off x="400050" y="1047750"/>
              <a:ext cx="15811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152650" y="1047750"/>
              <a:ext cx="1581150" cy="495300"/>
              <a:chOff x="2152650" y="1047750"/>
              <a:chExt cx="1581150" cy="4953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2152650" y="1047750"/>
                <a:ext cx="1581150" cy="495300"/>
              </a:xfrm>
              <a:prstGeom prst="roundRect">
                <a:avLst>
                  <a:gd name="adj" fmla="val 38462"/>
                </a:avLst>
              </a:pr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722524" y="1201579"/>
                <a:ext cx="4414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橙花</a:t>
                </a:r>
              </a:p>
            </p:txBody>
          </p:sp>
        </p:grpSp>
        <p:sp>
          <p:nvSpPr>
            <p:cNvPr id="12" name="Rectangle 12"/>
            <p:cNvSpPr/>
            <p:nvPr/>
          </p:nvSpPr>
          <p:spPr>
            <a:xfrm>
              <a:off x="2152650" y="1047750"/>
              <a:ext cx="15811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3905250" y="1047750"/>
              <a:ext cx="1581150" cy="495300"/>
              <a:chOff x="3905250" y="1047750"/>
              <a:chExt cx="1581150" cy="4953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905250" y="1047750"/>
                <a:ext cx="1581150" cy="495300"/>
              </a:xfrm>
              <a:prstGeom prst="roundRect">
                <a:avLst>
                  <a:gd name="adj" fmla="val 38462"/>
                </a:avLst>
              </a:prstGeom>
              <a:solidFill>
                <a:srgbClr val="9B7BFF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475124" y="1201579"/>
                <a:ext cx="4414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紫花</a:t>
                </a:r>
              </a:p>
            </p:txBody>
          </p:sp>
        </p:grpSp>
        <p:sp>
          <p:nvSpPr>
            <p:cNvPr id="16" name="Rectangle 16"/>
            <p:cNvSpPr/>
            <p:nvPr/>
          </p:nvSpPr>
          <p:spPr>
            <a:xfrm>
              <a:off x="3905250" y="1047750"/>
              <a:ext cx="15811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486900" y="1047750"/>
              <a:ext cx="2305050" cy="495300"/>
            </a:xfrm>
            <a:prstGeom prst="roundRect">
              <a:avLst>
                <a:gd name="adj" fmla="val 38462"/>
              </a:avLst>
            </a:prstGeom>
            <a:solidFill>
              <a:srgbClr val="EEF6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996488" y="1225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Segoe UI"/>
                  <a:ea typeface="Microsoft YaHei"/>
                  <a:cs typeface="Segoe UI"/>
                </a:rPr>
                <a:t>案例只改变颜色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00050" y="1752600"/>
            <a:ext cx="6305550" cy="4267200"/>
            <a:chOff x="400050" y="1752600"/>
            <a:chExt cx="6305550" cy="4267200"/>
          </a:xfrm>
        </p:grpSpPr>
        <p:sp>
          <p:nvSpPr>
            <p:cNvPr id="20" name="Rectangle 20"/>
            <p:cNvSpPr/>
            <p:nvPr/>
          </p:nvSpPr>
          <p:spPr>
            <a:xfrm>
              <a:off x="400050" y="1752600"/>
              <a:ext cx="6305550" cy="426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00050" y="1752600"/>
              <a:ext cx="6305550" cy="495300"/>
            </a:xfrm>
            <a:prstGeom prst="roundRect">
              <a:avLst>
                <a:gd name="adj" fmla="val 50000"/>
              </a:avLst>
            </a:prstGeom>
            <a:solidFill>
              <a:srgbClr val="EEF6FF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47700" y="19240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895350" y="19240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143000" y="1924050"/>
              <a:ext cx="152400" cy="15240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59511" y="2532221"/>
              <a:ext cx="2928772" cy="2107502"/>
              <a:chOff x="659511" y="2532221"/>
              <a:chExt cx="2928772" cy="2107502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659511" y="2532221"/>
                <a:ext cx="127613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2E9BFF"/>
                    </a:solidFill>
                    <a:latin typeface="Consolas"/>
                    <a:ea typeface="Consolas"/>
                    <a:cs typeface="Consolas"/>
                  </a:rPr>
                  <a:t>import turtle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9511" y="2837021"/>
                <a:ext cx="292877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33415C"/>
                    </a:solidFill>
                    <a:latin typeface="Consolas"/>
                    <a:ea typeface="Consolas"/>
                    <a:cs typeface="Consolas"/>
                  </a:rPr>
                  <a:t>t=turtle.Turtle(); t.speed(0)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59511" y="3141821"/>
                <a:ext cx="212680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FF6FA5"/>
                    </a:solidFill>
                    <a:latin typeface="Consolas"/>
                    <a:ea typeface="Consolas"/>
                    <a:cs typeface="Consolas"/>
                  </a:rPr>
                  <a:t>t.color("red","pink")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59511" y="3446621"/>
                <a:ext cx="2088568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33415C"/>
                    </a:solidFill>
                    <a:latin typeface="Consolas"/>
                    <a:ea typeface="Consolas"/>
                    <a:cs typeface="Consolas"/>
                  </a:rPr>
                  <a:t>for petal in range(6):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26211" y="3751421"/>
                <a:ext cx="262381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33415C"/>
                    </a:solidFill>
                    <a:latin typeface="Consolas"/>
                    <a:ea typeface="Consolas"/>
                    <a:cs typeface="Consolas"/>
                  </a:rPr>
                  <a:t>t.begin_fill(); t.circle(45)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26211" y="4056221"/>
                <a:ext cx="229884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33415C"/>
                    </a:solidFill>
                    <a:latin typeface="Consolas"/>
                    <a:ea typeface="Consolas"/>
                    <a:cs typeface="Consolas"/>
                  </a:rPr>
                  <a:t>t.end_fill(); t.left(60)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59511" y="4361021"/>
                <a:ext cx="133348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33415C"/>
                    </a:solidFill>
                    <a:latin typeface="Consolas"/>
                    <a:ea typeface="Consolas"/>
                    <a:cs typeface="Consolas"/>
                  </a:rPr>
                  <a:t>turtle.done()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66750" y="5276850"/>
              <a:ext cx="5772150" cy="552450"/>
              <a:chOff x="666750" y="5276850"/>
              <a:chExt cx="5772150" cy="5524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66750" y="5276850"/>
                <a:ext cx="5772150" cy="552450"/>
              </a:xfrm>
              <a:prstGeom prst="roundRect">
                <a:avLst>
                  <a:gd name="adj" fmla="val 37931"/>
                </a:avLst>
              </a:pr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001075" y="5460682"/>
                <a:ext cx="11035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▶ 运行程序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66750" y="5276850"/>
                <a:ext cx="5772150" cy="552450"/>
              </a:xfrm>
              <a:prstGeom prst="roundRect">
                <a:avLst>
                  <a:gd name="adj" fmla="val 37931"/>
                </a:avLst>
              </a:prstGeom>
              <a:solidFill>
                <a:srgbClr val="FFFFFF">
                  <a:alpha val="100"/>
                </a:srgbClr>
              </a:solidFill>
              <a:ln>
                <a:noFill/>
              </a:ln>
            </p:spPr>
          </p:sp>
        </p:grpSp>
      </p:grpSp>
      <p:grpSp>
        <p:nvGrpSpPr>
          <p:cNvPr id="53" name="Group 53"/>
          <p:cNvGrpSpPr/>
          <p:nvPr/>
        </p:nvGrpSpPr>
        <p:grpSpPr>
          <a:xfrm>
            <a:off x="7010400" y="1752600"/>
            <a:ext cx="4781550" cy="4267200"/>
            <a:chOff x="7010400" y="1752600"/>
            <a:chExt cx="4781550" cy="4267200"/>
          </a:xfrm>
        </p:grpSpPr>
        <p:sp>
          <p:nvSpPr>
            <p:cNvPr id="38" name="Rectangle 38"/>
            <p:cNvSpPr/>
            <p:nvPr/>
          </p:nvSpPr>
          <p:spPr>
            <a:xfrm>
              <a:off x="7010400" y="1752600"/>
              <a:ext cx="4781550" cy="4267200"/>
            </a:xfrm>
            <a:prstGeom prst="roundRect">
              <a:avLst>
                <a:gd name="adj" fmla="val 6250"/>
              </a:avLst>
            </a:prstGeom>
            <a:solidFill>
              <a:srgbClr val="2B3A5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26630" y="20097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终端输出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7327392" y="2521268"/>
              <a:ext cx="1513046" cy="911733"/>
              <a:chOff x="7327392" y="2521268"/>
              <a:chExt cx="1513046" cy="911733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7327392" y="2521268"/>
                <a:ext cx="8406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A9E7B8"/>
                    </a:solidFill>
                    <a:latin typeface="Consolas"/>
                    <a:ea typeface="Microsoft YaHei"/>
                    <a:cs typeface="Consolas"/>
                  </a:rPr>
                  <a:t>开始绘制…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327392" y="2845118"/>
                <a:ext cx="15130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完成第 1–6 片花瓣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327392" y="3168968"/>
                <a:ext cx="9769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D36A"/>
                    </a:solidFill>
                    <a:latin typeface="Consolas"/>
                    <a:ea typeface="Microsoft YaHei"/>
                    <a:cs typeface="Consolas"/>
                  </a:rPr>
                  <a:t>绘制完成 ✓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376945" y="3695700"/>
              <a:ext cx="2048460" cy="2057400"/>
              <a:chOff x="8376945" y="3695700"/>
              <a:chExt cx="2048460" cy="2057400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9134475" y="3695700"/>
                <a:ext cx="533400" cy="10287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 rot="3600000">
                <a:off x="9579915" y="3952875"/>
                <a:ext cx="533400" cy="10287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 rot="7200000">
                <a:off x="9579915" y="4467225"/>
                <a:ext cx="533400" cy="10287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 rot="10800000">
                <a:off x="9134475" y="4724400"/>
                <a:ext cx="533400" cy="10287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48" name="Ellipse 48"/>
              <p:cNvSpPr/>
              <p:nvPr/>
            </p:nvSpPr>
            <p:spPr>
              <a:xfrm rot="-7200000">
                <a:off x="8689035" y="4467225"/>
                <a:ext cx="533400" cy="10287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49" name="Ellipse 49"/>
              <p:cNvSpPr/>
              <p:nvPr/>
            </p:nvSpPr>
            <p:spPr>
              <a:xfrm rot="-3600000">
                <a:off x="8689035" y="3952875"/>
                <a:ext cx="533400" cy="10287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9153525" y="4476750"/>
                <a:ext cx="495300" cy="4953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8590131" y="564546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A9E7B8"/>
                  </a:solidFill>
                  <a:latin typeface="Segoe UI"/>
                  <a:ea typeface="Microsoft YaHei"/>
                  <a:cs typeface="Segoe UI"/>
                </a:rPr>
                <a:t>运行完成：6 片花瓣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00050" y="1047750"/>
            <a:ext cx="1581150" cy="495300"/>
            <a:chOff x="400050" y="1047750"/>
            <a:chExt cx="1581150" cy="495300"/>
          </a:xfrm>
        </p:grpSpPr>
        <p:sp>
          <p:nvSpPr>
            <p:cNvPr id="54" name="Rectangle 54"/>
            <p:cNvSpPr/>
            <p:nvPr/>
          </p:nvSpPr>
          <p:spPr>
            <a:xfrm>
              <a:off x="400050" y="1047750"/>
              <a:ext cx="15811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2152650" y="1047750"/>
            <a:ext cx="1581150" cy="495300"/>
            <a:chOff x="2152650" y="1047750"/>
            <a:chExt cx="1581150" cy="495300"/>
          </a:xfrm>
        </p:grpSpPr>
        <p:sp>
          <p:nvSpPr>
            <p:cNvPr id="56" name="Rectangle 56"/>
            <p:cNvSpPr/>
            <p:nvPr/>
          </p:nvSpPr>
          <p:spPr>
            <a:xfrm>
              <a:off x="2152650" y="1047750"/>
              <a:ext cx="15811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3905250" y="1047750"/>
            <a:ext cx="1581150" cy="495300"/>
            <a:chOff x="3905250" y="1047750"/>
            <a:chExt cx="1581150" cy="495300"/>
          </a:xfrm>
        </p:grpSpPr>
        <p:sp>
          <p:nvSpPr>
            <p:cNvPr id="58" name="Rectangle 58"/>
            <p:cNvSpPr/>
            <p:nvPr/>
          </p:nvSpPr>
          <p:spPr>
            <a:xfrm>
              <a:off x="3905250" y="1047750"/>
              <a:ext cx="15811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666750" y="5276850"/>
            <a:ext cx="5772150" cy="552450"/>
            <a:chOff x="666750" y="5276850"/>
            <a:chExt cx="5772150" cy="552450"/>
          </a:xfrm>
        </p:grpSpPr>
        <p:sp>
          <p:nvSpPr>
            <p:cNvPr id="60" name="Rectangle 60"/>
            <p:cNvSpPr/>
            <p:nvPr/>
          </p:nvSpPr>
          <p:spPr>
            <a:xfrm>
              <a:off x="666750" y="5276850"/>
              <a:ext cx="5772150" cy="552450"/>
            </a:xfrm>
            <a:prstGeom prst="roundRect">
              <a:avLst>
                <a:gd name="adj" fmla="val 3793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666750" y="5276850"/>
            <a:ext cx="5772150" cy="552450"/>
            <a:chOff x="666750" y="5276850"/>
            <a:chExt cx="5772150" cy="552450"/>
          </a:xfrm>
        </p:grpSpPr>
        <p:sp>
          <p:nvSpPr>
            <p:cNvPr id="62" name="Rectangle 62"/>
            <p:cNvSpPr/>
            <p:nvPr/>
          </p:nvSpPr>
          <p:spPr>
            <a:xfrm>
              <a:off x="666750" y="5276850"/>
              <a:ext cx="5772150" cy="552450"/>
            </a:xfrm>
            <a:prstGeom prst="roundRect">
              <a:avLst>
                <a:gd name="adj" fmla="val 3793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666750" y="5276850"/>
            <a:ext cx="5772150" cy="552450"/>
            <a:chOff x="666750" y="5276850"/>
            <a:chExt cx="5772150" cy="552450"/>
          </a:xfrm>
        </p:grpSpPr>
        <p:sp>
          <p:nvSpPr>
            <p:cNvPr id="64" name="Rectangle 64"/>
            <p:cNvSpPr/>
            <p:nvPr/>
          </p:nvSpPr>
          <p:spPr>
            <a:xfrm>
              <a:off x="666750" y="5276850"/>
              <a:ext cx="5772150" cy="552450"/>
            </a:xfrm>
            <a:prstGeom prst="roundRect">
              <a:avLst>
                <a:gd name="adj" fmla="val 3793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8376945" y="3695700"/>
            <a:ext cx="2048460" cy="2057400"/>
            <a:chOff x="8376945" y="3695700"/>
            <a:chExt cx="2048460" cy="2057400"/>
          </a:xfrm>
        </p:grpSpPr>
        <p:sp>
          <p:nvSpPr>
            <p:cNvPr id="66" name="Ellipse 66"/>
            <p:cNvSpPr/>
            <p:nvPr/>
          </p:nvSpPr>
          <p:spPr>
            <a:xfrm>
              <a:off x="9134475" y="3695700"/>
              <a:ext cx="533400" cy="1028700"/>
            </a:xfrm>
            <a:prstGeom prst="ellipse">
              <a:avLst/>
            </a:prstGeom>
            <a:solidFill>
              <a:srgbClr val="FFB347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 rot="3600000">
              <a:off x="9579915" y="3952875"/>
              <a:ext cx="533400" cy="10287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 rot="7200000">
              <a:off x="9579915" y="4467225"/>
              <a:ext cx="533400" cy="1028700"/>
            </a:xfrm>
            <a:prstGeom prst="ellipse">
              <a:avLst/>
            </a:prstGeom>
            <a:solidFill>
              <a:srgbClr val="FFB347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 rot="10800000">
              <a:off x="9134475" y="4724400"/>
              <a:ext cx="533400" cy="10287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 rot="-7200000">
              <a:off x="8689035" y="4467225"/>
              <a:ext cx="533400" cy="1028700"/>
            </a:xfrm>
            <a:prstGeom prst="ellipse">
              <a:avLst/>
            </a:prstGeom>
            <a:solidFill>
              <a:srgbClr val="FFB347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 rot="-3600000">
              <a:off x="8689035" y="3952875"/>
              <a:ext cx="533400" cy="10287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9153525" y="4476750"/>
              <a:ext cx="495300" cy="4953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8376945" y="3695700"/>
            <a:ext cx="2048460" cy="2057400"/>
            <a:chOff x="8376945" y="3695700"/>
            <a:chExt cx="2048460" cy="2057400"/>
          </a:xfrm>
        </p:grpSpPr>
        <p:sp>
          <p:nvSpPr>
            <p:cNvPr id="74" name="Ellipse 74"/>
            <p:cNvSpPr/>
            <p:nvPr/>
          </p:nvSpPr>
          <p:spPr>
            <a:xfrm>
              <a:off x="9134475" y="3695700"/>
              <a:ext cx="533400" cy="1028700"/>
            </a:xfrm>
            <a:prstGeom prst="ellipse">
              <a:avLst/>
            </a:prstGeom>
            <a:solidFill>
              <a:srgbClr val="B89AFF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 rot="3600000">
              <a:off x="9579915" y="3952875"/>
              <a:ext cx="533400" cy="1028700"/>
            </a:xfrm>
            <a:prstGeom prst="ellipse">
              <a:avLst/>
            </a:prstGeom>
            <a:solidFill>
              <a:srgbClr val="D9C8FF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 rot="7200000">
              <a:off x="9579915" y="4467225"/>
              <a:ext cx="533400" cy="1028700"/>
            </a:xfrm>
            <a:prstGeom prst="ellipse">
              <a:avLst/>
            </a:prstGeom>
            <a:solidFill>
              <a:srgbClr val="B89AFF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 rot="10800000">
              <a:off x="9134475" y="4724400"/>
              <a:ext cx="533400" cy="1028700"/>
            </a:xfrm>
            <a:prstGeom prst="ellipse">
              <a:avLst/>
            </a:prstGeom>
            <a:solidFill>
              <a:srgbClr val="D9C8FF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 rot="-7200000">
              <a:off x="8689035" y="4467225"/>
              <a:ext cx="533400" cy="1028700"/>
            </a:xfrm>
            <a:prstGeom prst="ellipse">
              <a:avLst/>
            </a:prstGeom>
            <a:solidFill>
              <a:srgbClr val="B89AFF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 rot="-3600000">
              <a:off x="8689035" y="3952875"/>
              <a:ext cx="533400" cy="1028700"/>
            </a:xfrm>
            <a:prstGeom prst="ellipse">
              <a:avLst/>
            </a:prstGeom>
            <a:solidFill>
              <a:srgbClr val="D9C8FF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9153525" y="4476750"/>
              <a:ext cx="495300" cy="4953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7162800" y="2286000"/>
            <a:ext cx="4476750" cy="3543300"/>
            <a:chOff x="7162800" y="2286000"/>
            <a:chExt cx="4476750" cy="3543300"/>
          </a:xfrm>
        </p:grpSpPr>
        <p:sp>
          <p:nvSpPr>
            <p:cNvPr id="82" name="Rectangle 82"/>
            <p:cNvSpPr/>
            <p:nvPr/>
          </p:nvSpPr>
          <p:spPr>
            <a:xfrm>
              <a:off x="7162800" y="2286000"/>
              <a:ext cx="4476750" cy="3543300"/>
            </a:xfrm>
            <a:prstGeom prst="roundRect">
              <a:avLst>
                <a:gd name="adj" fmla="val 5376"/>
              </a:avLst>
            </a:prstGeom>
            <a:solidFill>
              <a:srgbClr val="2B3A55"/>
            </a:solidFill>
            <a:ln>
              <a:noFill/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659511" y="3105150"/>
            <a:ext cx="5817489" cy="353473"/>
            <a:chOff x="659511" y="3105150"/>
            <a:chExt cx="5817489" cy="353473"/>
          </a:xfrm>
        </p:grpSpPr>
        <p:sp>
          <p:nvSpPr>
            <p:cNvPr id="84" name="Rectangle 84"/>
            <p:cNvSpPr/>
            <p:nvPr/>
          </p:nvSpPr>
          <p:spPr>
            <a:xfrm>
              <a:off x="666750" y="3105150"/>
              <a:ext cx="5810250" cy="323850"/>
            </a:xfrm>
            <a:prstGeom prst="rect">
              <a:avLst/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59511" y="3179921"/>
              <a:ext cx="27743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t.color("orange","yellow")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659511" y="3105150"/>
            <a:ext cx="5817489" cy="353473"/>
            <a:chOff x="659511" y="3105150"/>
            <a:chExt cx="5817489" cy="353473"/>
          </a:xfrm>
        </p:grpSpPr>
        <p:sp>
          <p:nvSpPr>
            <p:cNvPr id="87" name="Rectangle 87"/>
            <p:cNvSpPr/>
            <p:nvPr/>
          </p:nvSpPr>
          <p:spPr>
            <a:xfrm>
              <a:off x="666750" y="3105150"/>
              <a:ext cx="5810250" cy="323850"/>
            </a:xfrm>
            <a:prstGeom prst="rect">
              <a:avLst/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59511" y="3179921"/>
              <a:ext cx="26840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9B7BFF"/>
                  </a:solidFill>
                  <a:latin typeface="Consolas"/>
                  <a:ea typeface="Consolas"/>
                  <a:cs typeface="Consolas"/>
                </a:rPr>
                <a:t>t.color("purple","violet")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394764" y="5550218"/>
            <a:ext cx="2012823" cy="264033"/>
            <a:chOff x="8394764" y="5550218"/>
            <a:chExt cx="2012823" cy="264033"/>
          </a:xfrm>
        </p:grpSpPr>
        <p:sp>
          <p:nvSpPr>
            <p:cNvPr id="90" name="TextBox 90"/>
            <p:cNvSpPr txBox="1"/>
            <p:nvPr/>
          </p:nvSpPr>
          <p:spPr>
            <a:xfrm>
              <a:off x="8394764" y="55502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9BFF"/>
                  </a:solidFill>
                  <a:latin typeface="Segoe UI"/>
                  <a:ea typeface="Microsoft YaHei"/>
                  <a:cs typeface="Segoe UI"/>
                </a:rPr>
                <a:t>点击运行，花朵才会出现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016758" y="5550218"/>
            <a:ext cx="768833" cy="264033"/>
            <a:chOff x="9016758" y="5550218"/>
            <a:chExt cx="768833" cy="264033"/>
          </a:xfrm>
        </p:grpSpPr>
        <p:sp>
          <p:nvSpPr>
            <p:cNvPr id="92" name="TextBox 92"/>
            <p:cNvSpPr txBox="1"/>
            <p:nvPr/>
          </p:nvSpPr>
          <p:spPr>
            <a:xfrm>
              <a:off x="9016758" y="5550218"/>
              <a:ext cx="768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/>
                  <a:ea typeface="Microsoft YaHei"/>
                  <a:cs typeface="Segoe UI"/>
                </a:rPr>
                <a:t>绘制中……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858874" y="5550218"/>
            <a:ext cx="1084601" cy="264033"/>
            <a:chOff x="8858874" y="5550218"/>
            <a:chExt cx="1084601" cy="264033"/>
          </a:xfrm>
        </p:grpSpPr>
        <p:sp>
          <p:nvSpPr>
            <p:cNvPr id="94" name="TextBox 94"/>
            <p:cNvSpPr txBox="1"/>
            <p:nvPr/>
          </p:nvSpPr>
          <p:spPr>
            <a:xfrm>
              <a:off x="8858874" y="5550218"/>
              <a:ext cx="1084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C55E"/>
                  </a:solidFill>
                  <a:latin typeface="Segoe UI"/>
                  <a:ea typeface="Microsoft YaHei"/>
                  <a:cs typeface="Segoe UI"/>
                </a:rPr>
                <a:t>6 片花瓣完成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7536942" y="2673668"/>
            <a:ext cx="940575" cy="264033"/>
            <a:chOff x="7536942" y="2673668"/>
            <a:chExt cx="940575" cy="264033"/>
          </a:xfrm>
        </p:grpSpPr>
        <p:sp>
          <p:nvSpPr>
            <p:cNvPr id="96" name="TextBox 96"/>
            <p:cNvSpPr txBox="1"/>
            <p:nvPr/>
          </p:nvSpPr>
          <p:spPr>
            <a:xfrm>
              <a:off x="7536942" y="2673668"/>
              <a:ext cx="940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开始绘制……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7536942" y="2997518"/>
            <a:ext cx="1422178" cy="264033"/>
            <a:chOff x="7536942" y="2997518"/>
            <a:chExt cx="1422178" cy="264033"/>
          </a:xfrm>
        </p:grpSpPr>
        <p:sp>
          <p:nvSpPr>
            <p:cNvPr id="98" name="TextBox 98"/>
            <p:cNvSpPr txBox="1"/>
            <p:nvPr/>
          </p:nvSpPr>
          <p:spPr>
            <a:xfrm>
              <a:off x="7536942" y="2997518"/>
              <a:ext cx="1422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颜色：red / pink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7536942" y="3321368"/>
            <a:ext cx="1385830" cy="264033"/>
            <a:chOff x="7536942" y="3321368"/>
            <a:chExt cx="1385830" cy="264033"/>
          </a:xfrm>
        </p:grpSpPr>
        <p:sp>
          <p:nvSpPr>
            <p:cNvPr id="100" name="TextBox 100"/>
            <p:cNvSpPr txBox="1"/>
            <p:nvPr/>
          </p:nvSpPr>
          <p:spPr>
            <a:xfrm>
              <a:off x="7536942" y="3321368"/>
              <a:ext cx="1385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E7B8"/>
                  </a:solidFill>
                  <a:latin typeface="Consolas"/>
                  <a:ea typeface="Microsoft YaHei"/>
                  <a:cs typeface="Consolas"/>
                </a:rPr>
                <a:t>花瓣 1→6 完成 ✓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7536942" y="2673668"/>
            <a:ext cx="940575" cy="264033"/>
            <a:chOff x="7536942" y="2673668"/>
            <a:chExt cx="940575" cy="264033"/>
          </a:xfrm>
        </p:grpSpPr>
        <p:sp>
          <p:nvSpPr>
            <p:cNvPr id="102" name="TextBox 102"/>
            <p:cNvSpPr txBox="1"/>
            <p:nvPr/>
          </p:nvSpPr>
          <p:spPr>
            <a:xfrm>
              <a:off x="7536942" y="2673668"/>
              <a:ext cx="940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开始绘制……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536942" y="2997518"/>
            <a:ext cx="1912868" cy="264033"/>
            <a:chOff x="7536942" y="2997518"/>
            <a:chExt cx="1912868" cy="264033"/>
          </a:xfrm>
        </p:grpSpPr>
        <p:sp>
          <p:nvSpPr>
            <p:cNvPr id="104" name="TextBox 104"/>
            <p:cNvSpPr txBox="1"/>
            <p:nvPr/>
          </p:nvSpPr>
          <p:spPr>
            <a:xfrm>
              <a:off x="7536942" y="29975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颜色：orange / yellow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7536942" y="3321368"/>
            <a:ext cx="1385830" cy="264033"/>
            <a:chOff x="7536942" y="3321368"/>
            <a:chExt cx="1385830" cy="264033"/>
          </a:xfrm>
        </p:grpSpPr>
        <p:sp>
          <p:nvSpPr>
            <p:cNvPr id="106" name="TextBox 106"/>
            <p:cNvSpPr txBox="1"/>
            <p:nvPr/>
          </p:nvSpPr>
          <p:spPr>
            <a:xfrm>
              <a:off x="7536942" y="3321368"/>
              <a:ext cx="1385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E7B8"/>
                  </a:solidFill>
                  <a:latin typeface="Consolas"/>
                  <a:ea typeface="Microsoft YaHei"/>
                  <a:cs typeface="Consolas"/>
                </a:rPr>
                <a:t>花瓣 1→6 完成 ✓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7536942" y="2673668"/>
            <a:ext cx="940575" cy="264033"/>
            <a:chOff x="7536942" y="2673668"/>
            <a:chExt cx="940575" cy="264033"/>
          </a:xfrm>
        </p:grpSpPr>
        <p:sp>
          <p:nvSpPr>
            <p:cNvPr id="108" name="TextBox 108"/>
            <p:cNvSpPr txBox="1"/>
            <p:nvPr/>
          </p:nvSpPr>
          <p:spPr>
            <a:xfrm>
              <a:off x="7536942" y="2673668"/>
              <a:ext cx="940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开始绘制……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536942" y="2997518"/>
            <a:ext cx="1831086" cy="264033"/>
            <a:chOff x="7536942" y="2997518"/>
            <a:chExt cx="1831086" cy="264033"/>
          </a:xfrm>
        </p:grpSpPr>
        <p:sp>
          <p:nvSpPr>
            <p:cNvPr id="110" name="TextBox 110"/>
            <p:cNvSpPr txBox="1"/>
            <p:nvPr/>
          </p:nvSpPr>
          <p:spPr>
            <a:xfrm>
              <a:off x="7536942" y="29975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颜色：purple / violet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7536942" y="3321368"/>
            <a:ext cx="1385830" cy="264033"/>
            <a:chOff x="7536942" y="3321368"/>
            <a:chExt cx="1385830" cy="264033"/>
          </a:xfrm>
        </p:grpSpPr>
        <p:sp>
          <p:nvSpPr>
            <p:cNvPr id="112" name="TextBox 112"/>
            <p:cNvSpPr txBox="1"/>
            <p:nvPr/>
          </p:nvSpPr>
          <p:spPr>
            <a:xfrm>
              <a:off x="7536942" y="3321368"/>
              <a:ext cx="1385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E7B8"/>
                  </a:solidFill>
                  <a:latin typeface="Consolas"/>
                  <a:ea typeface="Microsoft YaHei"/>
                  <a:cs typeface="Consolas"/>
                </a:rPr>
                <a:t>花瓣 1→6 完成 ✓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8490219" y="3619500"/>
            <a:ext cx="1821912" cy="1828800"/>
            <a:chOff x="8490219" y="3619500"/>
            <a:chExt cx="1821912" cy="1828800"/>
          </a:xfrm>
        </p:grpSpPr>
        <p:grpSp>
          <p:nvGrpSpPr>
            <p:cNvPr id="121" name="Group 121"/>
            <p:cNvGrpSpPr/>
            <p:nvPr/>
          </p:nvGrpSpPr>
          <p:grpSpPr>
            <a:xfrm>
              <a:off x="8490219" y="3619500"/>
              <a:ext cx="1821912" cy="1828800"/>
              <a:chOff x="8490219" y="3619500"/>
              <a:chExt cx="1821912" cy="1828800"/>
            </a:xfrm>
          </p:grpSpPr>
          <p:sp>
            <p:nvSpPr>
              <p:cNvPr id="114" name="Ellipse 114"/>
              <p:cNvSpPr/>
              <p:nvPr/>
            </p:nvSpPr>
            <p:spPr>
              <a:xfrm>
                <a:off x="9163050" y="3619500"/>
                <a:ext cx="476250" cy="9144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5" name="Ellipse 115"/>
              <p:cNvSpPr/>
              <p:nvPr/>
            </p:nvSpPr>
            <p:spPr>
              <a:xfrm rot="3600000">
                <a:off x="9558997" y="3848100"/>
                <a:ext cx="476250" cy="9144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6" name="Ellipse 116"/>
              <p:cNvSpPr/>
              <p:nvPr/>
            </p:nvSpPr>
            <p:spPr>
              <a:xfrm rot="7200000">
                <a:off x="9558997" y="4305300"/>
                <a:ext cx="476250" cy="9144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7" name="Ellipse 117"/>
              <p:cNvSpPr/>
              <p:nvPr/>
            </p:nvSpPr>
            <p:spPr>
              <a:xfrm rot="10800000">
                <a:off x="9163050" y="4533900"/>
                <a:ext cx="476250" cy="9144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8" name="Ellipse 118"/>
              <p:cNvSpPr/>
              <p:nvPr/>
            </p:nvSpPr>
            <p:spPr>
              <a:xfrm rot="-7200000">
                <a:off x="8767103" y="4305300"/>
                <a:ext cx="476250" cy="9144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9" name="Ellipse 119"/>
              <p:cNvSpPr/>
              <p:nvPr/>
            </p:nvSpPr>
            <p:spPr>
              <a:xfrm rot="-3600000">
                <a:off x="8767103" y="3848100"/>
                <a:ext cx="476250" cy="9144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20" name="Ellipse 120"/>
              <p:cNvSpPr/>
              <p:nvPr/>
            </p:nvSpPr>
            <p:spPr>
              <a:xfrm>
                <a:off x="9172575" y="4305300"/>
                <a:ext cx="457200" cy="4572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</p:grpSp>
      </p:grpSp>
      <p:grpSp>
        <p:nvGrpSpPr>
          <p:cNvPr id="131" name="Group 131"/>
          <p:cNvGrpSpPr/>
          <p:nvPr/>
        </p:nvGrpSpPr>
        <p:grpSpPr>
          <a:xfrm>
            <a:off x="8490219" y="3619500"/>
            <a:ext cx="1821912" cy="1828800"/>
            <a:chOff x="8490219" y="3619500"/>
            <a:chExt cx="1821912" cy="1828800"/>
          </a:xfrm>
        </p:grpSpPr>
        <p:grpSp>
          <p:nvGrpSpPr>
            <p:cNvPr id="130" name="Group 130"/>
            <p:cNvGrpSpPr/>
            <p:nvPr/>
          </p:nvGrpSpPr>
          <p:grpSpPr>
            <a:xfrm>
              <a:off x="8490219" y="3619500"/>
              <a:ext cx="1821912" cy="1828800"/>
              <a:chOff x="8490219" y="3619500"/>
              <a:chExt cx="1821912" cy="1828800"/>
            </a:xfrm>
          </p:grpSpPr>
          <p:sp>
            <p:nvSpPr>
              <p:cNvPr id="123" name="Ellipse 123"/>
              <p:cNvSpPr/>
              <p:nvPr/>
            </p:nvSpPr>
            <p:spPr>
              <a:xfrm>
                <a:off x="9163050" y="3619500"/>
                <a:ext cx="476250" cy="914400"/>
              </a:xfrm>
              <a:prstGeom prst="ellipse">
                <a:avLst/>
              </a:prstGeom>
              <a:solidFill>
                <a:srgbClr val="FFB347"/>
              </a:solidFill>
              <a:ln>
                <a:noFill/>
              </a:ln>
            </p:spPr>
          </p:sp>
          <p:sp>
            <p:nvSpPr>
              <p:cNvPr id="124" name="Ellipse 124"/>
              <p:cNvSpPr/>
              <p:nvPr/>
            </p:nvSpPr>
            <p:spPr>
              <a:xfrm rot="3600000">
                <a:off x="9558997" y="3848100"/>
                <a:ext cx="476250" cy="9144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25" name="Ellipse 125"/>
              <p:cNvSpPr/>
              <p:nvPr/>
            </p:nvSpPr>
            <p:spPr>
              <a:xfrm rot="7200000">
                <a:off x="9558997" y="4305300"/>
                <a:ext cx="476250" cy="914400"/>
              </a:xfrm>
              <a:prstGeom prst="ellipse">
                <a:avLst/>
              </a:prstGeom>
              <a:solidFill>
                <a:srgbClr val="FFB347"/>
              </a:solidFill>
              <a:ln>
                <a:noFill/>
              </a:ln>
            </p:spPr>
          </p:sp>
          <p:sp>
            <p:nvSpPr>
              <p:cNvPr id="126" name="Ellipse 126"/>
              <p:cNvSpPr/>
              <p:nvPr/>
            </p:nvSpPr>
            <p:spPr>
              <a:xfrm rot="10800000">
                <a:off x="9163050" y="4533900"/>
                <a:ext cx="476250" cy="9144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27" name="Ellipse 127"/>
              <p:cNvSpPr/>
              <p:nvPr/>
            </p:nvSpPr>
            <p:spPr>
              <a:xfrm rot="-7200000">
                <a:off x="8767103" y="4305300"/>
                <a:ext cx="476250" cy="914400"/>
              </a:xfrm>
              <a:prstGeom prst="ellipse">
                <a:avLst/>
              </a:prstGeom>
              <a:solidFill>
                <a:srgbClr val="FFB347"/>
              </a:solidFill>
              <a:ln>
                <a:noFill/>
              </a:ln>
            </p:spPr>
          </p:sp>
          <p:sp>
            <p:nvSpPr>
              <p:cNvPr id="128" name="Ellipse 128"/>
              <p:cNvSpPr/>
              <p:nvPr/>
            </p:nvSpPr>
            <p:spPr>
              <a:xfrm rot="-3600000">
                <a:off x="8767103" y="3848100"/>
                <a:ext cx="476250" cy="9144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29" name="Ellipse 129"/>
              <p:cNvSpPr/>
              <p:nvPr/>
            </p:nvSpPr>
            <p:spPr>
              <a:xfrm>
                <a:off x="9172575" y="4305300"/>
                <a:ext cx="457200" cy="457200"/>
              </a:xfrm>
              <a:prstGeom prst="ellipse">
                <a:avLst/>
              </a:prstGeom>
              <a:solidFill>
                <a:srgbClr val="FF9F1C"/>
              </a:solidFill>
              <a:ln>
                <a:noFill/>
              </a:ln>
            </p:spPr>
          </p:sp>
        </p:grpSp>
      </p:grpSp>
      <p:grpSp>
        <p:nvGrpSpPr>
          <p:cNvPr id="140" name="Group 140"/>
          <p:cNvGrpSpPr/>
          <p:nvPr/>
        </p:nvGrpSpPr>
        <p:grpSpPr>
          <a:xfrm>
            <a:off x="8490219" y="3619500"/>
            <a:ext cx="1821912" cy="1828800"/>
            <a:chOff x="8490219" y="3619500"/>
            <a:chExt cx="1821912" cy="1828800"/>
          </a:xfrm>
        </p:grpSpPr>
        <p:grpSp>
          <p:nvGrpSpPr>
            <p:cNvPr id="139" name="Group 139"/>
            <p:cNvGrpSpPr/>
            <p:nvPr/>
          </p:nvGrpSpPr>
          <p:grpSpPr>
            <a:xfrm>
              <a:off x="8490219" y="3619500"/>
              <a:ext cx="1821912" cy="1828800"/>
              <a:chOff x="8490219" y="3619500"/>
              <a:chExt cx="1821912" cy="1828800"/>
            </a:xfrm>
          </p:grpSpPr>
          <p:sp>
            <p:nvSpPr>
              <p:cNvPr id="132" name="Ellipse 132"/>
              <p:cNvSpPr/>
              <p:nvPr/>
            </p:nvSpPr>
            <p:spPr>
              <a:xfrm>
                <a:off x="9163050" y="3619500"/>
                <a:ext cx="476250" cy="914400"/>
              </a:xfrm>
              <a:prstGeom prst="ellipse">
                <a:avLst/>
              </a:prstGeom>
              <a:solidFill>
                <a:srgbClr val="B89AFF"/>
              </a:solidFill>
              <a:ln>
                <a:noFill/>
              </a:ln>
            </p:spPr>
          </p:sp>
          <p:sp>
            <p:nvSpPr>
              <p:cNvPr id="133" name="Ellipse 133"/>
              <p:cNvSpPr/>
              <p:nvPr/>
            </p:nvSpPr>
            <p:spPr>
              <a:xfrm rot="3600000">
                <a:off x="9558997" y="3848100"/>
                <a:ext cx="476250" cy="914400"/>
              </a:xfrm>
              <a:prstGeom prst="ellipse">
                <a:avLst/>
              </a:prstGeom>
              <a:solidFill>
                <a:srgbClr val="D9C8FF"/>
              </a:solidFill>
              <a:ln>
                <a:noFill/>
              </a:ln>
            </p:spPr>
          </p:sp>
          <p:sp>
            <p:nvSpPr>
              <p:cNvPr id="134" name="Ellipse 134"/>
              <p:cNvSpPr/>
              <p:nvPr/>
            </p:nvSpPr>
            <p:spPr>
              <a:xfrm rot="7200000">
                <a:off x="9558997" y="4305300"/>
                <a:ext cx="476250" cy="914400"/>
              </a:xfrm>
              <a:prstGeom prst="ellipse">
                <a:avLst/>
              </a:prstGeom>
              <a:solidFill>
                <a:srgbClr val="B89AFF"/>
              </a:solidFill>
              <a:ln>
                <a:noFill/>
              </a:ln>
            </p:spPr>
          </p:sp>
          <p:sp>
            <p:nvSpPr>
              <p:cNvPr id="135" name="Ellipse 135"/>
              <p:cNvSpPr/>
              <p:nvPr/>
            </p:nvSpPr>
            <p:spPr>
              <a:xfrm rot="10800000">
                <a:off x="9163050" y="4533900"/>
                <a:ext cx="476250" cy="914400"/>
              </a:xfrm>
              <a:prstGeom prst="ellipse">
                <a:avLst/>
              </a:prstGeom>
              <a:solidFill>
                <a:srgbClr val="D9C8FF"/>
              </a:solidFill>
              <a:ln>
                <a:noFill/>
              </a:ln>
            </p:spPr>
          </p:sp>
          <p:sp>
            <p:nvSpPr>
              <p:cNvPr id="136" name="Ellipse 136"/>
              <p:cNvSpPr/>
              <p:nvPr/>
            </p:nvSpPr>
            <p:spPr>
              <a:xfrm rot="-7200000">
                <a:off x="8767103" y="4305300"/>
                <a:ext cx="476250" cy="914400"/>
              </a:xfrm>
              <a:prstGeom prst="ellipse">
                <a:avLst/>
              </a:prstGeom>
              <a:solidFill>
                <a:srgbClr val="B89AFF"/>
              </a:solidFill>
              <a:ln>
                <a:noFill/>
              </a:ln>
            </p:spPr>
          </p:sp>
          <p:sp>
            <p:nvSpPr>
              <p:cNvPr id="137" name="Ellipse 137"/>
              <p:cNvSpPr/>
              <p:nvPr/>
            </p:nvSpPr>
            <p:spPr>
              <a:xfrm rot="-3600000">
                <a:off x="8767103" y="3848100"/>
                <a:ext cx="476250" cy="914400"/>
              </a:xfrm>
              <a:prstGeom prst="ellipse">
                <a:avLst/>
              </a:prstGeom>
              <a:solidFill>
                <a:srgbClr val="D9C8FF"/>
              </a:solidFill>
              <a:ln>
                <a:noFill/>
              </a:ln>
            </p:spPr>
          </p:sp>
          <p:sp>
            <p:nvSpPr>
              <p:cNvPr id="138" name="Ellipse 138"/>
              <p:cNvSpPr/>
              <p:nvPr/>
            </p:nvSpPr>
            <p:spPr>
              <a:xfrm>
                <a:off x="9172575" y="4305300"/>
                <a:ext cx="457200" cy="4572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</p:grp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0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7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9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8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220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1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3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5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7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9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1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3" presetID="1" presetClass="exit" presetSubtype="0" fill="hold" grpId="0" nodeType="withEffect" restart="always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5" presetID="1" presetClass="entr" presetSubtype="0" fill="hold" grpId="0" nodeType="withEffect" restart="always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267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0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2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4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6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8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0" presetID="1" presetClass="exit" presetSubtype="0" fill="hold" grpId="0" nodeType="withEffect" restart="always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2" presetID="1" presetClass="entr" presetSubtype="0" fill="hold" grpId="0" nodeType="withEffect" restart="always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7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9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1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3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5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7" presetID="1" presetClass="exit" presetSubtype="0" fill="hold" grpId="0" nodeType="withEffect" restart="always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9" presetID="1" presetClass="entr" presetSubtype="0" fill="hold" grpId="0" nodeType="withEffect" restart="always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47700" y="666750"/>
            <a:ext cx="3977945" cy="1700784"/>
            <a:chOff x="647700" y="666750"/>
            <a:chExt cx="3977945" cy="1700784"/>
          </a:xfrm>
        </p:grpSpPr>
        <p:sp>
          <p:nvSpPr>
            <p:cNvPr id="2" name="Rectangle 2"/>
            <p:cNvSpPr/>
            <p:nvPr/>
          </p:nvSpPr>
          <p:spPr>
            <a:xfrm>
              <a:off x="666750" y="666750"/>
              <a:ext cx="1809750" cy="47625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230058" y="80295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第三站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47700" y="1353502"/>
              <a:ext cx="221894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选择挑战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57606" y="2015490"/>
              <a:ext cx="396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先思考 → 再点击 → 看颜色反馈和解析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2914650"/>
            <a:ext cx="7067550" cy="2419350"/>
            <a:chOff x="666750" y="2914650"/>
            <a:chExt cx="7067550" cy="2419350"/>
          </a:xfrm>
        </p:grpSpPr>
        <p:sp>
          <p:nvSpPr>
            <p:cNvPr id="7" name="Rectangle 7"/>
            <p:cNvSpPr/>
            <p:nvPr/>
          </p:nvSpPr>
          <p:spPr>
            <a:xfrm>
              <a:off x="666750" y="2914650"/>
              <a:ext cx="7067550" cy="2419350"/>
            </a:xfrm>
            <a:prstGeom prst="roundRect">
              <a:avLst>
                <a:gd name="adj" fmla="val 13386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7082" y="3240405"/>
              <a:ext cx="14327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8 题 · 4 页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47750" y="3829050"/>
              <a:ext cx="2305050" cy="590550"/>
            </a:xfrm>
            <a:prstGeom prst="roundRect">
              <a:avLst>
                <a:gd name="adj" fmla="val 38710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13540" y="4031932"/>
              <a:ext cx="117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7A45"/>
                  </a:solidFill>
                  <a:latin typeface="Segoe UI"/>
                  <a:ea typeface="Microsoft YaHei"/>
                  <a:cs typeface="Segoe UI"/>
                </a:rPr>
                <a:t>绿色 = 正确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600450" y="3829050"/>
              <a:ext cx="2305050" cy="590550"/>
            </a:xfrm>
            <a:prstGeom prst="roundRect">
              <a:avLst>
                <a:gd name="adj" fmla="val 38710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166240" y="4031932"/>
              <a:ext cx="117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B83E68"/>
                  </a:solidFill>
                  <a:latin typeface="Segoe UI"/>
                  <a:ea typeface="Microsoft YaHei"/>
                  <a:cs typeface="Segoe UI"/>
                </a:rPr>
                <a:t>粉色 = 错误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9749" y="4782979"/>
              <a:ext cx="3451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每题一次点击：选项着色 + 解析出现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286750" y="3048000"/>
            <a:ext cx="2800350" cy="1562100"/>
            <a:chOff x="8286750" y="3048000"/>
            <a:chExt cx="2800350" cy="1562100"/>
          </a:xfrm>
        </p:grpSpPr>
        <p:sp>
          <p:nvSpPr>
            <p:cNvPr id="15" name="Ellipse 15"/>
            <p:cNvSpPr/>
            <p:nvPr/>
          </p:nvSpPr>
          <p:spPr>
            <a:xfrm>
              <a:off x="8286750" y="3048000"/>
              <a:ext cx="571500" cy="571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99980" y="32413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029700" y="3048000"/>
              <a:ext cx="571500" cy="571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42930" y="32413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9772650" y="3048000"/>
              <a:ext cx="571500" cy="571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985880" y="32413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515600" y="3048000"/>
              <a:ext cx="571500" cy="571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728830" y="32413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4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286750" y="4038600"/>
              <a:ext cx="571500" cy="5715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99980" y="42319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5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9029700" y="4038600"/>
              <a:ext cx="571500" cy="5715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42930" y="42319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6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9772650" y="4038600"/>
              <a:ext cx="571500" cy="5715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985880" y="42319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7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10515600" y="4038600"/>
              <a:ext cx="571500" cy="5715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728830" y="42319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11695"/>
            <a:chOff x="514350" y="323850"/>
            <a:chExt cx="11170158" cy="611695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38300" cy="43815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2202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选择挑战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04872" y="3781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命令辨认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2687" y="5019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初始中性 · 点击后绿对粉错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4350" y="1181100"/>
            <a:ext cx="11163300" cy="2343150"/>
            <a:chOff x="514350" y="1181100"/>
            <a:chExt cx="11163300" cy="2343150"/>
          </a:xfrm>
        </p:grpSpPr>
        <p:sp>
          <p:nvSpPr>
            <p:cNvPr id="7" name="Rectangle 7"/>
            <p:cNvSpPr/>
            <p:nvPr/>
          </p:nvSpPr>
          <p:spPr>
            <a:xfrm>
              <a:off x="514350" y="1181100"/>
              <a:ext cx="11163300" cy="23431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685800" y="131445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473" y="14573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8156" y="143446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让海龟隐藏，应该调用哪个函数？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810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6592" y="1997392"/>
              <a:ext cx="13837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A. hideturtle()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861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31692" y="1997392"/>
              <a:ext cx="1465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B. showturtle()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810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6592" y="2530792"/>
              <a:ext cx="914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C. home()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861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31692" y="2530792"/>
              <a:ext cx="8775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D. done()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3100" y="2102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/>
                  <a:ea typeface="Microsoft YaHei"/>
                  <a:cs typeface="Segoe UI"/>
                </a:rPr>
                <a:t>想好了吗？点击揭晓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85887" y="24150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先说理由，再看解析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1050" y="1866900"/>
            <a:ext cx="10515600" cy="952500"/>
            <a:chOff x="781050" y="1866900"/>
            <a:chExt cx="10515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7810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6592" y="1997392"/>
              <a:ext cx="14522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07A45"/>
                  </a:solidFill>
                  <a:latin typeface="Segoe UI"/>
                  <a:ea typeface="Segoe UI"/>
                  <a:cs typeface="Segoe UI"/>
                </a:rPr>
                <a:t>A. hideturtle()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861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31692" y="1997392"/>
              <a:ext cx="1538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/>
                  <a:ea typeface="Segoe UI"/>
                  <a:cs typeface="Segoe UI"/>
                </a:rPr>
                <a:t>B. showturtle()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810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6592" y="2530792"/>
              <a:ext cx="959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/>
                  <a:ea typeface="Segoe UI"/>
                  <a:cs typeface="Segoe UI"/>
                </a:rPr>
                <a:t>C. home()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861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31692" y="2530792"/>
              <a:ext cx="920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/>
                  <a:ea typeface="Segoe UI"/>
                  <a:cs typeface="Segoe UI"/>
                </a:rPr>
                <a:t>D. done()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2542" y="2045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Segoe UI"/>
                  <a:ea typeface="Microsoft YaHei"/>
                  <a:cs typeface="Segoe UI"/>
                </a:rPr>
                <a:t>解析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22923" y="2376964"/>
              <a:ext cx="36746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hide 表示隐藏；它只隐藏光标，不会擦掉图画。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38900" y="1866900"/>
            <a:ext cx="4857750" cy="952500"/>
            <a:chOff x="6438900" y="1866900"/>
            <a:chExt cx="4857750" cy="952500"/>
          </a:xfrm>
        </p:grpSpPr>
        <p:sp>
          <p:nvSpPr>
            <p:cNvPr id="35" name="Rectangle 35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514350" y="3714750"/>
            <a:ext cx="11163300" cy="2343150"/>
            <a:chOff x="514350" y="3714750"/>
            <a:chExt cx="11163300" cy="2343150"/>
          </a:xfrm>
        </p:grpSpPr>
        <p:sp>
          <p:nvSpPr>
            <p:cNvPr id="37" name="Rectangle 37"/>
            <p:cNvSpPr/>
            <p:nvPr/>
          </p:nvSpPr>
          <p:spPr>
            <a:xfrm>
              <a:off x="514350" y="3714750"/>
              <a:ext cx="11163300" cy="23431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85800" y="384810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8473" y="39909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48156" y="396811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让海龟重新显示，应该调用哪个函数？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810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6592" y="4531042"/>
              <a:ext cx="13837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A. hideturtle()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4861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631692" y="4531042"/>
              <a:ext cx="1465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B. showturtle()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810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6592" y="5064442"/>
              <a:ext cx="984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C. circle()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861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31692" y="5064442"/>
              <a:ext cx="1212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D. forward()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43100" y="46358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/>
                  <a:ea typeface="Microsoft YaHei"/>
                  <a:cs typeface="Segoe UI"/>
                </a:rPr>
                <a:t>想好了吗？点击揭晓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85887" y="49487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先说理由，再看解析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81050" y="4400550"/>
            <a:ext cx="10515600" cy="952500"/>
            <a:chOff x="781050" y="4400550"/>
            <a:chExt cx="10515600" cy="952500"/>
          </a:xfrm>
        </p:grpSpPr>
        <p:sp>
          <p:nvSpPr>
            <p:cNvPr id="53" name="Rectangle 53"/>
            <p:cNvSpPr/>
            <p:nvPr/>
          </p:nvSpPr>
          <p:spPr>
            <a:xfrm>
              <a:off x="7810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6592" y="4531042"/>
              <a:ext cx="14522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/>
                  <a:ea typeface="Segoe UI"/>
                  <a:cs typeface="Segoe UI"/>
                </a:rPr>
                <a:t>A. hideturtle()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4861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631692" y="4531042"/>
              <a:ext cx="1538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07A45"/>
                  </a:solidFill>
                  <a:latin typeface="Segoe UI"/>
                  <a:ea typeface="Segoe UI"/>
                  <a:cs typeface="Segoe UI"/>
                </a:rPr>
                <a:t>B. showturtle()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810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26592" y="5064442"/>
              <a:ext cx="10332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/>
                  <a:ea typeface="Segoe UI"/>
                  <a:cs typeface="Segoe UI"/>
                </a:rPr>
                <a:t>C. circle()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4861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631692" y="5064442"/>
              <a:ext cx="1272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/>
                  <a:ea typeface="Segoe UI"/>
                  <a:cs typeface="Segoe UI"/>
                </a:rPr>
                <a:t>D. forward()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22542" y="4578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Segoe UI"/>
                  <a:ea typeface="Microsoft YaHei"/>
                  <a:cs typeface="Segoe UI"/>
                </a:rPr>
                <a:t>解析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22923" y="4910614"/>
              <a:ext cx="3898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show 表示显示；showturtle() 让光标重新出现。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438900" y="4400550"/>
            <a:ext cx="4857750" cy="952500"/>
            <a:chOff x="6438900" y="4400550"/>
            <a:chExt cx="4857750" cy="952500"/>
          </a:xfrm>
        </p:grpSpPr>
        <p:sp>
          <p:nvSpPr>
            <p:cNvPr id="65" name="Rectangle 65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11695"/>
            <a:chOff x="514350" y="323850"/>
            <a:chExt cx="11170158" cy="611695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38300" cy="43815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2202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选择挑战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04872" y="3781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窗口与角度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2687" y="5019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初始中性 · 点击后绿对粉错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4350" y="1181100"/>
            <a:ext cx="11163300" cy="2343150"/>
            <a:chOff x="514350" y="1181100"/>
            <a:chExt cx="11163300" cy="2343150"/>
          </a:xfrm>
        </p:grpSpPr>
        <p:sp>
          <p:nvSpPr>
            <p:cNvPr id="7" name="Rectangle 7"/>
            <p:cNvSpPr/>
            <p:nvPr/>
          </p:nvSpPr>
          <p:spPr>
            <a:xfrm>
              <a:off x="514350" y="1181100"/>
              <a:ext cx="11163300" cy="23431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685800" y="131445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473" y="14573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8156" y="143446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哪行代码能设置窗口标题？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810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6592" y="1997392"/>
              <a:ext cx="26978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A. screen.title("小红花画展")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861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31692" y="1997392"/>
              <a:ext cx="22030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B. t.title("小红花画展")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810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6592" y="2530792"/>
              <a:ext cx="15298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C. turtle.done()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861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31692" y="2530792"/>
              <a:ext cx="1829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D. screen.bgcolor()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3100" y="2102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/>
                  <a:ea typeface="Microsoft YaHei"/>
                  <a:cs typeface="Segoe UI"/>
                </a:rPr>
                <a:t>想好了吗？点击揭晓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85887" y="24150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先说理由，再看解析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1050" y="1866900"/>
            <a:ext cx="10515600" cy="952500"/>
            <a:chOff x="781050" y="1866900"/>
            <a:chExt cx="10515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7810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6592" y="1997392"/>
              <a:ext cx="27864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A45"/>
                  </a:solidFill>
                  <a:latin typeface="Segoe UI"/>
                  <a:ea typeface="Microsoft YaHei"/>
                  <a:cs typeface="Segoe UI"/>
                </a:rPr>
                <a:t>A. screen.title("小红花画展")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861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31692" y="1997392"/>
              <a:ext cx="2266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/>
                  <a:ea typeface="Microsoft YaHei"/>
                  <a:cs typeface="Segoe UI"/>
                </a:rPr>
                <a:t>B. t.title("小红花画展")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810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6592" y="2530792"/>
              <a:ext cx="16057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/>
                  <a:ea typeface="Segoe UI"/>
                  <a:cs typeface="Segoe UI"/>
                </a:rPr>
                <a:t>C. turtle.done()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861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31692" y="2530792"/>
              <a:ext cx="19200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/>
                  <a:ea typeface="Segoe UI"/>
                  <a:cs typeface="Segoe UI"/>
                </a:rPr>
                <a:t>D. screen.bgcolor()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2542" y="2045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Segoe UI"/>
                  <a:ea typeface="Microsoft YaHei"/>
                  <a:cs typeface="Segoe UI"/>
                </a:rPr>
                <a:t>解析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22923" y="2376964"/>
              <a:ext cx="43638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title() 属于窗口对象 screen，标题文字要放在引号里。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38900" y="1866900"/>
            <a:ext cx="4857750" cy="952500"/>
            <a:chOff x="6438900" y="1866900"/>
            <a:chExt cx="4857750" cy="952500"/>
          </a:xfrm>
        </p:grpSpPr>
        <p:sp>
          <p:nvSpPr>
            <p:cNvPr id="35" name="Rectangle 35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514350" y="3714750"/>
            <a:ext cx="11163300" cy="2343150"/>
            <a:chOff x="514350" y="3714750"/>
            <a:chExt cx="11163300" cy="2343150"/>
          </a:xfrm>
        </p:grpSpPr>
        <p:sp>
          <p:nvSpPr>
            <p:cNvPr id="37" name="Rectangle 37"/>
            <p:cNvSpPr/>
            <p:nvPr/>
          </p:nvSpPr>
          <p:spPr>
            <a:xfrm>
              <a:off x="514350" y="3714750"/>
              <a:ext cx="11163300" cy="23431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85800" y="384810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8473" y="39909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48156" y="3968115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画六瓣花，每画一瓣后左转多少度？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810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6592" y="4531042"/>
              <a:ext cx="59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A. 30°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4861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631692" y="4531042"/>
              <a:ext cx="59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B. 45°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810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6592" y="5064442"/>
              <a:ext cx="59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C. 60°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861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31692" y="5064442"/>
              <a:ext cx="59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D. 90°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43100" y="46358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/>
                  <a:ea typeface="Microsoft YaHei"/>
                  <a:cs typeface="Segoe UI"/>
                </a:rPr>
                <a:t>想好了吗？点击揭晓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85887" y="49487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先说理由，再看解析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81050" y="4400550"/>
            <a:ext cx="10515600" cy="952500"/>
            <a:chOff x="781050" y="4400550"/>
            <a:chExt cx="10515600" cy="952500"/>
          </a:xfrm>
        </p:grpSpPr>
        <p:sp>
          <p:nvSpPr>
            <p:cNvPr id="53" name="Rectangle 53"/>
            <p:cNvSpPr/>
            <p:nvPr/>
          </p:nvSpPr>
          <p:spPr>
            <a:xfrm>
              <a:off x="7810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6592" y="4531042"/>
              <a:ext cx="628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/>
                  <a:ea typeface="Segoe UI"/>
                  <a:cs typeface="Segoe UI"/>
                </a:rPr>
                <a:t>A. 30°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4861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631692" y="4531042"/>
              <a:ext cx="628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/>
                  <a:ea typeface="Segoe UI"/>
                  <a:cs typeface="Segoe UI"/>
                </a:rPr>
                <a:t>B. 45°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810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26592" y="5064442"/>
              <a:ext cx="628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07A45"/>
                  </a:solidFill>
                  <a:latin typeface="Segoe UI"/>
                  <a:ea typeface="Segoe UI"/>
                  <a:cs typeface="Segoe UI"/>
                </a:rPr>
                <a:t>C. 60°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4861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631692" y="5064442"/>
              <a:ext cx="628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/>
                  <a:ea typeface="Segoe UI"/>
                  <a:cs typeface="Segoe UI"/>
                </a:rPr>
                <a:t>D. 90°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22542" y="4578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Segoe UI"/>
                  <a:ea typeface="Microsoft YaHei"/>
                  <a:cs typeface="Segoe UI"/>
                </a:rPr>
                <a:t>解析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22923" y="4910614"/>
              <a:ext cx="33041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一圈 360° 平均分成 6 份：360 ÷ 6 = 60°。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438900" y="4400550"/>
            <a:ext cx="4857750" cy="952500"/>
            <a:chOff x="6438900" y="4400550"/>
            <a:chExt cx="4857750" cy="952500"/>
          </a:xfrm>
        </p:grpSpPr>
        <p:sp>
          <p:nvSpPr>
            <p:cNvPr id="65" name="Rectangle 65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11695"/>
            <a:chOff x="514350" y="323850"/>
            <a:chExt cx="11170158" cy="611695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38300" cy="43815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2202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选择挑战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04872" y="3781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展示与方向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2687" y="5019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初始中性 · 点击后绿对粉错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4350" y="1181100"/>
            <a:ext cx="11163300" cy="2343150"/>
            <a:chOff x="514350" y="1181100"/>
            <a:chExt cx="11163300" cy="2343150"/>
          </a:xfrm>
        </p:grpSpPr>
        <p:sp>
          <p:nvSpPr>
            <p:cNvPr id="7" name="Rectangle 7"/>
            <p:cNvSpPr/>
            <p:nvPr/>
          </p:nvSpPr>
          <p:spPr>
            <a:xfrm>
              <a:off x="514350" y="1181100"/>
              <a:ext cx="11163300" cy="23431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685800" y="131445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473" y="14573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8156" y="143446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作品完成后，怎样让画面更整洁？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810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6592" y="1997392"/>
              <a:ext cx="1050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A. 隐藏海龟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861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31692" y="1997392"/>
              <a:ext cx="1050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B. 清空画布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810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6592" y="2530792"/>
              <a:ext cx="1050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C. 关闭窗口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861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31692" y="2530792"/>
              <a:ext cx="1050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D. 删除代码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3100" y="2102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/>
                  <a:ea typeface="Microsoft YaHei"/>
                  <a:cs typeface="Segoe UI"/>
                </a:rPr>
                <a:t>想好了吗？点击揭晓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85887" y="24150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先说理由，再看解析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1050" y="1866900"/>
            <a:ext cx="10515600" cy="952500"/>
            <a:chOff x="781050" y="1866900"/>
            <a:chExt cx="10515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7810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6592" y="1997392"/>
              <a:ext cx="1064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A45"/>
                  </a:solidFill>
                  <a:latin typeface="Segoe UI"/>
                  <a:ea typeface="Microsoft YaHei"/>
                  <a:cs typeface="Segoe UI"/>
                </a:rPr>
                <a:t>A. 隐藏海龟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861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31692" y="1997392"/>
              <a:ext cx="1064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/>
                  <a:ea typeface="Microsoft YaHei"/>
                  <a:cs typeface="Segoe UI"/>
                </a:rPr>
                <a:t>B. 清空画布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810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6592" y="2530792"/>
              <a:ext cx="1064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/>
                  <a:ea typeface="Microsoft YaHei"/>
                  <a:cs typeface="Segoe UI"/>
                </a:rPr>
                <a:t>C. 关闭窗口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861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31692" y="2530792"/>
              <a:ext cx="1064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/>
                  <a:ea typeface="Microsoft YaHei"/>
                  <a:cs typeface="Segoe UI"/>
                </a:rPr>
                <a:t>D. 删除代码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2542" y="2045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Segoe UI"/>
                  <a:ea typeface="Microsoft YaHei"/>
                  <a:cs typeface="Segoe UI"/>
                </a:rPr>
                <a:t>解析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22923" y="2376964"/>
              <a:ext cx="31835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hideturtle() 隐藏光标，作品仍然保留。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38900" y="1866900"/>
            <a:ext cx="4857750" cy="952500"/>
            <a:chOff x="6438900" y="1866900"/>
            <a:chExt cx="4857750" cy="952500"/>
          </a:xfrm>
        </p:grpSpPr>
        <p:sp>
          <p:nvSpPr>
            <p:cNvPr id="35" name="Rectangle 35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514350" y="3714750"/>
            <a:ext cx="11163300" cy="2343150"/>
            <a:chOff x="514350" y="3714750"/>
            <a:chExt cx="11163300" cy="2343150"/>
          </a:xfrm>
        </p:grpSpPr>
        <p:sp>
          <p:nvSpPr>
            <p:cNvPr id="37" name="Rectangle 37"/>
            <p:cNvSpPr/>
            <p:nvPr/>
          </p:nvSpPr>
          <p:spPr>
            <a:xfrm>
              <a:off x="514350" y="3714750"/>
              <a:ext cx="11163300" cy="23431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85800" y="384810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8473" y="39909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48156" y="3968115"/>
              <a:ext cx="43381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让花茎朝下，setheading 应设为多少？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810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6592" y="4531042"/>
              <a:ext cx="493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A. 0°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4861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631692" y="4531042"/>
              <a:ext cx="59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B. 90°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810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6592" y="5064442"/>
              <a:ext cx="705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C. 180°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861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31692" y="5064442"/>
              <a:ext cx="705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D. 270°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43100" y="46358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/>
                  <a:ea typeface="Microsoft YaHei"/>
                  <a:cs typeface="Segoe UI"/>
                </a:rPr>
                <a:t>想好了吗？点击揭晓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85887" y="49487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先说理由，再看解析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81050" y="4400550"/>
            <a:ext cx="10515600" cy="952500"/>
            <a:chOff x="781050" y="4400550"/>
            <a:chExt cx="10515600" cy="952500"/>
          </a:xfrm>
        </p:grpSpPr>
        <p:sp>
          <p:nvSpPr>
            <p:cNvPr id="53" name="Rectangle 53"/>
            <p:cNvSpPr/>
            <p:nvPr/>
          </p:nvSpPr>
          <p:spPr>
            <a:xfrm>
              <a:off x="7810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6592" y="4531042"/>
              <a:ext cx="517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/>
                  <a:ea typeface="Segoe UI"/>
                  <a:cs typeface="Segoe UI"/>
                </a:rPr>
                <a:t>A. 0°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4861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631692" y="4531042"/>
              <a:ext cx="628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/>
                  <a:ea typeface="Segoe UI"/>
                  <a:cs typeface="Segoe UI"/>
                </a:rPr>
                <a:t>B. 90°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810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26592" y="5064442"/>
              <a:ext cx="739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/>
                  <a:ea typeface="Segoe UI"/>
                  <a:cs typeface="Segoe UI"/>
                </a:rPr>
                <a:t>C. 180°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4861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631692" y="5064442"/>
              <a:ext cx="739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07A45"/>
                  </a:solidFill>
                  <a:latin typeface="Segoe UI"/>
                  <a:ea typeface="Segoe UI"/>
                  <a:cs typeface="Segoe UI"/>
                </a:rPr>
                <a:t>D. 270°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22542" y="4578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Segoe UI"/>
                  <a:ea typeface="Microsoft YaHei"/>
                  <a:cs typeface="Segoe UI"/>
                </a:rPr>
                <a:t>解析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22923" y="4910614"/>
              <a:ext cx="3312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0°向右、90°向上、180°向左、270°向下。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438900" y="4400550"/>
            <a:ext cx="4857750" cy="952500"/>
            <a:chOff x="6438900" y="4400550"/>
            <a:chExt cx="4857750" cy="952500"/>
          </a:xfrm>
        </p:grpSpPr>
        <p:sp>
          <p:nvSpPr>
            <p:cNvPr id="65" name="Rectangle 65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11695"/>
            <a:chOff x="514350" y="323850"/>
            <a:chExt cx="11170158" cy="611695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38300" cy="43815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2202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选择挑战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04872" y="3781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调试与综合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2687" y="5019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初始中性 · 点击后绿对粉错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4350" y="1181100"/>
            <a:ext cx="11163300" cy="2343150"/>
            <a:chOff x="514350" y="1181100"/>
            <a:chExt cx="11163300" cy="2343150"/>
          </a:xfrm>
        </p:grpSpPr>
        <p:sp>
          <p:nvSpPr>
            <p:cNvPr id="7" name="Rectangle 7"/>
            <p:cNvSpPr/>
            <p:nvPr/>
          </p:nvSpPr>
          <p:spPr>
            <a:xfrm>
              <a:off x="514350" y="1181100"/>
              <a:ext cx="11163300" cy="23431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685800" y="131445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473" y="14573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8156" y="143446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哪种修改方式更安全？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810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6592" y="1997392"/>
              <a:ext cx="1434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A. 一次改很多处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861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31692" y="1997392"/>
              <a:ext cx="1626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B. 改一处马上运行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810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6592" y="2530792"/>
              <a:ext cx="1242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C. 只改不运行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861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31692" y="2530792"/>
              <a:ext cx="1242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D. 报错就重写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3100" y="2102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/>
                  <a:ea typeface="Microsoft YaHei"/>
                  <a:cs typeface="Segoe UI"/>
                </a:rPr>
                <a:t>想好了吗？点击揭晓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85887" y="24150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先说理由，再看解析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1050" y="1866900"/>
            <a:ext cx="10515600" cy="952500"/>
            <a:chOff x="781050" y="1866900"/>
            <a:chExt cx="10515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7810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6592" y="1997392"/>
              <a:ext cx="1448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/>
                  <a:ea typeface="Microsoft YaHei"/>
                  <a:cs typeface="Segoe UI"/>
                </a:rPr>
                <a:t>A. 一次改很多处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861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31692" y="1997392"/>
              <a:ext cx="1640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A45"/>
                  </a:solidFill>
                  <a:latin typeface="Segoe UI"/>
                  <a:ea typeface="Microsoft YaHei"/>
                  <a:cs typeface="Segoe UI"/>
                </a:rPr>
                <a:t>B. 改一处马上运行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810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6592" y="2530792"/>
              <a:ext cx="1256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/>
                  <a:ea typeface="Microsoft YaHei"/>
                  <a:cs typeface="Segoe UI"/>
                </a:rPr>
                <a:t>C. 只改不运行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861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31692" y="2530792"/>
              <a:ext cx="1256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/>
                  <a:ea typeface="Microsoft YaHei"/>
                  <a:cs typeface="Segoe UI"/>
                </a:rPr>
                <a:t>D. 报错就重写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2542" y="2045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Segoe UI"/>
                  <a:ea typeface="Microsoft YaHei"/>
                  <a:cs typeface="Segoe UI"/>
                </a:rPr>
                <a:t>解析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22923" y="237696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一次只改一处并及时运行，最容易定位错误。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38900" y="1866900"/>
            <a:ext cx="4857750" cy="952500"/>
            <a:chOff x="6438900" y="1866900"/>
            <a:chExt cx="4857750" cy="952500"/>
          </a:xfrm>
        </p:grpSpPr>
        <p:sp>
          <p:nvSpPr>
            <p:cNvPr id="35" name="Rectangle 35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514350" y="3714750"/>
            <a:ext cx="11163300" cy="2343150"/>
            <a:chOff x="514350" y="3714750"/>
            <a:chExt cx="11163300" cy="2343150"/>
          </a:xfrm>
        </p:grpSpPr>
        <p:sp>
          <p:nvSpPr>
            <p:cNvPr id="37" name="Rectangle 37"/>
            <p:cNvSpPr/>
            <p:nvPr/>
          </p:nvSpPr>
          <p:spPr>
            <a:xfrm>
              <a:off x="514350" y="3714750"/>
              <a:ext cx="11163300" cy="23431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85800" y="384810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8473" y="39909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48156" y="396811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本课最重要的目标是什么？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810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6592" y="4531042"/>
              <a:ext cx="1434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A. 背下所有颜色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4861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631692" y="4531042"/>
              <a:ext cx="1818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B. 综合命令完成作品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810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6592" y="5064442"/>
              <a:ext cx="1626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C. 把代码写得最长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861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31692" y="5064442"/>
              <a:ext cx="1434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D. 隐藏所有窗口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43100" y="46358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/>
                  <a:ea typeface="Microsoft YaHei"/>
                  <a:cs typeface="Segoe UI"/>
                </a:rPr>
                <a:t>想好了吗？点击揭晓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85887" y="49487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先说理由，再看解析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81050" y="4400550"/>
            <a:ext cx="10515600" cy="952500"/>
            <a:chOff x="781050" y="4400550"/>
            <a:chExt cx="10515600" cy="952500"/>
          </a:xfrm>
        </p:grpSpPr>
        <p:sp>
          <p:nvSpPr>
            <p:cNvPr id="53" name="Rectangle 53"/>
            <p:cNvSpPr/>
            <p:nvPr/>
          </p:nvSpPr>
          <p:spPr>
            <a:xfrm>
              <a:off x="7810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6592" y="4531042"/>
              <a:ext cx="1448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/>
                  <a:ea typeface="Microsoft YaHei"/>
                  <a:cs typeface="Segoe UI"/>
                </a:rPr>
                <a:t>A. 背下所有颜色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4861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631692" y="4531042"/>
              <a:ext cx="1832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A45"/>
                  </a:solidFill>
                  <a:latin typeface="Segoe UI"/>
                  <a:ea typeface="Microsoft YaHei"/>
                  <a:cs typeface="Segoe UI"/>
                </a:rPr>
                <a:t>B. 综合命令完成作品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810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26592" y="5064442"/>
              <a:ext cx="1640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/>
                  <a:ea typeface="Microsoft YaHei"/>
                  <a:cs typeface="Segoe UI"/>
                </a:rPr>
                <a:t>C. 把代码写得最长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4861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631692" y="5064442"/>
              <a:ext cx="1448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/>
                  <a:ea typeface="Microsoft YaHei"/>
                  <a:cs typeface="Segoe UI"/>
                </a:rPr>
                <a:t>D. 隐藏所有窗口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22542" y="4578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Segoe UI"/>
                  <a:ea typeface="Microsoft YaHei"/>
                  <a:cs typeface="Segoe UI"/>
                </a:rPr>
                <a:t>解析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22923" y="491061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阶段复盘的重点是把已学命令组合成完整作品。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438900" y="4400550"/>
            <a:ext cx="4857750" cy="952500"/>
            <a:chOff x="6438900" y="4400550"/>
            <a:chExt cx="4857750" cy="952500"/>
          </a:xfrm>
        </p:grpSpPr>
        <p:sp>
          <p:nvSpPr>
            <p:cNvPr id="65" name="Rectangle 65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62000" y="762000"/>
            <a:ext cx="3905250" cy="5143500"/>
            <a:chOff x="762000" y="762000"/>
            <a:chExt cx="3905250" cy="5143500"/>
          </a:xfrm>
        </p:grpSpPr>
        <p:sp>
          <p:nvSpPr>
            <p:cNvPr id="2" name="Rectangle 2"/>
            <p:cNvSpPr/>
            <p:nvPr/>
          </p:nvSpPr>
          <p:spPr>
            <a:xfrm>
              <a:off x="762000" y="762000"/>
              <a:ext cx="3905250" cy="5143500"/>
            </a:xfrm>
            <a:prstGeom prst="roundRect">
              <a:avLst>
                <a:gd name="adj" fmla="val 1122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2007549" y="1444942"/>
              <a:ext cx="1414152" cy="1704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8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015109" y="275367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分钟休息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2066925" y="3409950"/>
              <a:ext cx="1295400" cy="1295400"/>
            </a:xfrm>
            <a:prstGeom prst="ellipse">
              <a:avLst/>
            </a:prstGeom>
            <a:solidFill>
              <a:srgbClr val="FFFFFF">
                <a:alpha val="18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714625" y="3638550"/>
              <a:ext cx="342900" cy="666750"/>
            </a:xfrm>
            <a:custGeom>
              <a:avLst/>
              <a:gdLst/>
              <a:ahLst/>
              <a:cxnLst/>
              <a:rect l="l" t="t" r="r" b="b"/>
              <a:pathLst>
                <a:path w="342900" h="666750">
                  <a:moveTo>
                    <a:pt x="0" y="0"/>
                  </a:moveTo>
                  <a:lnTo>
                    <a:pt x="0" y="476250"/>
                  </a:lnTo>
                  <a:lnTo>
                    <a:pt x="342900" y="666750"/>
                  </a:lnTo>
                </a:path>
              </a:pathLst>
            </a:custGeom>
            <a:noFill/>
            <a:ln w="133350" cap="rnd">
              <a:solidFill>
                <a:srgbClr val="FFFFFF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239512" y="1002030"/>
            <a:ext cx="6190488" cy="4293870"/>
            <a:chOff x="5239512" y="1002030"/>
            <a:chExt cx="6190488" cy="4293870"/>
          </a:xfrm>
        </p:grpSpPr>
        <p:sp>
          <p:nvSpPr>
            <p:cNvPr id="8" name="TextBox 8"/>
            <p:cNvSpPr txBox="1"/>
            <p:nvPr/>
          </p:nvSpPr>
          <p:spPr>
            <a:xfrm>
              <a:off x="5239512" y="1002030"/>
              <a:ext cx="442128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保存 .py，休息一下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257800" y="1943100"/>
              <a:ext cx="6172200" cy="952500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467350" y="2152650"/>
              <a:ext cx="533400" cy="533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54937" y="23202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00394" y="230409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先保存刚才的程序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257800" y="3143250"/>
              <a:ext cx="6172200" cy="952500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5467350" y="335280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54937" y="35204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00394" y="350424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望远处，放松眼睛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257800" y="4343400"/>
              <a:ext cx="6172200" cy="952500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467350" y="4552950"/>
              <a:ext cx="533400" cy="53340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54937" y="47205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00394" y="4704398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回来后打开同一个文件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42900"/>
            <a:ext cx="5863590" cy="643890"/>
            <a:chOff x="514350" y="342900"/>
            <a:chExt cx="5863590" cy="643890"/>
          </a:xfrm>
        </p:grpSpPr>
        <p:sp>
          <p:nvSpPr>
            <p:cNvPr id="2" name="Rectangle 2"/>
            <p:cNvSpPr/>
            <p:nvPr/>
          </p:nvSpPr>
          <p:spPr>
            <a:xfrm>
              <a:off x="514350" y="342900"/>
              <a:ext cx="1524000" cy="4381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60158" y="476250"/>
              <a:ext cx="632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动手 B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308860" y="40005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给花朵添上花心和花茎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1352550"/>
            <a:ext cx="6191250" cy="4648200"/>
            <a:chOff x="514350" y="1352550"/>
            <a:chExt cx="6191250" cy="46482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6191250" cy="4648200"/>
            </a:xfrm>
            <a:prstGeom prst="roundRect">
              <a:avLst>
                <a:gd name="adj" fmla="val 6148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14350" y="1352550"/>
              <a:ext cx="6191250" cy="514350"/>
            </a:xfrm>
            <a:prstGeom prst="roundRect">
              <a:avLst>
                <a:gd name="adj" fmla="val 50000"/>
              </a:avLst>
            </a:prstGeom>
            <a:solidFill>
              <a:srgbClr val="EEF6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580" y="1524000"/>
              <a:ext cx="1268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补全 5 行代码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11455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1649" y="2239804"/>
              <a:ext cx="22387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C"/>
                  </a:solidFill>
                  <a:latin typeface="Consolas"/>
                  <a:ea typeface="Consolas"/>
                  <a:cs typeface="Consolas"/>
                </a:rPr>
                <a:t>t.____(45, "yellow")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270510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1649" y="2830354"/>
              <a:ext cx="20047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C"/>
                  </a:solidFill>
                  <a:latin typeface="Consolas"/>
                  <a:ea typeface="Consolas"/>
                  <a:cs typeface="Consolas"/>
                </a:rPr>
                <a:t>t.__________(270)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29565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1649" y="3420904"/>
              <a:ext cx="141981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C"/>
                  </a:solidFill>
                  <a:latin typeface="Consolas"/>
                  <a:ea typeface="Consolas"/>
                  <a:cs typeface="Consolas"/>
                </a:rPr>
                <a:t>t._______(8)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388620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1649" y="4011454"/>
              <a:ext cx="22387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C"/>
                  </a:solidFill>
                  <a:latin typeface="Consolas"/>
                  <a:ea typeface="Consolas"/>
                  <a:cs typeface="Consolas"/>
                </a:rPr>
                <a:t>t.________("green")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447675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1649" y="4602004"/>
              <a:ext cx="16537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C"/>
                  </a:solidFill>
                  <a:latin typeface="Consolas"/>
                  <a:ea typeface="Consolas"/>
                  <a:cs typeface="Consolas"/>
                </a:rPr>
                <a:t>t._______(140)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38200" y="5257800"/>
              <a:ext cx="5543550" cy="514350"/>
              <a:chOff x="838200" y="5257800"/>
              <a:chExt cx="5543550" cy="5143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38200" y="5257800"/>
                <a:ext cx="5543550" cy="514350"/>
              </a:xfrm>
              <a:prstGeom prst="roundRect">
                <a:avLst>
                  <a:gd name="adj" fmla="val 37037"/>
                </a:avLst>
              </a:pr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935224" y="542258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点击核对答案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838200" y="5257800"/>
                <a:ext cx="5543550" cy="514350"/>
              </a:xfrm>
              <a:prstGeom prst="roundRect">
                <a:avLst>
                  <a:gd name="adj" fmla="val 37037"/>
                </a:avLst>
              </a:prstGeom>
              <a:solidFill>
                <a:srgbClr val="FFFFFF">
                  <a:alpha val="100"/>
                </a:srgbClr>
              </a:solidFill>
              <a:ln>
                <a:noFill/>
              </a:ln>
            </p:spPr>
          </p:sp>
        </p:grpSp>
      </p:grpSp>
      <p:grpSp>
        <p:nvGrpSpPr>
          <p:cNvPr id="34" name="Group 34"/>
          <p:cNvGrpSpPr/>
          <p:nvPr/>
        </p:nvGrpSpPr>
        <p:grpSpPr>
          <a:xfrm>
            <a:off x="838200" y="2114550"/>
            <a:ext cx="5543550" cy="2800350"/>
            <a:chOff x="838200" y="2114550"/>
            <a:chExt cx="5543550" cy="2800350"/>
          </a:xfrm>
        </p:grpSpPr>
        <p:sp>
          <p:nvSpPr>
            <p:cNvPr id="24" name="Rectangle 24"/>
            <p:cNvSpPr/>
            <p:nvPr/>
          </p:nvSpPr>
          <p:spPr>
            <a:xfrm>
              <a:off x="838200" y="211455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01649" y="2239804"/>
              <a:ext cx="222701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207A45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38200" y="270510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01649" y="2830354"/>
              <a:ext cx="204834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207A45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38200" y="329565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01649" y="3420904"/>
              <a:ext cx="143417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207A45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38200" y="388620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01649" y="4011454"/>
              <a:ext cx="22940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207A45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38200" y="447675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01649" y="4602004"/>
              <a:ext cx="178034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207A45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124700" y="1352550"/>
            <a:ext cx="4552950" cy="4648200"/>
            <a:chOff x="7124700" y="1352550"/>
            <a:chExt cx="4552950" cy="4648200"/>
          </a:xfrm>
        </p:grpSpPr>
        <p:sp>
          <p:nvSpPr>
            <p:cNvPr id="35" name="Rectangle 35"/>
            <p:cNvSpPr/>
            <p:nvPr/>
          </p:nvSpPr>
          <p:spPr>
            <a:xfrm>
              <a:off x="7124700" y="1352550"/>
              <a:ext cx="4552950" cy="4648200"/>
            </a:xfrm>
            <a:prstGeom prst="roundRect">
              <a:avLst>
                <a:gd name="adj" fmla="val 6276"/>
              </a:avLst>
            </a:prstGeom>
            <a:solidFill>
              <a:srgbClr val="FFF3D6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8225912" y="1924050"/>
              <a:ext cx="2350526" cy="2990850"/>
              <a:chOff x="8225912" y="1924050"/>
              <a:chExt cx="2350526" cy="2990850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9096375" y="1924050"/>
                <a:ext cx="609600" cy="11811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 rot="3600000">
                <a:off x="9607806" y="2219325"/>
                <a:ext cx="609600" cy="11811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 rot="7200000">
                <a:off x="9607806" y="2809875"/>
                <a:ext cx="609600" cy="11811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 rot="10800000">
                <a:off x="9096375" y="3105150"/>
                <a:ext cx="609600" cy="11811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40" name="Ellipse 40"/>
              <p:cNvSpPr/>
              <p:nvPr/>
            </p:nvSpPr>
            <p:spPr>
              <a:xfrm rot="-7200000">
                <a:off x="8584944" y="2809875"/>
                <a:ext cx="609600" cy="11811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 rot="-3600000">
                <a:off x="8584944" y="2219325"/>
                <a:ext cx="609600" cy="11811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9115425" y="2819400"/>
                <a:ext cx="571500" cy="5715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9401175" y="339090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133350" cap="rnd">
                <a:solidFill>
                  <a:srgbClr val="65C466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497318" y="5003482"/>
              <a:ext cx="1394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dot() 画花心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97318" y="5346382"/>
              <a:ext cx="3515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270° 朝下 · forward(140) 画花茎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38200" y="5257800"/>
            <a:ext cx="5543550" cy="514350"/>
            <a:chOff x="838200" y="5257800"/>
            <a:chExt cx="5543550" cy="514350"/>
          </a:xfrm>
        </p:grpSpPr>
        <p:sp>
          <p:nvSpPr>
            <p:cNvPr id="48" name="Rectangle 48"/>
            <p:cNvSpPr/>
            <p:nvPr/>
          </p:nvSpPr>
          <p:spPr>
            <a:xfrm>
              <a:off x="838200" y="5257800"/>
              <a:ext cx="5543550" cy="514350"/>
            </a:xfrm>
            <a:prstGeom prst="roundRect">
              <a:avLst>
                <a:gd name="adj" fmla="val 3703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4810" y="323850"/>
            <a:ext cx="11223498" cy="586740"/>
            <a:chOff x="384810" y="323850"/>
            <a:chExt cx="11223498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384810" y="32385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花茎长度实验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840830" y="473392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只改 forward 的数字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00050" y="1009650"/>
            <a:ext cx="5448300" cy="476250"/>
            <a:chOff x="400050" y="1009650"/>
            <a:chExt cx="5448300" cy="476250"/>
          </a:xfrm>
        </p:grpSpPr>
        <p:grpSp>
          <p:nvGrpSpPr>
            <p:cNvPr id="7" name="Group 7"/>
            <p:cNvGrpSpPr/>
            <p:nvPr/>
          </p:nvGrpSpPr>
          <p:grpSpPr>
            <a:xfrm>
              <a:off x="400050" y="1009650"/>
              <a:ext cx="1714500" cy="476250"/>
              <a:chOff x="400050" y="1009650"/>
              <a:chExt cx="1714500" cy="47625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400050" y="1009650"/>
                <a:ext cx="1714500" cy="476250"/>
              </a:xfrm>
              <a:prstGeom prst="roundRect">
                <a:avLst>
                  <a:gd name="adj" fmla="val 40000"/>
                </a:avLst>
              </a:prstGeom>
              <a:solidFill>
                <a:srgbClr val="FF6FA5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51878" y="1162050"/>
                <a:ext cx="8108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短 · 100</a:t>
                </a:r>
              </a:p>
            </p:txBody>
          </p:sp>
        </p:grpSp>
        <p:sp>
          <p:nvSpPr>
            <p:cNvPr id="8" name="Rectangle 8"/>
            <p:cNvSpPr/>
            <p:nvPr/>
          </p:nvSpPr>
          <p:spPr>
            <a:xfrm>
              <a:off x="400050" y="1009650"/>
              <a:ext cx="1714500" cy="476250"/>
            </a:xfrm>
            <a:prstGeom prst="roundRect">
              <a:avLst>
                <a:gd name="adj" fmla="val 4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266950" y="1009650"/>
              <a:ext cx="1714500" cy="476250"/>
              <a:chOff x="2266950" y="1009650"/>
              <a:chExt cx="1714500" cy="4762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2266950" y="1009650"/>
                <a:ext cx="1714500" cy="476250"/>
              </a:xfrm>
              <a:prstGeom prst="roundRect">
                <a:avLst>
                  <a:gd name="adj" fmla="val 40000"/>
                </a:avLst>
              </a:pr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617813" y="1162050"/>
                <a:ext cx="101277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标准 · 140</a:t>
                </a:r>
              </a:p>
            </p:txBody>
          </p:sp>
        </p:grpSp>
        <p:sp>
          <p:nvSpPr>
            <p:cNvPr id="12" name="Rectangle 12"/>
            <p:cNvSpPr/>
            <p:nvPr/>
          </p:nvSpPr>
          <p:spPr>
            <a:xfrm>
              <a:off x="2266950" y="1009650"/>
              <a:ext cx="1714500" cy="476250"/>
            </a:xfrm>
            <a:prstGeom prst="roundRect">
              <a:avLst>
                <a:gd name="adj" fmla="val 4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4133850" y="1009650"/>
              <a:ext cx="1714500" cy="476250"/>
              <a:chOff x="4133850" y="1009650"/>
              <a:chExt cx="1714500" cy="476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133850" y="1009650"/>
                <a:ext cx="1714500" cy="476250"/>
              </a:xfrm>
              <a:prstGeom prst="roundRect">
                <a:avLst>
                  <a:gd name="adj" fmla="val 40000"/>
                </a:avLst>
              </a:prstGeom>
              <a:solidFill>
                <a:srgbClr val="65C46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585678" y="1162050"/>
                <a:ext cx="8108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长 · 180</a:t>
                </a:r>
              </a:p>
            </p:txBody>
          </p:sp>
        </p:grpSp>
        <p:sp>
          <p:nvSpPr>
            <p:cNvPr id="16" name="Rectangle 16"/>
            <p:cNvSpPr/>
            <p:nvPr/>
          </p:nvSpPr>
          <p:spPr>
            <a:xfrm>
              <a:off x="4133850" y="1009650"/>
              <a:ext cx="1714500" cy="476250"/>
            </a:xfrm>
            <a:prstGeom prst="roundRect">
              <a:avLst>
                <a:gd name="adj" fmla="val 4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00050" y="1714500"/>
            <a:ext cx="6096000" cy="4343400"/>
            <a:chOff x="400050" y="1714500"/>
            <a:chExt cx="6096000" cy="4343400"/>
          </a:xfrm>
        </p:grpSpPr>
        <p:sp>
          <p:nvSpPr>
            <p:cNvPr id="18" name="Rectangle 18"/>
            <p:cNvSpPr/>
            <p:nvPr/>
          </p:nvSpPr>
          <p:spPr>
            <a:xfrm>
              <a:off x="400050" y="1714500"/>
              <a:ext cx="6096000" cy="4343400"/>
            </a:xfrm>
            <a:prstGeom prst="roundRect">
              <a:avLst>
                <a:gd name="adj" fmla="val 6140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00050" y="1714500"/>
              <a:ext cx="6096000" cy="495300"/>
            </a:xfrm>
            <a:prstGeom prst="roundRect">
              <a:avLst>
                <a:gd name="adj" fmla="val 50000"/>
              </a:avLst>
            </a:prstGeom>
            <a:solidFill>
              <a:srgbClr val="EEF6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7230" y="1876425"/>
              <a:ext cx="8739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stem.py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6468" y="2507932"/>
              <a:ext cx="22157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415C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" y="2946082"/>
              <a:ext cx="2038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415C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6468" y="3384232"/>
              <a:ext cx="14272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415C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6468" y="3822382"/>
              <a:ext cx="22824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415C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66750" y="5219700"/>
              <a:ext cx="5562600" cy="571500"/>
              <a:chOff x="666750" y="5219700"/>
              <a:chExt cx="5562600" cy="571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66750" y="5219700"/>
                <a:ext cx="5562600" cy="571500"/>
              </a:xfrm>
              <a:prstGeom prst="roundRect">
                <a:avLst>
                  <a:gd name="adj" fmla="val 36667"/>
                </a:avLst>
              </a:pr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896300" y="5413058"/>
                <a:ext cx="11035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▶ 运行程序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66750" y="5219700"/>
                <a:ext cx="5562600" cy="571500"/>
              </a:xfrm>
              <a:prstGeom prst="roundRect">
                <a:avLst>
                  <a:gd name="adj" fmla="val 36667"/>
                </a:avLst>
              </a:prstGeom>
              <a:solidFill>
                <a:srgbClr val="FFFFFF">
                  <a:alpha val="100"/>
                </a:srgbClr>
              </a:solidFill>
              <a:ln>
                <a:noFill/>
              </a:ln>
            </p:spPr>
          </p:sp>
        </p:grpSp>
      </p:grpSp>
      <p:grpSp>
        <p:nvGrpSpPr>
          <p:cNvPr id="36" name="Group 36"/>
          <p:cNvGrpSpPr/>
          <p:nvPr/>
        </p:nvGrpSpPr>
        <p:grpSpPr>
          <a:xfrm>
            <a:off x="6838950" y="1714500"/>
            <a:ext cx="4953000" cy="4343400"/>
            <a:chOff x="6838950" y="1714500"/>
            <a:chExt cx="4953000" cy="4343400"/>
          </a:xfrm>
        </p:grpSpPr>
        <p:sp>
          <p:nvSpPr>
            <p:cNvPr id="30" name="Rectangle 30"/>
            <p:cNvSpPr/>
            <p:nvPr/>
          </p:nvSpPr>
          <p:spPr>
            <a:xfrm>
              <a:off x="6838950" y="1714500"/>
              <a:ext cx="4953000" cy="4343400"/>
            </a:xfrm>
            <a:prstGeom prst="roundRect">
              <a:avLst>
                <a:gd name="adj" fmla="val 6140"/>
              </a:avLst>
            </a:prstGeom>
            <a:solidFill>
              <a:srgbClr val="2B3A5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55180" y="1971675"/>
              <a:ext cx="1066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终端 + 结果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7155942" y="2502218"/>
              <a:ext cx="1594828" cy="911733"/>
              <a:chOff x="7155942" y="2502218"/>
              <a:chExt cx="1594828" cy="911733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7155942" y="2502218"/>
                <a:ext cx="13222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设置方向：270°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155942" y="2826068"/>
                <a:ext cx="15948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设置画笔：绿色 / 8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155942" y="3149918"/>
                <a:ext cx="15221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A9E7B8"/>
                    </a:solidFill>
                    <a:latin typeface="Consolas"/>
                    <a:ea typeface="Microsoft YaHei"/>
                    <a:cs typeface="Consolas"/>
                  </a:rPr>
                  <a:t>绘制花茎：完成 ✓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400050" y="1009650"/>
            <a:ext cx="1714500" cy="476250"/>
            <a:chOff x="400050" y="1009650"/>
            <a:chExt cx="1714500" cy="476250"/>
          </a:xfrm>
        </p:grpSpPr>
        <p:sp>
          <p:nvSpPr>
            <p:cNvPr id="37" name="Rectangle 37"/>
            <p:cNvSpPr/>
            <p:nvPr/>
          </p:nvSpPr>
          <p:spPr>
            <a:xfrm>
              <a:off x="400050" y="1009650"/>
              <a:ext cx="1714500" cy="476250"/>
            </a:xfrm>
            <a:prstGeom prst="roundRect">
              <a:avLst>
                <a:gd name="adj" fmla="val 4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2266950" y="1009650"/>
            <a:ext cx="1714500" cy="476250"/>
            <a:chOff x="2266950" y="1009650"/>
            <a:chExt cx="1714500" cy="476250"/>
          </a:xfrm>
        </p:grpSpPr>
        <p:sp>
          <p:nvSpPr>
            <p:cNvPr id="39" name="Rectangle 39"/>
            <p:cNvSpPr/>
            <p:nvPr/>
          </p:nvSpPr>
          <p:spPr>
            <a:xfrm>
              <a:off x="2266950" y="1009650"/>
              <a:ext cx="1714500" cy="476250"/>
            </a:xfrm>
            <a:prstGeom prst="roundRect">
              <a:avLst>
                <a:gd name="adj" fmla="val 4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4133850" y="1009650"/>
            <a:ext cx="1714500" cy="476250"/>
            <a:chOff x="4133850" y="1009650"/>
            <a:chExt cx="1714500" cy="476250"/>
          </a:xfrm>
        </p:grpSpPr>
        <p:sp>
          <p:nvSpPr>
            <p:cNvPr id="41" name="Rectangle 41"/>
            <p:cNvSpPr/>
            <p:nvPr/>
          </p:nvSpPr>
          <p:spPr>
            <a:xfrm>
              <a:off x="4133850" y="1009650"/>
              <a:ext cx="1714500" cy="476250"/>
            </a:xfrm>
            <a:prstGeom prst="roundRect">
              <a:avLst>
                <a:gd name="adj" fmla="val 4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66750" y="5219700"/>
            <a:ext cx="5562600" cy="571500"/>
            <a:chOff x="666750" y="5219700"/>
            <a:chExt cx="5562600" cy="571500"/>
          </a:xfrm>
        </p:grpSpPr>
        <p:sp>
          <p:nvSpPr>
            <p:cNvPr id="43" name="Rectangle 43"/>
            <p:cNvSpPr/>
            <p:nvPr/>
          </p:nvSpPr>
          <p:spPr>
            <a:xfrm>
              <a:off x="666750" y="5219700"/>
              <a:ext cx="5562600" cy="571500"/>
            </a:xfrm>
            <a:prstGeom prst="roundRect">
              <a:avLst>
                <a:gd name="adj" fmla="val 36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66750" y="5219700"/>
            <a:ext cx="5562600" cy="571500"/>
            <a:chOff x="666750" y="5219700"/>
            <a:chExt cx="5562600" cy="571500"/>
          </a:xfrm>
        </p:grpSpPr>
        <p:sp>
          <p:nvSpPr>
            <p:cNvPr id="45" name="Rectangle 45"/>
            <p:cNvSpPr/>
            <p:nvPr/>
          </p:nvSpPr>
          <p:spPr>
            <a:xfrm>
              <a:off x="666750" y="5219700"/>
              <a:ext cx="5562600" cy="571500"/>
            </a:xfrm>
            <a:prstGeom prst="roundRect">
              <a:avLst>
                <a:gd name="adj" fmla="val 36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666750" y="5219700"/>
            <a:ext cx="5562600" cy="571500"/>
            <a:chOff x="666750" y="5219700"/>
            <a:chExt cx="5562600" cy="571500"/>
          </a:xfrm>
        </p:grpSpPr>
        <p:sp>
          <p:nvSpPr>
            <p:cNvPr id="47" name="Rectangle 47"/>
            <p:cNvSpPr/>
            <p:nvPr/>
          </p:nvSpPr>
          <p:spPr>
            <a:xfrm>
              <a:off x="666750" y="5219700"/>
              <a:ext cx="5562600" cy="571500"/>
            </a:xfrm>
            <a:prstGeom prst="roundRect">
              <a:avLst>
                <a:gd name="adj" fmla="val 36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9029700" y="3886200"/>
            <a:ext cx="571500" cy="1524000"/>
            <a:chOff x="9029700" y="3886200"/>
            <a:chExt cx="571500" cy="1524000"/>
          </a:xfrm>
        </p:grpSpPr>
        <p:sp>
          <p:nvSpPr>
            <p:cNvPr id="49" name="Ellipse 49"/>
            <p:cNvSpPr/>
            <p:nvPr/>
          </p:nvSpPr>
          <p:spPr>
            <a:xfrm>
              <a:off x="9029700" y="3886200"/>
              <a:ext cx="571500" cy="5715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9315450" y="445770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133350" cap="rnd">
              <a:solidFill>
                <a:srgbClr val="65C466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9029700" y="3657600"/>
            <a:ext cx="571500" cy="2286000"/>
            <a:chOff x="9029700" y="3657600"/>
            <a:chExt cx="571500" cy="2286000"/>
          </a:xfrm>
        </p:grpSpPr>
        <p:sp>
          <p:nvSpPr>
            <p:cNvPr id="52" name="Ellipse 52"/>
            <p:cNvSpPr/>
            <p:nvPr/>
          </p:nvSpPr>
          <p:spPr>
            <a:xfrm>
              <a:off x="9029700" y="3657600"/>
              <a:ext cx="571500" cy="5715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53" name="Line 53"/>
            <p:cNvSpPr/>
            <p:nvPr/>
          </p:nvSpPr>
          <p:spPr>
            <a:xfrm>
              <a:off x="9315450" y="42291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133350" cap="rnd">
              <a:solidFill>
                <a:srgbClr val="65C466"/>
              </a:solidFill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666750" y="4229100"/>
            <a:ext cx="3714750" cy="430339"/>
            <a:chOff x="666750" y="4229100"/>
            <a:chExt cx="3714750" cy="430339"/>
          </a:xfrm>
        </p:grpSpPr>
        <p:sp>
          <p:nvSpPr>
            <p:cNvPr id="55" name="Rectangle 55"/>
            <p:cNvSpPr/>
            <p:nvPr/>
          </p:nvSpPr>
          <p:spPr>
            <a:xfrm>
              <a:off x="666750" y="4229100"/>
              <a:ext cx="3714750" cy="419100"/>
            </a:xfrm>
            <a:prstGeom prst="roundRect">
              <a:avLst>
                <a:gd name="adj" fmla="val 31818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2668" y="4336732"/>
              <a:ext cx="17715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72B8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029700" y="3886200"/>
            <a:ext cx="571500" cy="1962150"/>
            <a:chOff x="9029700" y="3886200"/>
            <a:chExt cx="571500" cy="1962150"/>
          </a:xfrm>
        </p:grpSpPr>
        <p:sp>
          <p:nvSpPr>
            <p:cNvPr id="58" name="Ellipse 58"/>
            <p:cNvSpPr/>
            <p:nvPr/>
          </p:nvSpPr>
          <p:spPr>
            <a:xfrm>
              <a:off x="9029700" y="3886200"/>
              <a:ext cx="571500" cy="5715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59" name="Line 59"/>
            <p:cNvSpPr/>
            <p:nvPr/>
          </p:nvSpPr>
          <p:spPr>
            <a:xfrm>
              <a:off x="9315450" y="4457700"/>
              <a:ext cx="9525" cy="1390650"/>
            </a:xfrm>
            <a:custGeom>
              <a:avLst/>
              <a:gdLst/>
              <a:ahLst/>
              <a:cxnLst/>
              <a:rect l="l" t="t" r="r" b="b"/>
              <a:pathLst>
                <a:path w="9525" h="1390650">
                  <a:moveTo>
                    <a:pt x="0" y="0"/>
                  </a:moveTo>
                  <a:lnTo>
                    <a:pt x="0" y="1390650"/>
                  </a:lnTo>
                </a:path>
              </a:pathLst>
            </a:custGeom>
            <a:noFill/>
            <a:ln w="133350" cap="rnd">
              <a:solidFill>
                <a:srgbClr val="65C466"/>
              </a:solidFill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7048500" y="2286000"/>
            <a:ext cx="4533900" cy="3562350"/>
            <a:chOff x="7048500" y="2286000"/>
            <a:chExt cx="4533900" cy="3562350"/>
          </a:xfrm>
        </p:grpSpPr>
        <p:sp>
          <p:nvSpPr>
            <p:cNvPr id="61" name="Rectangle 61"/>
            <p:cNvSpPr/>
            <p:nvPr/>
          </p:nvSpPr>
          <p:spPr>
            <a:xfrm>
              <a:off x="7048500" y="2286000"/>
              <a:ext cx="4533900" cy="3562350"/>
            </a:xfrm>
            <a:prstGeom prst="roundRect">
              <a:avLst>
                <a:gd name="adj" fmla="val 5348"/>
              </a:avLst>
            </a:prstGeom>
            <a:solidFill>
              <a:srgbClr val="2B3A55"/>
            </a:solidFill>
            <a:ln>
              <a:noFill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666750" y="4229100"/>
            <a:ext cx="3714750" cy="430339"/>
            <a:chOff x="666750" y="4229100"/>
            <a:chExt cx="3714750" cy="430339"/>
          </a:xfrm>
        </p:grpSpPr>
        <p:sp>
          <p:nvSpPr>
            <p:cNvPr id="63" name="Rectangle 63"/>
            <p:cNvSpPr/>
            <p:nvPr/>
          </p:nvSpPr>
          <p:spPr>
            <a:xfrm>
              <a:off x="666750" y="4229100"/>
              <a:ext cx="3714750" cy="419100"/>
            </a:xfrm>
            <a:prstGeom prst="roundRect">
              <a:avLst>
                <a:gd name="adj" fmla="val 31818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72668" y="4336732"/>
              <a:ext cx="17715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t.forward(100)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6750" y="4229100"/>
            <a:ext cx="3714750" cy="430339"/>
            <a:chOff x="666750" y="4229100"/>
            <a:chExt cx="3714750" cy="430339"/>
          </a:xfrm>
        </p:grpSpPr>
        <p:sp>
          <p:nvSpPr>
            <p:cNvPr id="66" name="Rectangle 66"/>
            <p:cNvSpPr/>
            <p:nvPr/>
          </p:nvSpPr>
          <p:spPr>
            <a:xfrm>
              <a:off x="666750" y="4229100"/>
              <a:ext cx="3714750" cy="419100"/>
            </a:xfrm>
            <a:prstGeom prst="roundRect">
              <a:avLst>
                <a:gd name="adj" fmla="val 31818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72668" y="4336732"/>
              <a:ext cx="17715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t.forward(180)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8280463" y="5626418"/>
            <a:ext cx="2012823" cy="264033"/>
            <a:chOff x="8280463" y="5626418"/>
            <a:chExt cx="2012823" cy="264033"/>
          </a:xfrm>
        </p:grpSpPr>
        <p:sp>
          <p:nvSpPr>
            <p:cNvPr id="69" name="TextBox 69"/>
            <p:cNvSpPr txBox="1"/>
            <p:nvPr/>
          </p:nvSpPr>
          <p:spPr>
            <a:xfrm>
              <a:off x="8280463" y="5626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9BFF"/>
                  </a:solidFill>
                  <a:latin typeface="Segoe UI"/>
                  <a:ea typeface="Microsoft YaHei"/>
                  <a:cs typeface="Segoe UI"/>
                </a:rPr>
                <a:t>点击运行，观察花茎长度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902458" y="5626418"/>
            <a:ext cx="768833" cy="264033"/>
            <a:chOff x="8902458" y="5626418"/>
            <a:chExt cx="768833" cy="264033"/>
          </a:xfrm>
        </p:grpSpPr>
        <p:sp>
          <p:nvSpPr>
            <p:cNvPr id="71" name="TextBox 71"/>
            <p:cNvSpPr txBox="1"/>
            <p:nvPr/>
          </p:nvSpPr>
          <p:spPr>
            <a:xfrm>
              <a:off x="8902458" y="5626418"/>
              <a:ext cx="768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/>
                  <a:ea typeface="Microsoft YaHei"/>
                  <a:cs typeface="Segoe UI"/>
                </a:rPr>
                <a:t>绘制中……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734806" y="5626418"/>
            <a:ext cx="1104138" cy="264033"/>
            <a:chOff x="8734806" y="5626418"/>
            <a:chExt cx="1104138" cy="264033"/>
          </a:xfrm>
        </p:grpSpPr>
        <p:sp>
          <p:nvSpPr>
            <p:cNvPr id="73" name="TextBox 73"/>
            <p:cNvSpPr txBox="1"/>
            <p:nvPr/>
          </p:nvSpPr>
          <p:spPr>
            <a:xfrm>
              <a:off x="8734806" y="5626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C55E"/>
                  </a:solidFill>
                  <a:latin typeface="Segoe UI"/>
                  <a:ea typeface="Microsoft YaHei"/>
                  <a:cs typeface="Segoe UI"/>
                </a:rPr>
                <a:t>长度对比完成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327392" y="2635568"/>
            <a:ext cx="958748" cy="264033"/>
            <a:chOff x="7327392" y="2635568"/>
            <a:chExt cx="958748" cy="264033"/>
          </a:xfrm>
        </p:grpSpPr>
        <p:sp>
          <p:nvSpPr>
            <p:cNvPr id="75" name="TextBox 75"/>
            <p:cNvSpPr txBox="1"/>
            <p:nvPr/>
          </p:nvSpPr>
          <p:spPr>
            <a:xfrm>
              <a:off x="7327392" y="2635568"/>
              <a:ext cx="9587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327392" y="2959418"/>
            <a:ext cx="1231354" cy="264033"/>
            <a:chOff x="7327392" y="2959418"/>
            <a:chExt cx="1231354" cy="264033"/>
          </a:xfrm>
        </p:grpSpPr>
        <p:sp>
          <p:nvSpPr>
            <p:cNvPr id="77" name="TextBox 77"/>
            <p:cNvSpPr txBox="1"/>
            <p:nvPr/>
          </p:nvSpPr>
          <p:spPr>
            <a:xfrm>
              <a:off x="7327392" y="29594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forward：100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7327392" y="2959418"/>
            <a:ext cx="1231354" cy="264033"/>
            <a:chOff x="7327392" y="2959418"/>
            <a:chExt cx="1231354" cy="264033"/>
          </a:xfrm>
        </p:grpSpPr>
        <p:sp>
          <p:nvSpPr>
            <p:cNvPr id="79" name="TextBox 79"/>
            <p:cNvSpPr txBox="1"/>
            <p:nvPr/>
          </p:nvSpPr>
          <p:spPr>
            <a:xfrm>
              <a:off x="7327392" y="29594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forward：140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7327392" y="2959418"/>
            <a:ext cx="1231354" cy="264033"/>
            <a:chOff x="7327392" y="2959418"/>
            <a:chExt cx="1231354" cy="264033"/>
          </a:xfrm>
        </p:grpSpPr>
        <p:sp>
          <p:nvSpPr>
            <p:cNvPr id="81" name="TextBox 81"/>
            <p:cNvSpPr txBox="1"/>
            <p:nvPr/>
          </p:nvSpPr>
          <p:spPr>
            <a:xfrm>
              <a:off x="7327392" y="29594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forward：180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327392" y="3283268"/>
            <a:ext cx="976922" cy="264033"/>
            <a:chOff x="7327392" y="3283268"/>
            <a:chExt cx="976922" cy="264033"/>
          </a:xfrm>
        </p:grpSpPr>
        <p:sp>
          <p:nvSpPr>
            <p:cNvPr id="83" name="TextBox 83"/>
            <p:cNvSpPr txBox="1"/>
            <p:nvPr/>
          </p:nvSpPr>
          <p:spPr>
            <a:xfrm>
              <a:off x="7327392" y="3283268"/>
              <a:ext cx="976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E7B8"/>
                  </a:solidFill>
                  <a:latin typeface="Consolas"/>
                  <a:ea typeface="Microsoft YaHei"/>
                  <a:cs typeface="Consolas"/>
                </a:rPr>
                <a:t>绘制完成 ✓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9020175" y="3638550"/>
            <a:ext cx="533400" cy="1295400"/>
            <a:chOff x="9020175" y="3638550"/>
            <a:chExt cx="533400" cy="1295400"/>
          </a:xfrm>
        </p:grpSpPr>
        <p:sp>
          <p:nvSpPr>
            <p:cNvPr id="85" name="Ellipse 85"/>
            <p:cNvSpPr/>
            <p:nvPr/>
          </p:nvSpPr>
          <p:spPr>
            <a:xfrm>
              <a:off x="9020175" y="3638550"/>
              <a:ext cx="533400" cy="5334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86" name="Line 86"/>
            <p:cNvSpPr/>
            <p:nvPr/>
          </p:nvSpPr>
          <p:spPr>
            <a:xfrm>
              <a:off x="9286875" y="41719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33350" cap="rnd">
              <a:solidFill>
                <a:srgbClr val="22C55E"/>
              </a:solidFill>
            </a:ln>
          </p:spPr>
        </p:sp>
      </p:grpSp>
      <p:grpSp>
        <p:nvGrpSpPr>
          <p:cNvPr id="90" name="Group 90"/>
          <p:cNvGrpSpPr/>
          <p:nvPr/>
        </p:nvGrpSpPr>
        <p:grpSpPr>
          <a:xfrm>
            <a:off x="9020175" y="3543300"/>
            <a:ext cx="533400" cy="1676400"/>
            <a:chOff x="9020175" y="3543300"/>
            <a:chExt cx="533400" cy="1676400"/>
          </a:xfrm>
        </p:grpSpPr>
        <p:sp>
          <p:nvSpPr>
            <p:cNvPr id="88" name="Ellipse 88"/>
            <p:cNvSpPr/>
            <p:nvPr/>
          </p:nvSpPr>
          <p:spPr>
            <a:xfrm>
              <a:off x="9020175" y="3543300"/>
              <a:ext cx="533400" cy="5334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89" name="Line 89"/>
            <p:cNvSpPr/>
            <p:nvPr/>
          </p:nvSpPr>
          <p:spPr>
            <a:xfrm>
              <a:off x="9286875" y="40767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33350" cap="rnd">
              <a:solidFill>
                <a:srgbClr val="22C55E"/>
              </a:solidFill>
            </a:ln>
          </p:spPr>
        </p:sp>
      </p:grpSp>
      <p:grpSp>
        <p:nvGrpSpPr>
          <p:cNvPr id="93" name="Group 93"/>
          <p:cNvGrpSpPr/>
          <p:nvPr/>
        </p:nvGrpSpPr>
        <p:grpSpPr>
          <a:xfrm>
            <a:off x="9020175" y="3352800"/>
            <a:ext cx="533400" cy="1962150"/>
            <a:chOff x="9020175" y="3352800"/>
            <a:chExt cx="533400" cy="1962150"/>
          </a:xfrm>
        </p:grpSpPr>
        <p:sp>
          <p:nvSpPr>
            <p:cNvPr id="91" name="Ellipse 91"/>
            <p:cNvSpPr/>
            <p:nvPr/>
          </p:nvSpPr>
          <p:spPr>
            <a:xfrm>
              <a:off x="9020175" y="3352800"/>
              <a:ext cx="533400" cy="5334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92" name="Line 92"/>
            <p:cNvSpPr/>
            <p:nvPr/>
          </p:nvSpPr>
          <p:spPr>
            <a:xfrm>
              <a:off x="9286875" y="3886200"/>
              <a:ext cx="9525" cy="1428750"/>
            </a:xfrm>
            <a:custGeom>
              <a:avLst/>
              <a:gdLst/>
              <a:ahLst/>
              <a:cxnLst/>
              <a:rect l="l" t="t" r="r" b="b"/>
              <a:pathLst>
                <a:path w="9525" h="1428750">
                  <a:moveTo>
                    <a:pt x="0" y="0"/>
                  </a:moveTo>
                  <a:lnTo>
                    <a:pt x="0" y="1428750"/>
                  </a:lnTo>
                </a:path>
              </a:pathLst>
            </a:custGeom>
            <a:noFill/>
            <a:ln w="133350" cap="rnd">
              <a:solidFill>
                <a:srgbClr val="22C55E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6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3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7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5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7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9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1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3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5" presetID="1" presetClass="exit" presetSubtype="0" fill="hold" grpId="0" nodeType="withEffect" restart="always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7" presetID="1" presetClass="entr" presetSubtype="0" fill="hold" grpId="0" nodeType="withEffect" restart="always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4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6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8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0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2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4" presetID="1" presetClass="exit" presetSubtype="0" fill="hold" grpId="0" nodeType="withEffect" restart="always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6" presetID="1" presetClass="entr" presetSubtype="0" fill="hold" grpId="0" nodeType="withEffect" restart="always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3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5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7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9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1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3" presetID="1" presetClass="exit" presetSubtype="0" fill="hold" grpId="0" nodeType="withEffect" restart="always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5" presetID="1" presetClass="entr" presetSubtype="0" fill="hold" grpId="0" nodeType="withEffect" restart="always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47700" y="666750"/>
            <a:ext cx="2802712" cy="1700784"/>
            <a:chOff x="647700" y="666750"/>
            <a:chExt cx="2802712" cy="1700784"/>
          </a:xfrm>
        </p:grpSpPr>
        <p:sp>
          <p:nvSpPr>
            <p:cNvPr id="2" name="Rectangle 2"/>
            <p:cNvSpPr/>
            <p:nvPr/>
          </p:nvSpPr>
          <p:spPr>
            <a:xfrm>
              <a:off x="666750" y="666750"/>
              <a:ext cx="1809750" cy="476250"/>
            </a:xfrm>
            <a:prstGeom prst="roundRect">
              <a:avLst>
                <a:gd name="adj" fmla="val 50000"/>
              </a:avLst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230058" y="80295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第四站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47700" y="1353502"/>
              <a:ext cx="221894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作品工坊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57606" y="2015490"/>
              <a:ext cx="2792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补全 → 组合 → 运行 → 展示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2952750"/>
            <a:ext cx="7143750" cy="2209800"/>
            <a:chOff x="666750" y="2952750"/>
            <a:chExt cx="7143750" cy="2209800"/>
          </a:xfrm>
        </p:grpSpPr>
        <p:sp>
          <p:nvSpPr>
            <p:cNvPr id="7" name="Rectangle 7"/>
            <p:cNvSpPr/>
            <p:nvPr/>
          </p:nvSpPr>
          <p:spPr>
            <a:xfrm>
              <a:off x="666750" y="2952750"/>
              <a:ext cx="7143750" cy="647700"/>
            </a:xfrm>
            <a:prstGeom prst="roundRect">
              <a:avLst>
                <a:gd name="adj" fmla="val 35294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19150" y="3048000"/>
              <a:ext cx="457200" cy="4572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1823" y="31908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56944" y="3151822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补全花心与花茎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66750" y="3733800"/>
              <a:ext cx="7143750" cy="647700"/>
            </a:xfrm>
            <a:prstGeom prst="roundRect">
              <a:avLst>
                <a:gd name="adj" fmla="val 35294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382905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1823" y="39719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56944" y="3932872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组合完整小红花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66750" y="4514850"/>
              <a:ext cx="7143750" cy="647700"/>
            </a:xfrm>
            <a:prstGeom prst="roundRect">
              <a:avLst>
                <a:gd name="adj" fmla="val 35294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819150" y="4610100"/>
              <a:ext cx="457200" cy="4572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1823" y="47529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56944" y="4713922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展示并解释修改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286750" y="2095500"/>
            <a:ext cx="3143250" cy="3143250"/>
            <a:chOff x="8286750" y="2095500"/>
            <a:chExt cx="3143250" cy="3143250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6750" y="2095500"/>
              <a:ext cx="3143250" cy="31432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960620" cy="643890"/>
            <a:chOff x="514350" y="361950"/>
            <a:chExt cx="4960620" cy="643890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1428750" cy="438150"/>
            </a:xfrm>
            <a:prstGeom prst="roundRect">
              <a:avLst>
                <a:gd name="adj" fmla="val 50000"/>
              </a:avLst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36282" y="495300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PBL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213610" y="419100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把所有积木拼起来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14350" y="1409700"/>
            <a:ext cx="6858000" cy="4762500"/>
            <a:chOff x="514350" y="1409700"/>
            <a:chExt cx="6858000" cy="4762500"/>
          </a:xfrm>
        </p:grpSpPr>
        <p:sp>
          <p:nvSpPr>
            <p:cNvPr id="6" name="Rectangle 6"/>
            <p:cNvSpPr/>
            <p:nvPr/>
          </p:nvSpPr>
          <p:spPr>
            <a:xfrm>
              <a:off x="514350" y="1409700"/>
              <a:ext cx="6858000" cy="47625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95325" y="1628775"/>
              <a:ext cx="438150" cy="43815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8473" y="17621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48156" y="1691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窗口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64130" y="1724025"/>
              <a:ext cx="2334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67085"/>
                  </a:solidFill>
                  <a:latin typeface="Consolas"/>
                  <a:ea typeface="Consolas"/>
                  <a:cs typeface="Consolas"/>
                </a:rPr>
                <a:t>Screen / title / bgcolor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695325" y="2314575"/>
              <a:ext cx="438150" cy="4381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8473" y="24479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48156" y="23774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花瓣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64130" y="24098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67085"/>
                  </a:solidFill>
                  <a:latin typeface="Consolas"/>
                  <a:ea typeface="Microsoft YaHei"/>
                  <a:cs typeface="Consolas"/>
                </a:rPr>
                <a:t>循环 6 次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95325" y="3000375"/>
              <a:ext cx="438150" cy="4381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8473" y="31337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48156" y="30632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花心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64130" y="3095625"/>
              <a:ext cx="17922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67085"/>
                  </a:solidFill>
                  <a:latin typeface="Consolas"/>
                  <a:ea typeface="Consolas"/>
                  <a:cs typeface="Consolas"/>
                </a:rPr>
                <a:t>dot(45, "yellow")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95325" y="3686175"/>
              <a:ext cx="438150" cy="43815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8473" y="38195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48156" y="37490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花茎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64130" y="378142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67085"/>
                  </a:solidFill>
                  <a:latin typeface="Consolas"/>
                  <a:ea typeface="Microsoft YaHei"/>
                  <a:cs typeface="Consolas"/>
                </a:rPr>
                <a:t>270° / 绿色 / 140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95325" y="4371975"/>
              <a:ext cx="438150" cy="438150"/>
            </a:xfrm>
            <a:prstGeom prst="ellipse">
              <a:avLst/>
            </a:prstGeom>
            <a:solidFill>
              <a:srgbClr val="9B7B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8473" y="45053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48156" y="44348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收尾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64130" y="446722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67085"/>
                  </a:solidFill>
                  <a:latin typeface="Consolas"/>
                  <a:ea typeface="Consolas"/>
                  <a:cs typeface="Consolas"/>
                </a:rPr>
                <a:t>hideturtle()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95325" y="5057775"/>
              <a:ext cx="438150" cy="438150"/>
            </a:xfrm>
            <a:prstGeom prst="ellipse">
              <a:avLst/>
            </a:prstGeom>
            <a:solidFill>
              <a:srgbClr val="33415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8473" y="51911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48156" y="51206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保持窗口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64130" y="5153025"/>
              <a:ext cx="1408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67085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772400" y="1409700"/>
            <a:ext cx="3905250" cy="4762500"/>
            <a:chOff x="7772400" y="1409700"/>
            <a:chExt cx="3905250" cy="4762500"/>
          </a:xfrm>
        </p:grpSpPr>
        <p:sp>
          <p:nvSpPr>
            <p:cNvPr id="32" name="Rectangle 32"/>
            <p:cNvSpPr/>
            <p:nvPr/>
          </p:nvSpPr>
          <p:spPr>
            <a:xfrm>
              <a:off x="7772400" y="1409700"/>
              <a:ext cx="3905250" cy="4762500"/>
            </a:xfrm>
            <a:prstGeom prst="roundRect">
              <a:avLst>
                <a:gd name="adj" fmla="val 780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23682" y="17354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作品验收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25968" y="231743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✓ 程序能运行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25968" y="2774632"/>
              <a:ext cx="25267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✓ 花瓣、花心、花茎完整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25968" y="3231832"/>
              <a:ext cx="1860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✓ 能指出一处修改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096250" y="3829050"/>
              <a:ext cx="3257550" cy="1790700"/>
            </a:xfrm>
            <a:prstGeom prst="roundRect">
              <a:avLst>
                <a:gd name="adj" fmla="val 13830"/>
              </a:avLst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55330" y="4086225"/>
              <a:ext cx="1501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3D6"/>
                  </a:solidFill>
                  <a:latin typeface="Segoe UI"/>
                  <a:ea typeface="Microsoft YaHei"/>
                  <a:cs typeface="Segoe UI"/>
                </a:rPr>
                <a:t>只选 1–2 项修改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55330" y="45053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背景颜色 · 花瓣颜色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5330" y="48863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花茎长度 · 窗口标题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28422" y="282892"/>
            <a:ext cx="11298936" cy="557403"/>
            <a:chOff x="328422" y="282892"/>
            <a:chExt cx="11298936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328422" y="282892"/>
              <a:ext cx="356157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小红花画展 · 运行台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432798" y="425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代码、终端、画面严格一致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2900" y="933450"/>
            <a:ext cx="5048250" cy="457200"/>
            <a:chOff x="342900" y="933450"/>
            <a:chExt cx="5048250" cy="457200"/>
          </a:xfrm>
        </p:grpSpPr>
        <p:grpSp>
          <p:nvGrpSpPr>
            <p:cNvPr id="7" name="Group 7"/>
            <p:cNvGrpSpPr/>
            <p:nvPr/>
          </p:nvGrpSpPr>
          <p:grpSpPr>
            <a:xfrm>
              <a:off x="342900" y="933450"/>
              <a:ext cx="1581150" cy="457200"/>
              <a:chOff x="342900" y="933450"/>
              <a:chExt cx="1581150" cy="4572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342900" y="933450"/>
                <a:ext cx="1581150" cy="457200"/>
              </a:xfrm>
              <a:prstGeom prst="roundRect">
                <a:avLst>
                  <a:gd name="adj" fmla="val 39583"/>
                </a:avLst>
              </a:pr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22960" y="10763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基础版</a:t>
                </a:r>
              </a:p>
            </p:txBody>
          </p:sp>
        </p:grpSp>
        <p:sp>
          <p:nvSpPr>
            <p:cNvPr id="8" name="Rectangle 8"/>
            <p:cNvSpPr/>
            <p:nvPr/>
          </p:nvSpPr>
          <p:spPr>
            <a:xfrm>
              <a:off x="342900" y="933450"/>
              <a:ext cx="1581150" cy="457200"/>
            </a:xfrm>
            <a:prstGeom prst="roundRect">
              <a:avLst>
                <a:gd name="adj" fmla="val 3958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076450" y="933450"/>
              <a:ext cx="1581150" cy="457200"/>
              <a:chOff x="2076450" y="933450"/>
              <a:chExt cx="1581150" cy="4572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2076450" y="933450"/>
                <a:ext cx="1581150" cy="457200"/>
              </a:xfrm>
              <a:prstGeom prst="roundRect">
                <a:avLst>
                  <a:gd name="adj" fmla="val 39583"/>
                </a:avLst>
              </a:pr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556510" y="10763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暖阳版</a:t>
                </a:r>
              </a:p>
            </p:txBody>
          </p:sp>
        </p:grpSp>
        <p:sp>
          <p:nvSpPr>
            <p:cNvPr id="12" name="Rectangle 12"/>
            <p:cNvSpPr/>
            <p:nvPr/>
          </p:nvSpPr>
          <p:spPr>
            <a:xfrm>
              <a:off x="2076450" y="933450"/>
              <a:ext cx="1581150" cy="457200"/>
            </a:xfrm>
            <a:prstGeom prst="roundRect">
              <a:avLst>
                <a:gd name="adj" fmla="val 3958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3810000" y="933450"/>
              <a:ext cx="1581150" cy="457200"/>
              <a:chOff x="3810000" y="933450"/>
              <a:chExt cx="1581150" cy="4572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810000" y="933450"/>
                <a:ext cx="1581150" cy="457200"/>
              </a:xfrm>
              <a:prstGeom prst="roundRect">
                <a:avLst>
                  <a:gd name="adj" fmla="val 39583"/>
                </a:avLst>
              </a:prstGeom>
              <a:solidFill>
                <a:srgbClr val="9B7BFF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290060" y="10763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紫霞版</a:t>
                </a:r>
              </a:p>
            </p:txBody>
          </p:sp>
        </p:grpSp>
        <p:sp>
          <p:nvSpPr>
            <p:cNvPr id="16" name="Rectangle 16"/>
            <p:cNvSpPr/>
            <p:nvPr/>
          </p:nvSpPr>
          <p:spPr>
            <a:xfrm>
              <a:off x="3810000" y="933450"/>
              <a:ext cx="1581150" cy="457200"/>
            </a:xfrm>
            <a:prstGeom prst="roundRect">
              <a:avLst>
                <a:gd name="adj" fmla="val 3958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342900" y="1581150"/>
            <a:ext cx="6667500" cy="4762500"/>
            <a:chOff x="342900" y="1581150"/>
            <a:chExt cx="6667500" cy="4762500"/>
          </a:xfrm>
        </p:grpSpPr>
        <p:sp>
          <p:nvSpPr>
            <p:cNvPr id="18" name="Rectangle 18"/>
            <p:cNvSpPr/>
            <p:nvPr/>
          </p:nvSpPr>
          <p:spPr>
            <a:xfrm>
              <a:off x="342900" y="1581150"/>
              <a:ext cx="6667500" cy="4762500"/>
            </a:xfrm>
            <a:prstGeom prst="roundRect">
              <a:avLst>
                <a:gd name="adj" fmla="val 5200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42900" y="1581150"/>
              <a:ext cx="6667500" cy="457200"/>
            </a:xfrm>
            <a:prstGeom prst="roundRect">
              <a:avLst>
                <a:gd name="adj" fmla="val 50000"/>
              </a:avLst>
            </a:prstGeom>
            <a:solidFill>
              <a:srgbClr val="EEF6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461" y="1722596"/>
              <a:ext cx="15901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15C"/>
                  </a:solidFill>
                  <a:latin typeface="Segoe UI"/>
                  <a:ea typeface="Segoe UI"/>
                  <a:cs typeface="Segoe UI"/>
                </a:rPr>
                <a:t>flower_show.py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603504" y="2327910"/>
              <a:ext cx="4535424" cy="2463546"/>
              <a:chOff x="603504" y="2327910"/>
              <a:chExt cx="4535424" cy="2463546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603504" y="2327910"/>
                <a:ext cx="10783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2E9BFF"/>
                    </a:solidFill>
                    <a:latin typeface="Consolas"/>
                    <a:ea typeface="Consolas"/>
                    <a:cs typeface="Consolas"/>
                  </a:rPr>
                  <a:t>import turtle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03504" y="2575560"/>
                <a:ext cx="19325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3415C"/>
                    </a:solidFill>
                    <a:latin typeface="Consolas"/>
                    <a:ea typeface="Consolas"/>
                    <a:cs typeface="Consolas"/>
                  </a:rPr>
                  <a:t>screen=turtle.Screen()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03504" y="2823210"/>
                <a:ext cx="45354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415C"/>
                    </a:solidFill>
                    <a:latin typeface="Consolas"/>
                    <a:ea typeface="Microsoft YaHei"/>
                    <a:cs typeface="Consolas"/>
                  </a:rPr>
                  <a:t>screen.title("小红花画展"); screen.bgcolor("lightblue")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03504" y="3070860"/>
                <a:ext cx="24749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3415C"/>
                    </a:solidFill>
                    <a:latin typeface="Consolas"/>
                    <a:ea typeface="Consolas"/>
                    <a:cs typeface="Consolas"/>
                  </a:rPr>
                  <a:t>t=turtle.Turtle(); t.speed(0)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03504" y="3318510"/>
                <a:ext cx="17972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FF6FA5"/>
                    </a:solidFill>
                    <a:latin typeface="Consolas"/>
                    <a:ea typeface="Consolas"/>
                    <a:cs typeface="Consolas"/>
                  </a:rPr>
                  <a:t>t.color("red","pink")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03504" y="3566160"/>
                <a:ext cx="17649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3415C"/>
                    </a:solidFill>
                    <a:latin typeface="Consolas"/>
                    <a:ea typeface="Consolas"/>
                    <a:cs typeface="Consolas"/>
                  </a:rPr>
                  <a:t>for petal in range(6):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32104" y="3813810"/>
                <a:ext cx="428503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3415C"/>
                    </a:solidFill>
                    <a:latin typeface="Consolas"/>
                    <a:ea typeface="Consolas"/>
                    <a:cs typeface="Consolas"/>
                  </a:rPr>
                  <a:t>t.begin_fill(); t.circle(45); t.end_fill(); t.left(60)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03504" y="4061460"/>
                <a:ext cx="31703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3415C"/>
                    </a:solidFill>
                    <a:latin typeface="Consolas"/>
                    <a:ea typeface="Consolas"/>
                    <a:cs typeface="Consolas"/>
                  </a:rPr>
                  <a:t>t.dot(45,"yellow"); t.setheading(270)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03504" y="4309110"/>
                <a:ext cx="42365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3415C"/>
                    </a:solidFill>
                    <a:latin typeface="Consolas"/>
                    <a:ea typeface="Consolas"/>
                    <a:cs typeface="Consolas"/>
                  </a:rPr>
                  <a:t>t.pensize(8); t.pencolor("green"); t.forward(140)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03504" y="4556760"/>
                <a:ext cx="24272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3415C"/>
                    </a:solidFill>
                    <a:latin typeface="Consolas"/>
                    <a:ea typeface="Consolas"/>
                    <a:cs typeface="Consolas"/>
                  </a:rPr>
                  <a:t>t.hideturtle(); turtle.done()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09600" y="5562600"/>
              <a:ext cx="6134100" cy="533400"/>
              <a:chOff x="609600" y="5562600"/>
              <a:chExt cx="6134100" cy="5334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09600" y="5562600"/>
                <a:ext cx="6134100" cy="533400"/>
              </a:xfrm>
              <a:prstGeom prst="roundRect">
                <a:avLst>
                  <a:gd name="adj" fmla="val 35714"/>
                </a:avLst>
              </a:pr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148333" y="5745004"/>
                <a:ext cx="105663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▶ 运行程序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609600" y="5562600"/>
                <a:ext cx="6134100" cy="533400"/>
              </a:xfrm>
              <a:prstGeom prst="roundRect">
                <a:avLst>
                  <a:gd name="adj" fmla="val 35714"/>
                </a:avLst>
              </a:prstGeom>
              <a:solidFill>
                <a:srgbClr val="FFFFFF">
                  <a:alpha val="100"/>
                </a:srgbClr>
              </a:solidFill>
              <a:ln>
                <a:noFill/>
              </a:ln>
            </p:spPr>
          </p:sp>
        </p:grpSp>
      </p:grpSp>
      <p:grpSp>
        <p:nvGrpSpPr>
          <p:cNvPr id="45" name="Group 45"/>
          <p:cNvGrpSpPr/>
          <p:nvPr/>
        </p:nvGrpSpPr>
        <p:grpSpPr>
          <a:xfrm>
            <a:off x="7277100" y="1581150"/>
            <a:ext cx="4572000" cy="4762500"/>
            <a:chOff x="7277100" y="1581150"/>
            <a:chExt cx="4572000" cy="4762500"/>
          </a:xfrm>
        </p:grpSpPr>
        <p:sp>
          <p:nvSpPr>
            <p:cNvPr id="37" name="Rectangle 37"/>
            <p:cNvSpPr/>
            <p:nvPr/>
          </p:nvSpPr>
          <p:spPr>
            <a:xfrm>
              <a:off x="7277100" y="1581150"/>
              <a:ext cx="4572000" cy="4762500"/>
            </a:xfrm>
            <a:prstGeom prst="roundRect">
              <a:avLst>
                <a:gd name="adj" fmla="val 5417"/>
              </a:avLst>
            </a:prstGeom>
            <a:solidFill>
              <a:srgbClr val="2B3A5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93711" y="18273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终端输出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7594854" y="2346960"/>
              <a:ext cx="1377239" cy="1377696"/>
              <a:chOff x="7594854" y="2346960"/>
              <a:chExt cx="1377239" cy="1377696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7594854" y="2346960"/>
                <a:ext cx="8683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创建窗口 ✓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594854" y="2632710"/>
                <a:ext cx="12156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绘制 6 片花瓣 ✓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594854" y="2918460"/>
                <a:ext cx="8683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添加花心 ✓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594854" y="3204210"/>
                <a:ext cx="8683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绘制花茎 ✓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594854" y="3489960"/>
                <a:ext cx="13772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9E7B8"/>
                    </a:solidFill>
                    <a:latin typeface="Consolas"/>
                    <a:ea typeface="Microsoft YaHei"/>
                    <a:cs typeface="Consolas"/>
                  </a:rPr>
                  <a:t>隐藏海龟 · 完成 ✓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342900" y="933450"/>
            <a:ext cx="1581150" cy="457200"/>
            <a:chOff x="342900" y="933450"/>
            <a:chExt cx="1581150" cy="457200"/>
          </a:xfrm>
        </p:grpSpPr>
        <p:sp>
          <p:nvSpPr>
            <p:cNvPr id="46" name="Rectangle 46"/>
            <p:cNvSpPr/>
            <p:nvPr/>
          </p:nvSpPr>
          <p:spPr>
            <a:xfrm>
              <a:off x="342900" y="933450"/>
              <a:ext cx="1581150" cy="457200"/>
            </a:xfrm>
            <a:prstGeom prst="roundRect">
              <a:avLst>
                <a:gd name="adj" fmla="val 3958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2076450" y="933450"/>
            <a:ext cx="1581150" cy="457200"/>
            <a:chOff x="2076450" y="933450"/>
            <a:chExt cx="1581150" cy="457200"/>
          </a:xfrm>
        </p:grpSpPr>
        <p:sp>
          <p:nvSpPr>
            <p:cNvPr id="48" name="Rectangle 48"/>
            <p:cNvSpPr/>
            <p:nvPr/>
          </p:nvSpPr>
          <p:spPr>
            <a:xfrm>
              <a:off x="2076450" y="933450"/>
              <a:ext cx="1581150" cy="457200"/>
            </a:xfrm>
            <a:prstGeom prst="roundRect">
              <a:avLst>
                <a:gd name="adj" fmla="val 3958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3810000" y="933450"/>
            <a:ext cx="1581150" cy="457200"/>
            <a:chOff x="3810000" y="933450"/>
            <a:chExt cx="1581150" cy="457200"/>
          </a:xfrm>
        </p:grpSpPr>
        <p:sp>
          <p:nvSpPr>
            <p:cNvPr id="50" name="Rectangle 50"/>
            <p:cNvSpPr/>
            <p:nvPr/>
          </p:nvSpPr>
          <p:spPr>
            <a:xfrm>
              <a:off x="3810000" y="933450"/>
              <a:ext cx="1581150" cy="457200"/>
            </a:xfrm>
            <a:prstGeom prst="roundRect">
              <a:avLst>
                <a:gd name="adj" fmla="val 3958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609600" y="5562600"/>
            <a:ext cx="6134100" cy="533400"/>
            <a:chOff x="609600" y="5562600"/>
            <a:chExt cx="6134100" cy="533400"/>
          </a:xfrm>
        </p:grpSpPr>
        <p:sp>
          <p:nvSpPr>
            <p:cNvPr id="52" name="Rectangle 52"/>
            <p:cNvSpPr/>
            <p:nvPr/>
          </p:nvSpPr>
          <p:spPr>
            <a:xfrm>
              <a:off x="609600" y="5562600"/>
              <a:ext cx="6134100" cy="533400"/>
            </a:xfrm>
            <a:prstGeom prst="roundRect">
              <a:avLst>
                <a:gd name="adj" fmla="val 3571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609600" y="5562600"/>
            <a:ext cx="6134100" cy="533400"/>
            <a:chOff x="609600" y="5562600"/>
            <a:chExt cx="6134100" cy="533400"/>
          </a:xfrm>
        </p:grpSpPr>
        <p:sp>
          <p:nvSpPr>
            <p:cNvPr id="54" name="Rectangle 54"/>
            <p:cNvSpPr/>
            <p:nvPr/>
          </p:nvSpPr>
          <p:spPr>
            <a:xfrm>
              <a:off x="609600" y="5562600"/>
              <a:ext cx="6134100" cy="533400"/>
            </a:xfrm>
            <a:prstGeom prst="roundRect">
              <a:avLst>
                <a:gd name="adj" fmla="val 3571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609600" y="5562600"/>
            <a:ext cx="6134100" cy="533400"/>
            <a:chOff x="609600" y="5562600"/>
            <a:chExt cx="6134100" cy="533400"/>
          </a:xfrm>
        </p:grpSpPr>
        <p:sp>
          <p:nvSpPr>
            <p:cNvPr id="56" name="Rectangle 56"/>
            <p:cNvSpPr/>
            <p:nvPr/>
          </p:nvSpPr>
          <p:spPr>
            <a:xfrm>
              <a:off x="609600" y="5562600"/>
              <a:ext cx="6134100" cy="533400"/>
            </a:xfrm>
            <a:prstGeom prst="roundRect">
              <a:avLst>
                <a:gd name="adj" fmla="val 3571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8709294" y="3581400"/>
            <a:ext cx="1821912" cy="2105025"/>
            <a:chOff x="8709294" y="3581400"/>
            <a:chExt cx="1821912" cy="2105025"/>
          </a:xfrm>
        </p:grpSpPr>
        <p:sp>
          <p:nvSpPr>
            <p:cNvPr id="58" name="Ellipse 58"/>
            <p:cNvSpPr/>
            <p:nvPr/>
          </p:nvSpPr>
          <p:spPr>
            <a:xfrm>
              <a:off x="9382125" y="3581400"/>
              <a:ext cx="476250" cy="914400"/>
            </a:xfrm>
            <a:prstGeom prst="ellipse">
              <a:avLst/>
            </a:prstGeom>
            <a:solidFill>
              <a:srgbClr val="FFB347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 rot="3600000">
              <a:off x="9778072" y="3810000"/>
              <a:ext cx="476250" cy="9144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 rot="7200000">
              <a:off x="9778072" y="4267200"/>
              <a:ext cx="476250" cy="914400"/>
            </a:xfrm>
            <a:prstGeom prst="ellipse">
              <a:avLst/>
            </a:prstGeom>
            <a:solidFill>
              <a:srgbClr val="FFB347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 rot="10800000">
              <a:off x="9382125" y="4495800"/>
              <a:ext cx="476250" cy="9144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 rot="-7200000">
              <a:off x="8986178" y="4267200"/>
              <a:ext cx="476250" cy="914400"/>
            </a:xfrm>
            <a:prstGeom prst="ellipse">
              <a:avLst/>
            </a:prstGeom>
            <a:solidFill>
              <a:srgbClr val="FFB347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 rot="-3600000">
              <a:off x="8986178" y="3810000"/>
              <a:ext cx="476250" cy="9144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9391650" y="4267200"/>
              <a:ext cx="457200" cy="4572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9620250" y="4724400"/>
              <a:ext cx="9525" cy="962025"/>
            </a:xfrm>
            <a:custGeom>
              <a:avLst/>
              <a:gdLst/>
              <a:ahLst/>
              <a:cxnLst/>
              <a:rect l="l" t="t" r="r" b="b"/>
              <a:pathLst>
                <a:path w="9525" h="962025">
                  <a:moveTo>
                    <a:pt x="0" y="0"/>
                  </a:moveTo>
                  <a:lnTo>
                    <a:pt x="0" y="962025"/>
                  </a:lnTo>
                </a:path>
              </a:pathLst>
            </a:custGeom>
            <a:noFill/>
            <a:ln w="114300" cap="rnd">
              <a:solidFill>
                <a:srgbClr val="65C466"/>
              </a:solidFill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8709294" y="3371850"/>
            <a:ext cx="1821912" cy="2486025"/>
            <a:chOff x="8709294" y="3371850"/>
            <a:chExt cx="1821912" cy="2486025"/>
          </a:xfrm>
        </p:grpSpPr>
        <p:sp>
          <p:nvSpPr>
            <p:cNvPr id="67" name="Ellipse 67"/>
            <p:cNvSpPr/>
            <p:nvPr/>
          </p:nvSpPr>
          <p:spPr>
            <a:xfrm>
              <a:off x="9382125" y="3371850"/>
              <a:ext cx="476250" cy="914400"/>
            </a:xfrm>
            <a:prstGeom prst="ellipse">
              <a:avLst/>
            </a:prstGeom>
            <a:solidFill>
              <a:srgbClr val="B89AFF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 rot="3600000">
              <a:off x="9778072" y="3600450"/>
              <a:ext cx="476250" cy="914400"/>
            </a:xfrm>
            <a:prstGeom prst="ellipse">
              <a:avLst/>
            </a:prstGeom>
            <a:solidFill>
              <a:srgbClr val="D9C8FF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 rot="7200000">
              <a:off x="9778072" y="4057650"/>
              <a:ext cx="476250" cy="914400"/>
            </a:xfrm>
            <a:prstGeom prst="ellipse">
              <a:avLst/>
            </a:prstGeom>
            <a:solidFill>
              <a:srgbClr val="B89AFF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 rot="10800000">
              <a:off x="9382125" y="4286250"/>
              <a:ext cx="476250" cy="914400"/>
            </a:xfrm>
            <a:prstGeom prst="ellipse">
              <a:avLst/>
            </a:prstGeom>
            <a:solidFill>
              <a:srgbClr val="D9C8FF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 rot="-7200000">
              <a:off x="8986178" y="4057650"/>
              <a:ext cx="476250" cy="914400"/>
            </a:xfrm>
            <a:prstGeom prst="ellipse">
              <a:avLst/>
            </a:prstGeom>
            <a:solidFill>
              <a:srgbClr val="B89AFF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 rot="-3600000">
              <a:off x="8986178" y="3600450"/>
              <a:ext cx="476250" cy="914400"/>
            </a:xfrm>
            <a:prstGeom prst="ellipse">
              <a:avLst/>
            </a:prstGeom>
            <a:solidFill>
              <a:srgbClr val="D9C8FF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9391650" y="4057650"/>
              <a:ext cx="457200" cy="4572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74" name="Line 74"/>
            <p:cNvSpPr/>
            <p:nvPr/>
          </p:nvSpPr>
          <p:spPr>
            <a:xfrm>
              <a:off x="9620250" y="4514850"/>
              <a:ext cx="9525" cy="1343025"/>
            </a:xfrm>
            <a:custGeom>
              <a:avLst/>
              <a:gdLst/>
              <a:ahLst/>
              <a:cxnLst/>
              <a:rect l="l" t="t" r="r" b="b"/>
              <a:pathLst>
                <a:path w="9525" h="1343025">
                  <a:moveTo>
                    <a:pt x="0" y="0"/>
                  </a:moveTo>
                  <a:lnTo>
                    <a:pt x="0" y="1343025"/>
                  </a:lnTo>
                </a:path>
              </a:pathLst>
            </a:custGeom>
            <a:noFill/>
            <a:ln w="114300" cap="rnd">
              <a:solidFill>
                <a:srgbClr val="65C466"/>
              </a:solidFill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8709294" y="3581400"/>
            <a:ext cx="1821912" cy="2295525"/>
            <a:chOff x="8709294" y="3581400"/>
            <a:chExt cx="1821912" cy="2295525"/>
          </a:xfrm>
        </p:grpSpPr>
        <p:sp>
          <p:nvSpPr>
            <p:cNvPr id="76" name="Ellipse 76"/>
            <p:cNvSpPr/>
            <p:nvPr/>
          </p:nvSpPr>
          <p:spPr>
            <a:xfrm>
              <a:off x="9382125" y="3581400"/>
              <a:ext cx="476250" cy="914400"/>
            </a:xfrm>
            <a:prstGeom prst="ellipse">
              <a:avLst/>
            </a:prstGeom>
            <a:solidFill>
              <a:srgbClr val="FF9DBC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 rot="3600000">
              <a:off x="9778072" y="3810000"/>
              <a:ext cx="476250" cy="914400"/>
            </a:xfrm>
            <a:prstGeom prst="ellipse">
              <a:avLst/>
            </a:prstGeom>
            <a:solidFill>
              <a:srgbClr val="FF9DBC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 rot="7200000">
              <a:off x="9778072" y="4267200"/>
              <a:ext cx="476250" cy="914400"/>
            </a:xfrm>
            <a:prstGeom prst="ellipse">
              <a:avLst/>
            </a:prstGeom>
            <a:solidFill>
              <a:srgbClr val="FF9DBC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 rot="10800000">
              <a:off x="9382125" y="4495800"/>
              <a:ext cx="476250" cy="914400"/>
            </a:xfrm>
            <a:prstGeom prst="ellipse">
              <a:avLst/>
            </a:prstGeom>
            <a:solidFill>
              <a:srgbClr val="FF9DBC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 rot="-7200000">
              <a:off x="8986178" y="4267200"/>
              <a:ext cx="476250" cy="914400"/>
            </a:xfrm>
            <a:prstGeom prst="ellipse">
              <a:avLst/>
            </a:prstGeom>
            <a:solidFill>
              <a:srgbClr val="FF9DBC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 rot="-3600000">
              <a:off x="8986178" y="3810000"/>
              <a:ext cx="476250" cy="914400"/>
            </a:xfrm>
            <a:prstGeom prst="ellipse">
              <a:avLst/>
            </a:prstGeom>
            <a:solidFill>
              <a:srgbClr val="FF9DBC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9391650" y="4267200"/>
              <a:ext cx="457200" cy="4572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83" name="Line 83"/>
            <p:cNvSpPr/>
            <p:nvPr/>
          </p:nvSpPr>
          <p:spPr>
            <a:xfrm>
              <a:off x="9620250" y="4724400"/>
              <a:ext cx="9525" cy="1152525"/>
            </a:xfrm>
            <a:custGeom>
              <a:avLst/>
              <a:gdLst/>
              <a:ahLst/>
              <a:cxnLst/>
              <a:rect l="l" t="t" r="r" b="b"/>
              <a:pathLst>
                <a:path w="9525" h="1152525">
                  <a:moveTo>
                    <a:pt x="0" y="0"/>
                  </a:moveTo>
                  <a:lnTo>
                    <a:pt x="0" y="1152525"/>
                  </a:lnTo>
                </a:path>
              </a:pathLst>
            </a:custGeom>
            <a:noFill/>
            <a:ln w="114300" cap="rnd">
              <a:solidFill>
                <a:srgbClr val="65C466"/>
              </a:solidFill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7486650" y="2095500"/>
            <a:ext cx="4152900" cy="4038600"/>
            <a:chOff x="7486650" y="2095500"/>
            <a:chExt cx="4152900" cy="4038600"/>
          </a:xfrm>
        </p:grpSpPr>
        <p:sp>
          <p:nvSpPr>
            <p:cNvPr id="85" name="Rectangle 85"/>
            <p:cNvSpPr/>
            <p:nvPr/>
          </p:nvSpPr>
          <p:spPr>
            <a:xfrm>
              <a:off x="7486650" y="2095500"/>
              <a:ext cx="4152900" cy="4038600"/>
            </a:xfrm>
            <a:prstGeom prst="roundRect">
              <a:avLst>
                <a:gd name="adj" fmla="val 4717"/>
              </a:avLst>
            </a:prstGeom>
            <a:solidFill>
              <a:srgbClr val="2B3A55"/>
            </a:solidFill>
            <a:ln>
              <a:noFill/>
            </a:ln>
          </p:spPr>
        </p:sp>
      </p:grpSp>
      <p:grpSp>
        <p:nvGrpSpPr>
          <p:cNvPr id="90" name="Group 90"/>
          <p:cNvGrpSpPr/>
          <p:nvPr/>
        </p:nvGrpSpPr>
        <p:grpSpPr>
          <a:xfrm>
            <a:off x="571500" y="2800350"/>
            <a:ext cx="6191250" cy="762000"/>
            <a:chOff x="571500" y="2800350"/>
            <a:chExt cx="6191250" cy="762000"/>
          </a:xfrm>
        </p:grpSpPr>
        <p:sp>
          <p:nvSpPr>
            <p:cNvPr id="87" name="Rectangle 87"/>
            <p:cNvSpPr/>
            <p:nvPr/>
          </p:nvSpPr>
          <p:spPr>
            <a:xfrm>
              <a:off x="571500" y="2800350"/>
              <a:ext cx="619125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03504" y="2899410"/>
              <a:ext cx="4705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9F1C"/>
                  </a:solidFill>
                  <a:latin typeface="Consolas"/>
                  <a:ea typeface="Microsoft YaHei"/>
                  <a:cs typeface="Consolas"/>
                </a:rPr>
                <a:t>screen.title("暖阳小红花"); screen.bgcolor("lightyellow")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03504" y="3242310"/>
              <a:ext cx="2233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t.color("orange","yellow")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571500" y="2800350"/>
            <a:ext cx="6191250" cy="762000"/>
            <a:chOff x="571500" y="2800350"/>
            <a:chExt cx="6191250" cy="762000"/>
          </a:xfrm>
        </p:grpSpPr>
        <p:sp>
          <p:nvSpPr>
            <p:cNvPr id="91" name="Rectangle 91"/>
            <p:cNvSpPr/>
            <p:nvPr/>
          </p:nvSpPr>
          <p:spPr>
            <a:xfrm>
              <a:off x="571500" y="2800350"/>
              <a:ext cx="619125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03504" y="2899410"/>
              <a:ext cx="4527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B7BFF"/>
                  </a:solidFill>
                  <a:latin typeface="Consolas"/>
                  <a:ea typeface="Microsoft YaHei"/>
                  <a:cs typeface="Consolas"/>
                </a:rPr>
                <a:t>screen.title("我的紫霞花"); screen.bgcolor("lavender")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03504" y="32423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B7BFF"/>
                  </a:solidFill>
                  <a:latin typeface="Consolas"/>
                  <a:ea typeface="Consolas"/>
                  <a:cs typeface="Consolas"/>
                </a:rPr>
                <a:t>t.color("purple","violet")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570798" y="5901214"/>
            <a:ext cx="1908404" cy="249364"/>
            <a:chOff x="8570798" y="5901214"/>
            <a:chExt cx="1908404" cy="249364"/>
          </a:xfrm>
        </p:grpSpPr>
        <p:sp>
          <p:nvSpPr>
            <p:cNvPr id="95" name="TextBox 95"/>
            <p:cNvSpPr txBox="1"/>
            <p:nvPr/>
          </p:nvSpPr>
          <p:spPr>
            <a:xfrm>
              <a:off x="8570798" y="59012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E9BFF"/>
                  </a:solidFill>
                  <a:latin typeface="Segoe UI"/>
                  <a:ea typeface="Microsoft YaHei"/>
                  <a:cs typeface="Segoe UI"/>
                </a:rPr>
                <a:t>点击运行，逐步组装作品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160541" y="5901214"/>
            <a:ext cx="728917" cy="249364"/>
            <a:chOff x="9160541" y="5901214"/>
            <a:chExt cx="728917" cy="249364"/>
          </a:xfrm>
        </p:grpSpPr>
        <p:sp>
          <p:nvSpPr>
            <p:cNvPr id="97" name="TextBox 97"/>
            <p:cNvSpPr txBox="1"/>
            <p:nvPr/>
          </p:nvSpPr>
          <p:spPr>
            <a:xfrm>
              <a:off x="9160541" y="5901214"/>
              <a:ext cx="7289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9F1C"/>
                  </a:solidFill>
                  <a:latin typeface="Segoe UI"/>
                  <a:ea typeface="Microsoft YaHei"/>
                  <a:cs typeface="Segoe UI"/>
                </a:rPr>
                <a:t>运行中……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8743112" y="5901214"/>
            <a:ext cx="1563776" cy="249364"/>
            <a:chOff x="8743112" y="5901214"/>
            <a:chExt cx="1563776" cy="249364"/>
          </a:xfrm>
        </p:grpSpPr>
        <p:sp>
          <p:nvSpPr>
            <p:cNvPr id="99" name="TextBox 99"/>
            <p:cNvSpPr txBox="1"/>
            <p:nvPr/>
          </p:nvSpPr>
          <p:spPr>
            <a:xfrm>
              <a:off x="8743112" y="59012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2C55E"/>
                  </a:solidFill>
                  <a:latin typeface="Segoe UI"/>
                  <a:ea typeface="Microsoft YaHei"/>
                  <a:cs typeface="Segoe UI"/>
                </a:rPr>
                <a:t>作品完成，可以展示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7652004" y="2366010"/>
            <a:ext cx="868375" cy="234696"/>
            <a:chOff x="7652004" y="2366010"/>
            <a:chExt cx="868375" cy="234696"/>
          </a:xfrm>
        </p:grpSpPr>
        <p:sp>
          <p:nvSpPr>
            <p:cNvPr id="101" name="TextBox 101"/>
            <p:cNvSpPr txBox="1"/>
            <p:nvPr/>
          </p:nvSpPr>
          <p:spPr>
            <a:xfrm>
              <a:off x="7652004" y="2366010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创建窗口 ✓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7652004" y="2651760"/>
            <a:ext cx="1215695" cy="234696"/>
            <a:chOff x="7652004" y="2651760"/>
            <a:chExt cx="1215695" cy="234696"/>
          </a:xfrm>
        </p:grpSpPr>
        <p:sp>
          <p:nvSpPr>
            <p:cNvPr id="103" name="TextBox 103"/>
            <p:cNvSpPr txBox="1"/>
            <p:nvPr/>
          </p:nvSpPr>
          <p:spPr>
            <a:xfrm>
              <a:off x="7652004" y="2651760"/>
              <a:ext cx="1215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绘制 6 片花瓣 ✓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7652004" y="2937510"/>
            <a:ext cx="1353007" cy="234696"/>
            <a:chOff x="7652004" y="2937510"/>
            <a:chExt cx="1353007" cy="234696"/>
          </a:xfrm>
        </p:grpSpPr>
        <p:sp>
          <p:nvSpPr>
            <p:cNvPr id="105" name="TextBox 105"/>
            <p:cNvSpPr txBox="1"/>
            <p:nvPr/>
          </p:nvSpPr>
          <p:spPr>
            <a:xfrm>
              <a:off x="7652004" y="293751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添加花心与花茎 ✓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7652004" y="3223260"/>
            <a:ext cx="868375" cy="234696"/>
            <a:chOff x="7652004" y="3223260"/>
            <a:chExt cx="868375" cy="234696"/>
          </a:xfrm>
        </p:grpSpPr>
        <p:sp>
          <p:nvSpPr>
            <p:cNvPr id="107" name="TextBox 107"/>
            <p:cNvSpPr txBox="1"/>
            <p:nvPr/>
          </p:nvSpPr>
          <p:spPr>
            <a:xfrm>
              <a:off x="7652004" y="3223260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隐藏海龟 ✓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7652004" y="3509010"/>
            <a:ext cx="868375" cy="234696"/>
            <a:chOff x="7652004" y="3509010"/>
            <a:chExt cx="868375" cy="234696"/>
          </a:xfrm>
        </p:grpSpPr>
        <p:sp>
          <p:nvSpPr>
            <p:cNvPr id="109" name="TextBox 109"/>
            <p:cNvSpPr txBox="1"/>
            <p:nvPr/>
          </p:nvSpPr>
          <p:spPr>
            <a:xfrm>
              <a:off x="7652004" y="3509010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9E7B8"/>
                  </a:solidFill>
                  <a:latin typeface="Consolas"/>
                  <a:ea typeface="Microsoft YaHei"/>
                  <a:cs typeface="Consolas"/>
                </a:rPr>
                <a:t>保存作品 ✓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8822568" y="3657600"/>
            <a:ext cx="1595364" cy="1905000"/>
            <a:chOff x="8822568" y="3657600"/>
            <a:chExt cx="1595364" cy="1905000"/>
          </a:xfrm>
        </p:grpSpPr>
        <p:grpSp>
          <p:nvGrpSpPr>
            <p:cNvPr id="119" name="Group 119"/>
            <p:cNvGrpSpPr/>
            <p:nvPr/>
          </p:nvGrpSpPr>
          <p:grpSpPr>
            <a:xfrm>
              <a:off x="8822568" y="3657600"/>
              <a:ext cx="1595364" cy="1905000"/>
              <a:chOff x="8822568" y="3657600"/>
              <a:chExt cx="1595364" cy="1905000"/>
            </a:xfrm>
          </p:grpSpPr>
          <p:sp>
            <p:nvSpPr>
              <p:cNvPr id="111" name="Ellipse 111"/>
              <p:cNvSpPr/>
              <p:nvPr/>
            </p:nvSpPr>
            <p:spPr>
              <a:xfrm>
                <a:off x="9410700" y="3657600"/>
                <a:ext cx="419100" cy="8001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2" name="Ellipse 112"/>
              <p:cNvSpPr/>
              <p:nvPr/>
            </p:nvSpPr>
            <p:spPr>
              <a:xfrm rot="3600000">
                <a:off x="9757153" y="3857625"/>
                <a:ext cx="419100" cy="8001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3" name="Ellipse 113"/>
              <p:cNvSpPr/>
              <p:nvPr/>
            </p:nvSpPr>
            <p:spPr>
              <a:xfrm rot="7200000">
                <a:off x="9757153" y="4257675"/>
                <a:ext cx="419100" cy="8001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4" name="Ellipse 114"/>
              <p:cNvSpPr/>
              <p:nvPr/>
            </p:nvSpPr>
            <p:spPr>
              <a:xfrm rot="10800000">
                <a:off x="9410700" y="4457700"/>
                <a:ext cx="419100" cy="8001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5" name="Ellipse 115"/>
              <p:cNvSpPr/>
              <p:nvPr/>
            </p:nvSpPr>
            <p:spPr>
              <a:xfrm rot="-7200000">
                <a:off x="9064247" y="4257675"/>
                <a:ext cx="419100" cy="8001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6" name="Ellipse 116"/>
              <p:cNvSpPr/>
              <p:nvPr/>
            </p:nvSpPr>
            <p:spPr>
              <a:xfrm rot="-3600000">
                <a:off x="9064247" y="3857625"/>
                <a:ext cx="419100" cy="8001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7" name="Ellipse 117"/>
              <p:cNvSpPr/>
              <p:nvPr/>
            </p:nvSpPr>
            <p:spPr>
              <a:xfrm>
                <a:off x="9420225" y="4257675"/>
                <a:ext cx="400050" cy="40005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18" name="Line 118"/>
              <p:cNvSpPr/>
              <p:nvPr/>
            </p:nvSpPr>
            <p:spPr>
              <a:xfrm>
                <a:off x="9620250" y="4657725"/>
                <a:ext cx="9525" cy="904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04875">
                    <a:moveTo>
                      <a:pt x="0" y="0"/>
                    </a:moveTo>
                    <a:lnTo>
                      <a:pt x="0" y="904875"/>
                    </a:lnTo>
                  </a:path>
                </a:pathLst>
              </a:custGeom>
              <a:noFill/>
              <a:ln w="114300" cap="rnd">
                <a:solidFill>
                  <a:srgbClr val="22C55E"/>
                </a:solidFill>
              </a:ln>
            </p:spPr>
          </p:sp>
        </p:grpSp>
      </p:grpSp>
      <p:grpSp>
        <p:nvGrpSpPr>
          <p:cNvPr id="130" name="Group 130"/>
          <p:cNvGrpSpPr/>
          <p:nvPr/>
        </p:nvGrpSpPr>
        <p:grpSpPr>
          <a:xfrm>
            <a:off x="8822568" y="3657600"/>
            <a:ext cx="1595364" cy="1905000"/>
            <a:chOff x="8822568" y="3657600"/>
            <a:chExt cx="1595364" cy="1905000"/>
          </a:xfrm>
        </p:grpSpPr>
        <p:grpSp>
          <p:nvGrpSpPr>
            <p:cNvPr id="129" name="Group 129"/>
            <p:cNvGrpSpPr/>
            <p:nvPr/>
          </p:nvGrpSpPr>
          <p:grpSpPr>
            <a:xfrm>
              <a:off x="8822568" y="3657600"/>
              <a:ext cx="1595364" cy="1905000"/>
              <a:chOff x="8822568" y="3657600"/>
              <a:chExt cx="1595364" cy="1905000"/>
            </a:xfrm>
          </p:grpSpPr>
          <p:sp>
            <p:nvSpPr>
              <p:cNvPr id="121" name="Ellipse 121"/>
              <p:cNvSpPr/>
              <p:nvPr/>
            </p:nvSpPr>
            <p:spPr>
              <a:xfrm>
                <a:off x="9410700" y="3657600"/>
                <a:ext cx="419100" cy="800100"/>
              </a:xfrm>
              <a:prstGeom prst="ellipse">
                <a:avLst/>
              </a:prstGeom>
              <a:solidFill>
                <a:srgbClr val="FFB347"/>
              </a:solidFill>
              <a:ln>
                <a:noFill/>
              </a:ln>
            </p:spPr>
          </p:sp>
          <p:sp>
            <p:nvSpPr>
              <p:cNvPr id="122" name="Ellipse 122"/>
              <p:cNvSpPr/>
              <p:nvPr/>
            </p:nvSpPr>
            <p:spPr>
              <a:xfrm rot="3600000">
                <a:off x="9757153" y="3857625"/>
                <a:ext cx="419100" cy="8001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23" name="Ellipse 123"/>
              <p:cNvSpPr/>
              <p:nvPr/>
            </p:nvSpPr>
            <p:spPr>
              <a:xfrm rot="7200000">
                <a:off x="9757153" y="4257675"/>
                <a:ext cx="419100" cy="800100"/>
              </a:xfrm>
              <a:prstGeom prst="ellipse">
                <a:avLst/>
              </a:prstGeom>
              <a:solidFill>
                <a:srgbClr val="FFB347"/>
              </a:solidFill>
              <a:ln>
                <a:noFill/>
              </a:ln>
            </p:spPr>
          </p:sp>
          <p:sp>
            <p:nvSpPr>
              <p:cNvPr id="124" name="Ellipse 124"/>
              <p:cNvSpPr/>
              <p:nvPr/>
            </p:nvSpPr>
            <p:spPr>
              <a:xfrm rot="10800000">
                <a:off x="9410700" y="4457700"/>
                <a:ext cx="419100" cy="8001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25" name="Ellipse 125"/>
              <p:cNvSpPr/>
              <p:nvPr/>
            </p:nvSpPr>
            <p:spPr>
              <a:xfrm rot="-7200000">
                <a:off x="9064247" y="4257675"/>
                <a:ext cx="419100" cy="800100"/>
              </a:xfrm>
              <a:prstGeom prst="ellipse">
                <a:avLst/>
              </a:prstGeom>
              <a:solidFill>
                <a:srgbClr val="FFB347"/>
              </a:solidFill>
              <a:ln>
                <a:noFill/>
              </a:ln>
            </p:spPr>
          </p:sp>
          <p:sp>
            <p:nvSpPr>
              <p:cNvPr id="126" name="Ellipse 126"/>
              <p:cNvSpPr/>
              <p:nvPr/>
            </p:nvSpPr>
            <p:spPr>
              <a:xfrm rot="-3600000">
                <a:off x="9064247" y="3857625"/>
                <a:ext cx="419100" cy="8001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27" name="Ellipse 127"/>
              <p:cNvSpPr/>
              <p:nvPr/>
            </p:nvSpPr>
            <p:spPr>
              <a:xfrm>
                <a:off x="9420225" y="4257675"/>
                <a:ext cx="400050" cy="400050"/>
              </a:xfrm>
              <a:prstGeom prst="ellipse">
                <a:avLst/>
              </a:pr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128" name="Line 128"/>
              <p:cNvSpPr/>
              <p:nvPr/>
            </p:nvSpPr>
            <p:spPr>
              <a:xfrm>
                <a:off x="9620250" y="4657725"/>
                <a:ext cx="9525" cy="904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04875">
                    <a:moveTo>
                      <a:pt x="0" y="0"/>
                    </a:moveTo>
                    <a:lnTo>
                      <a:pt x="0" y="904875"/>
                    </a:lnTo>
                  </a:path>
                </a:pathLst>
              </a:custGeom>
              <a:noFill/>
              <a:ln w="114300" cap="rnd">
                <a:solidFill>
                  <a:srgbClr val="22C55E"/>
                </a:solidFill>
              </a:ln>
            </p:spPr>
          </p:sp>
        </p:grpSp>
      </p:grpSp>
      <p:grpSp>
        <p:nvGrpSpPr>
          <p:cNvPr id="140" name="Group 140"/>
          <p:cNvGrpSpPr/>
          <p:nvPr/>
        </p:nvGrpSpPr>
        <p:grpSpPr>
          <a:xfrm>
            <a:off x="8822568" y="3657600"/>
            <a:ext cx="1595364" cy="1905000"/>
            <a:chOff x="8822568" y="3657600"/>
            <a:chExt cx="1595364" cy="1905000"/>
          </a:xfrm>
        </p:grpSpPr>
        <p:grpSp>
          <p:nvGrpSpPr>
            <p:cNvPr id="139" name="Group 139"/>
            <p:cNvGrpSpPr/>
            <p:nvPr/>
          </p:nvGrpSpPr>
          <p:grpSpPr>
            <a:xfrm>
              <a:off x="8822568" y="3657600"/>
              <a:ext cx="1595364" cy="1905000"/>
              <a:chOff x="8822568" y="3657600"/>
              <a:chExt cx="1595364" cy="1905000"/>
            </a:xfrm>
          </p:grpSpPr>
          <p:sp>
            <p:nvSpPr>
              <p:cNvPr id="131" name="Ellipse 131"/>
              <p:cNvSpPr/>
              <p:nvPr/>
            </p:nvSpPr>
            <p:spPr>
              <a:xfrm>
                <a:off x="9410700" y="3657600"/>
                <a:ext cx="419100" cy="800100"/>
              </a:xfrm>
              <a:prstGeom prst="ellipse">
                <a:avLst/>
              </a:prstGeom>
              <a:solidFill>
                <a:srgbClr val="B89AFF"/>
              </a:solidFill>
              <a:ln>
                <a:noFill/>
              </a:ln>
            </p:spPr>
          </p:sp>
          <p:sp>
            <p:nvSpPr>
              <p:cNvPr id="132" name="Ellipse 132"/>
              <p:cNvSpPr/>
              <p:nvPr/>
            </p:nvSpPr>
            <p:spPr>
              <a:xfrm rot="3600000">
                <a:off x="9757153" y="3857625"/>
                <a:ext cx="419100" cy="800100"/>
              </a:xfrm>
              <a:prstGeom prst="ellipse">
                <a:avLst/>
              </a:prstGeom>
              <a:solidFill>
                <a:srgbClr val="D9C8FF"/>
              </a:solidFill>
              <a:ln>
                <a:noFill/>
              </a:ln>
            </p:spPr>
          </p:sp>
          <p:sp>
            <p:nvSpPr>
              <p:cNvPr id="133" name="Ellipse 133"/>
              <p:cNvSpPr/>
              <p:nvPr/>
            </p:nvSpPr>
            <p:spPr>
              <a:xfrm rot="7200000">
                <a:off x="9757153" y="4257675"/>
                <a:ext cx="419100" cy="800100"/>
              </a:xfrm>
              <a:prstGeom prst="ellipse">
                <a:avLst/>
              </a:prstGeom>
              <a:solidFill>
                <a:srgbClr val="B89AFF"/>
              </a:solidFill>
              <a:ln>
                <a:noFill/>
              </a:ln>
            </p:spPr>
          </p:sp>
          <p:sp>
            <p:nvSpPr>
              <p:cNvPr id="134" name="Ellipse 134"/>
              <p:cNvSpPr/>
              <p:nvPr/>
            </p:nvSpPr>
            <p:spPr>
              <a:xfrm rot="10800000">
                <a:off x="9410700" y="4457700"/>
                <a:ext cx="419100" cy="800100"/>
              </a:xfrm>
              <a:prstGeom prst="ellipse">
                <a:avLst/>
              </a:prstGeom>
              <a:solidFill>
                <a:srgbClr val="D9C8FF"/>
              </a:solidFill>
              <a:ln>
                <a:noFill/>
              </a:ln>
            </p:spPr>
          </p:sp>
          <p:sp>
            <p:nvSpPr>
              <p:cNvPr id="135" name="Ellipse 135"/>
              <p:cNvSpPr/>
              <p:nvPr/>
            </p:nvSpPr>
            <p:spPr>
              <a:xfrm rot="-7200000">
                <a:off x="9064247" y="4257675"/>
                <a:ext cx="419100" cy="800100"/>
              </a:xfrm>
              <a:prstGeom prst="ellipse">
                <a:avLst/>
              </a:prstGeom>
              <a:solidFill>
                <a:srgbClr val="B89AFF"/>
              </a:solidFill>
              <a:ln>
                <a:noFill/>
              </a:ln>
            </p:spPr>
          </p:sp>
          <p:sp>
            <p:nvSpPr>
              <p:cNvPr id="136" name="Ellipse 136"/>
              <p:cNvSpPr/>
              <p:nvPr/>
            </p:nvSpPr>
            <p:spPr>
              <a:xfrm rot="-3600000">
                <a:off x="9064247" y="3857625"/>
                <a:ext cx="419100" cy="800100"/>
              </a:xfrm>
              <a:prstGeom prst="ellipse">
                <a:avLst/>
              </a:prstGeom>
              <a:solidFill>
                <a:srgbClr val="D9C8FF"/>
              </a:solidFill>
              <a:ln>
                <a:noFill/>
              </a:ln>
            </p:spPr>
          </p:sp>
          <p:sp>
            <p:nvSpPr>
              <p:cNvPr id="137" name="Ellipse 137"/>
              <p:cNvSpPr/>
              <p:nvPr/>
            </p:nvSpPr>
            <p:spPr>
              <a:xfrm>
                <a:off x="9420225" y="4257675"/>
                <a:ext cx="400050" cy="40005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38" name="Line 138"/>
              <p:cNvSpPr/>
              <p:nvPr/>
            </p:nvSpPr>
            <p:spPr>
              <a:xfrm>
                <a:off x="9620250" y="4657725"/>
                <a:ext cx="9525" cy="904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04875">
                    <a:moveTo>
                      <a:pt x="0" y="0"/>
                    </a:moveTo>
                    <a:lnTo>
                      <a:pt x="0" y="904875"/>
                    </a:lnTo>
                  </a:path>
                </a:pathLst>
              </a:custGeom>
              <a:noFill/>
              <a:ln w="114300" cap="rnd">
                <a:solidFill>
                  <a:srgbClr val="22C55E"/>
                </a:solidFill>
              </a:ln>
            </p:spPr>
          </p:sp>
        </p:grp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6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3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7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5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7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9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1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3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5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7" presetID="1" presetClass="entr" presetSubtype="0" fill="hold" grpId="0" nodeType="with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9" presetID="1" presetClass="exit" presetSubtype="0" fill="hold" grpId="0" nodeType="withEffect" restart="always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1" presetID="1" presetClass="entr" presetSubtype="0" fill="hold" grpId="0" nodeType="withEffect" restart="always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8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0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2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4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6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8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0" presetID="1" presetClass="entr" presetSubtype="0" fill="hold" grpId="0" nodeType="with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2" presetID="1" presetClass="exit" presetSubtype="0" fill="hold" grpId="0" nodeType="withEffect" restart="always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4" presetID="1" presetClass="entr" presetSubtype="0" fill="hold" grpId="0" nodeType="withEffect" restart="always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1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3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5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7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9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1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3" presetID="1" presetClass="entr" presetSubtype="0" fill="hold" grpId="0" nodeType="with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5" presetID="1" presetClass="exit" presetSubtype="0" fill="hold" grpId="0" nodeType="withEffect" restart="always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7" presetID="1" presetClass="entr" presetSubtype="0" fill="hold" grpId="0" nodeType="withEffect" restart="always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6824" y="408622"/>
            <a:ext cx="4679442" cy="827723"/>
            <a:chOff x="496824" y="408622"/>
            <a:chExt cx="4679442" cy="827723"/>
          </a:xfrm>
        </p:grpSpPr>
        <p:sp>
          <p:nvSpPr>
            <p:cNvPr id="2" name="TextBox 2"/>
            <p:cNvSpPr txBox="1"/>
            <p:nvPr/>
          </p:nvSpPr>
          <p:spPr>
            <a:xfrm>
              <a:off x="496824" y="408622"/>
              <a:ext cx="467944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203044"/>
                  </a:solidFill>
                  <a:latin typeface="YouYuan"/>
                  <a:ea typeface="YouYuan"/>
                  <a:cs typeface="YouYuan"/>
                </a:rPr>
                <a:t>从基础版走到个人作品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6730" y="9429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五步完成桌面画展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1200150" y="3429000"/>
            <a:ext cx="9791700" cy="9525"/>
          </a:xfrm>
          <a:custGeom>
            <a:avLst/>
            <a:gdLst/>
            <a:ahLst/>
            <a:cxnLst/>
            <a:rect l="l" t="t" r="r" b="b"/>
            <a:pathLst>
              <a:path w="9791700" h="9525">
                <a:moveTo>
                  <a:pt x="0" y="0"/>
                </a:moveTo>
                <a:lnTo>
                  <a:pt x="9791700" y="0"/>
                </a:lnTo>
              </a:path>
            </a:pathLst>
          </a:custGeom>
          <a:noFill/>
          <a:ln w="133350" cap="rnd">
            <a:solidFill>
              <a:srgbClr val="CFE5F8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1028700" y="2129790"/>
            <a:ext cx="1104900" cy="2528983"/>
            <a:chOff x="1028700" y="2129790"/>
            <a:chExt cx="1104900" cy="2528983"/>
          </a:xfrm>
        </p:grpSpPr>
        <p:sp>
          <p:nvSpPr>
            <p:cNvPr id="6" name="Ellipse 6"/>
            <p:cNvSpPr/>
            <p:nvPr/>
          </p:nvSpPr>
          <p:spPr>
            <a:xfrm>
              <a:off x="1028700" y="2876550"/>
              <a:ext cx="1104900" cy="11049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55888" y="32546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87374" y="21297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分类复习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91590" y="43800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四盒彩卡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024113" y="2129790"/>
            <a:ext cx="1381275" cy="2528983"/>
            <a:chOff x="3024113" y="2129790"/>
            <a:chExt cx="1381275" cy="2528983"/>
          </a:xfrm>
        </p:grpSpPr>
        <p:sp>
          <p:nvSpPr>
            <p:cNvPr id="11" name="Ellipse 11"/>
            <p:cNvSpPr/>
            <p:nvPr/>
          </p:nvSpPr>
          <p:spPr>
            <a:xfrm>
              <a:off x="3162300" y="2876550"/>
              <a:ext cx="1104900" cy="11049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589488" y="32546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9816" y="21297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运行小程序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24113" y="4380071"/>
              <a:ext cx="1381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花瓣 + 花心花茎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72050" y="2129790"/>
            <a:ext cx="1352601" cy="2528983"/>
            <a:chOff x="5172050" y="2129790"/>
            <a:chExt cx="1352601" cy="2528983"/>
          </a:xfrm>
        </p:grpSpPr>
        <p:sp>
          <p:nvSpPr>
            <p:cNvPr id="16" name="Ellipse 16"/>
            <p:cNvSpPr/>
            <p:nvPr/>
          </p:nvSpPr>
          <p:spPr>
            <a:xfrm>
              <a:off x="5295900" y="2876550"/>
              <a:ext cx="1104900" cy="11049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23088" y="32546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33416" y="21297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组合基础版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72050" y="438007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完成第一次测试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323096" y="2129790"/>
            <a:ext cx="1317708" cy="2528983"/>
            <a:chOff x="7323096" y="2129790"/>
            <a:chExt cx="1317708" cy="2528983"/>
          </a:xfrm>
        </p:grpSpPr>
        <p:sp>
          <p:nvSpPr>
            <p:cNvPr id="21" name="Ellipse 21"/>
            <p:cNvSpPr/>
            <p:nvPr/>
          </p:nvSpPr>
          <p:spPr>
            <a:xfrm>
              <a:off x="7429500" y="2876550"/>
              <a:ext cx="1104900" cy="11049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56688" y="32546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23096" y="2129790"/>
              <a:ext cx="13177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只改 1–2 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01230" y="43800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形成个人作品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582059" y="1961198"/>
            <a:ext cx="1390833" cy="2830925"/>
            <a:chOff x="9582059" y="1961198"/>
            <a:chExt cx="1390833" cy="2830925"/>
          </a:xfrm>
        </p:grpSpPr>
        <p:sp>
          <p:nvSpPr>
            <p:cNvPr id="26" name="Ellipse 26"/>
            <p:cNvSpPr/>
            <p:nvPr/>
          </p:nvSpPr>
          <p:spPr>
            <a:xfrm>
              <a:off x="9610725" y="2762250"/>
              <a:ext cx="1333500" cy="1333500"/>
            </a:xfrm>
            <a:prstGeom prst="ellipse">
              <a:avLst/>
            </a:prstGeom>
            <a:solidFill>
              <a:srgbClr val="203044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0014299" y="3167111"/>
              <a:ext cx="526092" cy="501404"/>
            </a:xfrm>
            <a:custGeom>
              <a:avLst/>
              <a:gdLst/>
              <a:ahLst/>
              <a:cxnLst/>
              <a:rect l="l" t="t" r="r" b="b"/>
              <a:pathLst>
                <a:path w="526092" h="501404">
                  <a:moveTo>
                    <a:pt x="173713" y="150923"/>
                  </a:moveTo>
                  <a:lnTo>
                    <a:pt x="21789" y="172949"/>
                  </a:lnTo>
                  <a:lnTo>
                    <a:pt x="19098" y="173497"/>
                  </a:lnTo>
                  <a:cubicBezTo>
                    <a:pt x="10805" y="175699"/>
                    <a:pt x="4338" y="182191"/>
                    <a:pt x="2169" y="190493"/>
                  </a:cubicBezTo>
                  <a:cubicBezTo>
                    <a:pt x="0" y="198794"/>
                    <a:pt x="2465" y="207621"/>
                    <a:pt x="8621" y="213597"/>
                  </a:cubicBezTo>
                  <a:lnTo>
                    <a:pt x="118682" y="320730"/>
                  </a:lnTo>
                  <a:lnTo>
                    <a:pt x="92726" y="472058"/>
                  </a:lnTo>
                  <a:lnTo>
                    <a:pt x="92417" y="474678"/>
                  </a:lnTo>
                  <a:cubicBezTo>
                    <a:pt x="91909" y="483255"/>
                    <a:pt x="96062" y="491441"/>
                    <a:pt x="103283" y="496097"/>
                  </a:cubicBezTo>
                  <a:cubicBezTo>
                    <a:pt x="110505" y="500754"/>
                    <a:pt x="119675" y="501159"/>
                    <a:pt x="127278" y="497157"/>
                  </a:cubicBezTo>
                  <a:lnTo>
                    <a:pt x="263153" y="425719"/>
                  </a:lnTo>
                  <a:lnTo>
                    <a:pt x="398717" y="497157"/>
                  </a:lnTo>
                  <a:lnTo>
                    <a:pt x="401098" y="498252"/>
                  </a:lnTo>
                  <a:cubicBezTo>
                    <a:pt x="409101" y="501404"/>
                    <a:pt x="418182" y="499996"/>
                    <a:pt x="424854" y="494567"/>
                  </a:cubicBezTo>
                  <a:cubicBezTo>
                    <a:pt x="431525" y="489139"/>
                    <a:pt x="434751" y="480535"/>
                    <a:pt x="433293" y="472058"/>
                  </a:cubicBezTo>
                  <a:lnTo>
                    <a:pt x="407313" y="320730"/>
                  </a:lnTo>
                  <a:lnTo>
                    <a:pt x="517422" y="213574"/>
                  </a:lnTo>
                  <a:lnTo>
                    <a:pt x="519280" y="211550"/>
                  </a:lnTo>
                  <a:cubicBezTo>
                    <a:pt x="524681" y="204897"/>
                    <a:pt x="526092" y="195855"/>
                    <a:pt x="522973" y="187873"/>
                  </a:cubicBezTo>
                  <a:cubicBezTo>
                    <a:pt x="519854" y="179892"/>
                    <a:pt x="512687" y="174202"/>
                    <a:pt x="504206" y="172973"/>
                  </a:cubicBezTo>
                  <a:lnTo>
                    <a:pt x="352283" y="150923"/>
                  </a:lnTo>
                  <a:lnTo>
                    <a:pt x="284369" y="13287"/>
                  </a:lnTo>
                  <a:cubicBezTo>
                    <a:pt x="280361" y="5152"/>
                    <a:pt x="272079" y="0"/>
                    <a:pt x="263010" y="0"/>
                  </a:cubicBezTo>
                  <a:cubicBezTo>
                    <a:pt x="253941" y="0"/>
                    <a:pt x="245659" y="5152"/>
                    <a:pt x="241650" y="13287"/>
                  </a:cubicBezTo>
                  <a:lnTo>
                    <a:pt x="173713" y="150923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742551" y="19611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桌面画展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82059" y="4513421"/>
              <a:ext cx="13908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“我用了……命令”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019300" y="5410200"/>
            <a:ext cx="8153400" cy="628650"/>
            <a:chOff x="2019300" y="5410200"/>
            <a:chExt cx="8153400" cy="628650"/>
          </a:xfrm>
        </p:grpSpPr>
        <p:sp>
          <p:nvSpPr>
            <p:cNvPr id="31" name="Rectangle 31"/>
            <p:cNvSpPr/>
            <p:nvPr/>
          </p:nvSpPr>
          <p:spPr>
            <a:xfrm>
              <a:off x="2019300" y="5410200"/>
              <a:ext cx="8153400" cy="628650"/>
            </a:xfrm>
            <a:prstGeom prst="roundRect">
              <a:avLst>
                <a:gd name="adj" fmla="val 3939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32960" y="562546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每一步完成后，再走下一步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8348" y="441008"/>
            <a:ext cx="3000375" cy="827531"/>
            <a:chOff x="498348" y="441008"/>
            <a:chExt cx="3000375" cy="827531"/>
          </a:xfrm>
        </p:grpSpPr>
        <p:sp>
          <p:nvSpPr>
            <p:cNvPr id="2" name="TextBox 2"/>
            <p:cNvSpPr txBox="1"/>
            <p:nvPr/>
          </p:nvSpPr>
          <p:spPr>
            <a:xfrm>
              <a:off x="498348" y="441008"/>
              <a:ext cx="300037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让作品开口说话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5968" y="945832"/>
              <a:ext cx="2560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展示 1 分钟 · 反馈 1 句话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524000"/>
            <a:ext cx="6572250" cy="4533900"/>
            <a:chOff x="514350" y="1524000"/>
            <a:chExt cx="6572250" cy="4533900"/>
          </a:xfrm>
        </p:grpSpPr>
        <p:sp>
          <p:nvSpPr>
            <p:cNvPr id="5" name="Rectangle 5"/>
            <p:cNvSpPr/>
            <p:nvPr/>
          </p:nvSpPr>
          <p:spPr>
            <a:xfrm>
              <a:off x="514350" y="1524000"/>
              <a:ext cx="6572250" cy="4533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838200" y="1943100"/>
              <a:ext cx="5924550" cy="704850"/>
            </a:xfrm>
            <a:prstGeom prst="roundRect">
              <a:avLst>
                <a:gd name="adj" fmla="val 32432"/>
              </a:avLst>
            </a:prstGeom>
            <a:solidFill>
              <a:srgbClr val="2E9BFF">
                <a:alpha val="12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2105025"/>
              <a:ext cx="381000" cy="3810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33144" y="2170748"/>
              <a:ext cx="1635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我的作品是……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857500"/>
              <a:ext cx="5924550" cy="704850"/>
            </a:xfrm>
            <a:prstGeom prst="roundRect">
              <a:avLst>
                <a:gd name="adj" fmla="val 32432"/>
              </a:avLst>
            </a:prstGeom>
            <a:solidFill>
              <a:srgbClr val="FF9F1C">
                <a:alpha val="12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90600" y="3019425"/>
              <a:ext cx="381000" cy="3810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33144" y="3085148"/>
              <a:ext cx="1373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我使用了……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38200" y="3771900"/>
              <a:ext cx="5924550" cy="704850"/>
            </a:xfrm>
            <a:prstGeom prst="roundRect">
              <a:avLst>
                <a:gd name="adj" fmla="val 32432"/>
              </a:avLst>
            </a:prstGeom>
            <a:solidFill>
              <a:srgbClr val="FF6FA5">
                <a:alpha val="12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933825"/>
              <a:ext cx="381000" cy="3810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33144" y="3999548"/>
              <a:ext cx="1373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我修改了……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4686300"/>
              <a:ext cx="5924550" cy="704850"/>
            </a:xfrm>
            <a:prstGeom prst="roundRect">
              <a:avLst>
                <a:gd name="adj" fmla="val 32432"/>
              </a:avLst>
            </a:prstGeom>
            <a:solidFill>
              <a:srgbClr val="65C466">
                <a:alpha val="12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90600" y="4848225"/>
              <a:ext cx="381000" cy="38100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33144" y="4913948"/>
              <a:ext cx="1635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下一次我想……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05700" y="1524000"/>
            <a:ext cx="4171950" cy="4533900"/>
            <a:chOff x="7505700" y="1524000"/>
            <a:chExt cx="4171950" cy="4533900"/>
          </a:xfrm>
        </p:grpSpPr>
        <p:sp>
          <p:nvSpPr>
            <p:cNvPr id="19" name="Rectangle 19"/>
            <p:cNvSpPr/>
            <p:nvPr/>
          </p:nvSpPr>
          <p:spPr>
            <a:xfrm>
              <a:off x="7505700" y="1524000"/>
              <a:ext cx="4171950" cy="4533900"/>
            </a:xfrm>
            <a:prstGeom prst="roundRect">
              <a:avLst>
                <a:gd name="adj" fmla="val 7763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76032" y="186880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同伴反馈看三点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48600" y="2514600"/>
              <a:ext cx="348615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039100" y="2724150"/>
              <a:ext cx="381000" cy="38100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15967" y="28289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83168" y="26412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能运行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85073" y="29675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程序顺利打开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48600" y="3524250"/>
              <a:ext cx="348615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039100" y="3733800"/>
              <a:ext cx="381000" cy="38100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15967" y="38385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83168" y="3650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结构完整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85073" y="39771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花瓣、花心、花茎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48600" y="4533900"/>
              <a:ext cx="348615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039100" y="4743450"/>
              <a:ext cx="381000" cy="38100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15967" y="48482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83168" y="46605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能解释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85073" y="49868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说清自己改了什么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6824" y="427672"/>
            <a:ext cx="4215003" cy="808673"/>
            <a:chOff x="496824" y="427672"/>
            <a:chExt cx="4215003" cy="808673"/>
          </a:xfrm>
        </p:grpSpPr>
        <p:sp>
          <p:nvSpPr>
            <p:cNvPr id="2" name="TextBox 2"/>
            <p:cNvSpPr txBox="1"/>
            <p:nvPr/>
          </p:nvSpPr>
          <p:spPr>
            <a:xfrm>
              <a:off x="496824" y="427672"/>
              <a:ext cx="421500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203044"/>
                  </a:solidFill>
                  <a:latin typeface="YouYuan"/>
                  <a:ea typeface="YouYuan"/>
                  <a:cs typeface="YouYuan"/>
                </a:rPr>
                <a:t>卡住时，先查这三处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6730" y="9429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FA5"/>
                  </a:solidFill>
                  <a:latin typeface="Arial"/>
                  <a:ea typeface="Microsoft YaHei"/>
                  <a:cs typeface="Arial"/>
                </a:rPr>
                <a:t>不要删掉全部重来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485900"/>
            <a:ext cx="3429000" cy="4000500"/>
            <a:chOff x="609600" y="1485900"/>
            <a:chExt cx="3429000" cy="4000500"/>
          </a:xfrm>
        </p:grpSpPr>
        <p:sp>
          <p:nvSpPr>
            <p:cNvPr id="5" name="Rectangle 5"/>
            <p:cNvSpPr/>
            <p:nvPr/>
          </p:nvSpPr>
          <p:spPr>
            <a:xfrm>
              <a:off x="609600" y="1485900"/>
              <a:ext cx="3429000" cy="4000500"/>
            </a:xfrm>
            <a:prstGeom prst="roundRect">
              <a:avLst>
                <a:gd name="adj" fmla="val 944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988582" y="1880989"/>
              <a:ext cx="441955" cy="383500"/>
            </a:xfrm>
            <a:custGeom>
              <a:avLst/>
              <a:gdLst/>
              <a:ahLst/>
              <a:cxnLst/>
              <a:rect l="l" t="t" r="r" b="b"/>
              <a:pathLst>
                <a:path w="441955" h="383500">
                  <a:moveTo>
                    <a:pt x="221093" y="0"/>
                  </a:moveTo>
                  <a:cubicBezTo>
                    <a:pt x="240044" y="0"/>
                    <a:pt x="257704" y="9267"/>
                    <a:pt x="268519" y="24745"/>
                  </a:cubicBezTo>
                  <a:lnTo>
                    <a:pt x="270603" y="27920"/>
                  </a:lnTo>
                  <a:lnTo>
                    <a:pt x="431615" y="296763"/>
                  </a:lnTo>
                  <a:cubicBezTo>
                    <a:pt x="441561" y="313990"/>
                    <a:pt x="441955" y="335120"/>
                    <a:pt x="432656" y="352706"/>
                  </a:cubicBezTo>
                  <a:cubicBezTo>
                    <a:pt x="423358" y="370291"/>
                    <a:pt x="405673" y="381863"/>
                    <a:pt x="385835" y="383341"/>
                  </a:cubicBezTo>
                  <a:lnTo>
                    <a:pt x="381966" y="383500"/>
                  </a:lnTo>
                  <a:lnTo>
                    <a:pt x="60001" y="383500"/>
                  </a:lnTo>
                  <a:cubicBezTo>
                    <a:pt x="40145" y="383276"/>
                    <a:pt x="21792" y="372879"/>
                    <a:pt x="11392" y="355962"/>
                  </a:cubicBezTo>
                  <a:cubicBezTo>
                    <a:pt x="992" y="339045"/>
                    <a:pt x="0" y="317975"/>
                    <a:pt x="8765" y="300156"/>
                  </a:cubicBezTo>
                  <a:lnTo>
                    <a:pt x="10729" y="296485"/>
                  </a:lnTo>
                  <a:lnTo>
                    <a:pt x="171662" y="27841"/>
                  </a:lnTo>
                  <a:cubicBezTo>
                    <a:pt x="182142" y="10560"/>
                    <a:pt x="200883" y="4"/>
                    <a:pt x="221093" y="0"/>
                  </a:cubicBezTo>
                  <a:close/>
                  <a:moveTo>
                    <a:pt x="221291" y="264517"/>
                  </a:moveTo>
                  <a:lnTo>
                    <a:pt x="218771" y="264656"/>
                  </a:lnTo>
                  <a:cubicBezTo>
                    <a:pt x="208789" y="265843"/>
                    <a:pt x="201271" y="274308"/>
                    <a:pt x="201271" y="284360"/>
                  </a:cubicBezTo>
                  <a:cubicBezTo>
                    <a:pt x="201271" y="294413"/>
                    <a:pt x="208789" y="302878"/>
                    <a:pt x="218771" y="304065"/>
                  </a:cubicBezTo>
                  <a:lnTo>
                    <a:pt x="221093" y="304204"/>
                  </a:lnTo>
                  <a:lnTo>
                    <a:pt x="223613" y="304065"/>
                  </a:lnTo>
                  <a:cubicBezTo>
                    <a:pt x="233595" y="302878"/>
                    <a:pt x="241113" y="294413"/>
                    <a:pt x="241113" y="284360"/>
                  </a:cubicBezTo>
                  <a:cubicBezTo>
                    <a:pt x="241113" y="274308"/>
                    <a:pt x="233595" y="265843"/>
                    <a:pt x="223613" y="264656"/>
                  </a:cubicBezTo>
                  <a:lnTo>
                    <a:pt x="221291" y="264517"/>
                  </a:lnTo>
                  <a:close/>
                  <a:moveTo>
                    <a:pt x="221093" y="125611"/>
                  </a:moveTo>
                  <a:cubicBezTo>
                    <a:pt x="211032" y="125612"/>
                    <a:pt x="202565" y="133142"/>
                    <a:pt x="201388" y="143133"/>
                  </a:cubicBezTo>
                  <a:lnTo>
                    <a:pt x="201249" y="145454"/>
                  </a:lnTo>
                  <a:lnTo>
                    <a:pt x="201249" y="224829"/>
                  </a:lnTo>
                  <a:lnTo>
                    <a:pt x="201388" y="227151"/>
                  </a:lnTo>
                  <a:cubicBezTo>
                    <a:pt x="202575" y="237133"/>
                    <a:pt x="211040" y="244651"/>
                    <a:pt x="221093" y="244651"/>
                  </a:cubicBezTo>
                  <a:cubicBezTo>
                    <a:pt x="231146" y="244651"/>
                    <a:pt x="239610" y="237133"/>
                    <a:pt x="240798" y="227151"/>
                  </a:cubicBezTo>
                  <a:lnTo>
                    <a:pt x="240936" y="224829"/>
                  </a:lnTo>
                  <a:lnTo>
                    <a:pt x="240936" y="145454"/>
                  </a:lnTo>
                  <a:lnTo>
                    <a:pt x="240798" y="143133"/>
                  </a:lnTo>
                  <a:cubicBezTo>
                    <a:pt x="239621" y="133142"/>
                    <a:pt x="231153" y="125612"/>
                    <a:pt x="221093" y="125611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46682" y="19450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花瓣画得很慢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62406" y="2701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先检查速度设置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71550" y="3371850"/>
              <a:ext cx="2705100" cy="800100"/>
            </a:xfrm>
            <a:prstGeom prst="roundRect">
              <a:avLst>
                <a:gd name="adj" fmla="val 2619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97130" y="3649980"/>
              <a:ext cx="16539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3930" y="4619625"/>
              <a:ext cx="13984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0 表示最快绘制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381500" y="1295400"/>
            <a:ext cx="3429000" cy="4191000"/>
            <a:chOff x="4381500" y="1295400"/>
            <a:chExt cx="34290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295400"/>
              <a:ext cx="3429000" cy="4191000"/>
            </a:xfrm>
            <a:prstGeom prst="roundRect">
              <a:avLst>
                <a:gd name="adj" fmla="val 9444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4760482" y="1690489"/>
              <a:ext cx="441955" cy="383500"/>
            </a:xfrm>
            <a:custGeom>
              <a:avLst/>
              <a:gdLst/>
              <a:ahLst/>
              <a:cxnLst/>
              <a:rect l="l" t="t" r="r" b="b"/>
              <a:pathLst>
                <a:path w="441955" h="383500">
                  <a:moveTo>
                    <a:pt x="221093" y="0"/>
                  </a:moveTo>
                  <a:cubicBezTo>
                    <a:pt x="240044" y="0"/>
                    <a:pt x="257704" y="9267"/>
                    <a:pt x="268519" y="24745"/>
                  </a:cubicBezTo>
                  <a:lnTo>
                    <a:pt x="270603" y="27920"/>
                  </a:lnTo>
                  <a:lnTo>
                    <a:pt x="431615" y="296763"/>
                  </a:lnTo>
                  <a:cubicBezTo>
                    <a:pt x="441561" y="313990"/>
                    <a:pt x="441955" y="335120"/>
                    <a:pt x="432656" y="352706"/>
                  </a:cubicBezTo>
                  <a:cubicBezTo>
                    <a:pt x="423358" y="370291"/>
                    <a:pt x="405673" y="381863"/>
                    <a:pt x="385835" y="383341"/>
                  </a:cubicBezTo>
                  <a:lnTo>
                    <a:pt x="381966" y="383500"/>
                  </a:lnTo>
                  <a:lnTo>
                    <a:pt x="60001" y="383500"/>
                  </a:lnTo>
                  <a:cubicBezTo>
                    <a:pt x="40145" y="383276"/>
                    <a:pt x="21792" y="372879"/>
                    <a:pt x="11392" y="355962"/>
                  </a:cubicBezTo>
                  <a:cubicBezTo>
                    <a:pt x="992" y="339045"/>
                    <a:pt x="0" y="317975"/>
                    <a:pt x="8765" y="300156"/>
                  </a:cubicBezTo>
                  <a:lnTo>
                    <a:pt x="10729" y="296485"/>
                  </a:lnTo>
                  <a:lnTo>
                    <a:pt x="171662" y="27841"/>
                  </a:lnTo>
                  <a:cubicBezTo>
                    <a:pt x="182142" y="10560"/>
                    <a:pt x="200883" y="4"/>
                    <a:pt x="221093" y="0"/>
                  </a:cubicBezTo>
                  <a:close/>
                  <a:moveTo>
                    <a:pt x="221291" y="264517"/>
                  </a:moveTo>
                  <a:lnTo>
                    <a:pt x="218771" y="264656"/>
                  </a:lnTo>
                  <a:cubicBezTo>
                    <a:pt x="208789" y="265843"/>
                    <a:pt x="201271" y="274308"/>
                    <a:pt x="201271" y="284360"/>
                  </a:cubicBezTo>
                  <a:cubicBezTo>
                    <a:pt x="201271" y="294413"/>
                    <a:pt x="208789" y="302878"/>
                    <a:pt x="218771" y="304065"/>
                  </a:cubicBezTo>
                  <a:lnTo>
                    <a:pt x="221093" y="304204"/>
                  </a:lnTo>
                  <a:lnTo>
                    <a:pt x="223613" y="304065"/>
                  </a:lnTo>
                  <a:cubicBezTo>
                    <a:pt x="233595" y="302878"/>
                    <a:pt x="241113" y="294413"/>
                    <a:pt x="241113" y="284360"/>
                  </a:cubicBezTo>
                  <a:cubicBezTo>
                    <a:pt x="241113" y="274308"/>
                    <a:pt x="233595" y="265843"/>
                    <a:pt x="223613" y="264656"/>
                  </a:cubicBezTo>
                  <a:lnTo>
                    <a:pt x="221291" y="264517"/>
                  </a:lnTo>
                  <a:close/>
                  <a:moveTo>
                    <a:pt x="221093" y="125611"/>
                  </a:moveTo>
                  <a:cubicBezTo>
                    <a:pt x="211032" y="125612"/>
                    <a:pt x="202565" y="133142"/>
                    <a:pt x="201388" y="143133"/>
                  </a:cubicBezTo>
                  <a:lnTo>
                    <a:pt x="201249" y="145454"/>
                  </a:lnTo>
                  <a:lnTo>
                    <a:pt x="201249" y="224829"/>
                  </a:lnTo>
                  <a:lnTo>
                    <a:pt x="201388" y="227151"/>
                  </a:lnTo>
                  <a:cubicBezTo>
                    <a:pt x="202575" y="237133"/>
                    <a:pt x="211040" y="244651"/>
                    <a:pt x="221093" y="244651"/>
                  </a:cubicBezTo>
                  <a:cubicBezTo>
                    <a:pt x="231146" y="244651"/>
                    <a:pt x="239610" y="237133"/>
                    <a:pt x="240798" y="227151"/>
                  </a:cubicBezTo>
                  <a:lnTo>
                    <a:pt x="240936" y="224829"/>
                  </a:lnTo>
                  <a:lnTo>
                    <a:pt x="240936" y="145454"/>
                  </a:lnTo>
                  <a:lnTo>
                    <a:pt x="240798" y="143133"/>
                  </a:lnTo>
                  <a:cubicBezTo>
                    <a:pt x="239621" y="133142"/>
                    <a:pt x="231153" y="125612"/>
                    <a:pt x="221093" y="125611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18582" y="17545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花茎方向错了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34306" y="251079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向下通常是 270°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743450" y="3181350"/>
              <a:ext cx="2705100" cy="800100"/>
            </a:xfrm>
            <a:prstGeom prst="roundRect">
              <a:avLst>
                <a:gd name="adj" fmla="val 2619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877359" y="3483769"/>
              <a:ext cx="243728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5830" y="4429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再运行观察方向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53400" y="1485900"/>
            <a:ext cx="3429000" cy="4000500"/>
            <a:chOff x="8153400" y="1485900"/>
            <a:chExt cx="3429000" cy="4000500"/>
          </a:xfrm>
        </p:grpSpPr>
        <p:sp>
          <p:nvSpPr>
            <p:cNvPr id="21" name="Rectangle 21"/>
            <p:cNvSpPr/>
            <p:nvPr/>
          </p:nvSpPr>
          <p:spPr>
            <a:xfrm>
              <a:off x="8153400" y="1485900"/>
              <a:ext cx="3429000" cy="4000500"/>
            </a:xfrm>
            <a:prstGeom prst="roundRect">
              <a:avLst>
                <a:gd name="adj" fmla="val 944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532382" y="1880989"/>
              <a:ext cx="441955" cy="383500"/>
            </a:xfrm>
            <a:custGeom>
              <a:avLst/>
              <a:gdLst/>
              <a:ahLst/>
              <a:cxnLst/>
              <a:rect l="l" t="t" r="r" b="b"/>
              <a:pathLst>
                <a:path w="441955" h="383500">
                  <a:moveTo>
                    <a:pt x="221093" y="0"/>
                  </a:moveTo>
                  <a:cubicBezTo>
                    <a:pt x="240044" y="0"/>
                    <a:pt x="257704" y="9267"/>
                    <a:pt x="268519" y="24745"/>
                  </a:cubicBezTo>
                  <a:lnTo>
                    <a:pt x="270603" y="27920"/>
                  </a:lnTo>
                  <a:lnTo>
                    <a:pt x="431615" y="296763"/>
                  </a:lnTo>
                  <a:cubicBezTo>
                    <a:pt x="441561" y="313990"/>
                    <a:pt x="441955" y="335120"/>
                    <a:pt x="432656" y="352706"/>
                  </a:cubicBezTo>
                  <a:cubicBezTo>
                    <a:pt x="423358" y="370291"/>
                    <a:pt x="405673" y="381863"/>
                    <a:pt x="385835" y="383341"/>
                  </a:cubicBezTo>
                  <a:lnTo>
                    <a:pt x="381966" y="383500"/>
                  </a:lnTo>
                  <a:lnTo>
                    <a:pt x="60001" y="383500"/>
                  </a:lnTo>
                  <a:cubicBezTo>
                    <a:pt x="40145" y="383276"/>
                    <a:pt x="21792" y="372879"/>
                    <a:pt x="11392" y="355962"/>
                  </a:cubicBezTo>
                  <a:cubicBezTo>
                    <a:pt x="992" y="339045"/>
                    <a:pt x="0" y="317975"/>
                    <a:pt x="8765" y="300156"/>
                  </a:cubicBezTo>
                  <a:lnTo>
                    <a:pt x="10729" y="296485"/>
                  </a:lnTo>
                  <a:lnTo>
                    <a:pt x="171662" y="27841"/>
                  </a:lnTo>
                  <a:cubicBezTo>
                    <a:pt x="182142" y="10560"/>
                    <a:pt x="200883" y="4"/>
                    <a:pt x="221093" y="0"/>
                  </a:cubicBezTo>
                  <a:close/>
                  <a:moveTo>
                    <a:pt x="221291" y="264517"/>
                  </a:moveTo>
                  <a:lnTo>
                    <a:pt x="218771" y="264656"/>
                  </a:lnTo>
                  <a:cubicBezTo>
                    <a:pt x="208789" y="265843"/>
                    <a:pt x="201271" y="274308"/>
                    <a:pt x="201271" y="284360"/>
                  </a:cubicBezTo>
                  <a:cubicBezTo>
                    <a:pt x="201271" y="294413"/>
                    <a:pt x="208789" y="302878"/>
                    <a:pt x="218771" y="304065"/>
                  </a:cubicBezTo>
                  <a:lnTo>
                    <a:pt x="221093" y="304204"/>
                  </a:lnTo>
                  <a:lnTo>
                    <a:pt x="223613" y="304065"/>
                  </a:lnTo>
                  <a:cubicBezTo>
                    <a:pt x="233595" y="302878"/>
                    <a:pt x="241113" y="294413"/>
                    <a:pt x="241113" y="284360"/>
                  </a:cubicBezTo>
                  <a:cubicBezTo>
                    <a:pt x="241113" y="274308"/>
                    <a:pt x="233595" y="265843"/>
                    <a:pt x="223613" y="264656"/>
                  </a:cubicBezTo>
                  <a:lnTo>
                    <a:pt x="221291" y="264517"/>
                  </a:lnTo>
                  <a:close/>
                  <a:moveTo>
                    <a:pt x="221093" y="125611"/>
                  </a:moveTo>
                  <a:cubicBezTo>
                    <a:pt x="211032" y="125612"/>
                    <a:pt x="202565" y="133142"/>
                    <a:pt x="201388" y="143133"/>
                  </a:cubicBezTo>
                  <a:lnTo>
                    <a:pt x="201249" y="145454"/>
                  </a:lnTo>
                  <a:lnTo>
                    <a:pt x="201249" y="224829"/>
                  </a:lnTo>
                  <a:lnTo>
                    <a:pt x="201388" y="227151"/>
                  </a:lnTo>
                  <a:cubicBezTo>
                    <a:pt x="202575" y="237133"/>
                    <a:pt x="211040" y="244651"/>
                    <a:pt x="221093" y="244651"/>
                  </a:cubicBezTo>
                  <a:cubicBezTo>
                    <a:pt x="231146" y="244651"/>
                    <a:pt x="239610" y="237133"/>
                    <a:pt x="240798" y="227151"/>
                  </a:cubicBezTo>
                  <a:lnTo>
                    <a:pt x="240936" y="224829"/>
                  </a:lnTo>
                  <a:lnTo>
                    <a:pt x="240936" y="145454"/>
                  </a:lnTo>
                  <a:lnTo>
                    <a:pt x="240798" y="143133"/>
                  </a:lnTo>
                  <a:cubicBezTo>
                    <a:pt x="239621" y="133142"/>
                    <a:pt x="231153" y="125612"/>
                    <a:pt x="221093" y="125611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90482" y="194500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代码太长看不懂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06206" y="2701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回到教师半成品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515350" y="3371850"/>
              <a:ext cx="2705100" cy="1123950"/>
            </a:xfrm>
            <a:prstGeom prst="roundRect">
              <a:avLst>
                <a:gd name="adj" fmla="val 1864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15272" y="36128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逐段运行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37708" y="3993832"/>
              <a:ext cx="1860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花瓣 → 花心 → 花茎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07730" y="48101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58A"/>
                  </a:solidFill>
                  <a:latin typeface="Arial"/>
                  <a:ea typeface="Microsoft YaHei"/>
                  <a:cs typeface="Arial"/>
                </a:rPr>
                <a:t>不要求从空白重写全部代码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269486" y="5958840"/>
            <a:ext cx="3653028" cy="352044"/>
            <a:chOff x="4269486" y="5958840"/>
            <a:chExt cx="3653028" cy="352044"/>
          </a:xfrm>
        </p:grpSpPr>
        <p:sp>
          <p:nvSpPr>
            <p:cNvPr id="30" name="TextBox 30"/>
            <p:cNvSpPr txBox="1"/>
            <p:nvPr/>
          </p:nvSpPr>
          <p:spPr>
            <a:xfrm>
              <a:off x="4269486" y="595884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先检查最可能的原因，再只改一处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8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8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2" presetClass="entr" presetSubtype="8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965067" y="802958"/>
            <a:ext cx="4261866" cy="1381315"/>
            <a:chOff x="3965067" y="802958"/>
            <a:chExt cx="4261866" cy="1381315"/>
          </a:xfrm>
        </p:grpSpPr>
        <p:sp>
          <p:nvSpPr>
            <p:cNvPr id="2" name="TextBox 2"/>
            <p:cNvSpPr txBox="1"/>
            <p:nvPr/>
          </p:nvSpPr>
          <p:spPr>
            <a:xfrm>
              <a:off x="5249037" y="802958"/>
              <a:ext cx="1693926" cy="1190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150" b="1" dirty="0">
                  <a:solidFill>
                    <a:srgbClr val="2E9BFF"/>
                  </a:solidFill>
                  <a:latin typeface="Segoe UI"/>
                  <a:ea typeface="Microsoft YaHei"/>
                  <a:cs typeface="Segoe UI"/>
                </a:rPr>
                <a:t>综合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965067" y="1773555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把命令变成作品，把修改变成方法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6750" y="2724150"/>
            <a:ext cx="10858500" cy="1981200"/>
            <a:chOff x="666750" y="2724150"/>
            <a:chExt cx="10858500" cy="1981200"/>
          </a:xfrm>
        </p:grpSpPr>
        <p:sp>
          <p:nvSpPr>
            <p:cNvPr id="5" name="Rectangle 5"/>
            <p:cNvSpPr/>
            <p:nvPr/>
          </p:nvSpPr>
          <p:spPr>
            <a:xfrm>
              <a:off x="666750" y="2724150"/>
              <a:ext cx="3429000" cy="1981200"/>
            </a:xfrm>
            <a:prstGeom prst="roundRect">
              <a:avLst>
                <a:gd name="adj" fmla="val 16346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14400" y="2990850"/>
              <a:ext cx="533400" cy="5334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53718" y="31556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9BFF"/>
                  </a:solidFill>
                  <a:latin typeface="Segoe UI"/>
                  <a:ea typeface="Microsoft YaHei"/>
                  <a:cs typeface="Segoe UI"/>
                </a:rPr>
                <a:t>学会了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83817" y="380904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组合已学命令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381500" y="2724150"/>
              <a:ext cx="3429000" cy="1981200"/>
            </a:xfrm>
            <a:prstGeom prst="roundRect">
              <a:avLst>
                <a:gd name="adj" fmla="val 16346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4629150" y="299085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68468" y="31556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6FA5"/>
                  </a:solidFill>
                  <a:latin typeface="Segoe UI"/>
                  <a:ea typeface="Microsoft YaHei"/>
                  <a:cs typeface="Segoe UI"/>
                </a:rPr>
                <a:t>完成了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67312" y="3809048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可署名的小红花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96250" y="2724150"/>
              <a:ext cx="3429000" cy="1981200"/>
            </a:xfrm>
            <a:prstGeom prst="roundRect">
              <a:avLst>
                <a:gd name="adj" fmla="val 16346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8343900" y="2990850"/>
              <a:ext cx="533400" cy="533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83218" y="31556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F1C"/>
                  </a:solidFill>
                  <a:latin typeface="Segoe UI"/>
                  <a:ea typeface="Microsoft YaHei"/>
                  <a:cs typeface="Segoe UI"/>
                </a:rPr>
                <a:t>带走了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13317" y="380904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一次只改一处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90700" y="5162550"/>
            <a:ext cx="8610600" cy="895350"/>
            <a:chOff x="1790700" y="5162550"/>
            <a:chExt cx="8610600" cy="895350"/>
          </a:xfrm>
        </p:grpSpPr>
        <p:sp>
          <p:nvSpPr>
            <p:cNvPr id="18" name="Rectangle 18"/>
            <p:cNvSpPr/>
            <p:nvPr/>
          </p:nvSpPr>
          <p:spPr>
            <a:xfrm>
              <a:off x="1790700" y="5162550"/>
              <a:ext cx="8610600" cy="895350"/>
            </a:xfrm>
            <a:prstGeom prst="roundRect">
              <a:avLst>
                <a:gd name="adj" fmla="val 31915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78730" y="535305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F1C"/>
                  </a:solidFill>
                  <a:latin typeface="Segoe UI"/>
                  <a:ea typeface="Microsoft YaHei"/>
                  <a:cs typeface="Segoe UI"/>
                </a:rPr>
                <a:t>下次遇到错误，先检查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81587" y="5656898"/>
              <a:ext cx="22288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33415C"/>
                  </a:solidFill>
                  <a:latin typeface="Segoe UI"/>
                  <a:ea typeface="Microsoft YaHei"/>
                  <a:cs typeface="Segoe UI"/>
                </a:rPr>
                <a:t>拼写 → 符号 → 缩进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ython应用课_第06课_阶段测评与复盘_阳光积木实验室_20260905">
  <a:themeElements>
    <a:clrScheme name="Python应用课_第06课_阶段测评与复盘_阳光积木实验室_2026090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ython应用课_第06课_阶段测评与复盘_阳光积木实验室_2026090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6课_阶段测评与复盘_阳光积木实验室_202609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ython应用课_第06课_阶段测评与复盘_阳光积木实验室_20260905">
  <a:themeElements>
    <a:clrScheme name="Python应用课_第06课_阶段测评与复盘_阳光积木实验室_2026090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ython应用课_第06课_阶段测评与复盘_阳光积木实验室_2026090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6课_阶段测评与复盘_阳光积木实验室_202609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2026-09-04T20:31:03Z</dcterms:created>
  <dcterms:modified xsi:type="dcterms:W3CDTF">2026-09-04T20:31:03Z</dcterms:modified>
  <cp:category/>
  <cp:contentStatus/>
</cp:coreProperties>
</file>