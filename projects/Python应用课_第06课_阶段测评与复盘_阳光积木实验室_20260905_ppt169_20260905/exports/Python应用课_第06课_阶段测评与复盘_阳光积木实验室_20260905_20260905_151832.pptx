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神奇海龟小画家 · 第 06 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阶段测评与复盘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把学过的命令拼成一朵会旋转的小红花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复习旧命令、学习新工具、运行验证，把代码拼成作品。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学新命令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做小红花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9260" y="547687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一起把命令拼成作品！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一百二十分钟，四关挑战，每一关都要动手验证。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十题热身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十二分钟 · 唤醒旧命令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先口答，再揭晓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新命令实验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四十三分钟 · 显隐海龟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设置标题 · 花瓣实验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十分钟 · 八道题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先想，再点击揭晓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作品工坊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四十五分钟 · 运行修改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完成展示与复盘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今天做到：可署名小红花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选择挑战后先保存文件，再休息十分钟；每次修改只动一处，马上运行验证。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今天要带走什么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看得见的五项通关能力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三项目标 · 两项表现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移动 · 转向 · 循环 · 坐标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+mn-lt"/>
                  <a:ea typeface="+mn-ea"/>
                  <a:cs typeface="+mn-cs"/>
                </a:rPr>
                <a:t>颜色、填充和圆也能组合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认识新命令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A6B80"/>
                  </a:solidFill>
                  <a:latin typeface="Consolas"/>
                  <a:ea typeface="Consolas"/>
                  <a:cs typeface="Consolas"/>
                </a:rPr>
                <a:t>showturtle() · hideturtle()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screen.title()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完成小红花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花瓣 · 花心 · 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+mn-lt"/>
                  <a:ea typeface="+mn-ea"/>
                  <a:cs typeface="+mn-cs"/>
                </a:rPr>
                <a:t>能运行，也能说明修改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会小步测试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一次只改一处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+mn-lt"/>
                  <a:ea typeface="+mn-ea"/>
                  <a:cs typeface="+mn-cs"/>
                </a:rPr>
                <a:t>改完马上运行验证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会保存与展示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作品有名字，作者有说明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通关标准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能运行：没有报错；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有结构：花瓣、花心、花茎；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会解释：说清自己改了哪里。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五盒旧积木，马上开始抢答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第一站 · 十二分钟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移动与转向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让海龟走起来、转起来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把同一组动作重复执行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坐标与回家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去指定位置或回到原点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颜色与填充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给线条和封闭图形上色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color() · begin_fill()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设置舞台，再画出圆形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bgcolor() · circle()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热身玩法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先口答，再点击揭晓；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答错不扣分，马上完整修正；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十颗星，十次唤醒记忆。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先想，再亮答案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3041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快不是唯一目标，能说出“为什么”才算过关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课前复习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8555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听清题目，先自己想 3 秒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338508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用口答 / 手势 / 小白板亮答案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点击揭晓：答案和解释一起出现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答错不扣分，马上用完整句子修正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1–2 · 起步命令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1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导入海龟模块怎么写？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028950" y="4629150"/>
            <a:ext cx="2705100" cy="898684"/>
            <a:chOff x="3028950" y="4629150"/>
            <a:chExt cx="2705100" cy="898684"/>
          </a:xfrm>
        </p:grpSpPr>
        <p:sp>
          <p:nvSpPr>
            <p:cNvPr id="22" name="Rectangle 22"/>
            <p:cNvSpPr/>
            <p:nvPr/>
          </p:nvSpPr>
          <p:spPr>
            <a:xfrm>
              <a:off x="302895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0880" y="47910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import turtle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2785" y="5098256"/>
              <a:ext cx="19530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先导入 turtle 模块，后面才能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使用海龟命令。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2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向前走用什么命令？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763000" y="4629150"/>
            <a:ext cx="2705100" cy="898684"/>
            <a:chOff x="8763000" y="4629150"/>
            <a:chExt cx="2705100" cy="898684"/>
          </a:xfrm>
        </p:grpSpPr>
        <p:sp>
          <p:nvSpPr>
            <p:cNvPr id="37" name="Rectangle 37"/>
            <p:cNvSpPr/>
            <p:nvPr/>
          </p:nvSpPr>
          <p:spPr>
            <a:xfrm>
              <a:off x="876300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64930" y="479107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forward()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6835" y="5098256"/>
              <a:ext cx="19245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forward() 让当前海龟沿朝向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前进。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3–4 · 重复动作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3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重复动作使用什么结构？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028950" y="4629150"/>
            <a:ext cx="2705100" cy="800100"/>
            <a:chOff x="3028950" y="4629150"/>
            <a:chExt cx="2705100" cy="800100"/>
          </a:xfrm>
        </p:grpSpPr>
        <p:sp>
          <p:nvSpPr>
            <p:cNvPr id="22" name="Rectangle 22"/>
            <p:cNvSpPr/>
            <p:nvPr/>
          </p:nvSpPr>
          <p:spPr>
            <a:xfrm>
              <a:off x="302895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0880" y="4791075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 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2785" y="509825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把同一组动作重复执行。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4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循环次数写在哪里？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763000" y="4629150"/>
            <a:ext cx="2705100" cy="800100"/>
            <a:chOff x="8763000" y="4629150"/>
            <a:chExt cx="2705100" cy="800100"/>
          </a:xfrm>
        </p:grpSpPr>
        <p:sp>
          <p:nvSpPr>
            <p:cNvPr id="37" name="Rectangle 37"/>
            <p:cNvSpPr/>
            <p:nvPr/>
          </p:nvSpPr>
          <p:spPr>
            <a:xfrm>
              <a:off x="876300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64930" y="4791075"/>
              <a:ext cx="109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range() 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6835" y="50982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range() 决定循环执行多少次。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5–6 · 位置导航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5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移动到指定坐标用什么？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028950" y="4629150"/>
            <a:ext cx="2705100" cy="898684"/>
            <a:chOff x="3028950" y="4629150"/>
            <a:chExt cx="2705100" cy="898684"/>
          </a:xfrm>
        </p:grpSpPr>
        <p:sp>
          <p:nvSpPr>
            <p:cNvPr id="22" name="Rectangle 22"/>
            <p:cNvSpPr/>
            <p:nvPr/>
          </p:nvSpPr>
          <p:spPr>
            <a:xfrm>
              <a:off x="302895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0880" y="4791075"/>
              <a:ext cx="1976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goto() 或 setpos()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2785" y="5098256"/>
              <a:ext cx="15760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goto()/setpos() 都能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把海龟移动到指定坐标。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6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回到中心用什么？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763000" y="4629150"/>
            <a:ext cx="2705100" cy="800100"/>
            <a:chOff x="8763000" y="4629150"/>
            <a:chExt cx="2705100" cy="800100"/>
          </a:xfrm>
        </p:grpSpPr>
        <p:sp>
          <p:nvSpPr>
            <p:cNvPr id="37" name="Rectangle 37"/>
            <p:cNvSpPr/>
            <p:nvPr/>
          </p:nvSpPr>
          <p:spPr>
            <a:xfrm>
              <a:off x="876300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64930" y="4791075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home()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6835" y="50982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让海龟回到中心位置。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1720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7–8 · 颜色与填充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7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设置线条颜色用什么？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028950" y="4629150"/>
            <a:ext cx="2705100" cy="898684"/>
            <a:chOff x="3028950" y="4629150"/>
            <a:chExt cx="2705100" cy="898684"/>
          </a:xfrm>
        </p:grpSpPr>
        <p:sp>
          <p:nvSpPr>
            <p:cNvPr id="22" name="Rectangle 22"/>
            <p:cNvSpPr/>
            <p:nvPr/>
          </p:nvSpPr>
          <p:spPr>
            <a:xfrm>
              <a:off x="302895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0880" y="4791075"/>
              <a:ext cx="222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pencolor() 或 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2785" y="5098256"/>
              <a:ext cx="163296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专管线条；colo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也能设置颜色。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8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开始和结束填充是哪两个命令？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763000" y="4629150"/>
            <a:ext cx="2929204" cy="800100"/>
            <a:chOff x="8763000" y="4629150"/>
            <a:chExt cx="2929204" cy="800100"/>
          </a:xfrm>
        </p:grpSpPr>
        <p:sp>
          <p:nvSpPr>
            <p:cNvPr id="37" name="Rectangle 37"/>
            <p:cNvSpPr/>
            <p:nvPr/>
          </p:nvSpPr>
          <p:spPr>
            <a:xfrm>
              <a:off x="876300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64930" y="4791075"/>
              <a:ext cx="2453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begin_fill() / end_fill()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6835" y="50982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开始与结束必须成对包住要填充的图形。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14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9–10 · 背景与圆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9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设置背景色用什么？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028950" y="4629150"/>
            <a:ext cx="2705100" cy="800100"/>
            <a:chOff x="3028950" y="4629150"/>
            <a:chExt cx="2705100" cy="800100"/>
          </a:xfrm>
        </p:grpSpPr>
        <p:sp>
          <p:nvSpPr>
            <p:cNvPr id="22" name="Rectangle 22"/>
            <p:cNvSpPr/>
            <p:nvPr/>
          </p:nvSpPr>
          <p:spPr>
            <a:xfrm>
              <a:off x="302895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0880" y="4791075"/>
              <a:ext cx="207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Screen().bgcolor()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2785" y="509825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背景属于图形窗口 Screen。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27157" y="1661160"/>
            <a:ext cx="623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10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画圆常用什么命令？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763000" y="4629150"/>
            <a:ext cx="2705100" cy="898684"/>
            <a:chOff x="8763000" y="4629150"/>
            <a:chExt cx="2705100" cy="898684"/>
          </a:xfrm>
        </p:grpSpPr>
        <p:sp>
          <p:nvSpPr>
            <p:cNvPr id="37" name="Rectangle 37"/>
            <p:cNvSpPr/>
            <p:nvPr/>
          </p:nvSpPr>
          <p:spPr>
            <a:xfrm>
              <a:off x="8763000" y="4629150"/>
              <a:ext cx="2705100" cy="800100"/>
            </a:xfrm>
            <a:prstGeom prst="roundRect">
              <a:avLst>
                <a:gd name="adj" fmla="val 2381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64930" y="4791075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circle()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6835" y="5098256"/>
              <a:ext cx="122758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是 Turtle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常用的画圆命令。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51823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驱动问题：怎样综合使用海龟命令，为同学画一朵会旋转的彩色花？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53730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最终成果：可展示、可署名的“小红花”单元作品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7891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+ 颜色 + 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54959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花心与花茎：dot + 方向 + 粗线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48276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最后：隐藏海龟、保存并向同伴说出修改点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做完，还要能讲出来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先看清成功标准，再开始写代码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7700" y="19050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79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能运行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基础版能够完整运行，没有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因为拼写或缩进中断。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1005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21005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400550" y="19050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5076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347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够完整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56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作品包含花瓣、花心、花茎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三个部分。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9629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9629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153400" y="19050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036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63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说得清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14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能指出自己修改的一处内容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，并解释变化。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5010150"/>
            <a:ext cx="10972800" cy="800100"/>
          </a:xfrm>
          <a:prstGeom prst="roundRect">
            <a:avLst>
              <a:gd name="adj" fmla="val 28571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811306" y="5292090"/>
            <a:ext cx="62645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通关口令：先跑通基础版 → 再只改 1–2 项 → 最后展示说明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② 新命令小实验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9761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每讲一个命令，马上运行一次；不要连续听讲不验证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10096500" y="3028950"/>
            <a:ext cx="733425" cy="609600"/>
            <a:chOff x="10096500" y="3028950"/>
            <a:chExt cx="733425" cy="609600"/>
          </a:xfrm>
        </p:grpSpPr>
        <p:sp>
          <p:nvSpPr>
            <p:cNvPr id="13" name="Ellipse 13"/>
            <p:cNvSpPr/>
            <p:nvPr/>
          </p:nvSpPr>
          <p:spPr>
            <a:xfrm>
              <a:off x="10096500" y="3048000"/>
              <a:ext cx="571500" cy="5715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582275" y="3209925"/>
              <a:ext cx="247650" cy="2476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134600" y="3028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477500" y="3028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134600" y="3486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77500" y="3486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725150" y="3276600"/>
              <a:ext cx="38100" cy="38100"/>
            </a:xfrm>
            <a:prstGeom prst="ellipse">
              <a:avLst/>
            </a:prstGeom>
            <a:solidFill>
              <a:srgbClr val="17243A"/>
            </a:solidFill>
            <a:ln>
              <a:noFill/>
            </a:ln>
          </p:spPr>
        </p:sp>
      </p:grpSp>
      <p:sp>
        <p:nvSpPr>
          <p:cNvPr id="21" name="Ellipse 21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2075" y="1759744"/>
            <a:ext cx="3531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showturtle()：让小海龟上场</a:t>
            </a:r>
          </a:p>
        </p:txBody>
      </p:sp>
      <p:sp>
        <p:nvSpPr>
          <p:cNvPr id="24" name="Ellipse 24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2075" y="2597944"/>
            <a:ext cx="459989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hideturtle()：作品完成后让小海龟退场</a:t>
            </a:r>
          </a:p>
        </p:txBody>
      </p:sp>
      <p:sp>
        <p:nvSpPr>
          <p:cNvPr id="27" name="Ellipse 27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2075" y="34361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screen.title()：给图形窗口起名字</a:t>
            </a:r>
          </a:p>
        </p:txBody>
      </p:sp>
      <p:sp>
        <p:nvSpPr>
          <p:cNvPr id="30" name="Ellipse 30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小步测试：只改一处，再运行一次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把命令放回四盒彩卡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想不起来命令时，先问：我现在要做哪一类动作？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23900" y="184785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16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283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" y="246697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forward() · left()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7695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8478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291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258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5630" y="24669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for · range()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23900" y="39433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9316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83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位置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880" y="4562475"/>
            <a:ext cx="3347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goto() · home() · setheading()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7695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94335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1291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258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装饰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5630" y="4562475"/>
            <a:ext cx="290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color() · fill · bgcolor()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490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小海龟：上场 / 退场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显示方便观察，完成后隐藏让作品更整洁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2857500" y="2695575"/>
            <a:ext cx="733425" cy="609600"/>
            <a:chOff x="2857500" y="2695575"/>
            <a:chExt cx="733425" cy="609600"/>
          </a:xfrm>
        </p:grpSpPr>
        <p:sp>
          <p:nvSpPr>
            <p:cNvPr id="12" name="Ellipse 12"/>
            <p:cNvSpPr/>
            <p:nvPr/>
          </p:nvSpPr>
          <p:spPr>
            <a:xfrm>
              <a:off x="2857500" y="2714625"/>
              <a:ext cx="571500" cy="5715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343275" y="2876550"/>
              <a:ext cx="247650" cy="2476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895600" y="2695575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238500" y="2695575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895600" y="3152775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238500" y="3152775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486150" y="2943225"/>
              <a:ext cx="38100" cy="38100"/>
            </a:xfrm>
            <a:prstGeom prst="ellipse">
              <a:avLst/>
            </a:prstGeom>
            <a:solidFill>
              <a:srgbClr val="17243A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04417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t.showturtle()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79560" y="42605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显示小海龟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008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782050" y="2695575"/>
            <a:ext cx="733425" cy="609600"/>
            <a:chOff x="8782050" y="2695575"/>
            <a:chExt cx="733425" cy="609600"/>
          </a:xfrm>
        </p:grpSpPr>
        <p:sp>
          <p:nvSpPr>
            <p:cNvPr id="23" name="Ellipse 23"/>
            <p:cNvSpPr/>
            <p:nvPr/>
          </p:nvSpPr>
          <p:spPr>
            <a:xfrm>
              <a:off x="8782050" y="2714625"/>
              <a:ext cx="571500" cy="571500"/>
            </a:xfrm>
            <a:prstGeom prst="ellipse">
              <a:avLst/>
            </a:prstGeom>
            <a:solidFill>
              <a:srgbClr val="D9E3EA">
                <a:alpha val="22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267825" y="2876550"/>
              <a:ext cx="247650" cy="247650"/>
            </a:xfrm>
            <a:prstGeom prst="ellipse">
              <a:avLst/>
            </a:prstGeom>
            <a:solidFill>
              <a:srgbClr val="D9E3EA">
                <a:alpha val="22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820150" y="2695575"/>
              <a:ext cx="152400" cy="152400"/>
            </a:xfrm>
            <a:prstGeom prst="ellipse">
              <a:avLst/>
            </a:prstGeom>
            <a:solidFill>
              <a:srgbClr val="D9E3EA">
                <a:alpha val="22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163050" y="2695575"/>
              <a:ext cx="152400" cy="152400"/>
            </a:xfrm>
            <a:prstGeom prst="ellipse">
              <a:avLst/>
            </a:prstGeom>
            <a:solidFill>
              <a:srgbClr val="D9E3EA">
                <a:alpha val="22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820150" y="3152775"/>
              <a:ext cx="152400" cy="152400"/>
            </a:xfrm>
            <a:prstGeom prst="ellipse">
              <a:avLst/>
            </a:prstGeom>
            <a:solidFill>
              <a:srgbClr val="D9E3EA">
                <a:alpha val="22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163050" y="3152775"/>
              <a:ext cx="152400" cy="152400"/>
            </a:xfrm>
            <a:prstGeom prst="ellipse">
              <a:avLst/>
            </a:prstGeom>
            <a:solidFill>
              <a:srgbClr val="D9E3EA">
                <a:alpha val="22000"/>
              </a:srgbClr>
            </a:solidFill>
            <a:ln>
              <a:noFill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796872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43775" y="42767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隐藏图标，但不会删除已经画好的图形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海龟显隐实验站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88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让海龟上场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6" name="Rectangle 16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53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9" name="Rectangle 19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1" name="Rectangle 21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54882" y="18869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lesson06_turtle_visibility.py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6" name="Rectangle 26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2" name="Rectangle 3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8" name="Rectangle 3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1" name="Rectangle 4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4" name="Rectangle 4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7" name="Rectangle 47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02888" y="5450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运行中：切换海龟状态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0" name="Rectangle 50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实验完成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8220" y="2495550"/>
            <a:ext cx="859155" cy="1255395"/>
            <a:chOff x="8618220" y="2495550"/>
            <a:chExt cx="859155" cy="1255395"/>
          </a:xfrm>
        </p:grpSpPr>
        <p:grpSp>
          <p:nvGrpSpPr>
            <p:cNvPr id="65" name="Group 65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372600" y="2743200"/>
                <a:ext cx="38100" cy="38100"/>
              </a:xfrm>
              <a:prstGeom prst="ellipse">
                <a:avLst/>
              </a:prstGeom>
              <a:solidFill>
                <a:srgbClr val="17243A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18220" y="3457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海龟可见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7255" y="2495550"/>
            <a:ext cx="1024890" cy="1255395"/>
            <a:chOff x="8517255" y="2495550"/>
            <a:chExt cx="1024890" cy="1255395"/>
          </a:xfrm>
        </p:grpSpPr>
        <p:grpSp>
          <p:nvGrpSpPr>
            <p:cNvPr id="74" name="Group 74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68" name="Ellipse 6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517255" y="3457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海龟已隐藏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79" name="TextBox 7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81" name="TextBox 8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运行中：切换海龟状态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3" name="TextBox 8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显示完成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5" name="TextBox 8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隐藏完成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88" name="Rectangle 8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0" name="Rectangle 9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301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screen.title() 给画展挂牌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标题写在图形窗口顶部，不会画进画布内部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00200"/>
            <a:ext cx="5619750" cy="3429000"/>
          </a:xfrm>
          <a:prstGeom prst="roundRect">
            <a:avLst>
              <a:gd name="adj" fmla="val 7778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66750" y="18097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57250" y="18097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18097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61993" y="18107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21212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turtle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2406968"/>
            <a:ext cx="2420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2692718"/>
            <a:ext cx="2521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C7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942" y="29784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6002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819900" y="2095500"/>
            <a:ext cx="4572000" cy="2343150"/>
          </a:xfrm>
          <a:prstGeom prst="roundRect">
            <a:avLst>
              <a:gd name="adj" fmla="val 8130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819900" y="2095500"/>
            <a:ext cx="4572000" cy="400050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44700" y="22164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小红花画展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6115" y="3017044"/>
            <a:ext cx="193957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Turtle 图形窗口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4629150"/>
            <a:ext cx="37719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88224" y="47663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只改双引号里的文字，就能换标题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窗口标题实验站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6347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716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7" name="Rectangle 37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2853214"/>
              <a:ext cx="256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2" name="Rectangle 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5" name="Rectangle 5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8" name="Rectangle 5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1" name="Rectangle 6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66590" y="5450681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正在设置窗口标题……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4" name="Rectangle 6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标题设置完成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8" name="Rectangle 78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9447" y="2089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84" name="Rectangle 84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92" name="TextBox 9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61023" y="5082064"/>
            <a:ext cx="1581008" cy="249364"/>
            <a:chOff x="6661023" y="5082064"/>
            <a:chExt cx="1581008" cy="249364"/>
          </a:xfrm>
        </p:grpSpPr>
        <p:sp>
          <p:nvSpPr>
            <p:cNvPr id="94" name="TextBox 94"/>
            <p:cNvSpPr txBox="1"/>
            <p:nvPr/>
          </p:nvSpPr>
          <p:spPr>
            <a:xfrm>
              <a:off x="6661023" y="50820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正在设置窗口标题……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96" name="TextBox 96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窗口标题：小红花画展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61594" y="5094208"/>
            <a:ext cx="1729562" cy="227362"/>
            <a:chOff x="6661594" y="5094208"/>
            <a:chExt cx="1729562" cy="227362"/>
          </a:xfrm>
        </p:grpSpPr>
        <p:sp>
          <p:nvSpPr>
            <p:cNvPr id="98" name="TextBox 98"/>
            <p:cNvSpPr txBox="1"/>
            <p:nvPr/>
          </p:nvSpPr>
          <p:spPr>
            <a:xfrm>
              <a:off x="6661594" y="5094208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窗口标题：我的海龟作品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100" name="TextBox 100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窗口标题：送你一朵花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3" name="Rectangle 10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5" name="Rectangle 10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7" name="Rectangle 10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8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2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0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5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4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0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一次只改一处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安全修改四步法：小步修改，更容易发现哪一步出了问题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测试与修改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运行基础版：先确认原程序能跑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只改一处：颜色、数字或标题选一项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再次运行：马上观察变化是否符合预期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确认后保存：再进入下一次修改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40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A · 用循环画花瓣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3" name="Rectangle 3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6" name="Rectangle 3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9" name="Rectangle 3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1767" y="54506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绘制中：6 次循环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2" name="Rectangle 4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2541" y="545068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6 片花瓣完成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57" name="Group 5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1408694" cy="249364"/>
            <a:chOff x="6661023" y="5082064"/>
            <a:chExt cx="1408694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绘制中：6 次循环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2" name="Rectangle 7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花瓣颜色实验站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8663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橙色版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3318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紫色版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55" name="Rectangle 55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"purple")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3" name="Rectangle 7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0994" y="5450681"/>
              <a:ext cx="184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绘制中：次数 6 / 角度 60°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82" name="Rectangle 8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花瓣完成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97" name="Group 9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0" name="Ellipse 9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07" name="Group 107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06" name="Group 106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9" name="Ellipse 99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244415" cy="249364"/>
            <a:chOff x="6661023" y="5082064"/>
            <a:chExt cx="2244415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绘制中：次数 6 / 角度 60°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6片橙色圆形花瓣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6片紫色圆形花瓣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2" name="Rectangle 1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4" name="Rectangle 14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7" name="Group 14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6" name="Rectangle 1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4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5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5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7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7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9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3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5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5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6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6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9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9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1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2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4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9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③ 八题选择挑战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2278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A/B/C/D，再点击揭晓；错题马上回到代码验证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2291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1–2：显示还是隐藏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3–4：窗口标题与花瓣转角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5–6：作品整洁与向下方向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4736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7–8：安全修改方法与本课目标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797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1–2 · 显示还是隐藏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隐藏画完后的海龟可用？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06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900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forward()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6332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input()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2381250" y="5067300"/>
            <a:ext cx="3352800" cy="628650"/>
            <a:chOff x="2381250" y="5067300"/>
            <a:chExt cx="3352800" cy="628650"/>
          </a:xfrm>
        </p:grpSpPr>
        <p:sp>
          <p:nvSpPr>
            <p:cNvPr id="35" name="Rectangle 35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46985" y="5212556"/>
              <a:ext cx="2385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A · hideturtle 隐藏海龟图标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第2题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49187" y="19473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重新显示海龟可用？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65823" y="3015139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title()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4120039"/>
            <a:ext cx="831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end_fill()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goto()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0" name="Rectangle 60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8115300" y="5067300"/>
            <a:ext cx="3352800" cy="628650"/>
            <a:chOff x="8115300" y="5067300"/>
            <a:chExt cx="3352800" cy="628650"/>
          </a:xfrm>
        </p:grpSpPr>
        <p:sp>
          <p:nvSpPr>
            <p:cNvPr id="62" name="Rectangle 62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81035" y="5212556"/>
              <a:ext cx="2153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B · showturtle 显示海龟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3–4 · 标题与转角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第3题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给窗口设置名称可用？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2536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08991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t.forward()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range()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type()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2381250" y="5067300"/>
            <a:ext cx="3352800" cy="628650"/>
            <a:chOff x="2381250" y="5067300"/>
            <a:chExt cx="3352800" cy="628650"/>
          </a:xfrm>
        </p:grpSpPr>
        <p:sp>
          <p:nvSpPr>
            <p:cNvPr id="35" name="Rectangle 35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46985" y="5212556"/>
              <a:ext cx="2731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A · Screen 的 title 方法设置标题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第4题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49187" y="1947386"/>
            <a:ext cx="31613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6片花瓣围一圈，每次可左转？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65823" y="30151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30度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56758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45度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41200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60度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672489"/>
            <a:ext cx="4695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120度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0" name="Rectangle 60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8115300" y="5067300"/>
            <a:ext cx="3352800" cy="628650"/>
            <a:chOff x="8115300" y="5067300"/>
            <a:chExt cx="3352800" cy="628650"/>
          </a:xfrm>
        </p:grpSpPr>
        <p:sp>
          <p:nvSpPr>
            <p:cNvPr id="62" name="Rectangle 62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81035" y="5212556"/>
              <a:ext cx="1912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C · 6 × 60° 正好一圈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5–6 · 整洁与方向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第5题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画完作品后隐藏海龟的好处是？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画面更整洁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删除作品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速度更慢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不能保存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2381250" y="5067300"/>
            <a:ext cx="3352800" cy="628650"/>
            <a:chOff x="2381250" y="5067300"/>
            <a:chExt cx="3352800" cy="628650"/>
          </a:xfrm>
        </p:grpSpPr>
        <p:sp>
          <p:nvSpPr>
            <p:cNvPr id="35" name="Rectangle 35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46985" y="5212556"/>
              <a:ext cx="2257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A · 隐藏图标不会删除图形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第6题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4918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花茎向下可把方向设为？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65823" y="3015139"/>
            <a:ext cx="107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567589"/>
            <a:ext cx="2024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412003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180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67248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270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0" name="Rectangle 60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8115300" y="5067300"/>
            <a:ext cx="3352800" cy="628650"/>
            <a:chOff x="8115300" y="5067300"/>
            <a:chExt cx="3352800" cy="628650"/>
          </a:xfrm>
        </p:grpSpPr>
        <p:sp>
          <p:nvSpPr>
            <p:cNvPr id="62" name="Rectangle 62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81035" y="5212556"/>
              <a:ext cx="1720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D · 270° 通常朝下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7–8 · 方法与目标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第7题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测试作品更安全的修改方法是？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一次改十处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每次改一处再运行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不运行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删除全部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2381250" y="5067300"/>
            <a:ext cx="3352800" cy="628650"/>
            <a:chOff x="2381250" y="5067300"/>
            <a:chExt cx="3352800" cy="628650"/>
          </a:xfrm>
        </p:grpSpPr>
        <p:sp>
          <p:nvSpPr>
            <p:cNvPr id="35" name="Rectangle 35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46985" y="5212556"/>
              <a:ext cx="24169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B · 小步修改更容易找到问题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第8题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4918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本课最重要的目标是？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6582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背所有单词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综合命令完成作品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41200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写最长代码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使用网络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0" name="Rectangle 60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8115300" y="5067300"/>
            <a:ext cx="3352800" cy="628650"/>
            <a:chOff x="8115300" y="5067300"/>
            <a:chExt cx="3352800" cy="628650"/>
          </a:xfrm>
        </p:grpSpPr>
        <p:sp>
          <p:nvSpPr>
            <p:cNvPr id="62" name="Rectangle 62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81035" y="5212556"/>
              <a:ext cx="2576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 B · 单元课强调综合运用与展示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861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保存好，再休息 10 分钟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文件名只用英文、数字和下划线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课间保存站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14450" y="1619250"/>
            <a:ext cx="956310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695450" y="2171700"/>
            <a:ext cx="1371600" cy="1371600"/>
          </a:xfrm>
          <a:prstGeom prst="ellipse">
            <a:avLst/>
          </a:prstGeom>
          <a:solidFill>
            <a:schemeClr val="lt2"/>
          </a:solidFill>
          <a:ln w="2857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889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489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8740" y="3699986"/>
            <a:ext cx="92502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Ctrl +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3979" y="4110514"/>
            <a:ext cx="1434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保存当前 .py 文件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171700"/>
            <a:ext cx="1371600" cy="1371600"/>
          </a:xfrm>
          <a:prstGeom prst="ellipse">
            <a:avLst/>
          </a:prstGeom>
          <a:solidFill>
            <a:srgbClr val="FFF2DC"/>
          </a:solidFill>
          <a:ln w="28575">
            <a:solidFill>
              <a:schemeClr val="accent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4170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764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5489" y="3699986"/>
            <a:ext cx="135702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休息 10 分钟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4425" y="41105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活动眼睛和手指</a:t>
            </a:r>
          </a:p>
        </p:txBody>
      </p:sp>
      <p:sp>
        <p:nvSpPr>
          <p:cNvPr id="22" name="Ellipse 22"/>
          <p:cNvSpPr/>
          <p:nvPr/>
        </p:nvSpPr>
        <p:spPr>
          <a:xfrm>
            <a:off x="7600950" y="2171700"/>
            <a:ext cx="1371600" cy="1371600"/>
          </a:xfrm>
          <a:prstGeom prst="ellipse">
            <a:avLst/>
          </a:prstGeom>
          <a:solidFill>
            <a:srgbClr val="E9FBEF"/>
          </a:solidFill>
          <a:ln w="2857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944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7637" y="2948940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9121" y="36999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回来先运行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4862" y="4110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确认已有代码仍正常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71950" y="5257800"/>
            <a:ext cx="38481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63281" y="5378768"/>
            <a:ext cx="22654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217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B · 花心 + 花茎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2510" y="120396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标准长度 140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2" name="Rectangle 3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8" name="Rectangle 3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20828" y="545068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运行中：花心 → 方向 → 花茎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1" name="Rectangle 4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9050" y="5450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花心和花茎完成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57" name="Group 57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2304725" cy="249364"/>
            <a:chOff x="6661023" y="5082064"/>
            <a:chExt cx="230472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运行中：花心 → 方向 → 花茎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71" name="TextBox 71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4" name="Rectangle 7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花茎长度实验站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821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 · 100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1965" y="12039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 · 140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726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 · 180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2" name="Rectangle 4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53" name="Rectangle 5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4" name="Rectangle 6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3" name="Rectangle 7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510197" y="5450681"/>
              <a:ext cx="210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运行中：只比较 forward 参数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长度对比完成</a:t>
              </a:r>
            </a:p>
          </p:txBody>
        </p:sp>
      </p:grpSp>
      <p:sp>
        <p:nvSpPr>
          <p:cNvPr id="82" name="Rectangle 8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492490" y="1874520"/>
            <a:ext cx="1112520" cy="1363980"/>
            <a:chOff x="8492490" y="1874520"/>
            <a:chExt cx="1112520" cy="1363980"/>
          </a:xfrm>
        </p:grpSpPr>
        <p:grpSp>
          <p:nvGrpSpPr>
            <p:cNvPr id="95" name="Group 95"/>
            <p:cNvGrpSpPr/>
            <p:nvPr/>
          </p:nvGrpSpPr>
          <p:grpSpPr>
            <a:xfrm>
              <a:off x="8492490" y="1874520"/>
              <a:ext cx="1112520" cy="1363980"/>
              <a:chOff x="8492490" y="1874520"/>
              <a:chExt cx="1112520" cy="136398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048750" y="26289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105" name="Group 105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97" name="Ellipse 9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492490" y="1874520"/>
            <a:ext cx="1112520" cy="1973580"/>
            <a:chOff x="8492490" y="1874520"/>
            <a:chExt cx="1112520" cy="197358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492490" y="1874520"/>
              <a:ext cx="1112520" cy="1973580"/>
              <a:chOff x="8492490" y="1874520"/>
              <a:chExt cx="1112520" cy="1973580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8" name="Ellipse 10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9048750" y="26289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416729" cy="249364"/>
            <a:chOff x="6661023" y="5082064"/>
            <a:chExt cx="2416729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运行中：只比较 forward 参数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绿色花茎：100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41" name="TextBox 141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43" name="TextBox 143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绿色花茎：180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45" name="TextBox 145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8" name="Rectangle 14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0" name="Rectangle 1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2" name="Rectangle 1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9" fill="hold">
                      <p:stCondLst>
                        <p:cond delay="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4" fill="hold">
                      <p:stCondLst>
                        <p:cond delay="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4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9" fill="hold">
                      <p:stCondLst>
                        <p:cond delay="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5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6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0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9" fill="hold">
                      <p:stCondLst>
                        <p:cond delay="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2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4" fill="hold">
                      <p:stCondLst>
                        <p:cond delay="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3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3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6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6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9" fill="hold">
                      <p:stCondLst>
                        <p:cond delay="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9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4" fill="hold">
                      <p:stCondLst>
                        <p:cond delay="0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4" fill="hold">
                      <p:stCondLst>
                        <p:cond delay="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6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9" fill="hold">
                      <p:stCondLst>
                        <p:cond delay="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1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9" fill="hold">
                      <p:stCondLst>
                        <p:cond delay="0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6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9" fill="hold">
                      <p:stCondLst>
                        <p:cond delay="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1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4" fill="hold">
                      <p:stCondLst>
                        <p:cond delay="0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6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9" fill="hold">
                      <p:stCondLst>
                        <p:cond delay="0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>
                      <p:stCondLst>
                        <p:cond delay="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4" fill="hold">
                      <p:stCondLst>
                        <p:cond delay="0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>
                      <p:stCondLst>
                        <p:cond delay="0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9" fill="hold">
                      <p:stCondLst>
                        <p:cond delay="0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171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④ 微项目 · 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不从空白重写：把已经跑通的代码积木逐段装起来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26384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窗口：title + bgcolor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4095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6 次完成填充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6002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花心花茎：dot + 270° + 粗绿线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9165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完成：hideturtle() → 保存 → 展示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长代码，也是一块块拼起来的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出错时不要从头删：回到对应区块逐段检查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77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窗口设置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2118360"/>
            <a:ext cx="2151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" y="2375535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26327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screen.bgcolor("lightblue")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1634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② 创建海龟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8254" y="2118360"/>
            <a:ext cx="1707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 = turtle.Turtle()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8254" y="237553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t.speed(0)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34300" y="1524000"/>
            <a:ext cx="4000500" cy="1809750"/>
          </a:xfrm>
          <a:prstGeom prst="roundRect">
            <a:avLst>
              <a:gd name="adj" fmla="val 13684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548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③ 花瓣循环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804" y="21183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t.color("red","pink")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6804" y="23755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for petal in range(6):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6804" y="26327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... circle(45) 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804" y="288988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t.left(60)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6004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3792379"/>
            <a:ext cx="131347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④ 花心 + 花茎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04" y="41948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t.dot(45,"yellow")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9704" y="4451985"/>
            <a:ext cx="1522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t.setheading(270)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" y="470916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t.forward(140)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00750" y="3600450"/>
            <a:ext cx="573405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21349" y="3792379"/>
            <a:ext cx="6312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收尾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23254" y="419481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23254" y="44519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小红花作品实验站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413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暖色花瓣版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872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自定义标题版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194124" y="1886902"/>
            <a:ext cx="1678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52" name="Rectangle 5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188" y="3186827"/>
              <a:ext cx="16798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73" name="Rectangle 7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188" y="260770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screen.title("小昆的小红花")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4" name="Rectangle 9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7" name="Rectangle 9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0" name="Rectangle 10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3" name="Rectangle 10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6" name="Rectangle 10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576726" y="5450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运行中：按代码区块逐步完成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9" name="Rectangle 10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79824" y="5450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作品完成！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115" name="TextBox 11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25" name="Group 125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17" name="Ellipse 117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36" name="Group 136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0" name="Ellipse 130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47" name="Group 147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39" name="Ellipse 139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6" name="Line 146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558022" y="3604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小昆的小红花</a:t>
              </a:r>
            </a:p>
          </p:txBody>
        </p:sp>
      </p:grpSp>
      <p:sp>
        <p:nvSpPr>
          <p:cNvPr id="150" name="Rectangle 15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52" name="TextBox 15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661023" y="5082064"/>
            <a:ext cx="2253031" cy="249364"/>
            <a:chOff x="6661023" y="5082064"/>
            <a:chExt cx="2253031" cy="249364"/>
          </a:xfrm>
        </p:grpSpPr>
        <p:sp>
          <p:nvSpPr>
            <p:cNvPr id="154" name="TextBox 154"/>
            <p:cNvSpPr txBox="1"/>
            <p:nvPr/>
          </p:nvSpPr>
          <p:spPr>
            <a:xfrm>
              <a:off x="6661023" y="5082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运行中：按代码区块逐步完成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56" name="TextBox 15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58" name="TextBox 15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60" name="TextBox 16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62" name="TextBox 16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64" name="TextBox 16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66" name="TextBox 16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68" name="TextBox 16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6片橙色花瓣完成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70" name="TextBox 17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72" name="TextBox 17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74" name="TextBox 17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1594" y="5094208"/>
            <a:ext cx="1417244" cy="227362"/>
            <a:chOff x="6661594" y="5094208"/>
            <a:chExt cx="1417244" cy="227362"/>
          </a:xfrm>
        </p:grpSpPr>
        <p:sp>
          <p:nvSpPr>
            <p:cNvPr id="176" name="TextBox 176"/>
            <p:cNvSpPr txBox="1"/>
            <p:nvPr/>
          </p:nvSpPr>
          <p:spPr>
            <a:xfrm>
              <a:off x="6661594" y="5094208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标题：小昆的小红花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78" name="TextBox 17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80" name="TextBox 18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82" name="TextBox 18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84" name="TextBox 18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sp>
        <p:nvSpPr>
          <p:cNvPr id="186" name="TextBox 18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7" name="Rectangle 18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9" name="Rectangle 18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91" name="Rectangle 19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1" fill="hold">
                      <p:stCondLst>
                        <p:cond delay="0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6" fill="hold">
                      <p:stCondLst>
                        <p:cond delay="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6" fill="hold">
                      <p:stCondLst>
                        <p:cond delay="0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>
                      <p:stCondLst>
                        <p:cond delay="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1" fill="hold">
                      <p:stCondLst>
                        <p:cond delay="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6" fill="hold">
                      <p:stCondLst>
                        <p:cond delay="0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6" fill="hold">
                      <p:stCondLst>
                        <p:cond delay="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5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6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1" fill="hold">
                      <p:stCondLst>
                        <p:cond delay="0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6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6" fill="hold">
                      <p:stCondLst>
                        <p:cond delay="0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7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8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9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6" fill="hold">
                      <p:stCondLst>
                        <p:cond delay="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0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6" fill="hold">
                      <p:stCondLst>
                        <p:cond delay="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1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1" fill="hold">
                      <p:stCondLst>
                        <p:cond delay="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2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1" fill="hold">
                      <p:stCondLst>
                        <p:cond delay="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3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6" fill="hold">
                      <p:stCondLst>
                        <p:cond delay="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4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1" fill="hold">
                      <p:stCondLst>
                        <p:cond delay="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5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6" fill="hold">
                      <p:stCondLst>
                        <p:cond delay="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6" fill="hold">
                      <p:stCondLst>
                        <p:cond delay="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6" fill="hold">
                      <p:stCondLst>
                        <p:cond delay="0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1" fill="hold">
                      <p:stCondLst>
                        <p:cond delay="0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6" fill="hold">
                      <p:stCondLst>
                        <p:cond delay="0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8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1" fill="hold">
                      <p:stCondLst>
                        <p:cond delay="0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3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6" fill="hold">
                      <p:stCondLst>
                        <p:cond delay="0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8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1" fill="hold">
                      <p:stCondLst>
                        <p:cond delay="0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6" fill="hold">
                      <p:stCondLst>
                        <p:cond delay="0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3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1" fill="hold">
                      <p:stCondLst>
                        <p:cond delay="0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8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6" fill="hold">
                      <p:stCondLst>
                        <p:cond delay="0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3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3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6" fill="hold">
                      <p:stCondLst>
                        <p:cond delay="0"/>
                      </p:stCondLst>
                      <p:childTnLst>
                        <p:par>
                          <p:cTn id="10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从基础版走到个人作品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每一步完成后再走下一步；不要一次改很多处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项目实施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305607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用命令分类卡完成单元复习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分别运行花瓣、花心花茎两个小程序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30916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组合基础版并完成第一次测试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11934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只修改 1–2 项形成个人作品</a:t>
            </a:r>
          </a:p>
        </p:txBody>
      </p:sp>
      <p:sp>
        <p:nvSpPr>
          <p:cNvPr id="34" name="Ellipse 34"/>
          <p:cNvSpPr/>
          <p:nvPr/>
        </p:nvSpPr>
        <p:spPr>
          <a:xfrm>
            <a:off x="790575" y="50101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892" y="51582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2075" y="51125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举行桌面画展：说出“我用了……命令”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画展开始：检查，再分享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每人只提一条具体、友善、能行动的建议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作品验收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47800"/>
            <a:ext cx="5143500" cy="876300"/>
          </a:xfrm>
          <a:prstGeom prst="roundRect">
            <a:avLst>
              <a:gd name="adj" fmla="val 26087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69545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199" y="179212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基础版能够完整运行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257175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199" y="2916079"/>
            <a:ext cx="223126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 / 花心 / 花茎齐全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369570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85800" y="39433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199" y="40400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能指出自己修改的一处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19800" y="1447800"/>
            <a:ext cx="5715000" cy="3124200"/>
          </a:xfrm>
          <a:prstGeom prst="roundRect">
            <a:avLst>
              <a:gd name="adj" fmla="val 9146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72606" y="17297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展示句式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0518" y="224123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我的作品是……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518" y="2755582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我使用了……命令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518" y="3269932"/>
            <a:ext cx="11495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我修改了……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0518" y="378428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下一次我想……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10350" y="4895850"/>
            <a:ext cx="4476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16757" y="5033010"/>
            <a:ext cx="2663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建议只说一条：具体 + 友善 + 能行动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卡住时，先查这三处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先检查最可能的原因，不要删掉全部重来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海龟修理站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62100"/>
            <a:ext cx="3524250" cy="3695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85800" y="1790700"/>
            <a:ext cx="1143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17571" y="192786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756" y="24536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花瓣重复填充很慢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400050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28319" y="41376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23900" y="4000500"/>
            <a:ext cx="1428750" cy="400050"/>
            <a:chOff x="723900" y="4000500"/>
            <a:chExt cx="1428750" cy="400050"/>
          </a:xfrm>
        </p:grpSpPr>
        <p:sp>
          <p:nvSpPr>
            <p:cNvPr id="17" name="Rectangle 17"/>
            <p:cNvSpPr/>
            <p:nvPr/>
          </p:nvSpPr>
          <p:spPr>
            <a:xfrm>
              <a:off x="723900" y="4000500"/>
              <a:ext cx="14287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23900" y="4552950"/>
            <a:ext cx="2990850" cy="514350"/>
            <a:chOff x="723900" y="4552950"/>
            <a:chExt cx="2990850" cy="514350"/>
          </a:xfrm>
        </p:grpSpPr>
        <p:sp>
          <p:nvSpPr>
            <p:cNvPr id="19" name="Rectangle 19"/>
            <p:cNvSpPr/>
            <p:nvPr/>
          </p:nvSpPr>
          <p:spPr>
            <a:xfrm>
              <a:off x="723900" y="4552950"/>
              <a:ext cx="2990850" cy="514350"/>
            </a:xfrm>
            <a:prstGeom prst="roundRect">
              <a:avLst>
                <a:gd name="adj" fmla="val 2963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53075" y="4737735"/>
              <a:ext cx="113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使用 speed(0)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4210050" y="1562100"/>
            <a:ext cx="3524250" cy="3695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438650" y="179070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70421" y="192786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67606" y="24536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花茎方向错误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76750" y="400050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81169" y="41376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476750" y="4000500"/>
            <a:ext cx="1428750" cy="400050"/>
            <a:chOff x="4476750" y="4000500"/>
            <a:chExt cx="1428750" cy="400050"/>
          </a:xfrm>
        </p:grpSpPr>
        <p:sp>
          <p:nvSpPr>
            <p:cNvPr id="28" name="Rectangle 28"/>
            <p:cNvSpPr/>
            <p:nvPr/>
          </p:nvSpPr>
          <p:spPr>
            <a:xfrm>
              <a:off x="4476750" y="4000500"/>
              <a:ext cx="14287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476750" y="4552950"/>
            <a:ext cx="2990850" cy="514350"/>
            <a:chOff x="4476750" y="4552950"/>
            <a:chExt cx="2990850" cy="514350"/>
          </a:xfrm>
        </p:grpSpPr>
        <p:sp>
          <p:nvSpPr>
            <p:cNvPr id="30" name="Rectangle 30"/>
            <p:cNvSpPr/>
            <p:nvPr/>
          </p:nvSpPr>
          <p:spPr>
            <a:xfrm>
              <a:off x="4476750" y="4552950"/>
              <a:ext cx="2990850" cy="514350"/>
            </a:xfrm>
            <a:prstGeom prst="roundRect">
              <a:avLst>
                <a:gd name="adj" fmla="val 2963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00607" y="4737735"/>
              <a:ext cx="1743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检查 setheading(270)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7962900" y="1562100"/>
            <a:ext cx="3524250" cy="3695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8191500" y="179070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523271" y="192786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问题 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20456" y="24536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作品代码较长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29600" y="400050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534019" y="41376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229600" y="4000500"/>
            <a:ext cx="1428750" cy="400050"/>
            <a:chOff x="8229600" y="4000500"/>
            <a:chExt cx="1428750" cy="400050"/>
          </a:xfrm>
        </p:grpSpPr>
        <p:sp>
          <p:nvSpPr>
            <p:cNvPr id="39" name="Rectangle 39"/>
            <p:cNvSpPr/>
            <p:nvPr/>
          </p:nvSpPr>
          <p:spPr>
            <a:xfrm>
              <a:off x="8229600" y="4000500"/>
              <a:ext cx="14287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8229600" y="4552950"/>
            <a:ext cx="2990850" cy="514350"/>
            <a:chOff x="8229600" y="4552950"/>
            <a:chExt cx="2990850" cy="514350"/>
          </a:xfrm>
        </p:grpSpPr>
        <p:sp>
          <p:nvSpPr>
            <p:cNvPr id="41" name="Rectangle 41"/>
            <p:cNvSpPr/>
            <p:nvPr/>
          </p:nvSpPr>
          <p:spPr>
            <a:xfrm>
              <a:off x="8229600" y="4552950"/>
              <a:ext cx="2990850" cy="514350"/>
            </a:xfrm>
            <a:prstGeom prst="roundRect">
              <a:avLst>
                <a:gd name="adj" fmla="val 29630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11209" y="47377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回到半成品，逐段运行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今天，我把旧积木拼成了新作品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 3 句话收好今天的学习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离堂小结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6953250" cy="409575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8288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573" y="200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9225" y="196929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我会用的 1 个命令是……</a:t>
            </a:r>
          </a:p>
        </p:txBody>
      </p:sp>
      <p:sp>
        <p:nvSpPr>
          <p:cNvPr id="15" name="Ellipse 15"/>
          <p:cNvSpPr/>
          <p:nvPr/>
        </p:nvSpPr>
        <p:spPr>
          <a:xfrm>
            <a:off x="685800" y="2876550"/>
            <a:ext cx="533400" cy="533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73" y="3057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225" y="301704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我完成的 1 个作品是……</a:t>
            </a:r>
          </a:p>
        </p:txBody>
      </p:sp>
      <p:sp>
        <p:nvSpPr>
          <p:cNvPr id="18" name="Ellipse 18"/>
          <p:cNvSpPr/>
          <p:nvPr/>
        </p:nvSpPr>
        <p:spPr>
          <a:xfrm>
            <a:off x="685800" y="3924300"/>
            <a:ext cx="533400" cy="5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573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225" y="4064794"/>
            <a:ext cx="28422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我下次遇到报错先检查……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10500" y="1428750"/>
            <a:ext cx="3924300" cy="4095750"/>
          </a:xfrm>
          <a:prstGeom prst="roundRect">
            <a:avLst>
              <a:gd name="adj" fmla="val 8252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903970" y="2107882"/>
            <a:ext cx="1737360" cy="2666524"/>
            <a:chOff x="8903970" y="2107882"/>
            <a:chExt cx="1737360" cy="2666524"/>
          </a:xfrm>
        </p:grpSpPr>
        <p:sp>
          <p:nvSpPr>
            <p:cNvPr id="22" name="Ellipse 22"/>
            <p:cNvSpPr/>
            <p:nvPr/>
          </p:nvSpPr>
          <p:spPr>
            <a:xfrm>
              <a:off x="9367838" y="210788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31705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31705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67838" y="317849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03970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03970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34525" y="2809875"/>
              <a:ext cx="476250" cy="4762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772650" y="3286125"/>
              <a:ext cx="9525" cy="1488281"/>
            </a:xfrm>
            <a:custGeom>
              <a:avLst/>
              <a:gdLst/>
              <a:ahLst/>
              <a:cxnLst/>
              <a:rect l="l" t="t" r="r" b="b"/>
              <a:pathLst>
                <a:path w="9525" h="1488281">
                  <a:moveTo>
                    <a:pt x="0" y="0"/>
                  </a:moveTo>
                  <a:lnTo>
                    <a:pt x="0" y="1488281"/>
                  </a:lnTo>
                </a:path>
              </a:pathLst>
            </a:custGeom>
            <a:noFill/>
            <a:ln w="95250" cap="rnd">
              <a:solidFill>
                <a:srgbClr val="22C55E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8382000" y="481012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8366" y="4955381"/>
            <a:ext cx="22285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保存 lesson06_red_flower.py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2026-09-05T15:18:34Z</dcterms:created>
  <dcterms:modified xsi:type="dcterms:W3CDTF">2026-09-05T15:18:34Z</dcterms:modified>
  <cp:category/>
  <cp:contentStatus/>
</cp:coreProperties>
</file>