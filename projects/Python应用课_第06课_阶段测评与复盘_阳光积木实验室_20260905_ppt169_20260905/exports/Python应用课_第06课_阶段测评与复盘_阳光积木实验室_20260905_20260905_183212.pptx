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欢迎来到第六课。今天我们要综合旧命令、学习三个新工具，再完成一朵能展示、能署名的小红花。右侧的大仙老师已经准备好，左下角的文件名就是今天要保存的作品。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今天的一百二十分钟分成四关：十题热身、新命令实验、选择挑战和作品工坊。选择挑战后先保存，再休息十分钟；最后每个人都要运行作品、说明修改并完成离堂复盘。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上排是三个学习目标：综合旧命令、认识新命令、完成小红花。下排是两项可观察表现：一次只改一处并马上运行，以及正确保存、清楚展示。通关时要同时做到能运行、结构完整和会解释修改。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热身前先把旧命令放进五个工具盒：移动转向、循环次数、坐标回家、颜色填充、背景与圆。接下来的十道题都从这五盒里来；每题先口答，再点击揭晓，答错就马上完整修正。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先独立思考，再举手或用手势作答，最后点击答案。回答时不只报命令名称，还要说出它完成什么任务；发现错误就立即修正。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第一题回忆怎样导入海龟模块，正确写法是 import turtle。第二题回忆怎样让海龟向前移动，常用命令是 forward。请先回答，再分别点击右侧区域核对。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第三题考查重复结构，for 循环可以让一组动作反复执行。第四题考查次数来源，range 生成循环所需的序列。请说明 range 括号里的数字怎样影响重复次数。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第五题回忆 goto 或 setpos，它们能把海龟送到指定坐标。第六题是 home，它会让海龟回到原点并恢复默认方向。揭晓后，请比较“去指定地点”和“回家”的区别。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第七题回忆 pencolor 或 color，它们控制线条和填充颜色。第八题是一对命令 begin_fill 与 end_fill，只有把要填充的封闭图形包在中间，颜色才会填进去。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第九题用 Screen().bgcolor 设置窗口背景。第十题用 circle 绘制圆形，也是本课花瓣和花心的重要基础。完成两题后，把十个旧工具和即将开始的小红花项目连接起来。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驱动问题是怎样综合海龟命令，画出一朵会旋转的彩色花。作品要有花瓣、花心和花茎，还要能够运行和展示；作者需要指出自己改过的一处并解释理由。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成功作品首先必须稳定运行，其次结构完整，最后能够说清修改。今天不比谁改得最多，而是比谁能用小步测试保证每一次修改都有依据。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这一站学习三个新工具：让海龟出现、让海龟退场、给窗口起名字。它们帮助作品更整洁、更会自我介绍，也更方便我们观察和调试。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把旧命令分成四盒：移动、重复、位置和装饰。分类不是为了背表格，而是遇到任务时能快速找到合适的积木。请为每一盒举出一个已经用过的命令。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showturtle 会让海龟光标出现，适合观察绘制过程。hideturtle 会让光标隐藏，适合展示最终作品。两条命令只改变光标是否可见，不会擦掉已经画好的图形。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先选择“显示海龟”或“隐藏海龟”，左侧代码会切换到对应命令。点击运行后，状态先变成运行中，终端再逐字输出结果，完成后显示成功提示。可以反复切换任务和运行，比较 show 与 hide 的效果。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先创建窗口对象 screen，再调用 screen.title。标题文字必须放在引号里；不要写成 t.title，因为 t 是画笔海龟，而 screen 才是窗口。点击后观察标题效果。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顶部三个任务会切换不同的窗口标题代码。每次选择后再点击运行，终端逐字显示本次标题，旧输出会重置。请观察只有引号中的文字变化，调用结构保持不变。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安全调试分四步：先运行基础版，只改一处，再次运行，确认后保存。这样一旦出现问题，就能迅速定位是哪一处修改造成的。最后点击理解为什么不能同时改很多地方。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一片花瓣可以用圆形动作得到，循环六次就形成六片花瓣。每完成一片左转六十度，六次正好转完三百六十度。先预测把 range 改成八会发生什么，再运行验证。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选择红花、橙花或紫花，观察代码中只有颜色参数改变。点击对应运行按钮后，终端按步骤逐行出现，并在最后显示相应花朵预览。代码、输出与预览必须彼此一致。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接下来用八道选择题检查理解。每题先举手或用手势选择，再点击揭晓；绿色表示正确，粉色提示易错点，解析要回答为什么。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第一题正确答案是 hideturtle，用于隐藏海龟。第二题正确答案是 showturtle，用于显示海龟。可以用 hide 和 show 的英文含义帮助记忆。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窗口标题通过 screen.title 设置。六瓣花把一圈平均分成六份，所以每次转六十度。请口头说出三百六十除以六的计算关系。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作品完成后隐藏海龟会让画面更整洁。二百七十度表示向下，适合画花茎；可以用身体转向复习零度向右、九十度向上和一百八十度向左。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改一处后马上运行，是最安全的调试方法。本课目标是综合命令完成作品，而不是追求代码最长。把“小步测试”和“综合应用”两个关键词连起来理解。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休息前先保存当前的 Python 文件，确认文件名和位置。离开屏幕、望远处放松眼睛；回来后打开同一个文件继续，不要另建空白程序。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先独立补全花心和花茎，再点击核对。关键命令依次包括 dot、setheading、pensize、pencolor 和 forward。黄色圆点是花心，二百七十度让花茎向下，forward 的数值决定花茎长度。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依次选择短、标准和长三种花茎。每次只修改 forward 的数字，再点击运行比较结果；终端逐行说明设置方向、绘制花茎和完成。请用参数变化解释画面变化。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现在把花瓣、花心和花茎装配成完整作品。可以从背景、花瓣颜色、花茎长度或窗口标题中选择一到两项修改，但每次只改一处并立即测试。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完整程序按创建窗口、画花瓣、画花心、画花茎、隐藏海龟和保持窗口的顺序执行。阅读代码时先找大段职责，再看每段里的参数，不要从第一行一直猜到最后一行。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基础版、暖阳版和紫霞版分别采用不同的背景、花瓣颜色与花茎长度。先切换任务，再点击对应运行按钮；终端按创建窗口、花瓣、花心、花茎和完成的顺序逐行出现，最后显示作品预览。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完成作品要依次做到运行基础版、选择一处修改、再次运行、隐藏海龟并设置标题、最后保存。请跟着点击顺序逐步完成，不要跳过再次运行这一关。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展示时用四句话介绍：我的作品是，我使用了，我修改了，下一次我想。听众只给一条具体建议，重点检查能否运行、结构是否完整，以及作者能否解释修改。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程序太慢时检查 speed 是否设为零；花茎方向不对时检查 setheading 是否为二百七十；花茎过长时只调整 forward。遇到问题先定位参数，再做一次小改动并重新运行。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今天的关键词是综合：把旧命令和三个新工具组合成可署名的小红花。我们还带走了只改一处、马上运行的小步测试方法。下次遇到错误，依次检查拼写、符号和缩进。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ython应用课_第06课_阶段测评与复盘_阳光积木实验室_202609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ython应用课_第06课_阶段测评与复盘_阳光积木实验室_202609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374d61e61c593f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47ec0d2362240f6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ef12c5c504abb70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db1435b9835fba.png"/>
  <Relationship Id="rId3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5010150" y="-1238250"/>
            <a:ext cx="3619500" cy="3619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867900" y="4876800"/>
            <a:ext cx="3238500" cy="3238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4095750" cy="552450"/>
            <a:chOff x="590550" y="495300"/>
            <a:chExt cx="4095750" cy="552450"/>
          </a:xfrm>
        </p:grpSpPr>
        <p:sp>
          <p:nvSpPr>
            <p:cNvPr id="4" name="Rectangle 4"/>
            <p:cNvSpPr/>
            <p:nvPr/>
          </p:nvSpPr>
          <p:spPr>
            <a:xfrm>
              <a:off x="590550" y="495300"/>
              <a:ext cx="4095750" cy="552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14375" y="6191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704850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52906" y="643890"/>
              <a:ext cx="2924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神奇海龟小画家 · 第 06 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6086094" cy="1770316"/>
            <a:chOff x="571500" y="1644968"/>
            <a:chExt cx="6086094" cy="177031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413727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阶段测评与复盘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222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把学过的命令拼成一朵会旋转的小红花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632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复习旧命令、学习新工具、运行验证，把代码拼成作品。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" y="3638550"/>
            <a:ext cx="1847850" cy="723900"/>
            <a:chOff x="590550" y="3638550"/>
            <a:chExt cx="1847850" cy="72390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524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3668" y="388905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33650" y="3752850"/>
            <a:ext cx="1847850" cy="723900"/>
            <a:chOff x="2533650" y="3752850"/>
            <a:chExt cx="1847850" cy="723900"/>
          </a:xfrm>
        </p:grpSpPr>
        <p:sp>
          <p:nvSpPr>
            <p:cNvPr id="17" name="Rectangle 17"/>
            <p:cNvSpPr/>
            <p:nvPr/>
          </p:nvSpPr>
          <p:spPr>
            <a:xfrm>
              <a:off x="2533650" y="37528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695575" y="39909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96768" y="40033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学新命令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76750" y="3638550"/>
            <a:ext cx="1847850" cy="723900"/>
            <a:chOff x="4476750" y="3638550"/>
            <a:chExt cx="1847850" cy="723900"/>
          </a:xfrm>
        </p:grpSpPr>
        <p:sp>
          <p:nvSpPr>
            <p:cNvPr id="21" name="Rectangle 21"/>
            <p:cNvSpPr/>
            <p:nvPr/>
          </p:nvSpPr>
          <p:spPr>
            <a:xfrm>
              <a:off x="44767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6386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39868" y="38890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做小红花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" y="4762500"/>
            <a:ext cx="6096000" cy="1333500"/>
            <a:chOff x="590550" y="4762500"/>
            <a:chExt cx="60960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590550" y="4762500"/>
              <a:ext cx="6096000" cy="13335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09625" y="49434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38225" y="49434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66825" y="49434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" y="5219700"/>
              <a:ext cx="5791200" cy="723900"/>
            </a:xfrm>
            <a:prstGeom prst="roundRect">
              <a:avLst>
                <a:gd name="adj" fmla="val 26316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7918" y="54606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76850" y="5334000"/>
              <a:ext cx="1066800" cy="476250"/>
            </a:xfrm>
            <a:prstGeom prst="roundRect">
              <a:avLst>
                <a:gd name="adj" fmla="val 36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09260" y="5476875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124700" y="838200"/>
            <a:ext cx="4552950" cy="5524500"/>
            <a:chOff x="7124700" y="838200"/>
            <a:chExt cx="4552950" cy="5524500"/>
          </a:xfrm>
        </p:grpSpPr>
        <p:sp>
          <p:nvSpPr>
            <p:cNvPr id="34" name="Rectangle 34"/>
            <p:cNvSpPr/>
            <p:nvPr/>
          </p:nvSpPr>
          <p:spPr>
            <a:xfrm>
              <a:off x="7124700" y="838200"/>
              <a:ext cx="4552950" cy="5524500"/>
            </a:xfrm>
            <a:prstGeom prst="roundRect">
              <a:avLst>
                <a:gd name="adj" fmla="val 1129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48550" y="1104900"/>
              <a:ext cx="3448050" cy="1009650"/>
            </a:xfrm>
            <a:prstGeom prst="roundRect">
              <a:avLst>
                <a:gd name="adj" fmla="val 28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6800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6876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一起把命令拼成作品！</a:t>
              </a: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639300" y="5295900"/>
              <a:ext cx="1847850" cy="514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571500" y="978218"/>
            <a:ext cx="5378196" cy="1084516"/>
            <a:chOff x="571500" y="978218"/>
            <a:chExt cx="5378196" cy="1084516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9782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本课路线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7106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一百二十分钟，四关挑战，每一关都要动手验证。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2819400"/>
            <a:ext cx="2476500" cy="1238250"/>
            <a:chOff x="685800" y="2819400"/>
            <a:chExt cx="2476500" cy="1238250"/>
          </a:xfrm>
        </p:grpSpPr>
        <p:sp>
          <p:nvSpPr>
            <p:cNvPr id="6" name="Rectangle 6"/>
            <p:cNvSpPr/>
            <p:nvPr/>
          </p:nvSpPr>
          <p:spPr>
            <a:xfrm>
              <a:off x="6858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9337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8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3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十题热身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973" y="346281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十二分钟 · 唤醒旧命令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973" y="37104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先口答，再揭晓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67100" y="3067050"/>
            <a:ext cx="2476500" cy="1238250"/>
            <a:chOff x="3467100" y="3067050"/>
            <a:chExt cx="2476500" cy="1238250"/>
          </a:xfrm>
        </p:grpSpPr>
        <p:sp>
          <p:nvSpPr>
            <p:cNvPr id="13" name="Rectangle 13"/>
            <p:cNvSpPr/>
            <p:nvPr/>
          </p:nvSpPr>
          <p:spPr>
            <a:xfrm>
              <a:off x="3467100" y="306705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31813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631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5656" y="3272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新命令实验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82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四十三分钟 · 显隐海龟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39581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设置标题 · 花瓣实验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48400" y="2819400"/>
            <a:ext cx="2476500" cy="1238250"/>
            <a:chOff x="6248400" y="2819400"/>
            <a:chExt cx="2476500" cy="1238250"/>
          </a:xfrm>
        </p:grpSpPr>
        <p:sp>
          <p:nvSpPr>
            <p:cNvPr id="20" name="Rectangle 20"/>
            <p:cNvSpPr/>
            <p:nvPr/>
          </p:nvSpPr>
          <p:spPr>
            <a:xfrm>
              <a:off x="62484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00800" y="29337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44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869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573" y="34628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十分钟 · 八道题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9573" y="3710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先想，再点击揭晓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29700" y="3067050"/>
            <a:ext cx="2667000" cy="1238250"/>
            <a:chOff x="9029700" y="3067050"/>
            <a:chExt cx="26670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9029700" y="3067050"/>
              <a:ext cx="26670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82100" y="31813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257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68256" y="3272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作品工坊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08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四十五分钟 · 运行修改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0873" y="39581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完成展示与复盘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81350" y="3333750"/>
            <a:ext cx="5829300" cy="266700"/>
            <a:chOff x="3181350" y="3333750"/>
            <a:chExt cx="5829300" cy="266700"/>
          </a:xfrm>
        </p:grpSpPr>
        <p:sp>
          <p:nvSpPr>
            <p:cNvPr id="34" name="Freeform 34"/>
            <p:cNvSpPr/>
            <p:nvPr/>
          </p:nvSpPr>
          <p:spPr>
            <a:xfrm>
              <a:off x="31813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9626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66700"/>
                  </a:moveTo>
                  <a:cubicBezTo>
                    <a:pt x="152400" y="266700"/>
                    <a:pt x="152400" y="0"/>
                    <a:pt x="266700" y="0"/>
                  </a:cubicBez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439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029700" y="4629150"/>
            <a:ext cx="2667000" cy="571500"/>
            <a:chOff x="9029700" y="4629150"/>
            <a:chExt cx="2667000" cy="571500"/>
          </a:xfrm>
        </p:grpSpPr>
        <p:sp>
          <p:nvSpPr>
            <p:cNvPr id="38" name="Rectangle 38"/>
            <p:cNvSpPr/>
            <p:nvPr/>
          </p:nvSpPr>
          <p:spPr>
            <a:xfrm>
              <a:off x="9029700" y="4629150"/>
              <a:ext cx="2667000" cy="5715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04579" y="48277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今天做到：可署名小红花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4953000"/>
            <a:ext cx="7810500" cy="1066800"/>
            <a:chOff x="685800" y="4953000"/>
            <a:chExt cx="7810500" cy="1066800"/>
          </a:xfrm>
        </p:grpSpPr>
        <p:sp>
          <p:nvSpPr>
            <p:cNvPr id="41" name="Rectangle 41"/>
            <p:cNvSpPr/>
            <p:nvPr/>
          </p:nvSpPr>
          <p:spPr>
            <a:xfrm>
              <a:off x="685800" y="4953000"/>
              <a:ext cx="7810500" cy="1066800"/>
            </a:xfrm>
            <a:prstGeom prst="roundRect">
              <a:avLst>
                <a:gd name="adj" fmla="val 26786"/>
              </a:avLst>
            </a:prstGeom>
            <a:solidFill>
              <a:srgbClr val="FFFFFF">
                <a:alpha val="94000"/>
              </a:srgbClr>
            </a:solidFill>
            <a:ln w="19050">
              <a:solidFill>
                <a:srgbClr val="FFD9A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76300" y="5143500"/>
              <a:ext cx="495300" cy="4953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7590" y="527304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4480" y="5172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课堂提示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54861" y="5523071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选择挑战后先保存文件，再休息十分钟；每次修改只动一处，马上运行验证。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127" y="541972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今天要带走什么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看得见的五项通关能力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91120" y="5972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三项目标 · 两项表现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移动 · 转向 · 循环 · 坐标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+mn-lt"/>
                  <a:ea typeface="+mn-ea"/>
                  <a:cs typeface="+mn-cs"/>
                </a:rPr>
                <a:t>颜色、填充和圆也能组合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认识新命令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661" y="2189321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A6B80"/>
                  </a:solidFill>
                  <a:latin typeface="Consolas"/>
                  <a:ea typeface="Consolas"/>
                  <a:cs typeface="Consolas"/>
                </a:rPr>
                <a:t>showturtle() · hideturtle()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screen.title()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完成小红花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花瓣 · 花心 · 花茎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+mn-lt"/>
                  <a:ea typeface="+mn-ea"/>
                  <a:cs typeface="+mn-cs"/>
                </a:rPr>
                <a:t>能运行，也能说明修改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会小步测试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一次只改一处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2980" y="5362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A45"/>
                  </a:solidFill>
                  <a:latin typeface="+mn-lt"/>
                  <a:ea typeface="+mn-ea"/>
                  <a:cs typeface="+mn-cs"/>
                </a:rPr>
                <a:t>改完马上运行验证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会保存与展示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作品有名字，作者有说明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通关标准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能运行：没有报错；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有结构：花瓣、花心、花茎；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会解释：说清自己改了哪里。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5769" y="567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十题热身赛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五盒旧积木，马上开始抢答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81989" y="5972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第一站 · 十二分钟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移动与转向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让海龟走起来、转起来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forward() · left()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循环与次数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把同一组动作重复执行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for · range()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坐标与回家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去指定位置或回到原点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Consolas"/>
                  <a:ea typeface="Consolas"/>
                  <a:cs typeface="Consolas"/>
                </a:rPr>
                <a:t>goto() · home()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颜色与填充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给线条和封闭图形上色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color() · begin_fill()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背景与圆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设置舞台，再画出圆形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bgcolor() · circle()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热身玩法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先口答，再点击揭晓；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答错不扣分，马上完整修正；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十颗星，十次唤醒记忆。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先想，再亮答案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3041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快不是唯一目标，能说出“为什么”才算过关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课前复习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8555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听清题目，先自己想 3 秒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338508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用口答 / 手势 / 小白板亮答案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点击揭晓：答案和解释一起出现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答错不扣分，马上用完整句子修正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1–2 · 起步命令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1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导入海龟模块怎么写？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399" y="3611404"/>
              <a:ext cx="149001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import turtle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74306"/>
              <a:ext cx="3124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先导入 turtle 模块，后面才能使用海龟命令。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2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向前走用什么命令？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449" y="3611404"/>
              <a:ext cx="11661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forward()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74306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forward() 让当前海龟沿朝向前进。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3–4 · 重复动作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3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重复动作使用什么结构？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399" y="3611404"/>
              <a:ext cx="8769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 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74306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 把同一组动作重复执行。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4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循环次数写在哪里？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449" y="3611404"/>
              <a:ext cx="11555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range() 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7430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range() 决定循环执行多少次。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5–6 · 位置导航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P08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5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移动到指定坐标用什么？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399" y="3611404"/>
              <a:ext cx="20823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goto() 或 setpos()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74306"/>
              <a:ext cx="3260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goto()/setpos() 都能把海龟移动到指定坐标。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6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19603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回到中心用什么？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449" y="3611404"/>
              <a:ext cx="79767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home()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7430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home() 让海龟回到中心位置。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17206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7–8 · 颜色与填充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7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设置线条颜色用什么？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399" y="3611404"/>
              <a:ext cx="23392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pencolor() 或 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74306"/>
              <a:ext cx="3245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pencolor() 专管线条；color() 也能设置颜色。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8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382762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开始和结束填充是哪两个命令？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449" y="3611404"/>
              <a:ext cx="25843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begin_fill() / end_fill()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743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开始与结束要成对包住需要填充的图形。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14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9–10 · 背景与圆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9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设置背景色用什么？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399" y="3611404"/>
              <a:ext cx="21805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Screen().bgcolor()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74306"/>
              <a:ext cx="192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背景属于图形窗口 Screen。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27157" y="1661160"/>
            <a:ext cx="6236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10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画圆常用什么命令？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449" y="3611404"/>
              <a:ext cx="88700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circle()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74306"/>
              <a:ext cx="2563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circle() 是 Turtle 常用的画圆命令。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51823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驱动问题：怎样综合使用海龟命令，为同学画一朵会旋转的彩色花？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53730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最终成果：可展示、可署名的“小红花”单元作品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287891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+ 颜色 + 填充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54959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花心与花茎：dot + 方向 + 粗线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48276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最后：隐藏海龟、保存并向同伴说出修改点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做完，还要能讲出来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先看清成功标准，再开始写代码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47700" y="190500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791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062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能运行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71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基础版能够完整运行，没有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因为拼写或缩进中断。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21005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21005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400550" y="190500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5076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4347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够完整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8856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作品包含花瓣、花心、花茎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三个部分。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96290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96290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153400" y="19050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0361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9632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说得清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4141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能指出自己修改的一处内容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，并解释变化。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" y="5010150"/>
            <a:ext cx="10972800" cy="800100"/>
          </a:xfrm>
          <a:prstGeom prst="roundRect">
            <a:avLst>
              <a:gd name="adj" fmla="val 28571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2811306" y="5292090"/>
            <a:ext cx="62645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通关口令：先跑通基础版 → 再只改 1–2 项 → 最后展示说明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② 新命令小实验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9761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每讲一个命令，马上运行一次；不要连续听讲不验证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8724900" y="1800225"/>
            <a:ext cx="3162300" cy="316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093" y="1676400"/>
            <a:ext cx="2789915" cy="3486150"/>
          </a:xfrm>
          <a:prstGeom prst="rect">
            <a:avLst/>
          </a:prstGeom>
        </p:spPr>
      </p:pic>
      <p:sp>
        <p:nvSpPr>
          <p:cNvPr id="14" name="Ellipse 14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075" y="1759744"/>
            <a:ext cx="353124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showturtle()：让小海龟上场</a:t>
            </a:r>
          </a:p>
        </p:txBody>
      </p:sp>
      <p:sp>
        <p:nvSpPr>
          <p:cNvPr id="17" name="Ellipse 17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2597944"/>
            <a:ext cx="459989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hideturtle()：作品完成后让小海龟退场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34361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screen.title()：给图形窗口起名字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小步测试：只改一处，再运行一次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371600" y="4857750"/>
            <a:ext cx="5953125" cy="476250"/>
          </a:xfrm>
          <a:prstGeom prst="roundRect">
            <a:avLst>
              <a:gd name="adj" fmla="val 36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574673" y="5024914"/>
            <a:ext cx="42199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观察 → 运行 → 比较结果，这三个新命令马上就能记住。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把命令放回四盒彩卡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想不起来命令时，先问：我现在要做哪一类动作？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723900" y="184785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9316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283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5880" y="2466975"/>
            <a:ext cx="20143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forward() · left()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7695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6343650" y="184785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1291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258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5630" y="2466975"/>
            <a:ext cx="1459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for · range()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723900" y="394335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9316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283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位置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5880" y="4562475"/>
            <a:ext cx="334708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goto() · home() · setheading()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7695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343650" y="394335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1291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4258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装饰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45630" y="4562475"/>
            <a:ext cx="2902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color() · fill · bgcolor()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490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小海龟：上场 / 退场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显示方便观察，完成后隐藏让作品更整洁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136838" y="1806892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绘制中：看得到海龟位置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324100" y="2038350"/>
            <a:ext cx="1638300" cy="1790700"/>
            <a:chOff x="2324100" y="2038350"/>
            <a:chExt cx="1638300" cy="1790700"/>
          </a:xfrm>
        </p:grpSpPr>
        <p:sp>
          <p:nvSpPr>
            <p:cNvPr id="13" name="Line 13"/>
            <p:cNvSpPr/>
            <p:nvPr/>
          </p:nvSpPr>
          <p:spPr>
            <a:xfrm>
              <a:off x="3143250" y="31051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rgbClr val="22C55E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819400" y="20383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314700" y="23241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314700" y="28956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819400" y="31813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324100" y="28956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324100" y="23241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924175" y="27146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429000" y="3333750"/>
              <a:ext cx="342900" cy="295275"/>
            </a:xfrm>
            <a:custGeom>
              <a:avLst/>
              <a:gdLst/>
              <a:ahLst/>
              <a:cxnLst/>
              <a:rect l="l" t="t" r="r" b="b"/>
              <a:pathLst>
                <a:path w="342900" h="295275">
                  <a:moveTo>
                    <a:pt x="171450" y="0"/>
                  </a:moveTo>
                  <a:lnTo>
                    <a:pt x="0" y="295275"/>
                  </a:lnTo>
                  <a:lnTo>
                    <a:pt x="342900" y="295275"/>
                  </a:lnTo>
                  <a:close/>
                </a:path>
              </a:pathLst>
            </a:custGeom>
            <a:solidFill>
              <a:srgbClr val="22C55E"/>
            </a:solidFill>
            <a:ln w="19050">
              <a:solidFill>
                <a:srgbClr val="15803D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2044179" y="386905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t.showturtle()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23085" y="43719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绿色小三角就是当前海龟光标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008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879652" y="180689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作品完成：花还在，光标退场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248650" y="2038350"/>
            <a:ext cx="1638300" cy="1790700"/>
            <a:chOff x="8248650" y="2038350"/>
            <a:chExt cx="1638300" cy="1790700"/>
          </a:xfrm>
        </p:grpSpPr>
        <p:sp>
          <p:nvSpPr>
            <p:cNvPr id="27" name="Line 27"/>
            <p:cNvSpPr/>
            <p:nvPr/>
          </p:nvSpPr>
          <p:spPr>
            <a:xfrm>
              <a:off x="9067800" y="31051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rgbClr val="22C55E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743950" y="20383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239250" y="23241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239250" y="28956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743950" y="31813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248650" y="28956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248650" y="23241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848725" y="27146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19050">
              <a:solidFill>
                <a:schemeClr val="accent2"/>
              </a:solidFill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7968729" y="386905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45705" y="43719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隐藏光标，不会删除已经画好的花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海龟显隐实验站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P16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188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让海龟上场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6" name="Rectangle 16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53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让海龟退场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9" name="Rectangle 19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1" name="Rectangle 21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854882" y="1886902"/>
            <a:ext cx="20178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lesson06_turtle_visibility.py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6" name="Rectangle 26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t.showturtle()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2" name="Rectangle 3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8" name="Rectangle 3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1" name="Rectangle 4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4" name="Rectangle 4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7" name="Rectangle 47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802888" y="54506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运行中：切换海龟状态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0" name="Rectangle 50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实验完成</a:t>
              </a:r>
            </a:p>
          </p:txBody>
        </p:sp>
      </p:grpSp>
      <p:sp>
        <p:nvSpPr>
          <p:cNvPr id="53" name="Rectangle 53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57" name="Group 57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618220" y="2495550"/>
            <a:ext cx="859155" cy="1255395"/>
            <a:chOff x="8618220" y="2495550"/>
            <a:chExt cx="859155" cy="1255395"/>
          </a:xfrm>
        </p:grpSpPr>
        <p:grpSp>
          <p:nvGrpSpPr>
            <p:cNvPr id="65" name="Group 65"/>
            <p:cNvGrpSpPr/>
            <p:nvPr/>
          </p:nvGrpSpPr>
          <p:grpSpPr>
            <a:xfrm>
              <a:off x="8743950" y="2495550"/>
              <a:ext cx="733425" cy="609600"/>
              <a:chOff x="8743950" y="2495550"/>
              <a:chExt cx="733425" cy="6096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8743950" y="2514600"/>
                <a:ext cx="571500" cy="5715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9229725" y="2676525"/>
                <a:ext cx="247650" cy="24765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8782050" y="24955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9124950" y="24955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8782050" y="29527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9124950" y="29527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9372600" y="2743200"/>
                <a:ext cx="38100" cy="38100"/>
              </a:xfrm>
              <a:prstGeom prst="ellipse">
                <a:avLst/>
              </a:prstGeom>
              <a:solidFill>
                <a:srgbClr val="17243A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618220" y="3457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海龟可见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517255" y="2495550"/>
            <a:ext cx="1024890" cy="1255395"/>
            <a:chOff x="8517255" y="2495550"/>
            <a:chExt cx="1024890" cy="1255395"/>
          </a:xfrm>
        </p:grpSpPr>
        <p:grpSp>
          <p:nvGrpSpPr>
            <p:cNvPr id="74" name="Group 74"/>
            <p:cNvGrpSpPr/>
            <p:nvPr/>
          </p:nvGrpSpPr>
          <p:grpSpPr>
            <a:xfrm>
              <a:off x="8743950" y="2495550"/>
              <a:ext cx="733425" cy="609600"/>
              <a:chOff x="8743950" y="2495550"/>
              <a:chExt cx="733425" cy="609600"/>
            </a:xfrm>
          </p:grpSpPr>
          <p:sp>
            <p:nvSpPr>
              <p:cNvPr id="68" name="Ellipse 68"/>
              <p:cNvSpPr/>
              <p:nvPr/>
            </p:nvSpPr>
            <p:spPr>
              <a:xfrm>
                <a:off x="8743950" y="2514600"/>
                <a:ext cx="571500" cy="5715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9229725" y="2676525"/>
                <a:ext cx="247650" cy="24765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8782050" y="24955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9124950" y="24955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8782050" y="29527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9124950" y="29527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517255" y="3457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海龟已隐藏</a:t>
              </a:r>
            </a:p>
          </p:txBody>
        </p:sp>
      </p:grpSp>
      <p:sp>
        <p:nvSpPr>
          <p:cNvPr id="77" name="Rectangle 7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79" name="TextBox 7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81" name="TextBox 8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运行中：切换海龟状态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83" name="TextBox 8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显示完成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85" name="TextBox 8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隐藏完成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88" name="Rectangle 8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0" name="Rectangle 9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4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7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9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9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3017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screen.title() 给画展挂牌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标题写在图形窗口顶部，不会画进画布内部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600200"/>
            <a:ext cx="5619750" cy="3429000"/>
          </a:xfrm>
          <a:prstGeom prst="roundRect">
            <a:avLst>
              <a:gd name="adj" fmla="val 7778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666750" y="18097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57250" y="18097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47750" y="18097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61993" y="18107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942" y="212121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turtle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942" y="2406968"/>
            <a:ext cx="2420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942" y="2692718"/>
            <a:ext cx="25216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CC7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8942" y="297846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6002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819900" y="2095500"/>
            <a:ext cx="4572000" cy="2343150"/>
          </a:xfrm>
          <a:prstGeom prst="roundRect">
            <a:avLst>
              <a:gd name="adj" fmla="val 8130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819900" y="2095500"/>
            <a:ext cx="4572000" cy="400050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44700" y="22164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小红花画展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36115" y="3017044"/>
            <a:ext cx="193957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Turtle 图形窗口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19950" y="4629150"/>
            <a:ext cx="37719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888224" y="47663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只改双引号里的文字，就能换标题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窗口标题实验站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76347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716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7" name="Rectangle 37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2853214"/>
              <a:ext cx="25631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screen.title("我的海龟作品")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screen.title("送你一朵花")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9" name="Rectangle 4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2" name="Rectangle 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5" name="Rectangle 5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8" name="Rectangle 5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1" name="Rectangle 6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866590" y="5450681"/>
              <a:ext cx="139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正在设置窗口标题……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4" name="Rectangle 6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标题设置完成</a:t>
              </a:r>
            </a:p>
          </p:txBody>
        </p:sp>
      </p:grpSp>
      <p:sp>
        <p:nvSpPr>
          <p:cNvPr id="67" name="Rectangle 67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70" name="TextBox 70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2" name="Rectangle 72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8" name="Rectangle 78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29447" y="20897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84" name="Rectangle 84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sp>
        <p:nvSpPr>
          <p:cNvPr id="90" name="Rectangle 9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92" name="TextBox 9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661023" y="5082064"/>
            <a:ext cx="1581008" cy="249364"/>
            <a:chOff x="6661023" y="5082064"/>
            <a:chExt cx="1581008" cy="249364"/>
          </a:xfrm>
        </p:grpSpPr>
        <p:sp>
          <p:nvSpPr>
            <p:cNvPr id="94" name="TextBox 94"/>
            <p:cNvSpPr txBox="1"/>
            <p:nvPr/>
          </p:nvSpPr>
          <p:spPr>
            <a:xfrm>
              <a:off x="6661023" y="508206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正在设置窗口标题……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96" name="TextBox 96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窗口标题：小红花画展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661594" y="5094208"/>
            <a:ext cx="1729562" cy="227362"/>
            <a:chOff x="6661594" y="5094208"/>
            <a:chExt cx="1729562" cy="227362"/>
          </a:xfrm>
        </p:grpSpPr>
        <p:sp>
          <p:nvSpPr>
            <p:cNvPr id="98" name="TextBox 98"/>
            <p:cNvSpPr txBox="1"/>
            <p:nvPr/>
          </p:nvSpPr>
          <p:spPr>
            <a:xfrm>
              <a:off x="6661594" y="5094208"/>
              <a:ext cx="172956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窗口标题：我的海龟作品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100" name="TextBox 100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窗口标题：送你一朵花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3" name="Rectangle 10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6" name="Group 10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5" name="Rectangle 10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7" name="Rectangle 10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7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4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5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6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8" fill="hold">
                      <p:stCondLst>
                        <p:cond delay="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9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3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3" fill="hold">
                      <p:stCondLst>
                        <p:cond delay="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5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7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7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8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8" fill="hold">
                      <p:stCondLst>
                        <p:cond delay="0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9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0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1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2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8" fill="hold">
                      <p:stCondLst>
                        <p:cond delay="0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0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3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3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5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4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8" fill="hold">
                      <p:stCondLst>
                        <p:cond delay="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5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5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0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6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6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7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一次只改一处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3207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安全修改四步法：小步修改，更容易发现哪一步出了问题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测试与修改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运行基础版：先确认原程序能跑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只改一处：颜色、数字或标题选一项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432150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再次运行：马上观察变化是否符合预期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确认后保存：再进入下一次修改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4035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A · 用循环画花瓣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P20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3" name="Rectangle 3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6" name="Rectangle 3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9" name="Rectangle 3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61767" y="5450681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绘制中：6 次循环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2" name="Rectangle 4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12541" y="5450681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6 片花瓣完成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57" name="Group 5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1408694" cy="249364"/>
            <a:chOff x="6661023" y="5082064"/>
            <a:chExt cx="1408694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绘制中：6 次循环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2" name="Rectangle 7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花瓣颜色实验站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18663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橙色版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3318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紫色版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55" name="Rectangle 55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"purple")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3" name="Rectangle 7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40994" y="5450681"/>
              <a:ext cx="1842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绘制中：次数 6 / 角度 60°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82" name="Rectangle 8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花瓣完成</a:t>
              </a:r>
            </a:p>
          </p:txBody>
        </p:sp>
      </p:grpSp>
      <p:sp>
        <p:nvSpPr>
          <p:cNvPr id="85" name="Rectangle 8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9" name="Group 8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8" name="TextBox 8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97" name="Group 9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0" name="Ellipse 9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4" name="Ellipse 9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6" name="Ellipse 9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07" name="Group 107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06" name="Group 106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9" name="Ellipse 99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4" name="Ellipse 104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108" name="Ellipse 108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4" name="Ellipse 114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244415" cy="249364"/>
            <a:chOff x="6661023" y="5082064"/>
            <a:chExt cx="2244415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绘制中：次数 6 / 角度 60°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6片橙色圆形花瓣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6片紫色圆形花瓣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1" name="TextBox 1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3" name="Group 1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2" name="Rectangle 14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5" name="Group 14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4" name="Rectangle 14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7" name="Group 14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6" name="Rectangle 1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7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7" fill="hold">
                      <p:stCondLst>
                        <p:cond delay="0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6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2" fill="hold">
                      <p:stCondLst>
                        <p:cond delay="0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8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9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2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2" fill="hold">
                      <p:stCondLst>
                        <p:cond delay="0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5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2" fill="hold">
                      <p:stCondLst>
                        <p:cond delay="0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6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7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9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2" fill="hold">
                      <p:stCondLst>
                        <p:cond delay="0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9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0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1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2" fill="hold">
                      <p:stCondLst>
                        <p:cond delay="0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2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3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4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2" fill="hold">
                      <p:stCondLst>
                        <p:cond delay="0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5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2" fill="hold">
                      <p:stCondLst>
                        <p:cond delay="0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5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7" fill="hold">
                      <p:stCondLst>
                        <p:cond delay="0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7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2" fill="hold">
                      <p:stCondLst>
                        <p:cond delay="0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7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7" fill="hold">
                      <p:stCondLst>
                        <p:cond delay="0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8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7" fill="hold">
                      <p:stCondLst>
                        <p:cond delay="0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9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2" fill="hold">
                      <p:stCondLst>
                        <p:cond delay="0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0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2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3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2" fill="hold">
                      <p:stCondLst>
                        <p:cond delay="0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3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7" fill="hold">
                      <p:stCondLst>
                        <p:cond delay="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4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5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2" fill="hold">
                      <p:stCondLst>
                        <p:cond delay="0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5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7" fill="hold">
                      <p:stCondLst>
                        <p:cond delay="0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6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2" fill="hold">
                      <p:stCondLst>
                        <p:cond delay="0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6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7" fill="hold">
                      <p:stCondLst>
                        <p:cond delay="0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7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8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9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2" fill="hold">
                      <p:stCondLst>
                        <p:cond delay="0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9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7" fill="hold">
                      <p:stCondLst>
                        <p:cond delay="0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0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1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2" fill="hold">
                      <p:stCondLst>
                        <p:cond delay="0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2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2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7" fill="hold">
                      <p:stCondLst>
                        <p:cond delay="0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4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3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7" fill="hold">
                      <p:stCondLst>
                        <p:cond delay="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4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2" fill="hold">
                      <p:stCondLst>
                        <p:cond delay="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9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5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2" fill="hold">
                      <p:stCondLst>
                        <p:cond delay="0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5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7" fill="hold">
                      <p:stCondLst>
                        <p:cond delay="0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9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4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6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9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7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2" fill="hold">
                      <p:stCondLst>
                        <p:cond delay="0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4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9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8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2" fill="hold">
                      <p:stCondLst>
                        <p:cond delay="0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4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8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7" fill="hold">
                      <p:stCondLst>
                        <p:cond delay="0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9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9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7" fill="hold">
                      <p:stCondLst>
                        <p:cond delay="0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80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9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81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2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③ 八题选择挑战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2278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A/B/C/D，再点击揭晓；错题马上回到代码验证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2291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1–2：显示还是隐藏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3–4：窗口标题与花瓣转角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5–6：作品整洁与向下方向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4736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7–8：安全修改方法与本课目标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797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1–2 · 显示还是隐藏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7740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A/B/C/D，再点击揭晓；绿色是正确项，红色是干扰项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第1题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隐藏画完后的海龟可用？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06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900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forward()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6332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input()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23900" y="2857500"/>
            <a:ext cx="5010150" cy="2838450"/>
            <a:chOff x="723900" y="2857500"/>
            <a:chExt cx="5010150" cy="283845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2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59393" y="3008471"/>
              <a:ext cx="215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38125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F4FAFF"/>
            </a:solidFill>
            <a:ln w="14288">
              <a:solidFill>
                <a:srgbClr val="A9D6F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47747" y="5190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47747" y="5419249"/>
              <a:ext cx="28331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hideturtle() 只隐藏光标，不会删除已画图形。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第2题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49187" y="1947386"/>
            <a:ext cx="21014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重新显示海龟可用？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9" name="Ellipse 49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65823" y="3015139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title()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3" name="Ellipse 53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6582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965823" y="4120039"/>
            <a:ext cx="8314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end_fill()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61" name="Ellipse 61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96582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goto()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6" name="Rectangle 66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6457950" y="2857500"/>
            <a:ext cx="5010150" cy="2838450"/>
            <a:chOff x="6457950" y="2857500"/>
            <a:chExt cx="5010150" cy="2838450"/>
          </a:xfrm>
        </p:grpSpPr>
        <p:sp>
          <p:nvSpPr>
            <p:cNvPr id="68" name="Rectangle 68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2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993443" y="3560921"/>
              <a:ext cx="215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11530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F4FAFF"/>
            </a:solidFill>
            <a:ln w="14288">
              <a:solidFill>
                <a:srgbClr val="A9D6F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81797" y="5190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81797" y="541924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showturtle() 会把隐藏的海龟光标重新显示。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3–4 · 标题与转角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7740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A/B/C/D，再点击揭晓；绿色是正确项，红色是干扰项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第3题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给窗口设置名称可用？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2536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08991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t.forward()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676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range()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type()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23900" y="2857500"/>
            <a:ext cx="5010150" cy="2838450"/>
            <a:chOff x="723900" y="2857500"/>
            <a:chExt cx="5010150" cy="283845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2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59393" y="3008471"/>
              <a:ext cx="215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38125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F4FAFF"/>
            </a:solidFill>
            <a:ln w="14288">
              <a:solidFill>
                <a:srgbClr val="A9D6F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47747" y="5190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47747" y="54192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screen.title() 用来设置图形窗口的标题文字。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第4题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49187" y="1947386"/>
            <a:ext cx="31613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6片花瓣围一圈，每次可左转？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9" name="Ellipse 49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65823" y="30151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30度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3" name="Ellipse 53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65823" y="356758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45度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965823" y="41200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60度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61" name="Ellipse 61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965823" y="4672489"/>
            <a:ext cx="4695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120度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6" name="Rectangle 66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6457950" y="2857500"/>
            <a:ext cx="5010150" cy="2838450"/>
            <a:chOff x="6457950" y="2857500"/>
            <a:chExt cx="5010150" cy="2838450"/>
          </a:xfrm>
        </p:grpSpPr>
        <p:sp>
          <p:nvSpPr>
            <p:cNvPr id="68" name="Rectangle 68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2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993443" y="4113371"/>
              <a:ext cx="215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11530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F4FAFF"/>
            </a:solidFill>
            <a:ln w="14288">
              <a:solidFill>
                <a:srgbClr val="A9D6F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81797" y="5190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81797" y="5419249"/>
              <a:ext cx="23384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360° ÷ 6 = 60°，每片花瓣后左转 60°。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5–6 · 整洁与方向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7740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A/B/C/D，再点击揭晓；绿色是正确项，红色是干扰项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第5题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画完作品后隐藏海龟的好处是？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画面更整洁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删除作品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速度更慢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不能保存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23900" y="2857500"/>
            <a:ext cx="5010150" cy="2838450"/>
            <a:chOff x="723900" y="2857500"/>
            <a:chExt cx="5010150" cy="283845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2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59393" y="3008471"/>
              <a:ext cx="215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38125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F4FAFF"/>
            </a:solidFill>
            <a:ln w="14288">
              <a:solidFill>
                <a:srgbClr val="A9D6F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47747" y="5190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47747" y="541924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隐藏海龟只让画面更整洁，不会删除作品。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第6题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4918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花茎向下可把方向设为？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9" name="Ellipse 49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65823" y="3015139"/>
            <a:ext cx="1077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3" name="Ellipse 53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65823" y="3567589"/>
            <a:ext cx="2024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90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965823" y="412003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180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61" name="Ellipse 61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965823" y="467248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270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6" name="Rectangle 66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6457950" y="2857500"/>
            <a:ext cx="5010150" cy="2838450"/>
            <a:chOff x="6457950" y="2857500"/>
            <a:chExt cx="5010150" cy="2838450"/>
          </a:xfrm>
        </p:grpSpPr>
        <p:sp>
          <p:nvSpPr>
            <p:cNvPr id="68" name="Rectangle 68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2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993443" y="4665821"/>
              <a:ext cx="215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11530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F4FAFF"/>
            </a:solidFill>
            <a:ln w="14288">
              <a:solidFill>
                <a:srgbClr val="A9D6F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81797" y="5190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81797" y="5419249"/>
              <a:ext cx="2279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海龟默认 0° 朝右，向下通常是 270°。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7–8 · 方法与目标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7740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A/B/C/D，再点击揭晓；绿色是正确项，红色是干扰项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第7题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测试作品更安全的修改方法是？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一次改十处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每次改一处再运行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不运行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删除全部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23900" y="2857500"/>
            <a:ext cx="5010150" cy="2838450"/>
            <a:chOff x="723900" y="2857500"/>
            <a:chExt cx="5010150" cy="283845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2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59393" y="3560921"/>
              <a:ext cx="215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38125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F4FAFF"/>
            </a:solidFill>
            <a:ln w="14288">
              <a:solidFill>
                <a:srgbClr val="A9D6F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47747" y="5190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47747" y="541924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一次只改一处再运行，最容易定位哪里出了问题。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第8题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4918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本课最重要的目标是？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9" name="Ellipse 49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6582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背所有单词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3" name="Ellipse 53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6582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综合命令完成作品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965823" y="41200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写最长代码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61" name="Ellipse 61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96582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使用网络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6" name="Rectangle 66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6457950" y="2857500"/>
            <a:ext cx="5010150" cy="2838450"/>
            <a:chOff x="6457950" y="2857500"/>
            <a:chExt cx="5010150" cy="2838450"/>
          </a:xfrm>
        </p:grpSpPr>
        <p:sp>
          <p:nvSpPr>
            <p:cNvPr id="68" name="Rectangle 68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2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F0F2">
                <a:alpha val="72000"/>
              </a:srgbClr>
            </a:solidFill>
            <a:ln w="14288">
              <a:solidFill>
                <a:srgbClr val="F59BA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993443" y="3560921"/>
              <a:ext cx="215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115300" y="5067300"/>
              <a:ext cx="3352800" cy="628650"/>
            </a:xfrm>
            <a:prstGeom prst="roundRect">
              <a:avLst>
                <a:gd name="adj" fmla="val 27273"/>
              </a:avLst>
            </a:prstGeom>
            <a:solidFill>
              <a:srgbClr val="F4FAFF"/>
            </a:solidFill>
            <a:ln w="14288">
              <a:solidFill>
                <a:srgbClr val="A9D6F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81797" y="5190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81797" y="541924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重点是综合调用学过的命令，完成并展示作品。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861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保存好，再休息 10 分钟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文件名只用英文、数字和下划线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课间保存站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314450" y="1619250"/>
            <a:ext cx="9563100" cy="342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1695450" y="2171700"/>
            <a:ext cx="1371600" cy="1371600"/>
          </a:xfrm>
          <a:prstGeom prst="ellipse">
            <a:avLst/>
          </a:prstGeom>
          <a:solidFill>
            <a:schemeClr val="lt2"/>
          </a:solidFill>
          <a:ln w="28575">
            <a:solidFill>
              <a:schemeClr val="accent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2889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489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8740" y="3699986"/>
            <a:ext cx="92502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Ctrl + 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3979" y="4110514"/>
            <a:ext cx="14345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保存当前 .py 文件</a:t>
            </a:r>
          </a:p>
        </p:txBody>
      </p:sp>
      <p:sp>
        <p:nvSpPr>
          <p:cNvPr id="17" name="Ellipse 17"/>
          <p:cNvSpPr/>
          <p:nvPr/>
        </p:nvSpPr>
        <p:spPr>
          <a:xfrm>
            <a:off x="4648200" y="2171700"/>
            <a:ext cx="1371600" cy="1371600"/>
          </a:xfrm>
          <a:prstGeom prst="ellipse">
            <a:avLst/>
          </a:prstGeom>
          <a:solidFill>
            <a:srgbClr val="FFF2DC"/>
          </a:solidFill>
          <a:ln w="28575">
            <a:solidFill>
              <a:schemeClr val="accent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4170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9764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55489" y="3699986"/>
            <a:ext cx="135702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休息 10 分钟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24425" y="411051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活动眼睛和手指</a:t>
            </a:r>
          </a:p>
        </p:txBody>
      </p:sp>
      <p:sp>
        <p:nvSpPr>
          <p:cNvPr id="22" name="Ellipse 22"/>
          <p:cNvSpPr/>
          <p:nvPr/>
        </p:nvSpPr>
        <p:spPr>
          <a:xfrm>
            <a:off x="7600950" y="2171700"/>
            <a:ext cx="1371600" cy="1371600"/>
          </a:xfrm>
          <a:prstGeom prst="ellipse">
            <a:avLst/>
          </a:prstGeom>
          <a:solidFill>
            <a:srgbClr val="E9FBEF"/>
          </a:solidFill>
          <a:ln w="28575">
            <a:solidFill>
              <a:srgbClr val="22C55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1944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7637" y="2948940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99121" y="3699986"/>
            <a:ext cx="1175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回来先运行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4862" y="4110514"/>
            <a:ext cx="15637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确认已有代码仍正常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71950" y="5257800"/>
            <a:ext cx="38481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963281" y="5378768"/>
            <a:ext cx="22654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217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B · 花心 + 花茎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72510" y="1203960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标准长度 140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2" name="Rectangle 3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5" name="Rectangle 35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8" name="Rectangle 3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620828" y="5450681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运行中：花心 → 方向 → 花茎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1" name="Rectangle 4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029050" y="54506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花心和花茎完成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8" name="Group 48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57" name="Group 57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2304725" cy="249364"/>
            <a:chOff x="6661023" y="5082064"/>
            <a:chExt cx="2304725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2304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运行中：花心 → 方向 → 花茎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71" name="TextBox 71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4" name="Rectangle 7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5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0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5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花茎长度实验站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P29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821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短 · 100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61965" y="1203960"/>
              <a:ext cx="810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 · 140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5726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 · 180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2" name="Rectangle 4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53" name="Rectangle 5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t.forward(180)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4" name="Rectangle 6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3" name="Rectangle 7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510197" y="5450681"/>
              <a:ext cx="2104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运行中：只比较 forward 参数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长度对比完成</a:t>
              </a:r>
            </a:p>
          </p:txBody>
        </p:sp>
      </p:grpSp>
      <p:sp>
        <p:nvSpPr>
          <p:cNvPr id="82" name="Rectangle 8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4" name="Rectangle 8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6" name="Group 8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5" name="TextBox 8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492490" y="1874520"/>
            <a:ext cx="1112520" cy="1363980"/>
            <a:chOff x="8492490" y="1874520"/>
            <a:chExt cx="1112520" cy="1363980"/>
          </a:xfrm>
        </p:grpSpPr>
        <p:grpSp>
          <p:nvGrpSpPr>
            <p:cNvPr id="95" name="Group 95"/>
            <p:cNvGrpSpPr/>
            <p:nvPr/>
          </p:nvGrpSpPr>
          <p:grpSpPr>
            <a:xfrm>
              <a:off x="8492490" y="1874520"/>
              <a:ext cx="1112520" cy="1363980"/>
              <a:chOff x="8492490" y="1874520"/>
              <a:chExt cx="1112520" cy="1363980"/>
            </a:xfrm>
          </p:grpSpPr>
          <p:sp>
            <p:nvSpPr>
              <p:cNvPr id="87" name="Ellipse 8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0" name="Ellipse 9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94" name="Line 94"/>
              <p:cNvSpPr/>
              <p:nvPr/>
            </p:nvSpPr>
            <p:spPr>
              <a:xfrm>
                <a:off x="9048750" y="2628900"/>
                <a:ext cx="95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9600">
                    <a:moveTo>
                      <a:pt x="0" y="0"/>
                    </a:moveTo>
                    <a:lnTo>
                      <a:pt x="0" y="6096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06" name="Group 106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105" name="Group 105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97" name="Ellipse 9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8" name="Ellipse 9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04" name="Line 104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492490" y="1874520"/>
            <a:ext cx="1112520" cy="1973580"/>
            <a:chOff x="8492490" y="1874520"/>
            <a:chExt cx="1112520" cy="197358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492490" y="1874520"/>
              <a:ext cx="1112520" cy="1973580"/>
              <a:chOff x="8492490" y="1874520"/>
              <a:chExt cx="1112520" cy="1973580"/>
            </a:xfrm>
          </p:grpSpPr>
          <p:sp>
            <p:nvSpPr>
              <p:cNvPr id="107" name="Ellipse 10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8" name="Ellipse 10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14" name="Line 114"/>
              <p:cNvSpPr/>
              <p:nvPr/>
            </p:nvSpPr>
            <p:spPr>
              <a:xfrm>
                <a:off x="9048750" y="2628900"/>
                <a:ext cx="9525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9200">
                    <a:moveTo>
                      <a:pt x="0" y="0"/>
                    </a:moveTo>
                    <a:lnTo>
                      <a:pt x="0" y="12192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416729" cy="249364"/>
            <a:chOff x="6661023" y="5082064"/>
            <a:chExt cx="2416729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运行中：只比较 forward 参数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绿色花茎：100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41" name="TextBox 141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43" name="TextBox 143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绿色花茎：180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45" name="TextBox 145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7" name="TextBox 14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9" name="Group 1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8" name="Rectangle 14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1" name="Group 1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0" name="Rectangle 15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3" name="Group 15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2" name="Rectangle 1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4" fill="hold">
                      <p:stCondLst>
                        <p:cond delay="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4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1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4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9" fill="hold">
                      <p:stCondLst>
                        <p:cond delay="0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4" fill="hold">
                      <p:stCondLst>
                        <p:cond delay="0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4" fill="hold">
                      <p:stCondLst>
                        <p:cond delay="0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4" fill="hold">
                      <p:stCondLst>
                        <p:cond delay="0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0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9" fill="hold">
                      <p:stCondLst>
                        <p:cond delay="0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2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4" fill="hold">
                      <p:stCondLst>
                        <p:cond delay="0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2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9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3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4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5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4" fill="hold">
                      <p:stCondLst>
                        <p:cond delay="0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6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6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9" fill="hold">
                      <p:stCondLst>
                        <p:cond delay="0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8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4" fill="hold">
                      <p:stCondLst>
                        <p:cond delay="0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0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4" fill="hold">
                      <p:stCondLst>
                        <p:cond delay="0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1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4" fill="hold">
                      <p:stCondLst>
                        <p:cond delay="0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1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2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9" fill="hold">
                      <p:stCondLst>
                        <p:cond delay="0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3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4" fill="hold">
                      <p:stCondLst>
                        <p:cond delay="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4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4" fill="hold">
                      <p:stCondLst>
                        <p:cond delay="0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4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9" fill="hold">
                      <p:stCondLst>
                        <p:cond delay="0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5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4" fill="hold">
                      <p:stCondLst>
                        <p:cond delay="0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5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9" fill="hold">
                      <p:stCondLst>
                        <p:cond delay="0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6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4" fill="hold">
                      <p:stCondLst>
                        <p:cond delay="0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6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9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7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7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8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4" fill="hold">
                      <p:stCondLst>
                        <p:cond delay="0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>
                      <p:stCondLst>
                        <p:cond delay="0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9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4" fill="hold">
                      <p:stCondLst>
                        <p:cond delay="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>
                      <p:stCondLst>
                        <p:cond delay="0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0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9" fill="hold">
                      <p:stCondLst>
                        <p:cond delay="0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>
                      <p:stCondLst>
                        <p:cond delay="0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2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4" fill="hold">
                      <p:stCondLst>
                        <p:cond delay="0"/>
                      </p:stCondLst>
                      <p:childTnLst>
                        <p:par>
                          <p:cTn id="7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3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4" fill="hold">
                      <p:stCondLst>
                        <p:cond delay="0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3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9" fill="hold">
                      <p:stCondLst>
                        <p:cond delay="0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4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4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5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4" fill="hold">
                      <p:stCondLst>
                        <p:cond delay="0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6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4" fill="hold">
                      <p:stCondLst>
                        <p:cond delay="0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6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9" fill="hold">
                      <p:stCondLst>
                        <p:cond delay="0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7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7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9" fill="hold">
                      <p:stCondLst>
                        <p:cond delay="0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8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4" fill="hold">
                      <p:stCondLst>
                        <p:cond delay="0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9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4" fill="hold">
                      <p:stCondLst>
                        <p:cond delay="0"/>
                      </p:stCondLst>
                      <p:childTnLst>
                        <p:par>
                          <p:cTn id="7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9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9" fill="hold">
                      <p:stCondLst>
                        <p:cond delay="0"/>
                      </p:stCondLst>
                      <p:childTnLst>
                        <p:par>
                          <p:cTn id="8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0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4" fill="hold">
                      <p:stCondLst>
                        <p:cond delay="0"/>
                      </p:stCondLst>
                      <p:childTnLst>
                        <p:par>
                          <p:cTn id="8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0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9" fill="hold">
                      <p:stCondLst>
                        <p:cond delay="0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1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4" fill="hold">
                      <p:stCondLst>
                        <p:cond delay="0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2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4" fill="hold">
                      <p:stCondLst>
                        <p:cond delay="0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2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9" fill="hold">
                      <p:stCondLst>
                        <p:cond delay="0"/>
                      </p:stCondLst>
                      <p:childTnLst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6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3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9" fill="hold">
                      <p:stCondLst>
                        <p:cond delay="0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4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4" fill="hold">
                      <p:stCondLst>
                        <p:cond delay="0"/>
                      </p:stCondLst>
                      <p:childTnLst>
                        <p:par>
                          <p:cTn id="8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4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9" fill="hold">
                      <p:stCondLst>
                        <p:cond delay="0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1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5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4" fill="hold">
                      <p:stCondLst>
                        <p:cond delay="0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5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9" fill="hold">
                      <p:stCondLst>
                        <p:cond delay="0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6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6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9" fill="hold">
                      <p:stCondLst>
                        <p:cond delay="0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7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4" fill="hold">
                      <p:stCondLst>
                        <p:cond delay="0"/>
                      </p:stCondLst>
                      <p:childTnLst>
                        <p:par>
                          <p:cTn id="8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1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8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4" fill="hold">
                      <p:stCondLst>
                        <p:cond delay="0"/>
                      </p:stCondLst>
                      <p:childTnLst>
                        <p:par>
                          <p:cTn id="8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8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1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9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4" fill="hold">
                      <p:stCondLst>
                        <p:cond delay="0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6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9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9" fill="hold">
                      <p:stCondLst>
                        <p:cond delay="0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1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>
                      <p:stCondLst>
                        <p:cond delay="0"/>
                      </p:stCondLst>
                      <p:childTnLst>
                        <p:par>
                          <p:cTn id="9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91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4" fill="hold">
                      <p:stCondLst>
                        <p:cond delay="0"/>
                      </p:stCondLst>
                      <p:childTnLst>
                        <p:par>
                          <p:cTn id="9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>
                      <p:stCondLst>
                        <p:cond delay="0"/>
                      </p:stCondLst>
                      <p:childTnLst>
                        <p:par>
                          <p:cTn id="9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1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6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92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9" fill="hold">
                      <p:stCondLst>
                        <p:cond delay="0"/>
                      </p:stCondLst>
                      <p:childTnLst>
                        <p:par>
                          <p:cTn id="9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1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171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④ 微项目 · 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不从空白重写：把已经跑通的代码积木逐段装起来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8724900" y="1800225"/>
            <a:ext cx="3162300" cy="31623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488" y="1600200"/>
            <a:ext cx="2927124" cy="3657600"/>
          </a:xfrm>
          <a:prstGeom prst="rect">
            <a:avLst/>
          </a:prstGeom>
        </p:spPr>
      </p:pic>
      <p:sp>
        <p:nvSpPr>
          <p:cNvPr id="14" name="Ellipse 14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075" y="1759744"/>
            <a:ext cx="263848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窗口：title + bgcolor</a:t>
            </a:r>
          </a:p>
        </p:txBody>
      </p:sp>
      <p:sp>
        <p:nvSpPr>
          <p:cNvPr id="17" name="Ellipse 17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2597944"/>
            <a:ext cx="284095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6 次完成填充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3436144"/>
            <a:ext cx="360021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花心花茎：dot + 270° + 粗绿线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4274344"/>
            <a:ext cx="39165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完成：hideturtle() → 保存 → 展示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371600" y="4857750"/>
            <a:ext cx="5962650" cy="476250"/>
          </a:xfrm>
          <a:prstGeom prst="roundRect">
            <a:avLst>
              <a:gd name="adj" fmla="val 36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574673" y="5024914"/>
            <a:ext cx="414848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每装一块就运行一次：先确认能跑，再继续加下一块。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长代码，也是一块块拼起来的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出错时不要从头删：回到对应区块逐段检查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77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窗口设置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9704" y="2118360"/>
            <a:ext cx="2151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9704" y="2375535"/>
            <a:ext cx="22414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704" y="2632710"/>
            <a:ext cx="2411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screen.bgcolor("lightblue")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09575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1634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② 创建海龟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18254" y="2118360"/>
            <a:ext cx="1707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 = turtle.Turtle()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8254" y="237553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t.speed(0)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734300" y="1524000"/>
            <a:ext cx="4000500" cy="1809750"/>
          </a:xfrm>
          <a:prstGeom prst="roundRect">
            <a:avLst>
              <a:gd name="adj" fmla="val 13684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548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③ 花瓣循环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6804" y="2118360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t.color("red","pink")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56804" y="2375535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for petal in range(6):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56804" y="26327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... circle(45) ...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56804" y="288988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t.left(60)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" y="3600450"/>
            <a:ext cx="5334000" cy="1809750"/>
          </a:xfrm>
          <a:prstGeom prst="roundRect">
            <a:avLst>
              <a:gd name="adj" fmla="val 13684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7799" y="3792379"/>
            <a:ext cx="131347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④ 花心 + 花茎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9704" y="41948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t.dot(45,"yellow")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9704" y="4451985"/>
            <a:ext cx="15226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t.setheading(270)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9704" y="470916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t.forward(140)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00750" y="3600450"/>
            <a:ext cx="573405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221349" y="3792379"/>
            <a:ext cx="6312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⑤ 收尾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23254" y="419481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23254" y="44519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小红花作品实验站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0413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暖色花瓣版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90872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自定义标题版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194124" y="1886902"/>
            <a:ext cx="1678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52" name="Rectangle 5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8188" y="3186827"/>
              <a:ext cx="16798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73" name="Rectangle 7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8188" y="2607707"/>
              <a:ext cx="188235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screen.title("小昆的小红花")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4" name="Rectangle 9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7" name="Rectangle 9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0" name="Rectangle 10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3" name="Rectangle 10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6" name="Rectangle 10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576726" y="54506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运行中：按代码区块逐步完成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9" name="Rectangle 10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179824" y="5450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作品完成！</a:t>
              </a:r>
            </a:p>
          </p:txBody>
        </p:sp>
      </p:grpSp>
      <p:sp>
        <p:nvSpPr>
          <p:cNvPr id="112" name="Rectangle 11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116" name="Group 11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115" name="TextBox 11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25" name="Group 125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17" name="Ellipse 117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8" name="Ellipse 118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0" name="Ellipse 120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2" name="Ellipse 122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24" name="Line 124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36" name="Group 136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28" name="Ellipse 128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0" name="Ellipse 130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2" name="Ellipse 132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4" name="Ellipse 134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35" name="Line 135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47" name="Group 147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39" name="Ellipse 139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0" name="Ellipse 140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2" name="Ellipse 142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4" name="Ellipse 144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46" name="Line 146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48" name="TextBox 148"/>
            <p:cNvSpPr txBox="1"/>
            <p:nvPr/>
          </p:nvSpPr>
          <p:spPr>
            <a:xfrm>
              <a:off x="8558022" y="3604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小昆的小红花</a:t>
              </a:r>
            </a:p>
          </p:txBody>
        </p:sp>
      </p:grpSp>
      <p:sp>
        <p:nvSpPr>
          <p:cNvPr id="150" name="Rectangle 15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51" name="TextBox 15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53" name="Group 15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52" name="TextBox 15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6661023" y="5082064"/>
            <a:ext cx="2253031" cy="249364"/>
            <a:chOff x="6661023" y="5082064"/>
            <a:chExt cx="2253031" cy="249364"/>
          </a:xfrm>
        </p:grpSpPr>
        <p:sp>
          <p:nvSpPr>
            <p:cNvPr id="154" name="TextBox 154"/>
            <p:cNvSpPr txBox="1"/>
            <p:nvPr/>
          </p:nvSpPr>
          <p:spPr>
            <a:xfrm>
              <a:off x="6661023" y="50820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运行中：按代码区块逐步完成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56" name="TextBox 15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58" name="TextBox 15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60" name="TextBox 16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62" name="TextBox 16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64" name="TextBox 16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66" name="TextBox 16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68" name="TextBox 16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6片橙色花瓣完成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70" name="TextBox 17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72" name="TextBox 17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74" name="TextBox 17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6661594" y="5094208"/>
            <a:ext cx="1417244" cy="227362"/>
            <a:chOff x="6661594" y="5094208"/>
            <a:chExt cx="1417244" cy="227362"/>
          </a:xfrm>
        </p:grpSpPr>
        <p:sp>
          <p:nvSpPr>
            <p:cNvPr id="176" name="TextBox 176"/>
            <p:cNvSpPr txBox="1"/>
            <p:nvPr/>
          </p:nvSpPr>
          <p:spPr>
            <a:xfrm>
              <a:off x="6661594" y="5094208"/>
              <a:ext cx="141724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标题：小昆的小红花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78" name="TextBox 17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81" name="Group 18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80" name="TextBox 18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82" name="TextBox 18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84" name="TextBox 18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sp>
        <p:nvSpPr>
          <p:cNvPr id="186" name="TextBox 18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88" name="Group 18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7" name="Rectangle 18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0" name="Group 19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9" name="Rectangle 18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2" name="Group 19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91" name="Rectangle 19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5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6" fill="hold">
                      <p:stCondLst>
                        <p:cond delay="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1" fill="hold">
                      <p:stCondLst>
                        <p:cond delay="0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1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6" fill="hold">
                      <p:stCondLst>
                        <p:cond delay="0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1" fill="hold">
                      <p:stCondLst>
                        <p:cond delay="0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>
                      <p:stCondLst>
                        <p:cond delay="0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6" fill="hold">
                      <p:stCondLst>
                        <p:cond delay="0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>
                      <p:stCondLst>
                        <p:cond delay="0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8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1" fill="hold">
                      <p:stCondLst>
                        <p:cond delay="0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1" fill="hold">
                      <p:stCondLst>
                        <p:cond delay="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9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0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6" fill="hold">
                      <p:stCondLst>
                        <p:cond delay="0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6" fill="hold">
                      <p:stCondLst>
                        <p:cond delay="0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3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1" fill="hold">
                      <p:stCondLst>
                        <p:cond delay="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5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6" fill="hold">
                      <p:stCondLst>
                        <p:cond delay="0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6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6" fill="hold">
                      <p:stCondLst>
                        <p:cond delay="0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7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6" fill="hold">
                      <p:stCondLst>
                        <p:cond delay="0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8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58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6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0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1" fill="hold">
                      <p:stCondLst>
                        <p:cond delay="0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0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1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1" fill="hold">
                      <p:stCondLst>
                        <p:cond delay="0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1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6" fill="hold">
                      <p:stCondLst>
                        <p:cond delay="0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2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6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3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4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1" fill="hold">
                      <p:stCondLst>
                        <p:cond delay="0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5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6" fill="hold">
                      <p:stCondLst>
                        <p:cond delay="0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>
                      <p:stCondLst>
                        <p:cond delay="0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7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1" fill="hold">
                      <p:stCondLst>
                        <p:cond delay="0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>
                      <p:stCondLst>
                        <p:cond delay="0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8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8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6" fill="hold">
                      <p:stCondLst>
                        <p:cond delay="0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9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1" fill="hold">
                      <p:stCondLst>
                        <p:cond delay="0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0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1" fill="hold">
                      <p:stCondLst>
                        <p:cond delay="0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0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6" fill="hold">
                      <p:stCondLst>
                        <p:cond delay="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1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6" fill="hold">
                      <p:stCondLst>
                        <p:cond delay="0"/>
                      </p:stCondLst>
                      <p:childTnLst>
                        <p:par>
                          <p:cTn id="7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2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1" fill="hold">
                      <p:stCondLst>
                        <p:cond delay="0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2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6" fill="hold">
                      <p:stCondLst>
                        <p:cond delay="0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3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3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6" fill="hold">
                      <p:stCondLst>
                        <p:cond delay="0"/>
                      </p:stCondLst>
                      <p:childTnLst>
                        <p:par>
                          <p:cTn id="7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4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6" fill="hold">
                      <p:stCondLst>
                        <p:cond delay="0"/>
                      </p:stCondLst>
                      <p:childTnLst>
                        <p:par>
                          <p:cTn id="7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5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1" fill="hold">
                      <p:stCondLst>
                        <p:cond delay="0"/>
                      </p:stCondLst>
                      <p:childTnLst>
                        <p:par>
                          <p:cTn id="7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6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1" fill="hold">
                      <p:stCondLst>
                        <p:cond delay="0"/>
                      </p:stCondLst>
                      <p:childTnLst>
                        <p:par>
                          <p:cTn id="7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6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6" fill="hold">
                      <p:stCondLst>
                        <p:cond delay="0"/>
                      </p:stCondLst>
                      <p:childTnLst>
                        <p:par>
                          <p:cTn id="7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7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6" fill="hold">
                      <p:stCondLst>
                        <p:cond delay="0"/>
                      </p:stCondLst>
                      <p:childTnLst>
                        <p:par>
                          <p:cTn id="7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8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1" fill="hold">
                      <p:stCondLst>
                        <p:cond delay="0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9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6" fill="hold">
                      <p:stCondLst>
                        <p:cond delay="0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0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6" fill="hold">
                      <p:stCondLst>
                        <p:cond delay="0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1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1" fill="hold">
                      <p:stCondLst>
                        <p:cond delay="0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1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2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1" fill="hold">
                      <p:stCondLst>
                        <p:cond delay="0"/>
                      </p:stCondLst>
                      <p:childTnLst>
                        <p:par>
                          <p:cTn id="8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2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6" fill="hold">
                      <p:stCondLst>
                        <p:cond delay="0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3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6" fill="hold">
                      <p:stCondLst>
                        <p:cond delay="0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4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1" fill="hold">
                      <p:stCondLst>
                        <p:cond delay="0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4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6" fill="hold">
                      <p:stCondLst>
                        <p:cond delay="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5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1" fill="hold">
                      <p:stCondLst>
                        <p:cond delay="0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5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6" fill="hold">
                      <p:stCondLst>
                        <p:cond delay="0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6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6" fill="hold">
                      <p:stCondLst>
                        <p:cond delay="0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7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1" fill="hold">
                      <p:stCondLst>
                        <p:cond delay="0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8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1" fill="hold">
                      <p:stCondLst>
                        <p:cond delay="0"/>
                      </p:stCondLst>
                      <p:childTnLst>
                        <p:par>
                          <p:cTn id="8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8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6" fill="hold">
                      <p:stCondLst>
                        <p:cond delay="0"/>
                      </p:stCondLst>
                      <p:childTnLst>
                        <p:par>
                          <p:cTn id="8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9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6" fill="hold">
                      <p:stCondLst>
                        <p:cond delay="0"/>
                      </p:stCondLst>
                      <p:childTnLst>
                        <p:par>
                          <p:cTn id="8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0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1" fill="hold">
                      <p:stCondLst>
                        <p:cond delay="0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0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6" fill="hold">
                      <p:stCondLst>
                        <p:cond delay="0"/>
                      </p:stCondLst>
                      <p:childTnLst>
                        <p:par>
                          <p:cTn id="9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1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1" fill="hold">
                      <p:stCondLst>
                        <p:cond delay="0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1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6" fill="hold">
                      <p:stCondLst>
                        <p:cond delay="0"/>
                      </p:stCondLst>
                      <p:childTnLst>
                        <p:par>
                          <p:cTn id="9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2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6" fill="hold">
                      <p:stCondLst>
                        <p:cond delay="0"/>
                      </p:stCondLst>
                      <p:childTnLst>
                        <p:par>
                          <p:cTn id="9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3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1" fill="hold">
                      <p:stCondLst>
                        <p:cond delay="0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3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3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8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4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1" fill="hold">
                      <p:stCondLst>
                        <p:cond delay="0"/>
                      </p:stCondLst>
                      <p:childTnLst>
                        <p:par>
                          <p:cTn id="9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3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4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6" fill="hold">
                      <p:stCondLst>
                        <p:cond delay="0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8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3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5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6" fill="hold">
                      <p:stCondLst>
                        <p:cond delay="0"/>
                      </p:stCondLst>
                      <p:childTnLst>
                        <p:par>
                          <p:cTn id="9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8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6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1" fill="hold">
                      <p:stCondLst>
                        <p:cond delay="0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3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8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7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1" fill="hold">
                      <p:stCondLst>
                        <p:cond delay="0"/>
                      </p:stCondLst>
                      <p:childTnLst>
                        <p:par>
                          <p:cTn id="9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3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7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6" fill="hold">
                      <p:stCondLst>
                        <p:cond delay="0"/>
                      </p:stCondLst>
                      <p:childTnLst>
                        <p:par>
                          <p:cTn id="9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8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8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3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8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6" fill="hold">
                      <p:stCondLst>
                        <p:cond delay="0"/>
                      </p:stCondLst>
                      <p:childTnLst>
                        <p:par>
                          <p:cTn id="9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8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9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1" fill="hold">
                      <p:stCondLst>
                        <p:cond delay="0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3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9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6" fill="hold">
                      <p:stCondLst>
                        <p:cond delay="0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8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0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3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0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6" fill="hold">
                      <p:stCondLst>
                        <p:cond delay="0"/>
                      </p:stCondLst>
                      <p:childTnLst>
                        <p:par>
                          <p:cTn id="10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8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3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1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6" fill="hold">
                      <p:stCondLst>
                        <p:cond delay="0"/>
                      </p:stCondLst>
                      <p:childTnLst>
                        <p:par>
                          <p:cTn id="10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8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2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1" fill="hold">
                      <p:stCondLst>
                        <p:cond delay="0"/>
                      </p:stCondLst>
                      <p:childTnLst>
                        <p:par>
                          <p:cTn id="10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2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3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1" fill="hold">
                      <p:stCondLst>
                        <p:cond delay="0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3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6" fill="hold">
                      <p:stCondLst>
                        <p:cond delay="0"/>
                      </p:stCondLst>
                      <p:childTnLst>
                        <p:par>
                          <p:cTn id="10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8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4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3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4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6" fill="hold">
                      <p:stCondLst>
                        <p:cond delay="0"/>
                      </p:stCondLst>
                      <p:childTnLst>
                        <p:par>
                          <p:cTn id="10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8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从基础版走到个人作品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4592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每一步完成后再走下一步；不要一次改很多处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项目实施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305607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用命令分类卡完成单元复习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分别运行花瓣、花心花茎两个小程序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30916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组合基础版并完成第一次测试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311934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只修改 1–2 项形成个人作品</a:t>
            </a:r>
          </a:p>
        </p:txBody>
      </p:sp>
      <p:sp>
        <p:nvSpPr>
          <p:cNvPr id="34" name="Ellipse 34"/>
          <p:cNvSpPr/>
          <p:nvPr/>
        </p:nvSpPr>
        <p:spPr>
          <a:xfrm>
            <a:off x="790575" y="50101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43892" y="51582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2075" y="51125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举行桌面画展：说出“我用了……命令”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画展开始：检查，再分享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每人只提一条具体、友善、能行动的建议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作品验收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47800"/>
            <a:ext cx="5143500" cy="876300"/>
          </a:xfrm>
          <a:prstGeom prst="roundRect">
            <a:avLst>
              <a:gd name="adj" fmla="val 26087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695450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1199" y="1792129"/>
            <a:ext cx="19302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基础版能够完整运行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7200" y="257175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685800" y="2819400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1199" y="2916079"/>
            <a:ext cx="223126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 / 花心 / 花茎齐全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" y="369570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685800" y="3943350"/>
            <a:ext cx="381000" cy="381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1199" y="4040029"/>
            <a:ext cx="21429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能指出自己修改的一处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19800" y="1447800"/>
            <a:ext cx="5715000" cy="3124200"/>
          </a:xfrm>
          <a:prstGeom prst="roundRect">
            <a:avLst>
              <a:gd name="adj" fmla="val 9146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72606" y="17297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展示句式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30518" y="224123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我的作品是……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30518" y="2755582"/>
            <a:ext cx="15938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我使用了……命令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30518" y="3269932"/>
            <a:ext cx="114959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我修改了……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30518" y="378428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下一次我想……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610350" y="4895850"/>
            <a:ext cx="4476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16757" y="5033010"/>
            <a:ext cx="26639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建议只说一条：具体 + 友善 + 能行动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卡住时，先查这三处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先定位现象，再查一个关键点；不要删掉全部重来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海龟修理站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90650"/>
            <a:ext cx="3524250" cy="43624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85800" y="1619250"/>
            <a:ext cx="11430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17571" y="17564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问题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756" y="226314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花瓣重复填充很慢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781300"/>
            <a:ext cx="2990850" cy="876300"/>
          </a:xfrm>
          <a:prstGeom prst="roundRect">
            <a:avLst>
              <a:gd name="adj" fmla="val 19565"/>
            </a:avLst>
          </a:prstGeom>
          <a:solidFill>
            <a:srgbClr val="F4FA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90016" y="29346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先查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9254" y="3175635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有没有设置绘图速度？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8873" y="3405664"/>
            <a:ext cx="115022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t.speed(...)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867150"/>
            <a:ext cx="1428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28319" y="40043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23900" y="3867150"/>
            <a:ext cx="1428750" cy="400050"/>
            <a:chOff x="723900" y="3867150"/>
            <a:chExt cx="1428750" cy="400050"/>
          </a:xfrm>
        </p:grpSpPr>
        <p:sp>
          <p:nvSpPr>
            <p:cNvPr id="21" name="Rectangle 21"/>
            <p:cNvSpPr/>
            <p:nvPr/>
          </p:nvSpPr>
          <p:spPr>
            <a:xfrm>
              <a:off x="723900" y="3867150"/>
              <a:ext cx="14287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23900" y="4438650"/>
            <a:ext cx="2990850" cy="1028700"/>
            <a:chOff x="723900" y="4438650"/>
            <a:chExt cx="2990850" cy="1028700"/>
          </a:xfrm>
        </p:grpSpPr>
        <p:sp>
          <p:nvSpPr>
            <p:cNvPr id="23" name="Rectangle 23"/>
            <p:cNvSpPr/>
            <p:nvPr/>
          </p:nvSpPr>
          <p:spPr>
            <a:xfrm>
              <a:off x="723900" y="4438650"/>
              <a:ext cx="2990850" cy="1028700"/>
            </a:xfrm>
            <a:prstGeom prst="roundRect">
              <a:avLst>
                <a:gd name="adj" fmla="val 16667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0016" y="4601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8492" y="4854892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0016" y="51444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把绘图速度调到最快，再运行一次。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4210050" y="1390650"/>
            <a:ext cx="3524250" cy="43624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438650" y="161925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770421" y="17564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问题 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67606" y="22631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花茎方向错误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476750" y="2781300"/>
            <a:ext cx="2990850" cy="876300"/>
          </a:xfrm>
          <a:prstGeom prst="roundRect">
            <a:avLst>
              <a:gd name="adj" fmla="val 19565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642866" y="29346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先查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42104" y="3175635"/>
            <a:ext cx="22172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setheading() 里写了多少度？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41723" y="3405664"/>
            <a:ext cx="157239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rPr>
              <a:t>0° → 右　90° → 上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476750" y="3867150"/>
            <a:ext cx="1428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81169" y="40043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4476750" y="3867150"/>
            <a:ext cx="1428750" cy="400050"/>
            <a:chOff x="4476750" y="3867150"/>
            <a:chExt cx="1428750" cy="400050"/>
          </a:xfrm>
        </p:grpSpPr>
        <p:sp>
          <p:nvSpPr>
            <p:cNvPr id="38" name="Rectangle 38"/>
            <p:cNvSpPr/>
            <p:nvPr/>
          </p:nvSpPr>
          <p:spPr>
            <a:xfrm>
              <a:off x="4476750" y="3867150"/>
              <a:ext cx="14287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4476750" y="4438650"/>
            <a:ext cx="2990850" cy="1028700"/>
            <a:chOff x="4476750" y="4438650"/>
            <a:chExt cx="2990850" cy="1028700"/>
          </a:xfrm>
        </p:grpSpPr>
        <p:sp>
          <p:nvSpPr>
            <p:cNvPr id="40" name="Rectangle 40"/>
            <p:cNvSpPr/>
            <p:nvPr/>
          </p:nvSpPr>
          <p:spPr>
            <a:xfrm>
              <a:off x="4476750" y="4438650"/>
              <a:ext cx="2990850" cy="1028700"/>
            </a:xfrm>
            <a:prstGeom prst="roundRect">
              <a:avLst>
                <a:gd name="adj" fmla="val 16667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642866" y="4601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41342" y="4854892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42866" y="5144452"/>
              <a:ext cx="273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270° 朝下，再 forward() 就会画出花茎。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7962900" y="1390650"/>
            <a:ext cx="3524250" cy="43624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8191500" y="161925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523271" y="17564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问题 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20456" y="22631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作品代码较长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229600" y="2781300"/>
            <a:ext cx="2990850" cy="876300"/>
          </a:xfrm>
          <a:prstGeom prst="roundRect">
            <a:avLst>
              <a:gd name="adj" fmla="val 19565"/>
            </a:avLst>
          </a:prstGeom>
          <a:solidFill>
            <a:srgbClr val="FFF3F7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395716" y="29346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先查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94954" y="3175635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刚刚新增的是哪一段？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95335" y="3421856"/>
            <a:ext cx="15425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先找到“最后一次改动”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229600" y="3867150"/>
            <a:ext cx="1428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534019" y="40043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8229600" y="3867150"/>
            <a:ext cx="1428750" cy="400050"/>
            <a:chOff x="8229600" y="3867150"/>
            <a:chExt cx="1428750" cy="400050"/>
          </a:xfrm>
        </p:grpSpPr>
        <p:sp>
          <p:nvSpPr>
            <p:cNvPr id="55" name="Rectangle 55"/>
            <p:cNvSpPr/>
            <p:nvPr/>
          </p:nvSpPr>
          <p:spPr>
            <a:xfrm>
              <a:off x="8229600" y="3867150"/>
              <a:ext cx="14287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8229600" y="4438650"/>
            <a:ext cx="2990850" cy="1028700"/>
            <a:chOff x="8229600" y="4438650"/>
            <a:chExt cx="2990850" cy="1028700"/>
          </a:xfrm>
        </p:grpSpPr>
        <p:sp>
          <p:nvSpPr>
            <p:cNvPr id="57" name="Rectangle 57"/>
            <p:cNvSpPr/>
            <p:nvPr/>
          </p:nvSpPr>
          <p:spPr>
            <a:xfrm>
              <a:off x="8229600" y="4438650"/>
              <a:ext cx="2990850" cy="1028700"/>
            </a:xfrm>
            <a:prstGeom prst="roundRect">
              <a:avLst>
                <a:gd name="adj" fmla="val 16667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395716" y="4601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94954" y="48615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回到能运行的半成品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95716" y="51444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逐段加回代码，每加一段就运行一次。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今天，我把旧积木拼成了新作品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193425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用 3 句话收好今天的学习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离堂小结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28750"/>
            <a:ext cx="6953250" cy="409575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828800"/>
            <a:ext cx="533400" cy="53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6573" y="20097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9225" y="196929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我会用的 1 个命令是……</a:t>
            </a:r>
          </a:p>
        </p:txBody>
      </p:sp>
      <p:sp>
        <p:nvSpPr>
          <p:cNvPr id="15" name="Ellipse 15"/>
          <p:cNvSpPr/>
          <p:nvPr/>
        </p:nvSpPr>
        <p:spPr>
          <a:xfrm>
            <a:off x="685800" y="2876550"/>
            <a:ext cx="533400" cy="533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6573" y="30575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9225" y="301704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我完成的 1 个作品是……</a:t>
            </a:r>
          </a:p>
        </p:txBody>
      </p:sp>
      <p:sp>
        <p:nvSpPr>
          <p:cNvPr id="18" name="Ellipse 18"/>
          <p:cNvSpPr/>
          <p:nvPr/>
        </p:nvSpPr>
        <p:spPr>
          <a:xfrm>
            <a:off x="685800" y="3924300"/>
            <a:ext cx="533400" cy="533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6573" y="41052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9225" y="4064794"/>
            <a:ext cx="28422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我下次遇到报错先检查……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810500" y="1428750"/>
            <a:ext cx="3924300" cy="4095750"/>
          </a:xfrm>
          <a:prstGeom prst="roundRect">
            <a:avLst>
              <a:gd name="adj" fmla="val 8252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8903970" y="2107882"/>
            <a:ext cx="1737360" cy="2666524"/>
            <a:chOff x="8903970" y="2107882"/>
            <a:chExt cx="1737360" cy="2666524"/>
          </a:xfrm>
        </p:grpSpPr>
        <p:sp>
          <p:nvSpPr>
            <p:cNvPr id="22" name="Ellipse 22"/>
            <p:cNvSpPr/>
            <p:nvPr/>
          </p:nvSpPr>
          <p:spPr>
            <a:xfrm>
              <a:off x="9367838" y="210788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831705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831705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367838" y="317849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03970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03970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534525" y="2809875"/>
              <a:ext cx="476250" cy="4762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772650" y="3286125"/>
              <a:ext cx="9525" cy="1488281"/>
            </a:xfrm>
            <a:custGeom>
              <a:avLst/>
              <a:gdLst/>
              <a:ahLst/>
              <a:cxnLst/>
              <a:rect l="l" t="t" r="r" b="b"/>
              <a:pathLst>
                <a:path w="9525" h="1488281">
                  <a:moveTo>
                    <a:pt x="0" y="0"/>
                  </a:moveTo>
                  <a:lnTo>
                    <a:pt x="0" y="1488281"/>
                  </a:lnTo>
                </a:path>
              </a:pathLst>
            </a:custGeom>
            <a:noFill/>
            <a:ln w="95250" cap="rnd">
              <a:solidFill>
                <a:srgbClr val="22C55E"/>
              </a:solidFill>
            </a:ln>
          </p:spPr>
        </p:sp>
      </p:grpSp>
      <p:sp>
        <p:nvSpPr>
          <p:cNvPr id="31" name="Rectangle 31"/>
          <p:cNvSpPr/>
          <p:nvPr/>
        </p:nvSpPr>
        <p:spPr>
          <a:xfrm>
            <a:off x="8382000" y="4810125"/>
            <a:ext cx="27813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658366" y="4955381"/>
            <a:ext cx="22285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保存 lesson06_red_flower.py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2026-09-05T18:32:15Z</dcterms:created>
  <dcterms:modified xsi:type="dcterms:W3CDTF">2026-09-05T18:32:15Z</dcterms:modified>
  <cp:category/>
  <cp:contentStatus/>
</cp:coreProperties>
</file>