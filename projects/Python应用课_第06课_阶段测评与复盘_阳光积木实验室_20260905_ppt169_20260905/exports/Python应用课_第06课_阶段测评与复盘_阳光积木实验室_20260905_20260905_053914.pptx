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rgbClr val="EAF5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神奇海龟小画家 · 第 06 课</a:t>
              </a:r>
              <a:endParaRPr lang="zh-CN" sz="1800" b="1" dirty="0">
                <a:solidFill>
                  <a:srgbClr val="2E9BFF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阶段测评与复盘</a:t>
              </a:r>
              <a:endParaRPr lang="zh-CN" sz="43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9BFF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把学过的命令拼成一朵会旋转的小红花</a:t>
              </a:r>
              <a:endParaRPr lang="zh-CN" sz="2400" b="1" dirty="0">
                <a:solidFill>
                  <a:srgbClr val="2E9BFF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复习旧命令、学习新工具、运行验证，把代码拼成作品。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综合旧命令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学新命令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做小红花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68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lesson06_red_flower.py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22595" y="547687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准备好了吗？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一起把命令拼成作品！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本课路线</a:t>
              </a:r>
              <a:endParaRPr lang="zh-CN" sz="43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一百二十分钟，四关挑战，每一关都要动手验证。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十题热身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十二分钟 · 唤醒旧命令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先口答，再揭晓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新命令实验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四十三分钟 · 显隐海龟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设置标题 · 花瓣实验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选择挑战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十分钟 · 八道题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先想，再点击揭晓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作品工坊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四十五分钟 · 运行修改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完成展示与复盘</a:t>
              </a:r>
              <a:endParaRPr lang="zh-CN" sz="128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rgbClr val="FF9F1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rgbClr val="FF6FA5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今天做到：可署名小红花</a:t>
              </a:r>
              <a:endParaRPr lang="zh-CN" sz="14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★</a:t>
              </a:r>
              <a:endParaRPr lang="en-US" sz="18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课堂提示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选择挑战后先保存文件，再休息十分钟；每次修改只动一处，马上运行验证。</a:t>
              </a:r>
              <a:endParaRPr lang="zh-CN" sz="142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✓</a:t>
              </a:r>
              <a:endParaRPr lang="en-US" sz="19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今天要带走什么</a:t>
              </a:r>
              <a:endParaRPr lang="zh-CN" sz="330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看得见的五项通关能力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三项目标 · 两项表现</a:t>
              </a:r>
              <a:endParaRPr lang="zh-CN" sz="13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综合旧命令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移动 · 转向 · 循环 · 坐标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颜色、填充和圆也能组合</a:t>
              </a:r>
              <a:endParaRPr lang="zh-CN" sz="1500" b="1" dirty="0">
                <a:solidFill>
                  <a:srgbClr val="2072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认识新命令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652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5A6B8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showturtle() · hideturtle()</a:t>
              </a:r>
              <a:endParaRPr lang="en-US" sz="1420" dirty="0">
                <a:solidFill>
                  <a:srgbClr val="5A6B8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41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968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screen.title()</a:t>
              </a:r>
              <a:endParaRPr lang="en-US" sz="1500" b="1" dirty="0">
                <a:solidFill>
                  <a:srgbClr val="B96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完成小红花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 · 花心 · 花茎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能运行，也能说明修改</a:t>
              </a:r>
              <a:endParaRPr lang="zh-CN" sz="1500" b="1" dirty="0">
                <a:solidFill>
                  <a:srgbClr val="B83E6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会小步测试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一次只改一处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改完马上运行验证</a:t>
              </a:r>
              <a:endParaRPr lang="zh-CN" sz="1500" b="1" dirty="0">
                <a:solidFill>
                  <a:srgbClr val="207A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会保存与展示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作品有名字，作者有说明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65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968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lesson06_red_flower.py</a:t>
              </a:r>
              <a:endParaRPr lang="en-US" sz="1350" b="1" dirty="0">
                <a:solidFill>
                  <a:srgbClr val="B96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★</a:t>
              </a:r>
              <a:endParaRPr lang="en-US" sz="1950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通关标准</a:t>
              </a:r>
              <a:endParaRPr lang="zh-CN" sz="1580" b="1" dirty="0">
                <a:solidFill>
                  <a:srgbClr val="B968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能运行：没有报错；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有结构：花瓣、花心、花茎；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会解释：说清自己改了哪里。</a:t>
              </a:r>
              <a:endParaRPr lang="zh-CN" sz="135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十题热身赛</a:t>
              </a:r>
              <a:endParaRPr lang="zh-CN" sz="330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五盒旧积木，马上开始抢答</a:t>
              </a:r>
              <a:endParaRPr lang="zh-CN" sz="150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第一站 · 十二分钟</a:t>
              </a:r>
              <a:endParaRPr lang="zh-CN" sz="1350" b="1" dirty="0">
                <a:solidFill>
                  <a:srgbClr val="B968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移动与转向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让海龟走起来、转起来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1997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072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forward() · left()</a:t>
              </a:r>
              <a:endParaRPr lang="en-US" sz="1500" b="1" dirty="0">
                <a:solidFill>
                  <a:srgbClr val="2072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循环与次数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把同一组动作重复执行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2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968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· range()</a:t>
              </a:r>
              <a:endParaRPr lang="en-US" sz="1500" b="1" dirty="0">
                <a:solidFill>
                  <a:srgbClr val="B968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坐标与回家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去指定位置或回到原点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700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83E6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goto() · home()</a:t>
              </a:r>
              <a:endParaRPr lang="en-US" sz="1500" b="1" dirty="0">
                <a:solidFill>
                  <a:srgbClr val="B83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颜色与填充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给线条和封闭图形上色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1988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color() · begin_fill()</a:t>
              </a:r>
              <a:endParaRPr lang="en-US" sz="1350" b="1" dirty="0">
                <a:solidFill>
                  <a:srgbClr val="207A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背景与圆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设置舞台，再画出圆形</a:t>
              </a:r>
              <a:endParaRPr lang="zh-CN" sz="150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1874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2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bgcolor() · circle()</a:t>
              </a:r>
              <a:endParaRPr lang="en-US" sz="1350" b="1" dirty="0">
                <a:solidFill>
                  <a:srgbClr val="2072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★</a:t>
              </a:r>
              <a:endParaRPr lang="en-US" sz="1950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热身玩法</a:t>
              </a:r>
              <a:endParaRPr lang="zh-CN" sz="1580" b="1" dirty="0">
                <a:solidFill>
                  <a:srgbClr val="B968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先口答，再点击揭晓；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答错不扣分，马上完整修正；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十颗星，十次唤醒记忆。</a:t>
              </a:r>
              <a:endParaRPr lang="zh-CN" sz="1350" dirty="0">
                <a:solidFill>
                  <a:srgbClr val="5A6B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6824" y="400050"/>
            <a:ext cx="11180826" cy="702373"/>
            <a:chOff x="496824" y="400050"/>
            <a:chExt cx="11180826" cy="70237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27672"/>
              <a:ext cx="328612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先想，再亮答案</a:t>
              </a:r>
              <a:endParaRPr lang="zh-CN" sz="34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20250" y="400050"/>
              <a:ext cx="2057400" cy="4762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237470" y="552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热身规则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9650" y="1714500"/>
            <a:ext cx="1676400" cy="2512695"/>
            <a:chOff x="1009650" y="1714500"/>
            <a:chExt cx="1676400" cy="2512695"/>
          </a:xfrm>
        </p:grpSpPr>
        <p:sp>
          <p:nvSpPr>
            <p:cNvPr id="6" name="Ellipse 6"/>
            <p:cNvSpPr/>
            <p:nvPr/>
          </p:nvSpPr>
          <p:spPr>
            <a:xfrm>
              <a:off x="1009650" y="1714500"/>
              <a:ext cx="1676400" cy="1676400"/>
            </a:xfrm>
            <a:prstGeom prst="ellipse">
              <a:avLst/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90650" y="2095500"/>
              <a:ext cx="914400" cy="914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159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30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1778" y="3507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听清题目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5405" y="3933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先不抢着喊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29050" y="1714500"/>
            <a:ext cx="1676400" cy="2512695"/>
            <a:chOff x="3829050" y="1714500"/>
            <a:chExt cx="1676400" cy="2512695"/>
          </a:xfrm>
        </p:grpSpPr>
        <p:sp>
          <p:nvSpPr>
            <p:cNvPr id="12" name="Ellipse 12"/>
            <p:cNvSpPr/>
            <p:nvPr/>
          </p:nvSpPr>
          <p:spPr>
            <a:xfrm>
              <a:off x="3829050" y="1714500"/>
              <a:ext cx="1676400" cy="16764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210050" y="2095500"/>
              <a:ext cx="914400" cy="914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53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30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49827" y="35071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独立想一想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1910" y="3933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手势或小白板作答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8450" y="1714500"/>
            <a:ext cx="1676400" cy="2512695"/>
            <a:chOff x="6648450" y="1714500"/>
            <a:chExt cx="1676400" cy="2512695"/>
          </a:xfrm>
        </p:grpSpPr>
        <p:sp>
          <p:nvSpPr>
            <p:cNvPr id="18" name="Ellipse 18"/>
            <p:cNvSpPr/>
            <p:nvPr/>
          </p:nvSpPr>
          <p:spPr>
            <a:xfrm>
              <a:off x="6648450" y="1714500"/>
              <a:ext cx="1676400" cy="1676400"/>
            </a:xfrm>
            <a:prstGeom prst="ellipse">
              <a:avLst/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029450" y="2095500"/>
              <a:ext cx="914400" cy="914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47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30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10578" y="3507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4205" y="3933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说出为什么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67850" y="1714500"/>
            <a:ext cx="1676400" cy="2512695"/>
            <a:chOff x="9467850" y="1714500"/>
            <a:chExt cx="1676400" cy="2512695"/>
          </a:xfrm>
        </p:grpSpPr>
        <p:sp>
          <p:nvSpPr>
            <p:cNvPr id="24" name="Ellipse 24"/>
            <p:cNvSpPr/>
            <p:nvPr/>
          </p:nvSpPr>
          <p:spPr>
            <a:xfrm>
              <a:off x="9467850" y="1714500"/>
              <a:ext cx="1676400" cy="1676400"/>
            </a:xfrm>
            <a:prstGeom prst="ellipse">
              <a:avLst/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48850" y="2095500"/>
              <a:ext cx="914400" cy="914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74195" y="23622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30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29978" y="35071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口头修正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93605" y="3933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答错不扣分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66850" y="5048250"/>
            <a:ext cx="9258300" cy="876300"/>
            <a:chOff x="1466850" y="5048250"/>
            <a:chExt cx="9258300" cy="876300"/>
          </a:xfrm>
        </p:grpSpPr>
        <p:sp>
          <p:nvSpPr>
            <p:cNvPr id="30" name="Rectangle 30"/>
            <p:cNvSpPr/>
            <p:nvPr/>
          </p:nvSpPr>
          <p:spPr>
            <a:xfrm>
              <a:off x="1466850" y="5048250"/>
              <a:ext cx="9258300" cy="876300"/>
            </a:xfrm>
            <a:prstGeom prst="roundRect">
              <a:avLst>
                <a:gd name="adj" fmla="val 32609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826304" y="5294348"/>
              <a:ext cx="385800" cy="367696"/>
            </a:xfrm>
            <a:custGeom>
              <a:avLst/>
              <a:gdLst/>
              <a:ahLst/>
              <a:cxnLst/>
              <a:rect l="l" t="t" r="r" b="b"/>
              <a:pathLst>
                <a:path w="385800" h="367696">
                  <a:moveTo>
                    <a:pt x="127389" y="110677"/>
                  </a:moveTo>
                  <a:lnTo>
                    <a:pt x="15979" y="126829"/>
                  </a:lnTo>
                  <a:lnTo>
                    <a:pt x="14005" y="127231"/>
                  </a:lnTo>
                  <a:cubicBezTo>
                    <a:pt x="7924" y="128845"/>
                    <a:pt x="3181" y="133607"/>
                    <a:pt x="1591" y="139694"/>
                  </a:cubicBezTo>
                  <a:cubicBezTo>
                    <a:pt x="0" y="145782"/>
                    <a:pt x="1807" y="152255"/>
                    <a:pt x="6322" y="156638"/>
                  </a:cubicBezTo>
                  <a:lnTo>
                    <a:pt x="87033" y="235201"/>
                  </a:lnTo>
                  <a:lnTo>
                    <a:pt x="67999" y="346175"/>
                  </a:lnTo>
                  <a:lnTo>
                    <a:pt x="67772" y="348096"/>
                  </a:lnTo>
                  <a:cubicBezTo>
                    <a:pt x="67400" y="354386"/>
                    <a:pt x="70445" y="360389"/>
                    <a:pt x="75741" y="363804"/>
                  </a:cubicBezTo>
                  <a:cubicBezTo>
                    <a:pt x="81037" y="367219"/>
                    <a:pt x="87761" y="367516"/>
                    <a:pt x="93337" y="364581"/>
                  </a:cubicBezTo>
                  <a:lnTo>
                    <a:pt x="192978" y="312193"/>
                  </a:lnTo>
                  <a:lnTo>
                    <a:pt x="292392" y="364581"/>
                  </a:lnTo>
                  <a:lnTo>
                    <a:pt x="294138" y="365384"/>
                  </a:lnTo>
                  <a:cubicBezTo>
                    <a:pt x="300007" y="367696"/>
                    <a:pt x="306666" y="366663"/>
                    <a:pt x="311559" y="362682"/>
                  </a:cubicBezTo>
                  <a:cubicBezTo>
                    <a:pt x="316451" y="358701"/>
                    <a:pt x="318817" y="352392"/>
                    <a:pt x="317748" y="346175"/>
                  </a:cubicBezTo>
                  <a:lnTo>
                    <a:pt x="298696" y="235201"/>
                  </a:lnTo>
                  <a:lnTo>
                    <a:pt x="379442" y="156620"/>
                  </a:lnTo>
                  <a:lnTo>
                    <a:pt x="380804" y="155136"/>
                  </a:lnTo>
                  <a:cubicBezTo>
                    <a:pt x="384766" y="150257"/>
                    <a:pt x="385800" y="143627"/>
                    <a:pt x="383513" y="137774"/>
                  </a:cubicBezTo>
                  <a:cubicBezTo>
                    <a:pt x="381226" y="131920"/>
                    <a:pt x="375970" y="127748"/>
                    <a:pt x="369751" y="126847"/>
                  </a:cubicBezTo>
                  <a:lnTo>
                    <a:pt x="258340" y="110677"/>
                  </a:lnTo>
                  <a:lnTo>
                    <a:pt x="208537" y="9744"/>
                  </a:lnTo>
                  <a:cubicBezTo>
                    <a:pt x="205597" y="3778"/>
                    <a:pt x="199524" y="0"/>
                    <a:pt x="192873" y="0"/>
                  </a:cubicBezTo>
                  <a:cubicBezTo>
                    <a:pt x="186223" y="0"/>
                    <a:pt x="180149" y="3778"/>
                    <a:pt x="177210" y="9744"/>
                  </a:cubicBezTo>
                  <a:lnTo>
                    <a:pt x="127389" y="110677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46782" y="5374005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快不是唯一目标，能解释才是真正通关。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十题热身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28332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1–2 · 起步命令</a:t>
              </a:r>
              <a:endParaRPr lang="zh-CN" sz="30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853422" y="501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先口答，再点右侧揭晓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导入海龟模块怎么写？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69364" y="19935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想好了吗？点击揭晓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9218" y="2368868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提示：先把 turtle 工具箱带进来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45608" y="1931670"/>
              <a:ext cx="22633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en-US" sz="24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25677" y="2426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先导入模块，后面才能使用海龟命令。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向前走用什么命令？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69364" y="44319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想好了吗？点击揭晓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2626" y="4807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括号里写前进的距离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559" y="4370070"/>
              <a:ext cx="17714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forward()</a:t>
              </a:r>
              <a:endParaRPr lang="en-US" sz="24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9975" y="4864418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例如：t.forward(100)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3" name="Rectangle 33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十题热身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28332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3–4 · 重复动作</a:t>
              </a:r>
              <a:endParaRPr lang="zh-CN" sz="30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853422" y="501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先口答，再点右侧揭晓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重复动作使用什么结构？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1757" y="2368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让同一组动作多做几次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11259" y="1931670"/>
              <a:ext cx="13320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 循环</a:t>
              </a:r>
              <a:endParaRPr lang="zh-CN" sz="24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9152" y="2426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循环体里的代码会重复执行。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循环次数写在哪里？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48171" y="480726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它藏在 for 后面的括号里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9636" y="4370070"/>
              <a:ext cx="17553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range() 中</a:t>
              </a:r>
              <a:endParaRPr lang="zh-CN" sz="24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84519" y="486441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for petal in range(6):</a:t>
              </a:r>
              <a:endParaRPr lang="en-US" sz="135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3" name="Rectangle 33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十题热身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28332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5–6 · 位置导航</a:t>
              </a:r>
              <a:endParaRPr lang="zh-CN" sz="30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671685" y="501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一个去坐标，一个回中心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移动到指定坐标用什么？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1757" y="2368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坐标像地图上的目的地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94558" y="1947862"/>
              <a:ext cx="29654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goto() 或 setpos()</a:t>
              </a:r>
              <a:endParaRPr lang="zh-CN" sz="225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98149" y="24260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括号里填写 x、y 坐标。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回到画布中心用什么？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34407" y="480726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像按下“一键回家”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685820" y="4451314"/>
              <a:ext cx="344610" cy="334998"/>
            </a:xfrm>
            <a:custGeom>
              <a:avLst/>
              <a:gdLst/>
              <a:ahLst/>
              <a:cxnLst/>
              <a:rect l="l" t="t" r="r" b="b"/>
              <a:pathLst>
                <a:path w="344610" h="334998">
                  <a:moveTo>
                    <a:pt x="184090" y="6507"/>
                  </a:moveTo>
                  <a:lnTo>
                    <a:pt x="334108" y="156526"/>
                  </a:lnTo>
                  <a:cubicBezTo>
                    <a:pt x="344610" y="167027"/>
                    <a:pt x="337175" y="184979"/>
                    <a:pt x="322324" y="184979"/>
                  </a:cubicBezTo>
                  <a:lnTo>
                    <a:pt x="305655" y="184979"/>
                  </a:lnTo>
                  <a:lnTo>
                    <a:pt x="305655" y="284992"/>
                  </a:lnTo>
                  <a:cubicBezTo>
                    <a:pt x="305655" y="312610"/>
                    <a:pt x="283266" y="334998"/>
                    <a:pt x="255649" y="334998"/>
                  </a:cubicBezTo>
                  <a:lnTo>
                    <a:pt x="238980" y="334998"/>
                  </a:lnTo>
                  <a:lnTo>
                    <a:pt x="238980" y="218317"/>
                  </a:lnTo>
                  <a:cubicBezTo>
                    <a:pt x="238981" y="191838"/>
                    <a:pt x="218341" y="169948"/>
                    <a:pt x="191907" y="168394"/>
                  </a:cubicBezTo>
                  <a:lnTo>
                    <a:pt x="188974" y="168311"/>
                  </a:lnTo>
                  <a:lnTo>
                    <a:pt x="155636" y="168311"/>
                  </a:lnTo>
                  <a:cubicBezTo>
                    <a:pt x="128018" y="168311"/>
                    <a:pt x="105630" y="190699"/>
                    <a:pt x="105630" y="218317"/>
                  </a:cubicBezTo>
                  <a:lnTo>
                    <a:pt x="105630" y="334998"/>
                  </a:lnTo>
                  <a:lnTo>
                    <a:pt x="88961" y="334998"/>
                  </a:lnTo>
                  <a:cubicBezTo>
                    <a:pt x="61343" y="334998"/>
                    <a:pt x="38955" y="312610"/>
                    <a:pt x="38955" y="284992"/>
                  </a:cubicBezTo>
                  <a:lnTo>
                    <a:pt x="38955" y="184979"/>
                  </a:lnTo>
                  <a:lnTo>
                    <a:pt x="22286" y="184979"/>
                  </a:lnTo>
                  <a:cubicBezTo>
                    <a:pt x="7451" y="184979"/>
                    <a:pt x="0" y="167027"/>
                    <a:pt x="10501" y="156526"/>
                  </a:cubicBezTo>
                  <a:lnTo>
                    <a:pt x="160520" y="6507"/>
                  </a:lnTo>
                  <a:cubicBezTo>
                    <a:pt x="167029" y="0"/>
                    <a:pt x="177581" y="0"/>
                    <a:pt x="184090" y="6507"/>
                  </a:cubicBezTo>
                  <a:moveTo>
                    <a:pt x="188974" y="201648"/>
                  </a:moveTo>
                  <a:cubicBezTo>
                    <a:pt x="198180" y="201648"/>
                    <a:pt x="205642" y="209111"/>
                    <a:pt x="205642" y="218317"/>
                  </a:cubicBezTo>
                  <a:lnTo>
                    <a:pt x="205642" y="334998"/>
                  </a:lnTo>
                  <a:lnTo>
                    <a:pt x="138967" y="334998"/>
                  </a:lnTo>
                  <a:lnTo>
                    <a:pt x="138967" y="218317"/>
                  </a:lnTo>
                  <a:cubicBezTo>
                    <a:pt x="138968" y="209866"/>
                    <a:pt x="145293" y="202754"/>
                    <a:pt x="153686" y="201765"/>
                  </a:cubicBezTo>
                  <a:lnTo>
                    <a:pt x="155636" y="201648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62167" y="4430078"/>
              <a:ext cx="1287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home()</a:t>
              </a:r>
              <a:endParaRPr lang="en-US" sz="25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80020" y="4902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回到中心并恢复初始方向。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十题热身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32371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7–8 · 颜色与填充</a:t>
              </a:r>
              <a:endParaRPr lang="zh-CN" sz="30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62107" y="501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装饰工具箱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设置线条颜色用什么？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25677" y="23688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可以只设画笔，也可以同时设线和填充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234238" y="2052638"/>
              <a:ext cx="333375" cy="333716"/>
            </a:xfrm>
            <a:custGeom>
              <a:avLst/>
              <a:gdLst/>
              <a:ahLst/>
              <a:cxnLst/>
              <a:rect l="l" t="t" r="r" b="b"/>
              <a:pathLst>
                <a:path w="333375" h="333716">
                  <a:moveTo>
                    <a:pt x="166688" y="0"/>
                  </a:moveTo>
                  <a:cubicBezTo>
                    <a:pt x="258332" y="0"/>
                    <a:pt x="333375" y="66708"/>
                    <a:pt x="333375" y="150019"/>
                  </a:cubicBezTo>
                  <a:cubicBezTo>
                    <a:pt x="333375" y="172538"/>
                    <a:pt x="323374" y="194024"/>
                    <a:pt x="305805" y="209626"/>
                  </a:cubicBezTo>
                  <a:cubicBezTo>
                    <a:pt x="288636" y="224861"/>
                    <a:pt x="265600" y="233362"/>
                    <a:pt x="241697" y="233362"/>
                  </a:cubicBezTo>
                  <a:lnTo>
                    <a:pt x="199758" y="233362"/>
                  </a:lnTo>
                  <a:cubicBezTo>
                    <a:pt x="192108" y="233239"/>
                    <a:pt x="185355" y="238341"/>
                    <a:pt x="183384" y="245734"/>
                  </a:cubicBezTo>
                  <a:cubicBezTo>
                    <a:pt x="181412" y="253128"/>
                    <a:pt x="184728" y="260914"/>
                    <a:pt x="191424" y="264616"/>
                  </a:cubicBezTo>
                  <a:cubicBezTo>
                    <a:pt x="192591" y="265262"/>
                    <a:pt x="193677" y="266046"/>
                    <a:pt x="194658" y="266950"/>
                  </a:cubicBezTo>
                  <a:cubicBezTo>
                    <a:pt x="206343" y="277733"/>
                    <a:pt x="210160" y="294610"/>
                    <a:pt x="204251" y="309371"/>
                  </a:cubicBezTo>
                  <a:cubicBezTo>
                    <a:pt x="198343" y="324133"/>
                    <a:pt x="183936" y="333716"/>
                    <a:pt x="168038" y="333458"/>
                  </a:cubicBezTo>
                  <a:lnTo>
                    <a:pt x="165437" y="333308"/>
                  </a:lnTo>
                  <a:lnTo>
                    <a:pt x="166571" y="333375"/>
                  </a:lnTo>
                  <a:lnTo>
                    <a:pt x="162020" y="333308"/>
                  </a:lnTo>
                  <a:cubicBezTo>
                    <a:pt x="73676" y="330875"/>
                    <a:pt x="2500" y="259699"/>
                    <a:pt x="67" y="171355"/>
                  </a:cubicBezTo>
                  <a:lnTo>
                    <a:pt x="0" y="166688"/>
                  </a:lnTo>
                  <a:cubicBezTo>
                    <a:pt x="0" y="74626"/>
                    <a:pt x="74626" y="0"/>
                    <a:pt x="166688" y="0"/>
                  </a:cubicBezTo>
                  <a:moveTo>
                    <a:pt x="108347" y="108347"/>
                  </a:moveTo>
                  <a:cubicBezTo>
                    <a:pt x="90901" y="108341"/>
                    <a:pt x="76401" y="121787"/>
                    <a:pt x="75093" y="139184"/>
                  </a:cubicBezTo>
                  <a:lnTo>
                    <a:pt x="75009" y="141684"/>
                  </a:lnTo>
                  <a:cubicBezTo>
                    <a:pt x="75009" y="160096"/>
                    <a:pt x="89935" y="175022"/>
                    <a:pt x="108347" y="175022"/>
                  </a:cubicBezTo>
                  <a:cubicBezTo>
                    <a:pt x="126759" y="175022"/>
                    <a:pt x="141684" y="160096"/>
                    <a:pt x="141684" y="141684"/>
                  </a:cubicBezTo>
                  <a:cubicBezTo>
                    <a:pt x="141684" y="123273"/>
                    <a:pt x="126759" y="108347"/>
                    <a:pt x="108347" y="108347"/>
                  </a:cubicBezTo>
                  <a:moveTo>
                    <a:pt x="241697" y="108347"/>
                  </a:moveTo>
                  <a:cubicBezTo>
                    <a:pt x="224251" y="108341"/>
                    <a:pt x="209751" y="121787"/>
                    <a:pt x="208443" y="139184"/>
                  </a:cubicBezTo>
                  <a:lnTo>
                    <a:pt x="208359" y="141684"/>
                  </a:lnTo>
                  <a:cubicBezTo>
                    <a:pt x="208359" y="160096"/>
                    <a:pt x="223285" y="175022"/>
                    <a:pt x="241697" y="175022"/>
                  </a:cubicBezTo>
                  <a:cubicBezTo>
                    <a:pt x="260109" y="175022"/>
                    <a:pt x="275034" y="160096"/>
                    <a:pt x="275034" y="141684"/>
                  </a:cubicBezTo>
                  <a:cubicBezTo>
                    <a:pt x="275034" y="123273"/>
                    <a:pt x="260109" y="108347"/>
                    <a:pt x="241697" y="108347"/>
                  </a:cubicBezTo>
                  <a:moveTo>
                    <a:pt x="175022" y="58341"/>
                  </a:moveTo>
                  <a:cubicBezTo>
                    <a:pt x="157576" y="58335"/>
                    <a:pt x="143076" y="71781"/>
                    <a:pt x="141768" y="89178"/>
                  </a:cubicBezTo>
                  <a:lnTo>
                    <a:pt x="141684" y="91678"/>
                  </a:lnTo>
                  <a:cubicBezTo>
                    <a:pt x="141684" y="110090"/>
                    <a:pt x="156610" y="125016"/>
                    <a:pt x="175022" y="125016"/>
                  </a:cubicBezTo>
                  <a:cubicBezTo>
                    <a:pt x="193434" y="125016"/>
                    <a:pt x="208359" y="110090"/>
                    <a:pt x="208359" y="91678"/>
                  </a:cubicBezTo>
                  <a:cubicBezTo>
                    <a:pt x="208359" y="73266"/>
                    <a:pt x="193434" y="58341"/>
                    <a:pt x="175022" y="58341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01022" y="2048351"/>
              <a:ext cx="29907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pencolor() 或 color()</a:t>
              </a:r>
              <a:endParaRPr lang="zh-CN" sz="202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0888" y="2464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颜色名放在英文引号里。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20" name="Rectangle 20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2" name="Rectangle 22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9030" y="40224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8082" y="398335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开始和结束填充是哪两个命令？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494" y="4807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它们必须成对出现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0" name="Rectangle 30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25221" y="4410551"/>
              <a:ext cx="33041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begin_fill() + end_fill()</a:t>
              </a:r>
              <a:endParaRPr lang="en-US" sz="202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16546" y="48644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开始记录边界，结束后把区域填满。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24840"/>
            <a:chOff x="514350" y="323850"/>
            <a:chExt cx="1117015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764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107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十题热身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42210" y="361950"/>
              <a:ext cx="30664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9–10 · 背景与圆</a:t>
              </a:r>
              <a:endParaRPr lang="zh-CN" sz="30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62107" y="501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最后两颗星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200150"/>
            <a:ext cx="11163300" cy="2190750"/>
            <a:chOff x="514350" y="1200150"/>
            <a:chExt cx="11163300" cy="21907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14097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030" y="1584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1544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设置背景色用什么？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46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2357" y="2368868"/>
              <a:ext cx="1829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舞台属于 Screen 对象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28157" y="1964055"/>
              <a:ext cx="2898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Screen().bgcolor()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375" y="2426018"/>
              <a:ext cx="3375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也可以先保存 screen，再调用 bgcolor。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72250" y="1714500"/>
            <a:ext cx="4610100" cy="1066800"/>
            <a:chOff x="6572250" y="1714500"/>
            <a:chExt cx="46101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572250" y="17145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14350" y="3638550"/>
            <a:ext cx="11163300" cy="2190750"/>
            <a:chOff x="514350" y="3638550"/>
            <a:chExt cx="111633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514350" y="3638550"/>
              <a:ext cx="111633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04850" y="38481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4892" y="40224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8082" y="3983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画圆常用什么命令？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4672" y="4431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点击揭晓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3494" y="4807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花瓣就是圆形积木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61478" y="4353878"/>
              <a:ext cx="14316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circle()</a:t>
              </a:r>
              <a:endParaRPr lang="en-US" sz="25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3539" y="48644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例如：t.circle(45)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72250" y="4152900"/>
            <a:ext cx="4610100" cy="1066800"/>
            <a:chOff x="6572250" y="4152900"/>
            <a:chExt cx="4610100" cy="1066800"/>
          </a:xfrm>
        </p:grpSpPr>
        <p:sp>
          <p:nvSpPr>
            <p:cNvPr id="33" name="Rectangle 33"/>
            <p:cNvSpPr/>
            <p:nvPr/>
          </p:nvSpPr>
          <p:spPr>
            <a:xfrm>
              <a:off x="6572250" y="4152900"/>
              <a:ext cx="4610100" cy="1066800"/>
            </a:xfrm>
            <a:prstGeom prst="roundRect">
              <a:avLst>
                <a:gd name="adj" fmla="val 2142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858250" y="5905500"/>
            <a:ext cx="2324100" cy="514350"/>
            <a:chOff x="8858250" y="5905500"/>
            <a:chExt cx="2324100" cy="514350"/>
          </a:xfrm>
        </p:grpSpPr>
        <p:sp>
          <p:nvSpPr>
            <p:cNvPr id="35" name="Rectangle 35"/>
            <p:cNvSpPr/>
            <p:nvPr/>
          </p:nvSpPr>
          <p:spPr>
            <a:xfrm>
              <a:off x="8858250" y="5905500"/>
              <a:ext cx="2324100" cy="514350"/>
            </a:xfrm>
            <a:prstGeom prst="roundRect">
              <a:avLst>
                <a:gd name="adj" fmla="val 4074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2522" y="6060758"/>
              <a:ext cx="14755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★ 10/10 完成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400050"/>
            <a:ext cx="7360920" cy="624840"/>
            <a:chOff x="514350" y="400050"/>
            <a:chExt cx="7360920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400050"/>
              <a:ext cx="1809750" cy="4572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66597" y="526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项目挑战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94610" y="4381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怎样画一朵会旋转的彩色花？</a:t>
              </a:r>
              <a:endParaRPr lang="zh-CN" sz="30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4350" y="1504950"/>
            <a:ext cx="4495800" cy="4552950"/>
            <a:chOff x="514350" y="1504950"/>
            <a:chExt cx="4495800" cy="4552950"/>
          </a:xfrm>
        </p:grpSpPr>
        <p:sp>
          <p:nvSpPr>
            <p:cNvPr id="6" name="Rectangle 6"/>
            <p:cNvSpPr/>
            <p:nvPr/>
          </p:nvSpPr>
          <p:spPr>
            <a:xfrm>
              <a:off x="514350" y="1504950"/>
              <a:ext cx="4495800" cy="4552950"/>
            </a:xfrm>
            <a:prstGeom prst="roundRect">
              <a:avLst>
                <a:gd name="adj" fmla="val 720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696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DF1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最终成果</a:t>
              </a:r>
              <a:endParaRPr lang="zh-CN" sz="1650" b="1" dirty="0">
                <a:solidFill>
                  <a:srgbClr val="DDF1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1634" y="23374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可展示、可署名</a:t>
              </a:r>
              <a:endParaRPr lang="zh-CN" sz="27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1634" y="2832735"/>
              <a:ext cx="19011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的“小红花”</a:t>
              </a:r>
              <a:endParaRPr lang="zh-CN" sz="27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363855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6206" y="3939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成功标准</a:t>
              </a:r>
              <a:endParaRPr lang="zh-CN" sz="180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968" y="43748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✓ 程序能运行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6968" y="4755832"/>
              <a:ext cx="2526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✓ 花瓣、花心、花茎完整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968" y="5136832"/>
              <a:ext cx="208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✓ 能指出自己的修改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72100" y="1504950"/>
            <a:ext cx="6305550" cy="4095750"/>
            <a:chOff x="5372100" y="1504950"/>
            <a:chExt cx="6305550" cy="4095750"/>
          </a:xfrm>
        </p:grpSpPr>
        <p:sp>
          <p:nvSpPr>
            <p:cNvPr id="16" name="Rectangle 16"/>
            <p:cNvSpPr/>
            <p:nvPr/>
          </p:nvSpPr>
          <p:spPr>
            <a:xfrm>
              <a:off x="5372100" y="15049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81650" y="16859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63590" y="18440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花瓣</a:t>
              </a:r>
              <a:endParaRPr lang="zh-CN" sz="1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3344" y="1846898"/>
              <a:ext cx="19932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6个圆 + 左转60°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72100" y="25717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81650" y="27527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63590" y="2910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花心</a:t>
              </a:r>
              <a:endParaRPr lang="zh-CN" sz="1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43344" y="2913698"/>
              <a:ext cx="2445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dot(45, "yellow")</a:t>
              </a:r>
              <a:endParaRPr lang="en-US" sz="1950" b="1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72100" y="36385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81650" y="38195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63590" y="3977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花茎</a:t>
              </a:r>
              <a:endParaRPr lang="zh-CN" sz="1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43344" y="3980498"/>
              <a:ext cx="25845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方向270° + forward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72100" y="4705350"/>
              <a:ext cx="6305550" cy="895350"/>
            </a:xfrm>
            <a:prstGeom prst="roundRect">
              <a:avLst>
                <a:gd name="adj" fmla="val 2978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81650" y="4886325"/>
              <a:ext cx="1066800" cy="533400"/>
            </a:xfrm>
            <a:prstGeom prst="roundRect">
              <a:avLst>
                <a:gd name="adj" fmla="val 3571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63590" y="50444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名牌</a:t>
              </a:r>
              <a:endParaRPr lang="zh-CN" sz="1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3344" y="5047298"/>
              <a:ext cx="20043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screen.title()</a:t>
              </a:r>
              <a:endParaRPr lang="en-US" sz="1950" b="1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27672"/>
            <a:ext cx="4215003" cy="808673"/>
            <a:chOff x="496824" y="427672"/>
            <a:chExt cx="4215003" cy="80867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27672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做完，还要能讲出来</a:t>
              </a:r>
              <a:endParaRPr lang="zh-CN" sz="34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6730" y="9429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三项都做到，才算作品验收通过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1619250"/>
            <a:ext cx="3333750" cy="3124200"/>
            <a:chOff x="666750" y="1619250"/>
            <a:chExt cx="3333750" cy="3124200"/>
          </a:xfrm>
        </p:grpSpPr>
        <p:sp>
          <p:nvSpPr>
            <p:cNvPr id="5" name="Rectangle 5"/>
            <p:cNvSpPr/>
            <p:nvPr/>
          </p:nvSpPr>
          <p:spPr>
            <a:xfrm>
              <a:off x="666750" y="1619250"/>
              <a:ext cx="3333750" cy="3124200"/>
            </a:xfrm>
            <a:prstGeom prst="roundRect">
              <a:avLst>
                <a:gd name="adj" fmla="val 103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95350" y="1828800"/>
              <a:ext cx="647700" cy="6477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23949" y="2008982"/>
              <a:ext cx="238134" cy="287336"/>
            </a:xfrm>
            <a:custGeom>
              <a:avLst/>
              <a:gdLst/>
              <a:ahLst/>
              <a:cxnLst/>
              <a:rect l="l" t="t" r="r" b="b"/>
              <a:pathLst>
                <a:path w="238134" h="287336">
                  <a:moveTo>
                    <a:pt x="2" y="16668"/>
                  </a:moveTo>
                  <a:lnTo>
                    <a:pt x="2" y="270668"/>
                  </a:lnTo>
                  <a:cubicBezTo>
                    <a:pt x="0" y="276420"/>
                    <a:pt x="3110" y="281723"/>
                    <a:pt x="8130" y="284529"/>
                  </a:cubicBezTo>
                  <a:cubicBezTo>
                    <a:pt x="13150" y="287336"/>
                    <a:pt x="19296" y="287208"/>
                    <a:pt x="24195" y="284194"/>
                  </a:cubicBezTo>
                  <a:lnTo>
                    <a:pt x="230571" y="157194"/>
                  </a:lnTo>
                  <a:cubicBezTo>
                    <a:pt x="235271" y="154305"/>
                    <a:pt x="238134" y="149185"/>
                    <a:pt x="238134" y="143668"/>
                  </a:cubicBezTo>
                  <a:cubicBezTo>
                    <a:pt x="238134" y="138152"/>
                    <a:pt x="235271" y="133031"/>
                    <a:pt x="230571" y="130143"/>
                  </a:cubicBezTo>
                  <a:lnTo>
                    <a:pt x="24195" y="3142"/>
                  </a:lnTo>
                  <a:cubicBezTo>
                    <a:pt x="19296" y="128"/>
                    <a:pt x="13150" y="0"/>
                    <a:pt x="8130" y="2807"/>
                  </a:cubicBezTo>
                  <a:cubicBezTo>
                    <a:pt x="3110" y="5613"/>
                    <a:pt x="0" y="10916"/>
                    <a:pt x="2" y="166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3832" y="20212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基础版能运行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1456" y="2815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没有语法错误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1456" y="3234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图形窗口能弹出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980" y="3933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先跑通，再个性化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29125" y="1428750"/>
            <a:ext cx="3333750" cy="3314700"/>
            <a:chOff x="4429125" y="1428750"/>
            <a:chExt cx="3333750" cy="3314700"/>
          </a:xfrm>
        </p:grpSpPr>
        <p:sp>
          <p:nvSpPr>
            <p:cNvPr id="13" name="Rectangle 13"/>
            <p:cNvSpPr/>
            <p:nvPr/>
          </p:nvSpPr>
          <p:spPr>
            <a:xfrm>
              <a:off x="4429125" y="1428750"/>
              <a:ext cx="3333750" cy="3314700"/>
            </a:xfrm>
            <a:prstGeom prst="roundRect">
              <a:avLst>
                <a:gd name="adj" fmla="val 977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657725" y="1638300"/>
              <a:ext cx="647700" cy="6477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13859" y="1787525"/>
              <a:ext cx="335438" cy="349251"/>
            </a:xfrm>
            <a:custGeom>
              <a:avLst/>
              <a:gdLst/>
              <a:ahLst/>
              <a:cxnLst/>
              <a:rect l="l" t="t" r="r" b="b"/>
              <a:pathLst>
                <a:path w="335438" h="349251">
                  <a:moveTo>
                    <a:pt x="167716" y="0"/>
                  </a:moveTo>
                  <a:cubicBezTo>
                    <a:pt x="202786" y="0"/>
                    <a:pt x="231216" y="28430"/>
                    <a:pt x="231216" y="63500"/>
                  </a:cubicBezTo>
                  <a:lnTo>
                    <a:pt x="231185" y="64373"/>
                  </a:lnTo>
                  <a:lnTo>
                    <a:pt x="231661" y="64088"/>
                  </a:lnTo>
                  <a:cubicBezTo>
                    <a:pt x="245038" y="56327"/>
                    <a:pt x="260802" y="53756"/>
                    <a:pt x="275952" y="56864"/>
                  </a:cubicBezTo>
                  <a:lnTo>
                    <a:pt x="279714" y="57753"/>
                  </a:lnTo>
                  <a:cubicBezTo>
                    <a:pt x="295910" y="62132"/>
                    <a:pt x="309691" y="72788"/>
                    <a:pt x="318005" y="87360"/>
                  </a:cubicBezTo>
                  <a:cubicBezTo>
                    <a:pt x="335438" y="117695"/>
                    <a:pt x="325122" y="156414"/>
                    <a:pt x="294907" y="174054"/>
                  </a:cubicBezTo>
                  <a:lnTo>
                    <a:pt x="293827" y="174625"/>
                  </a:lnTo>
                  <a:lnTo>
                    <a:pt x="294955" y="175244"/>
                  </a:lnTo>
                  <a:cubicBezTo>
                    <a:pt x="323998" y="192227"/>
                    <a:pt x="334812" y="228877"/>
                    <a:pt x="319640" y="258906"/>
                  </a:cubicBezTo>
                  <a:lnTo>
                    <a:pt x="318037" y="261859"/>
                  </a:lnTo>
                  <a:cubicBezTo>
                    <a:pt x="309718" y="276452"/>
                    <a:pt x="295918" y="287120"/>
                    <a:pt x="279701" y="291495"/>
                  </a:cubicBezTo>
                  <a:cubicBezTo>
                    <a:pt x="263484" y="295871"/>
                    <a:pt x="246190" y="293592"/>
                    <a:pt x="231661" y="285163"/>
                  </a:cubicBezTo>
                  <a:lnTo>
                    <a:pt x="231185" y="284846"/>
                  </a:lnTo>
                  <a:lnTo>
                    <a:pt x="231216" y="285751"/>
                  </a:lnTo>
                  <a:cubicBezTo>
                    <a:pt x="231216" y="319587"/>
                    <a:pt x="204685" y="347480"/>
                    <a:pt x="170891" y="349171"/>
                  </a:cubicBezTo>
                  <a:lnTo>
                    <a:pt x="167716" y="349251"/>
                  </a:lnTo>
                  <a:cubicBezTo>
                    <a:pt x="132646" y="349251"/>
                    <a:pt x="104216" y="320821"/>
                    <a:pt x="104216" y="285751"/>
                  </a:cubicBezTo>
                  <a:lnTo>
                    <a:pt x="104232" y="284862"/>
                  </a:lnTo>
                  <a:lnTo>
                    <a:pt x="103771" y="285163"/>
                  </a:lnTo>
                  <a:cubicBezTo>
                    <a:pt x="90396" y="292929"/>
                    <a:pt x="74632" y="295506"/>
                    <a:pt x="59480" y="292402"/>
                  </a:cubicBezTo>
                  <a:lnTo>
                    <a:pt x="55734" y="291513"/>
                  </a:lnTo>
                  <a:cubicBezTo>
                    <a:pt x="39532" y="287138"/>
                    <a:pt x="25745" y="276482"/>
                    <a:pt x="17427" y="261906"/>
                  </a:cubicBezTo>
                  <a:cubicBezTo>
                    <a:pt x="0" y="231583"/>
                    <a:pt x="10300" y="192879"/>
                    <a:pt x="40494" y="175229"/>
                  </a:cubicBezTo>
                  <a:lnTo>
                    <a:pt x="41605" y="174625"/>
                  </a:lnTo>
                  <a:lnTo>
                    <a:pt x="40478" y="174022"/>
                  </a:lnTo>
                  <a:cubicBezTo>
                    <a:pt x="11434" y="157040"/>
                    <a:pt x="620" y="120390"/>
                    <a:pt x="15792" y="90361"/>
                  </a:cubicBezTo>
                  <a:lnTo>
                    <a:pt x="17380" y="87392"/>
                  </a:lnTo>
                  <a:cubicBezTo>
                    <a:pt x="25698" y="72786"/>
                    <a:pt x="39507" y="62108"/>
                    <a:pt x="55736" y="57732"/>
                  </a:cubicBezTo>
                  <a:cubicBezTo>
                    <a:pt x="71965" y="53356"/>
                    <a:pt x="89269" y="55644"/>
                    <a:pt x="103803" y="64088"/>
                  </a:cubicBezTo>
                  <a:lnTo>
                    <a:pt x="104216" y="64373"/>
                  </a:lnTo>
                  <a:lnTo>
                    <a:pt x="104216" y="63500"/>
                  </a:lnTo>
                  <a:cubicBezTo>
                    <a:pt x="104216" y="29664"/>
                    <a:pt x="130747" y="1771"/>
                    <a:pt x="164541" y="79"/>
                  </a:cubicBezTo>
                  <a:close/>
                  <a:moveTo>
                    <a:pt x="167716" y="127000"/>
                  </a:moveTo>
                  <a:cubicBezTo>
                    <a:pt x="141414" y="127000"/>
                    <a:pt x="120091" y="148323"/>
                    <a:pt x="120091" y="174625"/>
                  </a:cubicBezTo>
                  <a:cubicBezTo>
                    <a:pt x="120091" y="200928"/>
                    <a:pt x="141414" y="222250"/>
                    <a:pt x="167716" y="222250"/>
                  </a:cubicBezTo>
                  <a:cubicBezTo>
                    <a:pt x="194019" y="222250"/>
                    <a:pt x="215341" y="200928"/>
                    <a:pt x="215341" y="174625"/>
                  </a:cubicBezTo>
                  <a:cubicBezTo>
                    <a:pt x="215341" y="148323"/>
                    <a:pt x="194019" y="127000"/>
                    <a:pt x="167716" y="1270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66207" y="18307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三个部分齐全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3831" y="2625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　✓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3831" y="3044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花心　✓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3831" y="3463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花茎　✓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5355" y="41433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缺一块，就回到对应代码段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91500" y="1619250"/>
            <a:ext cx="3333750" cy="3124200"/>
            <a:chOff x="8191500" y="1619250"/>
            <a:chExt cx="3333750" cy="3124200"/>
          </a:xfrm>
        </p:grpSpPr>
        <p:sp>
          <p:nvSpPr>
            <p:cNvPr id="22" name="Rectangle 22"/>
            <p:cNvSpPr/>
            <p:nvPr/>
          </p:nvSpPr>
          <p:spPr>
            <a:xfrm>
              <a:off x="8191500" y="1619250"/>
              <a:ext cx="3333750" cy="3124200"/>
            </a:xfrm>
            <a:prstGeom prst="roundRect">
              <a:avLst>
                <a:gd name="adj" fmla="val 1036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420100" y="1828800"/>
              <a:ext cx="647700" cy="6477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584753" y="1993900"/>
              <a:ext cx="318395" cy="317501"/>
              <a:chOff x="8584753" y="1993900"/>
              <a:chExt cx="318395" cy="31750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584753" y="213677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8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28075" y="1993900"/>
                <a:ext cx="31750" cy="48072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48072">
                    <a:moveTo>
                      <a:pt x="15875" y="0"/>
                    </a:moveTo>
                    <a:cubicBezTo>
                      <a:pt x="23923" y="1"/>
                      <a:pt x="30697" y="6025"/>
                      <a:pt x="31639" y="14018"/>
                    </a:cubicBezTo>
                    <a:lnTo>
                      <a:pt x="31750" y="15875"/>
                    </a:lnTo>
                    <a:lnTo>
                      <a:pt x="31750" y="31750"/>
                    </a:lnTo>
                    <a:cubicBezTo>
                      <a:pt x="31741" y="40149"/>
                      <a:pt x="25190" y="47088"/>
                      <a:pt x="16805" y="47580"/>
                    </a:cubicBezTo>
                    <a:cubicBezTo>
                      <a:pt x="8420" y="48072"/>
                      <a:pt x="1103" y="41948"/>
                      <a:pt x="111" y="33607"/>
                    </a:cubicBezTo>
                    <a:lnTo>
                      <a:pt x="0" y="31750"/>
                    </a:ln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854628" y="213677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8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624929" y="2033607"/>
                <a:ext cx="45956" cy="46218"/>
              </a:xfrm>
              <a:custGeom>
                <a:avLst/>
                <a:gdLst/>
                <a:ahLst/>
                <a:cxnLst/>
                <a:rect l="l" t="t" r="r" b="b"/>
                <a:pathLst>
                  <a:path w="45956" h="46218">
                    <a:moveTo>
                      <a:pt x="6197" y="6220"/>
                    </a:moveTo>
                    <a:cubicBezTo>
                      <a:pt x="11853" y="565"/>
                      <a:pt x="20833" y="0"/>
                      <a:pt x="27152" y="4902"/>
                    </a:cubicBezTo>
                    <a:lnTo>
                      <a:pt x="28645" y="6220"/>
                    </a:lnTo>
                    <a:lnTo>
                      <a:pt x="39757" y="17332"/>
                    </a:lnTo>
                    <a:cubicBezTo>
                      <a:pt x="45666" y="23261"/>
                      <a:pt x="45956" y="32760"/>
                      <a:pt x="40420" y="39038"/>
                    </a:cubicBezTo>
                    <a:cubicBezTo>
                      <a:pt x="34884" y="45316"/>
                      <a:pt x="25424" y="46218"/>
                      <a:pt x="18802" y="41097"/>
                    </a:cubicBezTo>
                    <a:lnTo>
                      <a:pt x="17310" y="39780"/>
                    </a:lnTo>
                    <a:lnTo>
                      <a:pt x="6197" y="28667"/>
                    </a:lnTo>
                    <a:cubicBezTo>
                      <a:pt x="0" y="22468"/>
                      <a:pt x="0" y="12419"/>
                      <a:pt x="6197" y="62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816777" y="2033628"/>
                <a:ext cx="46436" cy="45958"/>
              </a:xfrm>
              <a:custGeom>
                <a:avLst/>
                <a:gdLst/>
                <a:ahLst/>
                <a:cxnLst/>
                <a:rect l="l" t="t" r="r" b="b"/>
                <a:pathLst>
                  <a:path w="46436" h="45958">
                    <a:moveTo>
                      <a:pt x="17550" y="6199"/>
                    </a:moveTo>
                    <a:cubicBezTo>
                      <a:pt x="23479" y="290"/>
                      <a:pt x="32978" y="0"/>
                      <a:pt x="39256" y="5536"/>
                    </a:cubicBezTo>
                    <a:cubicBezTo>
                      <a:pt x="45534" y="11072"/>
                      <a:pt x="46436" y="20532"/>
                      <a:pt x="41315" y="27154"/>
                    </a:cubicBezTo>
                    <a:lnTo>
                      <a:pt x="39998" y="28646"/>
                    </a:lnTo>
                    <a:lnTo>
                      <a:pt x="28885" y="39759"/>
                    </a:lnTo>
                    <a:cubicBezTo>
                      <a:pt x="22956" y="45668"/>
                      <a:pt x="13458" y="45958"/>
                      <a:pt x="7180" y="40422"/>
                    </a:cubicBezTo>
                    <a:cubicBezTo>
                      <a:pt x="901" y="34885"/>
                      <a:pt x="0" y="25426"/>
                      <a:pt x="5120" y="18804"/>
                    </a:cubicBezTo>
                    <a:lnTo>
                      <a:pt x="6438" y="17311"/>
                    </a:lnTo>
                    <a:lnTo>
                      <a:pt x="17550" y="61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96325" y="2247901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79375" y="0"/>
                    </a:moveTo>
                    <a:cubicBezTo>
                      <a:pt x="88143" y="0"/>
                      <a:pt x="95250" y="7107"/>
                      <a:pt x="95250" y="15875"/>
                    </a:cubicBezTo>
                    <a:cubicBezTo>
                      <a:pt x="95250" y="42178"/>
                      <a:pt x="73928" y="63500"/>
                      <a:pt x="47625" y="63500"/>
                    </a:cubicBezTo>
                    <a:cubicBezTo>
                      <a:pt x="21322" y="63500"/>
                      <a:pt x="0" y="42178"/>
                      <a:pt x="0" y="15875"/>
                    </a:cubicBezTo>
                    <a:cubicBezTo>
                      <a:pt x="1" y="7827"/>
                      <a:pt x="6025" y="1053"/>
                      <a:pt x="14018" y="111"/>
                    </a:cubicBezTo>
                    <a:lnTo>
                      <a:pt x="15875" y="0"/>
                    </a:lnTo>
                    <a:lnTo>
                      <a:pt x="7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40623" y="2057400"/>
                <a:ext cx="206654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206654" h="174625">
                    <a:moveTo>
                      <a:pt x="103327" y="0"/>
                    </a:moveTo>
                    <a:cubicBezTo>
                      <a:pt x="144326" y="0"/>
                      <a:pt x="180725" y="26235"/>
                      <a:pt x="193689" y="65129"/>
                    </a:cubicBezTo>
                    <a:cubicBezTo>
                      <a:pt x="206654" y="104024"/>
                      <a:pt x="193276" y="146851"/>
                      <a:pt x="160477" y="171450"/>
                    </a:cubicBezTo>
                    <a:cubicBezTo>
                      <a:pt x="158289" y="173094"/>
                      <a:pt x="155714" y="174144"/>
                      <a:pt x="153000" y="174498"/>
                    </a:cubicBezTo>
                    <a:lnTo>
                      <a:pt x="150952" y="174625"/>
                    </a:lnTo>
                    <a:lnTo>
                      <a:pt x="55702" y="174625"/>
                    </a:lnTo>
                    <a:cubicBezTo>
                      <a:pt x="52267" y="174625"/>
                      <a:pt x="48925" y="173511"/>
                      <a:pt x="46177" y="171450"/>
                    </a:cubicBezTo>
                    <a:cubicBezTo>
                      <a:pt x="13378" y="146851"/>
                      <a:pt x="0" y="104024"/>
                      <a:pt x="12965" y="65129"/>
                    </a:cubicBezTo>
                    <a:cubicBezTo>
                      <a:pt x="25930" y="26235"/>
                      <a:pt x="62329" y="0"/>
                      <a:pt x="1033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228582" y="20212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说出修改点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06206" y="2815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我把＿＿改成＿＿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6206" y="3234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结果发生了＿＿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07730" y="3933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会解释，才是真的会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809750" y="5276850"/>
            <a:ext cx="8572500" cy="647700"/>
            <a:chOff x="1809750" y="5276850"/>
            <a:chExt cx="8572500" cy="647700"/>
          </a:xfrm>
        </p:grpSpPr>
        <p:sp>
          <p:nvSpPr>
            <p:cNvPr id="37" name="Rectangle 37"/>
            <p:cNvSpPr/>
            <p:nvPr/>
          </p:nvSpPr>
          <p:spPr>
            <a:xfrm>
              <a:off x="1809750" y="5276850"/>
              <a:ext cx="8572500" cy="647700"/>
            </a:xfrm>
            <a:prstGeom prst="roundRect">
              <a:avLst>
                <a:gd name="adj" fmla="val 3823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71914" y="5485448"/>
              <a:ext cx="5048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能运行　+　三部分完整　+　能指出修改处</a:t>
              </a:r>
              <a:endParaRPr lang="zh-CN" sz="195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47700" y="666750"/>
            <a:ext cx="4632198" cy="1700784"/>
            <a:chOff x="647700" y="666750"/>
            <a:chExt cx="4632198" cy="1700784"/>
          </a:xfrm>
        </p:grpSpPr>
        <p:sp>
          <p:nvSpPr>
            <p:cNvPr id="2" name="Rectangle 2"/>
            <p:cNvSpPr/>
            <p:nvPr/>
          </p:nvSpPr>
          <p:spPr>
            <a:xfrm>
              <a:off x="666750" y="66675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0058" y="8029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第二站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1353502"/>
              <a:ext cx="330936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新命令小实验</a:t>
              </a:r>
              <a:endParaRPr lang="zh-CN" sz="40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606" y="20154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让作品更整洁、更会自我介绍、更容易调试</a:t>
              </a:r>
              <a:endParaRPr lang="zh-CN" sz="180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2876550"/>
            <a:ext cx="7315200" cy="2362200"/>
            <a:chOff x="666750" y="2876550"/>
            <a:chExt cx="7315200" cy="2362200"/>
          </a:xfrm>
        </p:grpSpPr>
        <p:sp>
          <p:nvSpPr>
            <p:cNvPr id="7" name="Rectangle 7"/>
            <p:cNvSpPr/>
            <p:nvPr/>
          </p:nvSpPr>
          <p:spPr>
            <a:xfrm>
              <a:off x="666750" y="2876550"/>
              <a:ext cx="7315200" cy="6858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990850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4989" y="3149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6182" y="3078480"/>
              <a:ext cx="20589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显示 / 隐藏海龟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3714750"/>
              <a:ext cx="7315200" cy="6858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38200" y="382905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4989" y="3988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6182" y="39166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给窗口设置标题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" y="4552950"/>
              <a:ext cx="7315200" cy="6858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38200" y="46672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4989" y="4826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6182" y="47548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一次只改一处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82000" y="1762804"/>
            <a:ext cx="3048000" cy="3808642"/>
            <a:chOff x="8382000" y="1762804"/>
            <a:chExt cx="3048000" cy="3808642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382000" y="1762804"/>
              <a:ext cx="3048000" cy="380864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8348" y="450533"/>
            <a:ext cx="11179302" cy="616077"/>
            <a:chOff x="498348" y="450533"/>
            <a:chExt cx="111793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50533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先把命令放回工具箱</a:t>
              </a:r>
              <a:endParaRPr lang="zh-CN" sz="31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8591550" y="457200"/>
              <a:ext cx="3086100" cy="438150"/>
            </a:xfrm>
            <a:prstGeom prst="roundRect">
              <a:avLst>
                <a:gd name="adj" fmla="val 50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97345" y="581025"/>
              <a:ext cx="187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分类 → 更快选对命令</a:t>
              </a:r>
              <a:endParaRPr lang="zh-CN" sz="150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" y="1485900"/>
            <a:ext cx="11049000" cy="4400550"/>
            <a:chOff x="514350" y="1485900"/>
            <a:chExt cx="11049000" cy="4400550"/>
          </a:xfrm>
        </p:grpSpPr>
        <p:sp>
          <p:nvSpPr>
            <p:cNvPr id="6" name="Rectangle 6"/>
            <p:cNvSpPr/>
            <p:nvPr/>
          </p:nvSpPr>
          <p:spPr>
            <a:xfrm>
              <a:off x="514350" y="148590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42950" y="17145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4616" y="183308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移动</a:t>
              </a:r>
              <a:endParaRPr lang="zh-CN" sz="172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575" y="2445544"/>
              <a:ext cx="250371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forward() · left()</a:t>
              </a:r>
              <a:endParaRPr lang="en-US" sz="1880" b="1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099" y="2916079"/>
              <a:ext cx="13666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66708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setheading()</a:t>
              </a:r>
              <a:endParaRPr lang="en-US" sz="1580" dirty="0">
                <a:solidFill>
                  <a:srgbClr val="66708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148590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00800" y="17145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22466" y="183308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重复</a:t>
              </a:r>
              <a:endParaRPr lang="zh-CN" sz="172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48425" y="2445544"/>
              <a:ext cx="17862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· range()</a:t>
              </a:r>
              <a:endParaRPr lang="en-US" sz="1880" b="1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49949" y="29160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让动作重复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4350" y="382905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405765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4616" y="417623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位置</a:t>
              </a:r>
              <a:endParaRPr lang="zh-CN" sz="172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0575" y="4788694"/>
              <a:ext cx="21316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goto() · home()</a:t>
              </a:r>
              <a:endParaRPr lang="en-US" sz="1880" b="1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2099" y="5259229"/>
              <a:ext cx="15368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去坐标 / 回原点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72200" y="3829050"/>
              <a:ext cx="5391150" cy="20574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00800" y="405765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22466" y="4176236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装饰</a:t>
              </a:r>
              <a:endParaRPr lang="zh-CN" sz="172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8425" y="4788694"/>
              <a:ext cx="23177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color() · circle()</a:t>
              </a:r>
              <a:endParaRPr lang="en-US" sz="1880" b="1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9949" y="5259229"/>
              <a:ext cx="17814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填充 / 背景 / 画圆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8348" y="441008"/>
            <a:ext cx="4466844" cy="827531"/>
            <a:chOff x="498348" y="441008"/>
            <a:chExt cx="4466844" cy="827531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海龟出场，还是退场？</a:t>
              </a:r>
              <a:endParaRPr lang="zh-CN" sz="31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5968" y="9458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只改变光标是否可见，不会擦除已经画好的图</a:t>
              </a:r>
              <a:endParaRPr lang="zh-CN" sz="16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4350" y="1485900"/>
            <a:ext cx="11163300" cy="3505200"/>
            <a:chOff x="514350" y="1485900"/>
            <a:chExt cx="11163300" cy="3505200"/>
          </a:xfrm>
        </p:grpSpPr>
        <p:sp>
          <p:nvSpPr>
            <p:cNvPr id="5" name="Rectangle 5"/>
            <p:cNvSpPr/>
            <p:nvPr/>
          </p:nvSpPr>
          <p:spPr>
            <a:xfrm>
              <a:off x="514350" y="1485900"/>
              <a:ext cx="5295900" cy="35052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381750" y="1485900"/>
              <a:ext cx="5295900" cy="35052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4682" y="1773555"/>
              <a:ext cx="19656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showturtle()</a:t>
              </a:r>
              <a:endParaRPr lang="en-US" sz="21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52082" y="1773555"/>
              <a:ext cx="18320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hideturtle()</a:t>
              </a:r>
              <a:endParaRPr lang="en-US" sz="2100" b="1" dirty="0">
                <a:solidFill>
                  <a:srgbClr val="FF6FA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662504" y="2114550"/>
              <a:ext cx="2199492" cy="2209800"/>
              <a:chOff x="1662504" y="2114550"/>
              <a:chExt cx="2199492" cy="22098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2476500" y="21145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 rot="3600000">
                <a:off x="2954936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 rot="7200000">
                <a:off x="2954936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 rot="10800000">
                <a:off x="2476500" y="32194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 rot="-7200000">
                <a:off x="1998064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 rot="-3600000">
                <a:off x="1998064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476500" y="2933700"/>
                <a:ext cx="571500" cy="5715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33750" y="3581400"/>
                <a:ext cx="3238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42900">
                    <a:moveTo>
                      <a:pt x="0" y="0"/>
                    </a:moveTo>
                    <a:lnTo>
                      <a:pt x="323850" y="171450"/>
                    </a:lnTo>
                    <a:lnTo>
                      <a:pt x="0" y="342900"/>
                    </a:lnTo>
                    <a:close/>
                  </a:path>
                </a:pathLst>
              </a:custGeom>
              <a:solidFill>
                <a:srgbClr val="65C466"/>
              </a:solidFill>
              <a:ln>
                <a:noFill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7529904" y="2114550"/>
              <a:ext cx="2199492" cy="2209800"/>
              <a:chOff x="7529904" y="2114550"/>
              <a:chExt cx="2199492" cy="22098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343900" y="21145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3600000">
                <a:off x="8822336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7200000">
                <a:off x="8822336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10800000">
                <a:off x="8343900" y="3219450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7200000">
                <a:off x="7865464" y="294322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 rot="-3600000">
                <a:off x="7865464" y="2390775"/>
                <a:ext cx="571500" cy="11049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8343900" y="2933700"/>
                <a:ext cx="571500" cy="5715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303501" y="43638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作画时看得到海龟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0901" y="43638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展示时画面更整洁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4350" y="5314950"/>
            <a:ext cx="5295900" cy="819150"/>
            <a:chOff x="514350" y="5314950"/>
            <a:chExt cx="5295900" cy="819150"/>
          </a:xfrm>
        </p:grpSpPr>
        <p:sp>
          <p:nvSpPr>
            <p:cNvPr id="29" name="Rectangle 29"/>
            <p:cNvSpPr/>
            <p:nvPr/>
          </p:nvSpPr>
          <p:spPr>
            <a:xfrm>
              <a:off x="5143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78102" y="5615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显示海龟：适合观察绘制过程</a:t>
              </a:r>
              <a:endParaRPr lang="zh-CN" sz="180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81750" y="5314950"/>
            <a:ext cx="5295900" cy="819150"/>
            <a:chOff x="6381750" y="5314950"/>
            <a:chExt cx="5295900" cy="819150"/>
          </a:xfrm>
        </p:grpSpPr>
        <p:sp>
          <p:nvSpPr>
            <p:cNvPr id="32" name="Rectangle 32"/>
            <p:cNvSpPr/>
            <p:nvPr/>
          </p:nvSpPr>
          <p:spPr>
            <a:xfrm>
              <a:off x="63817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45502" y="5615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隐藏海龟：适合展示最终作品</a:t>
              </a:r>
              <a:endParaRPr lang="zh-CN" sz="180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4350" y="5314950"/>
            <a:ext cx="5295900" cy="819150"/>
            <a:chOff x="514350" y="5314950"/>
            <a:chExt cx="5295900" cy="819150"/>
          </a:xfrm>
        </p:grpSpPr>
        <p:sp>
          <p:nvSpPr>
            <p:cNvPr id="35" name="Rectangle 35"/>
            <p:cNvSpPr/>
            <p:nvPr/>
          </p:nvSpPr>
          <p:spPr>
            <a:xfrm>
              <a:off x="5143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381750" y="5314950"/>
            <a:ext cx="5295900" cy="819150"/>
            <a:chOff x="6381750" y="5314950"/>
            <a:chExt cx="5295900" cy="819150"/>
          </a:xfrm>
        </p:grpSpPr>
        <p:sp>
          <p:nvSpPr>
            <p:cNvPr id="37" name="Rectangle 37"/>
            <p:cNvSpPr/>
            <p:nvPr/>
          </p:nvSpPr>
          <p:spPr>
            <a:xfrm>
              <a:off x="6381750" y="5314950"/>
              <a:ext cx="5295900" cy="819150"/>
            </a:xfrm>
            <a:prstGeom prst="roundRect">
              <a:avLst>
                <a:gd name="adj" fmla="val 32558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98473" y="432081"/>
            <a:ext cx="11236327" cy="709014"/>
            <a:chOff x="498473" y="432081"/>
            <a:chExt cx="11236327" cy="709014"/>
          </a:xfrm>
        </p:grpSpPr>
        <p:sp>
          <p:nvSpPr>
            <p:cNvPr id="3" name="Freeform 3"/>
            <p:cNvSpPr/>
            <p:nvPr/>
          </p:nvSpPr>
          <p:spPr>
            <a:xfrm>
              <a:off x="498473" y="4320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9472" y="43529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海龟显隐实验站</a:t>
              </a:r>
              <a:endParaRPr lang="zh-CN" sz="28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330" y="8477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选任务，观察小海龟上场或退场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753350" y="438150"/>
              <a:ext cx="39814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98586" y="616268"/>
              <a:ext cx="3090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①选任务 → ②看代码 → ③运行 → ④看结果</a:t>
              </a:r>
              <a:endParaRPr lang="zh-CN" sz="13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219200"/>
            <a:ext cx="11277600" cy="990600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5800" y="1409700"/>
            <a:ext cx="5143500" cy="609600"/>
            <a:chOff x="685800" y="1409700"/>
            <a:chExt cx="5143500" cy="609600"/>
          </a:xfrm>
        </p:grpSpPr>
        <p:sp>
          <p:nvSpPr>
            <p:cNvPr id="10" name="Rectangle 10"/>
            <p:cNvSpPr/>
            <p:nvPr/>
          </p:nvSpPr>
          <p:spPr>
            <a:xfrm>
              <a:off x="685800" y="1409700"/>
              <a:ext cx="5143500" cy="609600"/>
            </a:xfrm>
            <a:prstGeom prst="roundRect">
              <a:avLst>
                <a:gd name="adj" fmla="val 34375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27306" y="1616075"/>
              <a:ext cx="297438" cy="215901"/>
            </a:xfrm>
            <a:custGeom>
              <a:avLst/>
              <a:gdLst/>
              <a:ahLst/>
              <a:cxnLst/>
              <a:rect l="l" t="t" r="r" b="b"/>
              <a:pathLst>
                <a:path w="297438" h="215901">
                  <a:moveTo>
                    <a:pt x="149020" y="0"/>
                  </a:moveTo>
                  <a:cubicBezTo>
                    <a:pt x="206908" y="0"/>
                    <a:pt x="255121" y="32776"/>
                    <a:pt x="292931" y="96535"/>
                  </a:cubicBezTo>
                  <a:lnTo>
                    <a:pt x="295899" y="101649"/>
                  </a:lnTo>
                  <a:lnTo>
                    <a:pt x="296507" y="102998"/>
                  </a:lnTo>
                  <a:lnTo>
                    <a:pt x="296911" y="104118"/>
                  </a:lnTo>
                  <a:lnTo>
                    <a:pt x="297100" y="104860"/>
                  </a:lnTo>
                  <a:lnTo>
                    <a:pt x="297289" y="105967"/>
                  </a:lnTo>
                  <a:lnTo>
                    <a:pt x="297438" y="107316"/>
                  </a:lnTo>
                  <a:lnTo>
                    <a:pt x="297438" y="108800"/>
                  </a:lnTo>
                  <a:lnTo>
                    <a:pt x="297249" y="110298"/>
                  </a:lnTo>
                  <a:cubicBezTo>
                    <a:pt x="297160" y="110799"/>
                    <a:pt x="297043" y="111295"/>
                    <a:pt x="296898" y="111782"/>
                  </a:cubicBezTo>
                  <a:lnTo>
                    <a:pt x="296372" y="113240"/>
                  </a:lnTo>
                  <a:lnTo>
                    <a:pt x="295886" y="114252"/>
                  </a:lnTo>
                  <a:lnTo>
                    <a:pt x="295670" y="114657"/>
                  </a:lnTo>
                  <a:cubicBezTo>
                    <a:pt x="258373" y="179913"/>
                    <a:pt x="210659" y="214241"/>
                    <a:pt x="153243" y="215847"/>
                  </a:cubicBezTo>
                  <a:lnTo>
                    <a:pt x="149020" y="215901"/>
                  </a:lnTo>
                  <a:cubicBezTo>
                    <a:pt x="89701" y="215901"/>
                    <a:pt x="40570" y="181505"/>
                    <a:pt x="2369" y="114643"/>
                  </a:cubicBezTo>
                  <a:cubicBezTo>
                    <a:pt x="0" y="110496"/>
                    <a:pt x="0" y="105405"/>
                    <a:pt x="2369" y="101257"/>
                  </a:cubicBezTo>
                  <a:cubicBezTo>
                    <a:pt x="40570" y="34396"/>
                    <a:pt x="89701" y="0"/>
                    <a:pt x="149020" y="0"/>
                  </a:cubicBezTo>
                  <a:close/>
                  <a:moveTo>
                    <a:pt x="149020" y="67469"/>
                  </a:moveTo>
                  <a:cubicBezTo>
                    <a:pt x="126662" y="67469"/>
                    <a:pt x="108538" y="85593"/>
                    <a:pt x="108538" y="107950"/>
                  </a:cubicBezTo>
                  <a:cubicBezTo>
                    <a:pt x="108538" y="130307"/>
                    <a:pt x="126662" y="148432"/>
                    <a:pt x="149020" y="148432"/>
                  </a:cubicBezTo>
                  <a:cubicBezTo>
                    <a:pt x="171377" y="148432"/>
                    <a:pt x="189501" y="130307"/>
                    <a:pt x="189501" y="107950"/>
                  </a:cubicBezTo>
                  <a:cubicBezTo>
                    <a:pt x="189501" y="85593"/>
                    <a:pt x="171377" y="67469"/>
                    <a:pt x="149020" y="67469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01318" y="1631632"/>
              <a:ext cx="2338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 A：让小海龟上场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57900" y="1409700"/>
            <a:ext cx="5448300" cy="609600"/>
            <a:chOff x="6057900" y="1409700"/>
            <a:chExt cx="5448300" cy="609600"/>
          </a:xfrm>
        </p:grpSpPr>
        <p:sp>
          <p:nvSpPr>
            <p:cNvPr id="14" name="Rectangle 14"/>
            <p:cNvSpPr/>
            <p:nvPr/>
          </p:nvSpPr>
          <p:spPr>
            <a:xfrm>
              <a:off x="6057900" y="1409700"/>
              <a:ext cx="5448300" cy="609600"/>
            </a:xfrm>
            <a:prstGeom prst="roundRect">
              <a:avLst>
                <a:gd name="adj" fmla="val 34375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0" y="1543050"/>
              <a:ext cx="342900" cy="3429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92023" y="1619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×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11518" y="1631632"/>
              <a:ext cx="2338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 B：让小海龟退场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409700"/>
            <a:ext cx="5143500" cy="609600"/>
            <a:chOff x="685800" y="1409700"/>
            <a:chExt cx="5143500" cy="609600"/>
          </a:xfrm>
        </p:grpSpPr>
        <p:sp>
          <p:nvSpPr>
            <p:cNvPr id="19" name="Rectangle 19"/>
            <p:cNvSpPr/>
            <p:nvPr/>
          </p:nvSpPr>
          <p:spPr>
            <a:xfrm>
              <a:off x="685800" y="1409700"/>
              <a:ext cx="51435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57900" y="1409700"/>
            <a:ext cx="5448300" cy="609600"/>
            <a:chOff x="6057900" y="1409700"/>
            <a:chExt cx="5448300" cy="609600"/>
          </a:xfrm>
        </p:grpSpPr>
        <p:sp>
          <p:nvSpPr>
            <p:cNvPr id="21" name="Rectangle 21"/>
            <p:cNvSpPr/>
            <p:nvPr/>
          </p:nvSpPr>
          <p:spPr>
            <a:xfrm>
              <a:off x="6057900" y="1409700"/>
              <a:ext cx="54483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57200" y="2419350"/>
            <a:ext cx="6667500" cy="3886200"/>
            <a:chOff x="457200" y="2419350"/>
            <a:chExt cx="6667500" cy="3886200"/>
          </a:xfrm>
        </p:grpSpPr>
        <p:sp>
          <p:nvSpPr>
            <p:cNvPr id="23" name="Rectangle 23"/>
            <p:cNvSpPr/>
            <p:nvPr/>
          </p:nvSpPr>
          <p:spPr>
            <a:xfrm>
              <a:off x="457200" y="2419350"/>
              <a:ext cx="6667500" cy="3886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04850" y="2667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52500" y="2667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200150" y="2667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49730" y="2657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代码编辑器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" y="3009900"/>
              <a:ext cx="6210300" cy="2286000"/>
            </a:xfrm>
            <a:prstGeom prst="roundRect">
              <a:avLst>
                <a:gd name="adj" fmla="val 916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32289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6780" y="360997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 = turtle.Turtle()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9150" y="4000500"/>
              <a:ext cx="5905500" cy="552450"/>
            </a:xfrm>
            <a:prstGeom prst="roundRect">
              <a:avLst>
                <a:gd name="adj" fmla="val 25862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780" y="486727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turtle.done()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58418" y="4203382"/>
            <a:ext cx="1800967" cy="322707"/>
            <a:chOff x="1058418" y="4203382"/>
            <a:chExt cx="1800967" cy="322707"/>
          </a:xfrm>
        </p:grpSpPr>
        <p:sp>
          <p:nvSpPr>
            <p:cNvPr id="34" name="TextBox 34"/>
            <p:cNvSpPr txBox="1"/>
            <p:nvPr/>
          </p:nvSpPr>
          <p:spPr>
            <a:xfrm>
              <a:off x="1058418" y="4203382"/>
              <a:ext cx="1800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t.showturtle()</a:t>
              </a:r>
              <a:endParaRPr lang="en-US" sz="16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58418" y="4203382"/>
            <a:ext cx="1800967" cy="322707"/>
            <a:chOff x="1058418" y="4203382"/>
            <a:chExt cx="1800967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1058418" y="4203382"/>
              <a:ext cx="1800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t.showturtle()</a:t>
              </a:r>
              <a:endParaRPr lang="en-US" sz="16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58418" y="4203382"/>
            <a:ext cx="1696014" cy="322707"/>
            <a:chOff x="1058418" y="4203382"/>
            <a:chExt cx="1696014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1058418" y="4203382"/>
              <a:ext cx="16960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t.hideturtle()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0" name="Rectangle 40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3" name="Rectangle 43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6" name="Rectangle 46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8" name="Rectangle 48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353300" y="2419350"/>
            <a:ext cx="4381500" cy="3886200"/>
            <a:chOff x="7353300" y="2419350"/>
            <a:chExt cx="4381500" cy="3886200"/>
          </a:xfrm>
        </p:grpSpPr>
        <p:sp>
          <p:nvSpPr>
            <p:cNvPr id="50" name="Rectangle 50"/>
            <p:cNvSpPr/>
            <p:nvPr/>
          </p:nvSpPr>
          <p:spPr>
            <a:xfrm>
              <a:off x="7353300" y="2419350"/>
              <a:ext cx="4381500" cy="38862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870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81900" y="3048000"/>
              <a:ext cx="3924300" cy="2266950"/>
            </a:xfrm>
            <a:prstGeom prst="roundRect">
              <a:avLst>
                <a:gd name="adj" fmla="val 1092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800975" y="32670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029575" y="32670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258175" y="32670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20000" y="552450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8485429" y="5704046"/>
            <a:ext cx="2117242" cy="278702"/>
            <a:chOff x="8485429" y="5704046"/>
            <a:chExt cx="2117242" cy="278702"/>
          </a:xfrm>
        </p:grpSpPr>
        <p:sp>
          <p:nvSpPr>
            <p:cNvPr id="58" name="TextBox 58"/>
            <p:cNvSpPr txBox="1"/>
            <p:nvPr/>
          </p:nvSpPr>
          <p:spPr>
            <a:xfrm>
              <a:off x="8485429" y="57040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点击运行，观察状态变化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116920" y="5695950"/>
            <a:ext cx="854259" cy="293370"/>
            <a:chOff x="9116920" y="5695950"/>
            <a:chExt cx="854259" cy="293370"/>
          </a:xfrm>
        </p:grpSpPr>
        <p:sp>
          <p:nvSpPr>
            <p:cNvPr id="60" name="TextBox 60"/>
            <p:cNvSpPr txBox="1"/>
            <p:nvPr/>
          </p:nvSpPr>
          <p:spPr>
            <a:xfrm>
              <a:off x="9116920" y="5695950"/>
              <a:ext cx="854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运行中……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425815" y="5695950"/>
            <a:ext cx="2236470" cy="293370"/>
            <a:chOff x="8425815" y="5695950"/>
            <a:chExt cx="2236470" cy="293370"/>
          </a:xfrm>
        </p:grpSpPr>
        <p:sp>
          <p:nvSpPr>
            <p:cNvPr id="62" name="TextBox 62"/>
            <p:cNvSpPr txBox="1"/>
            <p:nvPr/>
          </p:nvSpPr>
          <p:spPr>
            <a:xfrm>
              <a:off x="8425815" y="56959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实验完成，可以再点一次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61972" y="3967162"/>
            <a:ext cx="325755" cy="440055"/>
            <a:chOff x="8161972" y="3967162"/>
            <a:chExt cx="325755" cy="440055"/>
          </a:xfrm>
        </p:grpSpPr>
        <p:sp>
          <p:nvSpPr>
            <p:cNvPr id="64" name="TextBox 64"/>
            <p:cNvSpPr txBox="1"/>
            <p:nvPr/>
          </p:nvSpPr>
          <p:spPr>
            <a:xfrm>
              <a:off x="81619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显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9172" y="3967162"/>
            <a:ext cx="325755" cy="440055"/>
            <a:chOff x="8619172" y="3967162"/>
            <a:chExt cx="325755" cy="440055"/>
          </a:xfrm>
        </p:grpSpPr>
        <p:sp>
          <p:nvSpPr>
            <p:cNvPr id="66" name="TextBox 66"/>
            <p:cNvSpPr txBox="1"/>
            <p:nvPr/>
          </p:nvSpPr>
          <p:spPr>
            <a:xfrm>
              <a:off x="86191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076372" y="3967162"/>
            <a:ext cx="325755" cy="440055"/>
            <a:chOff x="9076372" y="3967162"/>
            <a:chExt cx="325755" cy="440055"/>
          </a:xfrm>
        </p:grpSpPr>
        <p:sp>
          <p:nvSpPr>
            <p:cNvPr id="68" name="TextBox 68"/>
            <p:cNvSpPr txBox="1"/>
            <p:nvPr/>
          </p:nvSpPr>
          <p:spPr>
            <a:xfrm>
              <a:off x="90763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33572" y="3967162"/>
            <a:ext cx="325755" cy="440055"/>
            <a:chOff x="9533572" y="3967162"/>
            <a:chExt cx="325755" cy="440055"/>
          </a:xfrm>
        </p:grpSpPr>
        <p:sp>
          <p:nvSpPr>
            <p:cNvPr id="70" name="TextBox 70"/>
            <p:cNvSpPr txBox="1"/>
            <p:nvPr/>
          </p:nvSpPr>
          <p:spPr>
            <a:xfrm>
              <a:off x="95335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161972" y="3967162"/>
            <a:ext cx="325755" cy="440055"/>
            <a:chOff x="8161972" y="3967162"/>
            <a:chExt cx="325755" cy="440055"/>
          </a:xfrm>
        </p:grpSpPr>
        <p:sp>
          <p:nvSpPr>
            <p:cNvPr id="72" name="TextBox 72"/>
            <p:cNvSpPr txBox="1"/>
            <p:nvPr/>
          </p:nvSpPr>
          <p:spPr>
            <a:xfrm>
              <a:off x="81619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隐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619172" y="3967162"/>
            <a:ext cx="325755" cy="440055"/>
            <a:chOff x="8619172" y="3967162"/>
            <a:chExt cx="325755" cy="440055"/>
          </a:xfrm>
        </p:grpSpPr>
        <p:sp>
          <p:nvSpPr>
            <p:cNvPr id="74" name="TextBox 74"/>
            <p:cNvSpPr txBox="1"/>
            <p:nvPr/>
          </p:nvSpPr>
          <p:spPr>
            <a:xfrm>
              <a:off x="86191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藏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76372" y="3967162"/>
            <a:ext cx="325755" cy="440055"/>
            <a:chOff x="9076372" y="3967162"/>
            <a:chExt cx="325755" cy="440055"/>
          </a:xfrm>
        </p:grpSpPr>
        <p:sp>
          <p:nvSpPr>
            <p:cNvPr id="76" name="TextBox 76"/>
            <p:cNvSpPr txBox="1"/>
            <p:nvPr/>
          </p:nvSpPr>
          <p:spPr>
            <a:xfrm>
              <a:off x="90763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533572" y="3967162"/>
            <a:ext cx="325755" cy="440055"/>
            <a:chOff x="9533572" y="3967162"/>
            <a:chExt cx="325755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9533572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8348" y="441008"/>
            <a:ext cx="62062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screen.title()：给作品写名牌</a:t>
            </a:r>
            <a:endParaRPr lang="zh-CN" sz="3150" b="1" dirty="0">
              <a:solidFill>
                <a:srgbClr val="3341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14350" y="1409700"/>
            <a:ext cx="5353050" cy="3638550"/>
            <a:chOff x="514350" y="1409700"/>
            <a:chExt cx="5353050" cy="3638550"/>
          </a:xfrm>
        </p:grpSpPr>
        <p:sp>
          <p:nvSpPr>
            <p:cNvPr id="3" name="Rectangle 3"/>
            <p:cNvSpPr/>
            <p:nvPr/>
          </p:nvSpPr>
          <p:spPr>
            <a:xfrm>
              <a:off x="514350" y="1409700"/>
              <a:ext cx="5353050" cy="3638550"/>
            </a:xfrm>
            <a:prstGeom prst="roundRect">
              <a:avLst>
                <a:gd name="adj" fmla="val 785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14350" y="1409700"/>
              <a:ext cx="5353050" cy="51435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62000" y="1590675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09650" y="1590675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57300" y="1590675"/>
              <a:ext cx="152400" cy="152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006" y="226314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en-US" sz="18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006" y="2910840"/>
              <a:ext cx="30446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 = turtle.Screen()</a:t>
              </a:r>
              <a:endParaRPr lang="en-US" sz="180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006" y="3558540"/>
              <a:ext cx="32410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415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screen.title("小红花画展")</a:t>
              </a:r>
              <a:endParaRPr lang="zh-CN" sz="1800" dirty="0">
                <a:solidFill>
                  <a:srgbClr val="33415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149" y="4306729"/>
              <a:ext cx="3132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先创建窗口对象，再调用 title()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409700"/>
            <a:ext cx="5391150" cy="3638550"/>
            <a:chOff x="6286500" y="1409700"/>
            <a:chExt cx="5391150" cy="36385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409700"/>
              <a:ext cx="5391150" cy="3638550"/>
            </a:xfrm>
            <a:prstGeom prst="roundRect">
              <a:avLst>
                <a:gd name="adj" fmla="val 785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409700"/>
              <a:ext cx="5391150" cy="609600"/>
            </a:xfrm>
            <a:prstGeom prst="roundRect">
              <a:avLst>
                <a:gd name="adj" fmla="val 4687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534150" y="16383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77050" y="1628775"/>
              <a:ext cx="1714500" cy="1714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924849" y="2362200"/>
              <a:ext cx="2114452" cy="2133600"/>
              <a:chOff x="7924849" y="2362200"/>
              <a:chExt cx="2114452" cy="213360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8715375" y="23622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 rot="3600000">
                <a:off x="9177313" y="26289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7200000">
                <a:off x="9177313" y="31623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10800000">
                <a:off x="8715375" y="34290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-7200000">
                <a:off x="8253437" y="31623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3600000">
                <a:off x="8253437" y="2628900"/>
                <a:ext cx="533400" cy="10668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715375" y="3162300"/>
                <a:ext cx="533400" cy="533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</p:grpSp>
      <p:grpSp>
        <p:nvGrpSpPr>
          <p:cNvPr id="28" name="Group 28"/>
          <p:cNvGrpSpPr/>
          <p:nvPr/>
        </p:nvGrpSpPr>
        <p:grpSpPr>
          <a:xfrm>
            <a:off x="6877050" y="1524000"/>
            <a:ext cx="3429000" cy="401765"/>
            <a:chOff x="6877050" y="1524000"/>
            <a:chExt cx="3429000" cy="401765"/>
          </a:xfrm>
        </p:grpSpPr>
        <p:sp>
          <p:nvSpPr>
            <p:cNvPr id="26" name="Rectangle 26"/>
            <p:cNvSpPr/>
            <p:nvPr/>
          </p:nvSpPr>
          <p:spPr>
            <a:xfrm>
              <a:off x="6877050" y="1524000"/>
              <a:ext cx="342900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27861" y="1603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小红花画展</a:t>
              </a:r>
              <a:endParaRPr lang="zh-CN" sz="16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5372100"/>
            <a:ext cx="5391150" cy="742950"/>
            <a:chOff x="6286500" y="5372100"/>
            <a:chExt cx="5391150" cy="742950"/>
          </a:xfrm>
        </p:grpSpPr>
        <p:sp>
          <p:nvSpPr>
            <p:cNvPr id="29" name="Rectangle 29"/>
            <p:cNvSpPr/>
            <p:nvPr/>
          </p:nvSpPr>
          <p:spPr>
            <a:xfrm>
              <a:off x="6286500" y="5372100"/>
              <a:ext cx="53911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03667" y="5654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点击设置窗口标题</a:t>
              </a:r>
              <a:endParaRPr lang="zh-CN" sz="1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86500" y="5372100"/>
              <a:ext cx="5391150" cy="742950"/>
            </a:xfrm>
            <a:prstGeom prst="roundRect">
              <a:avLst>
                <a:gd name="adj" fmla="val 333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98475" y="435292"/>
            <a:ext cx="11236325" cy="705803"/>
            <a:chOff x="498475" y="435292"/>
            <a:chExt cx="11236325" cy="705803"/>
          </a:xfrm>
        </p:grpSpPr>
        <p:sp>
          <p:nvSpPr>
            <p:cNvPr id="3" name="Freeform 3"/>
            <p:cNvSpPr/>
            <p:nvPr/>
          </p:nvSpPr>
          <p:spPr>
            <a:xfrm>
              <a:off x="498475" y="461963"/>
              <a:ext cx="412751" cy="371476"/>
            </a:xfrm>
            <a:custGeom>
              <a:avLst/>
              <a:gdLst/>
              <a:ahLst/>
              <a:cxnLst/>
              <a:rect l="l" t="t" r="r" b="b"/>
              <a:pathLst>
                <a:path w="412751" h="371476">
                  <a:moveTo>
                    <a:pt x="103188" y="371476"/>
                  </a:moveTo>
                  <a:cubicBezTo>
                    <a:pt x="91790" y="371476"/>
                    <a:pt x="82550" y="362236"/>
                    <a:pt x="82550" y="350838"/>
                  </a:cubicBezTo>
                  <a:cubicBezTo>
                    <a:pt x="82550" y="339440"/>
                    <a:pt x="91790" y="330201"/>
                    <a:pt x="103188" y="330201"/>
                  </a:cubicBezTo>
                  <a:lnTo>
                    <a:pt x="123825" y="330201"/>
                  </a:lnTo>
                  <a:lnTo>
                    <a:pt x="123825" y="288925"/>
                  </a:lnTo>
                  <a:lnTo>
                    <a:pt x="41275" y="288925"/>
                  </a:lnTo>
                  <a:cubicBezTo>
                    <a:pt x="18479" y="288925"/>
                    <a:pt x="0" y="270446"/>
                    <a:pt x="0" y="247650"/>
                  </a:cubicBezTo>
                  <a:lnTo>
                    <a:pt x="0" y="41275"/>
                  </a:lnTo>
                  <a:cubicBezTo>
                    <a:pt x="0" y="18479"/>
                    <a:pt x="18479" y="0"/>
                    <a:pt x="41275" y="0"/>
                  </a:cubicBezTo>
                  <a:lnTo>
                    <a:pt x="371476" y="0"/>
                  </a:lnTo>
                  <a:cubicBezTo>
                    <a:pt x="394271" y="0"/>
                    <a:pt x="412751" y="18479"/>
                    <a:pt x="412751" y="41275"/>
                  </a:cubicBezTo>
                  <a:lnTo>
                    <a:pt x="412751" y="247650"/>
                  </a:lnTo>
                  <a:cubicBezTo>
                    <a:pt x="412751" y="270446"/>
                    <a:pt x="394271" y="288925"/>
                    <a:pt x="371476" y="288925"/>
                  </a:cubicBezTo>
                  <a:lnTo>
                    <a:pt x="288925" y="288925"/>
                  </a:lnTo>
                  <a:lnTo>
                    <a:pt x="288925" y="330201"/>
                  </a:lnTo>
                  <a:lnTo>
                    <a:pt x="309563" y="330201"/>
                  </a:lnTo>
                  <a:cubicBezTo>
                    <a:pt x="320961" y="330201"/>
                    <a:pt x="330201" y="339440"/>
                    <a:pt x="330201" y="350838"/>
                  </a:cubicBezTo>
                  <a:cubicBezTo>
                    <a:pt x="330201" y="362236"/>
                    <a:pt x="320961" y="371476"/>
                    <a:pt x="309563" y="371476"/>
                  </a:cubicBezTo>
                  <a:close/>
                  <a:moveTo>
                    <a:pt x="247650" y="288925"/>
                  </a:moveTo>
                  <a:lnTo>
                    <a:pt x="165100" y="288925"/>
                  </a:lnTo>
                  <a:lnTo>
                    <a:pt x="165100" y="330201"/>
                  </a:lnTo>
                  <a:lnTo>
                    <a:pt x="247650" y="330201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9472" y="43529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窗口标题实验站</a:t>
              </a:r>
              <a:endParaRPr lang="zh-CN" sz="28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16330" y="847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只改双引号里的文字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753350" y="438150"/>
              <a:ext cx="39814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98586" y="616268"/>
              <a:ext cx="3090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①选任务 → ②看代码 → ③运行 → ④看结果</a:t>
              </a:r>
              <a:endParaRPr lang="zh-CN" sz="13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9" name="Rectangle 9"/>
          <p:cNvSpPr/>
          <p:nvPr/>
        </p:nvSpPr>
        <p:spPr>
          <a:xfrm>
            <a:off x="457200" y="1219200"/>
            <a:ext cx="11277600" cy="990600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19050">
            <a:solidFill>
              <a:srgbClr val="CFE5F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47700" y="1409700"/>
            <a:ext cx="3352800" cy="609600"/>
            <a:chOff x="647700" y="1409700"/>
            <a:chExt cx="3352800" cy="609600"/>
          </a:xfrm>
        </p:grpSpPr>
        <p:sp>
          <p:nvSpPr>
            <p:cNvPr id="10" name="Rectangle 10"/>
            <p:cNvSpPr/>
            <p:nvPr/>
          </p:nvSpPr>
          <p:spPr>
            <a:xfrm>
              <a:off x="6477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4350" y="16206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小红花画展</a:t>
              </a:r>
              <a:endParaRPr lang="zh-CN" sz="158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91000" y="1409700"/>
            <a:ext cx="3352800" cy="609600"/>
            <a:chOff x="4191000" y="1409700"/>
            <a:chExt cx="3352800" cy="609600"/>
          </a:xfrm>
        </p:grpSpPr>
        <p:sp>
          <p:nvSpPr>
            <p:cNvPr id="13" name="Rectangle 13"/>
            <p:cNvSpPr/>
            <p:nvPr/>
          </p:nvSpPr>
          <p:spPr>
            <a:xfrm>
              <a:off x="41910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1300" y="16206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我的海龟作品</a:t>
              </a:r>
              <a:endParaRPr lang="zh-CN" sz="158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34300" y="1409700"/>
            <a:ext cx="3810000" cy="609600"/>
            <a:chOff x="7734300" y="1409700"/>
            <a:chExt cx="3810000" cy="609600"/>
          </a:xfrm>
        </p:grpSpPr>
        <p:sp>
          <p:nvSpPr>
            <p:cNvPr id="16" name="Rectangle 16"/>
            <p:cNvSpPr/>
            <p:nvPr/>
          </p:nvSpPr>
          <p:spPr>
            <a:xfrm>
              <a:off x="7734300" y="1409700"/>
              <a:ext cx="3810000" cy="609600"/>
            </a:xfrm>
            <a:prstGeom prst="roundRect">
              <a:avLst>
                <a:gd name="adj" fmla="val 3437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99550" y="16206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送你一朵花</a:t>
              </a:r>
              <a:endParaRPr lang="zh-CN" sz="158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7700" y="1409700"/>
            <a:ext cx="3352800" cy="609600"/>
            <a:chOff x="647700" y="1409700"/>
            <a:chExt cx="3352800" cy="609600"/>
          </a:xfrm>
        </p:grpSpPr>
        <p:sp>
          <p:nvSpPr>
            <p:cNvPr id="19" name="Rectangle 19"/>
            <p:cNvSpPr/>
            <p:nvPr/>
          </p:nvSpPr>
          <p:spPr>
            <a:xfrm>
              <a:off x="6477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191000" y="1409700"/>
            <a:ext cx="3352800" cy="609600"/>
            <a:chOff x="4191000" y="1409700"/>
            <a:chExt cx="3352800" cy="609600"/>
          </a:xfrm>
        </p:grpSpPr>
        <p:sp>
          <p:nvSpPr>
            <p:cNvPr id="21" name="Rectangle 21"/>
            <p:cNvSpPr/>
            <p:nvPr/>
          </p:nvSpPr>
          <p:spPr>
            <a:xfrm>
              <a:off x="4191000" y="1409700"/>
              <a:ext cx="33528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734300" y="1409700"/>
            <a:ext cx="3810000" cy="609600"/>
            <a:chOff x="7734300" y="1409700"/>
            <a:chExt cx="3810000" cy="6096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409700"/>
              <a:ext cx="3810000" cy="609600"/>
            </a:xfrm>
            <a:prstGeom prst="roundRect">
              <a:avLst>
                <a:gd name="adj" fmla="val 34375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457200" y="2419350"/>
            <a:ext cx="6667500" cy="3886200"/>
            <a:chOff x="457200" y="2419350"/>
            <a:chExt cx="6667500" cy="3886200"/>
          </a:xfrm>
        </p:grpSpPr>
        <p:sp>
          <p:nvSpPr>
            <p:cNvPr id="25" name="Rectangle 25"/>
            <p:cNvSpPr/>
            <p:nvPr/>
          </p:nvSpPr>
          <p:spPr>
            <a:xfrm>
              <a:off x="457200" y="2419350"/>
              <a:ext cx="6667500" cy="3886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04850" y="2667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52500" y="2667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00150" y="2667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49730" y="2657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代码编辑器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3009900"/>
              <a:ext cx="6210300" cy="2286000"/>
            </a:xfrm>
            <a:prstGeom prst="roundRect">
              <a:avLst>
                <a:gd name="adj" fmla="val 916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780" y="32289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6780" y="3609975"/>
              <a:ext cx="2537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 = turtle.Screen()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9150" y="4000500"/>
              <a:ext cx="5905500" cy="552450"/>
            </a:xfrm>
            <a:prstGeom prst="roundRect">
              <a:avLst>
                <a:gd name="adj" fmla="val 25862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6780" y="486727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turtle.done()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58418" y="4203382"/>
            <a:ext cx="3063181" cy="322707"/>
            <a:chOff x="1058418" y="4203382"/>
            <a:chExt cx="3063181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1058418" y="4203382"/>
              <a:ext cx="306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screen.title("小红花画展")</a:t>
              </a:r>
              <a:endParaRPr lang="zh-CN" sz="1650" b="1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58418" y="4203382"/>
            <a:ext cx="3063181" cy="322707"/>
            <a:chOff x="1058418" y="4203382"/>
            <a:chExt cx="3063181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1058418" y="4203382"/>
              <a:ext cx="306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screen.title("小红花画展")</a:t>
              </a:r>
              <a:endParaRPr lang="zh-CN" sz="1650" b="1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58418" y="4203382"/>
            <a:ext cx="3285304" cy="322707"/>
            <a:chOff x="1058418" y="4203382"/>
            <a:chExt cx="3285304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1058418" y="4203382"/>
              <a:ext cx="32853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screen.title("我的海龟作品")</a:t>
              </a:r>
              <a:endParaRPr lang="zh-CN" sz="1650" b="1" dirty="0">
                <a:solidFill>
                  <a:srgbClr val="FF9F1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58418" y="4203382"/>
            <a:ext cx="3063181" cy="322707"/>
            <a:chOff x="1058418" y="4203382"/>
            <a:chExt cx="3063181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1058418" y="4203382"/>
              <a:ext cx="306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screen.title("送你一朵花")</a:t>
              </a:r>
              <a:endParaRPr lang="zh-CN" sz="165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4" name="Rectangle 44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47" name="Rectangle 47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0" name="Rectangle 50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7550" y="570833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3" name="Rectangle 53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5" name="Rectangle 55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4781550" y="5524500"/>
            <a:ext cx="2095500" cy="552450"/>
            <a:chOff x="4781550" y="5524500"/>
            <a:chExt cx="20955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781550" y="5524500"/>
              <a:ext cx="209550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7353300" y="2419350"/>
            <a:ext cx="4381500" cy="3886200"/>
            <a:chOff x="7353300" y="2419350"/>
            <a:chExt cx="4381500" cy="3886200"/>
          </a:xfrm>
        </p:grpSpPr>
        <p:sp>
          <p:nvSpPr>
            <p:cNvPr id="59" name="Rectangle 59"/>
            <p:cNvSpPr/>
            <p:nvPr/>
          </p:nvSpPr>
          <p:spPr>
            <a:xfrm>
              <a:off x="7353300" y="2419350"/>
              <a:ext cx="4381500" cy="38862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70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81900" y="3048000"/>
              <a:ext cx="3924300" cy="2266950"/>
            </a:xfrm>
            <a:prstGeom prst="roundRect">
              <a:avLst>
                <a:gd name="adj" fmla="val 1092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800975" y="32670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029575" y="32670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258175" y="32670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0" y="552450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8485429" y="5704046"/>
            <a:ext cx="2117242" cy="278702"/>
            <a:chOff x="8485429" y="5704046"/>
            <a:chExt cx="2117242" cy="278702"/>
          </a:xfrm>
        </p:grpSpPr>
        <p:sp>
          <p:nvSpPr>
            <p:cNvPr id="67" name="TextBox 67"/>
            <p:cNvSpPr txBox="1"/>
            <p:nvPr/>
          </p:nvSpPr>
          <p:spPr>
            <a:xfrm>
              <a:off x="8485429" y="57040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点击运行，设置窗口标题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116920" y="5695950"/>
            <a:ext cx="854259" cy="293370"/>
            <a:chOff x="9116920" y="5695950"/>
            <a:chExt cx="854259" cy="293370"/>
          </a:xfrm>
        </p:grpSpPr>
        <p:sp>
          <p:nvSpPr>
            <p:cNvPr id="69" name="TextBox 69"/>
            <p:cNvSpPr txBox="1"/>
            <p:nvPr/>
          </p:nvSpPr>
          <p:spPr>
            <a:xfrm>
              <a:off x="9116920" y="5695950"/>
              <a:ext cx="854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运行中……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930640" y="5695950"/>
            <a:ext cx="1226820" cy="293370"/>
            <a:chOff x="8930640" y="5695950"/>
            <a:chExt cx="1226820" cy="293370"/>
          </a:xfrm>
        </p:grpSpPr>
        <p:sp>
          <p:nvSpPr>
            <p:cNvPr id="71" name="TextBox 71"/>
            <p:cNvSpPr txBox="1"/>
            <p:nvPr/>
          </p:nvSpPr>
          <p:spPr>
            <a:xfrm>
              <a:off x="8930640" y="5695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窗口挂牌成功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076248" y="3967162"/>
            <a:ext cx="325755" cy="440055"/>
            <a:chOff x="8076248" y="3967162"/>
            <a:chExt cx="325755" cy="440055"/>
          </a:xfrm>
        </p:grpSpPr>
        <p:sp>
          <p:nvSpPr>
            <p:cNvPr id="73" name="TextBox 73"/>
            <p:cNvSpPr txBox="1"/>
            <p:nvPr/>
          </p:nvSpPr>
          <p:spPr>
            <a:xfrm>
              <a:off x="80762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4398" y="3967162"/>
            <a:ext cx="325755" cy="440055"/>
            <a:chOff x="8514398" y="3967162"/>
            <a:chExt cx="325755" cy="440055"/>
          </a:xfrm>
        </p:grpSpPr>
        <p:sp>
          <p:nvSpPr>
            <p:cNvPr id="75" name="TextBox 75"/>
            <p:cNvSpPr txBox="1"/>
            <p:nvPr/>
          </p:nvSpPr>
          <p:spPr>
            <a:xfrm>
              <a:off x="85143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952548" y="3967162"/>
            <a:ext cx="325755" cy="440055"/>
            <a:chOff x="8952548" y="3967162"/>
            <a:chExt cx="325755" cy="440055"/>
          </a:xfrm>
        </p:grpSpPr>
        <p:sp>
          <p:nvSpPr>
            <p:cNvPr id="77" name="TextBox 77"/>
            <p:cNvSpPr txBox="1"/>
            <p:nvPr/>
          </p:nvSpPr>
          <p:spPr>
            <a:xfrm>
              <a:off x="89525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390698" y="3967162"/>
            <a:ext cx="325755" cy="440055"/>
            <a:chOff x="9390698" y="3967162"/>
            <a:chExt cx="325755" cy="440055"/>
          </a:xfrm>
        </p:grpSpPr>
        <p:sp>
          <p:nvSpPr>
            <p:cNvPr id="79" name="TextBox 79"/>
            <p:cNvSpPr txBox="1"/>
            <p:nvPr/>
          </p:nvSpPr>
          <p:spPr>
            <a:xfrm>
              <a:off x="93906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画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828847" y="3967162"/>
            <a:ext cx="325755" cy="440055"/>
            <a:chOff x="9828847" y="3967162"/>
            <a:chExt cx="325755" cy="440055"/>
          </a:xfrm>
        </p:grpSpPr>
        <p:sp>
          <p:nvSpPr>
            <p:cNvPr id="81" name="TextBox 81"/>
            <p:cNvSpPr txBox="1"/>
            <p:nvPr/>
          </p:nvSpPr>
          <p:spPr>
            <a:xfrm>
              <a:off x="9828847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展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866698" y="3967162"/>
            <a:ext cx="325755" cy="440055"/>
            <a:chOff x="7866698" y="3967162"/>
            <a:chExt cx="325755" cy="440055"/>
          </a:xfrm>
        </p:grpSpPr>
        <p:sp>
          <p:nvSpPr>
            <p:cNvPr id="83" name="TextBox 83"/>
            <p:cNvSpPr txBox="1"/>
            <p:nvPr/>
          </p:nvSpPr>
          <p:spPr>
            <a:xfrm>
              <a:off x="78666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304848" y="3967162"/>
            <a:ext cx="325755" cy="440055"/>
            <a:chOff x="8304848" y="3967162"/>
            <a:chExt cx="325755" cy="440055"/>
          </a:xfrm>
        </p:grpSpPr>
        <p:sp>
          <p:nvSpPr>
            <p:cNvPr id="85" name="TextBox 85"/>
            <p:cNvSpPr txBox="1"/>
            <p:nvPr/>
          </p:nvSpPr>
          <p:spPr>
            <a:xfrm>
              <a:off x="83048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42998" y="3967162"/>
            <a:ext cx="325755" cy="440055"/>
            <a:chOff x="8742998" y="3967162"/>
            <a:chExt cx="325755" cy="440055"/>
          </a:xfrm>
        </p:grpSpPr>
        <p:sp>
          <p:nvSpPr>
            <p:cNvPr id="87" name="TextBox 87"/>
            <p:cNvSpPr txBox="1"/>
            <p:nvPr/>
          </p:nvSpPr>
          <p:spPr>
            <a:xfrm>
              <a:off x="87429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81148" y="3967162"/>
            <a:ext cx="325755" cy="440055"/>
            <a:chOff x="9181148" y="3967162"/>
            <a:chExt cx="325755" cy="440055"/>
          </a:xfrm>
        </p:grpSpPr>
        <p:sp>
          <p:nvSpPr>
            <p:cNvPr id="89" name="TextBox 89"/>
            <p:cNvSpPr txBox="1"/>
            <p:nvPr/>
          </p:nvSpPr>
          <p:spPr>
            <a:xfrm>
              <a:off x="91811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龟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619298" y="3967162"/>
            <a:ext cx="325755" cy="440055"/>
            <a:chOff x="9619298" y="3967162"/>
            <a:chExt cx="325755" cy="440055"/>
          </a:xfrm>
        </p:grpSpPr>
        <p:sp>
          <p:nvSpPr>
            <p:cNvPr id="91" name="TextBox 91"/>
            <p:cNvSpPr txBox="1"/>
            <p:nvPr/>
          </p:nvSpPr>
          <p:spPr>
            <a:xfrm>
              <a:off x="96192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057447" y="3967162"/>
            <a:ext cx="325755" cy="440055"/>
            <a:chOff x="10057447" y="3967162"/>
            <a:chExt cx="325755" cy="440055"/>
          </a:xfrm>
        </p:grpSpPr>
        <p:sp>
          <p:nvSpPr>
            <p:cNvPr id="93" name="TextBox 93"/>
            <p:cNvSpPr txBox="1"/>
            <p:nvPr/>
          </p:nvSpPr>
          <p:spPr>
            <a:xfrm>
              <a:off x="10057447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品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076248" y="3967162"/>
            <a:ext cx="325755" cy="440055"/>
            <a:chOff x="8076248" y="3967162"/>
            <a:chExt cx="325755" cy="440055"/>
          </a:xfrm>
        </p:grpSpPr>
        <p:sp>
          <p:nvSpPr>
            <p:cNvPr id="95" name="TextBox 95"/>
            <p:cNvSpPr txBox="1"/>
            <p:nvPr/>
          </p:nvSpPr>
          <p:spPr>
            <a:xfrm>
              <a:off x="80762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送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514398" y="3967162"/>
            <a:ext cx="325755" cy="440055"/>
            <a:chOff x="8514398" y="3967162"/>
            <a:chExt cx="325755" cy="440055"/>
          </a:xfrm>
        </p:grpSpPr>
        <p:sp>
          <p:nvSpPr>
            <p:cNvPr id="97" name="TextBox 97"/>
            <p:cNvSpPr txBox="1"/>
            <p:nvPr/>
          </p:nvSpPr>
          <p:spPr>
            <a:xfrm>
              <a:off x="85143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952548" y="3967162"/>
            <a:ext cx="325755" cy="440055"/>
            <a:chOff x="8952548" y="3967162"/>
            <a:chExt cx="325755" cy="440055"/>
          </a:xfrm>
        </p:grpSpPr>
        <p:sp>
          <p:nvSpPr>
            <p:cNvPr id="99" name="TextBox 99"/>
            <p:cNvSpPr txBox="1"/>
            <p:nvPr/>
          </p:nvSpPr>
          <p:spPr>
            <a:xfrm>
              <a:off x="895254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390698" y="3967162"/>
            <a:ext cx="325755" cy="440055"/>
            <a:chOff x="9390698" y="3967162"/>
            <a:chExt cx="325755" cy="440055"/>
          </a:xfrm>
        </p:grpSpPr>
        <p:sp>
          <p:nvSpPr>
            <p:cNvPr id="101" name="TextBox 101"/>
            <p:cNvSpPr txBox="1"/>
            <p:nvPr/>
          </p:nvSpPr>
          <p:spPr>
            <a:xfrm>
              <a:off x="9390698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朵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828847" y="3967162"/>
            <a:ext cx="325755" cy="440055"/>
            <a:chOff x="9828847" y="3967162"/>
            <a:chExt cx="325755" cy="440055"/>
          </a:xfrm>
        </p:grpSpPr>
        <p:sp>
          <p:nvSpPr>
            <p:cNvPr id="103" name="TextBox 103"/>
            <p:cNvSpPr txBox="1"/>
            <p:nvPr/>
          </p:nvSpPr>
          <p:spPr>
            <a:xfrm>
              <a:off x="9828847" y="39671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8348" y="441008"/>
            <a:ext cx="4244721" cy="827531"/>
            <a:chOff x="498348" y="441008"/>
            <a:chExt cx="4244721" cy="827531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4100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一次只改一处</a:t>
              </a:r>
              <a:endParaRPr lang="zh-CN" sz="31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5968" y="945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小步测试：错误更容易定位，也更容易回退</a:t>
              </a:r>
              <a:endParaRPr lang="zh-CN" sz="16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4350" y="1771650"/>
            <a:ext cx="10991850" cy="2095500"/>
            <a:chOff x="514350" y="1771650"/>
            <a:chExt cx="10991850" cy="2095500"/>
          </a:xfrm>
        </p:grpSpPr>
        <p:sp>
          <p:nvSpPr>
            <p:cNvPr id="5" name="Rectangle 5"/>
            <p:cNvSpPr/>
            <p:nvPr/>
          </p:nvSpPr>
          <p:spPr>
            <a:xfrm>
              <a:off x="51435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23900" y="198120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1148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5177" y="2821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运行基础版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2990850" y="2705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304800" y="114300"/>
                  </a:lnTo>
                  <a:lnTo>
                    <a:pt x="190500" y="0"/>
                  </a:lnTo>
                  <a:moveTo>
                    <a:pt x="304800" y="114300"/>
                  </a:moveTo>
                  <a:lnTo>
                    <a:pt x="190500" y="228600"/>
                  </a:lnTo>
                </a:path>
              </a:pathLst>
            </a:custGeom>
            <a:noFill/>
            <a:ln w="57150" cap="rnd">
              <a:solidFill>
                <a:srgbClr val="AFC7DC"/>
              </a:solidFill>
              <a:round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5280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562350" y="198120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4993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4978" y="2821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只改一处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829300" y="2705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304800" y="114300"/>
                  </a:lnTo>
                  <a:lnTo>
                    <a:pt x="190500" y="0"/>
                  </a:lnTo>
                  <a:moveTo>
                    <a:pt x="304800" y="114300"/>
                  </a:moveTo>
                  <a:lnTo>
                    <a:pt x="190500" y="228600"/>
                  </a:lnTo>
                </a:path>
              </a:pathLst>
            </a:custGeom>
            <a:noFill/>
            <a:ln w="57150" cap="rnd">
              <a:solidFill>
                <a:srgbClr val="AFC7DC"/>
              </a:solidFill>
              <a:round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9125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400800" y="19812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8838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3428" y="2821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再次运行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667750" y="2705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300"/>
                  </a:moveTo>
                  <a:lnTo>
                    <a:pt x="304800" y="114300"/>
                  </a:lnTo>
                  <a:lnTo>
                    <a:pt x="190500" y="0"/>
                  </a:lnTo>
                  <a:moveTo>
                    <a:pt x="304800" y="114300"/>
                  </a:moveTo>
                  <a:lnTo>
                    <a:pt x="190500" y="228600"/>
                  </a:lnTo>
                </a:path>
              </a:pathLst>
            </a:custGeom>
            <a:noFill/>
            <a:ln w="57150" cap="rnd">
              <a:solidFill>
                <a:srgbClr val="AFC7DC"/>
              </a:solidFill>
              <a:round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29700" y="1771650"/>
              <a:ext cx="2476500" cy="209550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239250" y="1981200"/>
              <a:ext cx="533400" cy="533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26837" y="21488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4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50527" y="2821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确认后保存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28750" y="4724400"/>
            <a:ext cx="9334500" cy="1104900"/>
            <a:chOff x="1428750" y="4724400"/>
            <a:chExt cx="9334500" cy="1104900"/>
          </a:xfrm>
        </p:grpSpPr>
        <p:sp>
          <p:nvSpPr>
            <p:cNvPr id="25" name="Rectangle 25"/>
            <p:cNvSpPr/>
            <p:nvPr/>
          </p:nvSpPr>
          <p:spPr>
            <a:xfrm>
              <a:off x="1428750" y="4724400"/>
              <a:ext cx="9334500" cy="1104900"/>
            </a:xfrm>
            <a:prstGeom prst="roundRect">
              <a:avLst>
                <a:gd name="adj" fmla="val 2931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8255" y="5000625"/>
              <a:ext cx="3075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如果刚才还能运行，现在报错了……</a:t>
              </a:r>
              <a:endParaRPr lang="zh-CN" sz="150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89120" y="531685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只需检查刚刚改过的那一处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400050"/>
            <a:ext cx="5687778" cy="624840"/>
            <a:chOff x="514350" y="400050"/>
            <a:chExt cx="5687778" cy="624840"/>
          </a:xfrm>
        </p:grpSpPr>
        <p:sp>
          <p:nvSpPr>
            <p:cNvPr id="2" name="Rectangle 2"/>
            <p:cNvSpPr/>
            <p:nvPr/>
          </p:nvSpPr>
          <p:spPr>
            <a:xfrm>
              <a:off x="514350" y="400050"/>
              <a:ext cx="1562100" cy="4572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589" y="526732"/>
              <a:ext cx="6956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动手 A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27910" y="438150"/>
              <a:ext cx="38742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6个圆 + 每次左转60°</a:t>
              </a:r>
              <a:endParaRPr lang="zh-CN" sz="30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485900"/>
            <a:ext cx="4857750" cy="4648200"/>
            <a:chOff x="514350" y="1485900"/>
            <a:chExt cx="4857750" cy="4648200"/>
          </a:xfrm>
        </p:grpSpPr>
        <p:sp>
          <p:nvSpPr>
            <p:cNvPr id="6" name="Rectangle 6"/>
            <p:cNvSpPr/>
            <p:nvPr/>
          </p:nvSpPr>
          <p:spPr>
            <a:xfrm>
              <a:off x="514350" y="1485900"/>
              <a:ext cx="4857750" cy="4648200"/>
            </a:xfrm>
            <a:prstGeom prst="roundRect">
              <a:avLst>
                <a:gd name="adj" fmla="val 6967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87304" y="1809750"/>
              <a:ext cx="3511842" cy="3505200"/>
              <a:chOff x="1187304" y="1809750"/>
              <a:chExt cx="3511842" cy="35052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2466975" y="1809750"/>
                <a:ext cx="952500" cy="17526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 rot="3600000">
                <a:off x="3225873" y="2247900"/>
                <a:ext cx="952500" cy="1752600"/>
              </a:xfrm>
              <a:prstGeom prst="ellipse">
                <a:avLst/>
              </a:prstGeom>
              <a:solidFill>
                <a:srgbClr val="FF8FB5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 rot="7200000">
                <a:off x="3225873" y="3124200"/>
                <a:ext cx="952500" cy="17526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 rot="10800000">
                <a:off x="2466975" y="3562350"/>
                <a:ext cx="952500" cy="1752600"/>
              </a:xfrm>
              <a:prstGeom prst="ellipse">
                <a:avLst/>
              </a:prstGeom>
              <a:solidFill>
                <a:srgbClr val="FF8FB5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 rot="-7200000">
                <a:off x="1708077" y="3124200"/>
                <a:ext cx="952500" cy="17526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 rot="-3600000">
                <a:off x="1708077" y="2247900"/>
                <a:ext cx="952500" cy="1752600"/>
              </a:xfrm>
              <a:prstGeom prst="ellipse">
                <a:avLst/>
              </a:prstGeom>
              <a:solidFill>
                <a:srgbClr val="FF8FB5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543175" y="3162300"/>
                <a:ext cx="800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824228" y="55749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6 次循环 × 60° = 360°</a:t>
              </a:r>
              <a:endParaRPr lang="zh-CN" sz="16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53100" y="1485900"/>
            <a:ext cx="5924550" cy="4648200"/>
            <a:chOff x="5753100" y="1485900"/>
            <a:chExt cx="5924550" cy="4648200"/>
          </a:xfrm>
        </p:grpSpPr>
        <p:sp>
          <p:nvSpPr>
            <p:cNvPr id="17" name="Rectangle 17"/>
            <p:cNvSpPr/>
            <p:nvPr/>
          </p:nvSpPr>
          <p:spPr>
            <a:xfrm>
              <a:off x="5753100" y="1485900"/>
              <a:ext cx="5924550" cy="4648200"/>
            </a:xfrm>
            <a:prstGeom prst="roundRect">
              <a:avLst>
                <a:gd name="adj" fmla="val 6967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7618" y="1803082"/>
              <a:ext cx="2426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ED0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petal in range(6):</a:t>
              </a:r>
              <a:endParaRPr lang="en-US" sz="1650" dirty="0">
                <a:solidFill>
                  <a:srgbClr val="9ED0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8618" y="2222182"/>
              <a:ext cx="1504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en-US" sz="16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8618" y="2641282"/>
              <a:ext cx="1371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t.circle(45)</a:t>
              </a:r>
              <a:endParaRPr lang="en-US" sz="16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618" y="3060382"/>
              <a:ext cx="13161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en-US" sz="16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8618" y="3479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3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t.left(60)</a:t>
              </a:r>
              <a:endParaRPr lang="en-US" sz="1650" dirty="0">
                <a:solidFill>
                  <a:srgbClr val="FFD3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0" y="4171950"/>
              <a:ext cx="5086350" cy="1352550"/>
            </a:xfrm>
            <a:prstGeom prst="roundRect">
              <a:avLst>
                <a:gd name="adj" fmla="val 1690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2418" y="4412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B2C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想一想</a:t>
              </a:r>
              <a:endParaRPr lang="zh-CN" sz="1650" b="1" dirty="0">
                <a:solidFill>
                  <a:srgbClr val="FFB2C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2418" y="4812982"/>
              <a:ext cx="2393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range(6) 决定花瓣数量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2418" y="51558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left(60) 决定环形分布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4810" y="342900"/>
            <a:ext cx="11223498" cy="586740"/>
            <a:chOff x="384810" y="342900"/>
            <a:chExt cx="11223498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384810" y="3429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花瓣实验室</a:t>
              </a:r>
              <a:endParaRPr lang="zh-CN" sz="30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395574" y="4829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先选案例，再点“运行程序”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00050" y="1047750"/>
            <a:ext cx="11391900" cy="495300"/>
            <a:chOff x="400050" y="1047750"/>
            <a:chExt cx="11391900" cy="495300"/>
          </a:xfrm>
        </p:grpSpPr>
        <p:grpSp>
          <p:nvGrpSpPr>
            <p:cNvPr id="7" name="Group 7"/>
            <p:cNvGrpSpPr/>
            <p:nvPr/>
          </p:nvGrpSpPr>
          <p:grpSpPr>
            <a:xfrm>
              <a:off x="400050" y="1047750"/>
              <a:ext cx="1581150" cy="495300"/>
              <a:chOff x="400050" y="1047750"/>
              <a:chExt cx="1581150" cy="4953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400050" y="1047750"/>
                <a:ext cx="1581150" cy="495300"/>
              </a:xfrm>
              <a:prstGeom prst="roundRect">
                <a:avLst>
                  <a:gd name="adj" fmla="val 38462"/>
                </a:avLst>
              </a:prstGeom>
              <a:solidFill>
                <a:srgbClr val="FF6FA5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969924" y="1201579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红花</a:t>
                </a:r>
                <a:endParaRPr lang="zh-CN" sz="158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8" name="Rectangle 8"/>
            <p:cNvSpPr/>
            <p:nvPr/>
          </p:nvSpPr>
          <p:spPr>
            <a:xfrm>
              <a:off x="4000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152650" y="1047750"/>
              <a:ext cx="1581150" cy="495300"/>
              <a:chOff x="2152650" y="1047750"/>
              <a:chExt cx="158115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152650" y="1047750"/>
                <a:ext cx="1581150" cy="495300"/>
              </a:xfrm>
              <a:prstGeom prst="roundRect">
                <a:avLst>
                  <a:gd name="adj" fmla="val 38462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722524" y="1201579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橙花</a:t>
                </a:r>
                <a:endParaRPr lang="zh-CN" sz="158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21526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905250" y="1047750"/>
              <a:ext cx="1581150" cy="495300"/>
              <a:chOff x="3905250" y="1047750"/>
              <a:chExt cx="1581150" cy="4953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905250" y="1047750"/>
                <a:ext cx="1581150" cy="495300"/>
              </a:xfrm>
              <a:prstGeom prst="roundRect">
                <a:avLst>
                  <a:gd name="adj" fmla="val 38462"/>
                </a:avLst>
              </a:pr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475124" y="1201579"/>
                <a:ext cx="4414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紫花</a:t>
                </a:r>
                <a:endParaRPr lang="zh-CN" sz="158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39052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486900" y="1047750"/>
              <a:ext cx="2305050" cy="495300"/>
            </a:xfrm>
            <a:prstGeom prst="roundRect">
              <a:avLst>
                <a:gd name="adj" fmla="val 38462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96488" y="1225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案例只改变颜色</a:t>
              </a:r>
              <a:endParaRPr lang="zh-CN" sz="1350" dirty="0">
                <a:solidFill>
                  <a:srgbClr val="2E9B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0050" y="1752600"/>
            <a:ext cx="6305550" cy="4267200"/>
            <a:chOff x="400050" y="1752600"/>
            <a:chExt cx="6305550" cy="4267200"/>
          </a:xfrm>
        </p:grpSpPr>
        <p:sp>
          <p:nvSpPr>
            <p:cNvPr id="20" name="Rectangle 20"/>
            <p:cNvSpPr/>
            <p:nvPr/>
          </p:nvSpPr>
          <p:spPr>
            <a:xfrm>
              <a:off x="400050" y="1752600"/>
              <a:ext cx="6305550" cy="4267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0050" y="1752600"/>
              <a:ext cx="6305550" cy="49530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47700" y="1924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95350" y="1924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43000" y="1924050"/>
              <a:ext cx="152400" cy="152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59511" y="2532221"/>
              <a:ext cx="2928772" cy="2107502"/>
              <a:chOff x="659511" y="2532221"/>
              <a:chExt cx="2928772" cy="2107502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59511" y="2532221"/>
                <a:ext cx="12761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E9B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import turtle</a:t>
                </a:r>
                <a:endParaRPr lang="en-US" sz="142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9511" y="2837021"/>
                <a:ext cx="29287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t=turtle.Turtle(); t.speed(0)</a:t>
                </a:r>
                <a:endParaRPr lang="en-US" sz="142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9511" y="3141821"/>
                <a:ext cx="212680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FF6FA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t.color("red","pink")</a:t>
                </a:r>
                <a:endParaRPr lang="en-US" sz="142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9511" y="3446621"/>
                <a:ext cx="208856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for petal in range(6):</a:t>
                </a:r>
                <a:endParaRPr lang="en-US" sz="142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6211" y="3751421"/>
                <a:ext cx="26238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t.begin_fill(); t.circle(45)</a:t>
                </a:r>
                <a:endParaRPr lang="en-US" sz="142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26211" y="4056221"/>
                <a:ext cx="22988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t.end_fill(); t.left(60)</a:t>
                </a:r>
                <a:endParaRPr lang="en-US" sz="142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9511" y="4361021"/>
                <a:ext cx="133348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turtle.done()</a:t>
                </a:r>
                <a:endParaRPr lang="en-US" sz="142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66750" y="5276850"/>
              <a:ext cx="5772150" cy="552450"/>
              <a:chOff x="666750" y="5276850"/>
              <a:chExt cx="5772150" cy="5524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66750" y="5276850"/>
                <a:ext cx="5772150" cy="552450"/>
              </a:xfrm>
              <a:prstGeom prst="roundRect">
                <a:avLst>
                  <a:gd name="adj" fmla="val 37931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001075" y="5460682"/>
                <a:ext cx="11035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▶ 运行程序</a:t>
                </a:r>
                <a:endPara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66750" y="5276850"/>
                <a:ext cx="5772150" cy="552450"/>
              </a:xfrm>
              <a:prstGeom prst="roundRect">
                <a:avLst>
                  <a:gd name="adj" fmla="val 37931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53" name="Group 53"/>
          <p:cNvGrpSpPr/>
          <p:nvPr/>
        </p:nvGrpSpPr>
        <p:grpSpPr>
          <a:xfrm>
            <a:off x="7010400" y="1752600"/>
            <a:ext cx="4781550" cy="4267200"/>
            <a:chOff x="7010400" y="1752600"/>
            <a:chExt cx="4781550" cy="4267200"/>
          </a:xfrm>
        </p:grpSpPr>
        <p:sp>
          <p:nvSpPr>
            <p:cNvPr id="38" name="Rectangle 38"/>
            <p:cNvSpPr/>
            <p:nvPr/>
          </p:nvSpPr>
          <p:spPr>
            <a:xfrm>
              <a:off x="7010400" y="1752600"/>
              <a:ext cx="4781550" cy="4267200"/>
            </a:xfrm>
            <a:prstGeom prst="roundRect">
              <a:avLst>
                <a:gd name="adj" fmla="val 6250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26630" y="2009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终端输出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27392" y="2521268"/>
              <a:ext cx="1513046" cy="911733"/>
              <a:chOff x="7327392" y="2521268"/>
              <a:chExt cx="1513046" cy="91173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7327392" y="2521268"/>
                <a:ext cx="8406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A9E7B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开始绘制…</a:t>
                </a:r>
                <a:endParaRPr lang="zh-CN" sz="135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392" y="2845118"/>
                <a:ext cx="15130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完成第 1–6 片花瓣</a:t>
                </a:r>
                <a:endPara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27392" y="316896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D36A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绘制完成 ✓</a:t>
                </a:r>
                <a:endParaRPr lang="zh-CN" sz="1350" dirty="0">
                  <a:solidFill>
                    <a:srgbClr val="FFD36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376945" y="3695700"/>
              <a:ext cx="2048460" cy="2057400"/>
              <a:chOff x="8376945" y="3695700"/>
              <a:chExt cx="2048460" cy="20574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9134475" y="3695700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 rot="3600000">
                <a:off x="9579915" y="395287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 rot="7200000">
                <a:off x="9579915" y="446722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 rot="10800000">
                <a:off x="9134475" y="4724400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 rot="-7200000">
                <a:off x="8689035" y="446722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 rot="-3600000">
                <a:off x="8689035" y="3952875"/>
                <a:ext cx="533400" cy="10287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153525" y="4476750"/>
                <a:ext cx="495300" cy="4953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590131" y="56454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9E7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运行完成：6 片花瓣</a:t>
              </a:r>
              <a:endParaRPr lang="zh-CN" sz="1350" dirty="0">
                <a:solidFill>
                  <a:srgbClr val="A9E7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00050" y="1047750"/>
            <a:ext cx="1581150" cy="495300"/>
            <a:chOff x="400050" y="1047750"/>
            <a:chExt cx="1581150" cy="495300"/>
          </a:xfrm>
        </p:grpSpPr>
        <p:sp>
          <p:nvSpPr>
            <p:cNvPr id="54" name="Rectangle 54"/>
            <p:cNvSpPr/>
            <p:nvPr/>
          </p:nvSpPr>
          <p:spPr>
            <a:xfrm>
              <a:off x="4000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2152650" y="1047750"/>
            <a:ext cx="1581150" cy="495300"/>
            <a:chOff x="2152650" y="1047750"/>
            <a:chExt cx="1581150" cy="495300"/>
          </a:xfrm>
        </p:grpSpPr>
        <p:sp>
          <p:nvSpPr>
            <p:cNvPr id="56" name="Rectangle 56"/>
            <p:cNvSpPr/>
            <p:nvPr/>
          </p:nvSpPr>
          <p:spPr>
            <a:xfrm>
              <a:off x="21526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3905250" y="1047750"/>
            <a:ext cx="1581150" cy="495300"/>
            <a:chOff x="3905250" y="1047750"/>
            <a:chExt cx="1581150" cy="495300"/>
          </a:xfrm>
        </p:grpSpPr>
        <p:sp>
          <p:nvSpPr>
            <p:cNvPr id="58" name="Rectangle 58"/>
            <p:cNvSpPr/>
            <p:nvPr/>
          </p:nvSpPr>
          <p:spPr>
            <a:xfrm>
              <a:off x="3905250" y="1047750"/>
              <a:ext cx="15811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66750" y="5276850"/>
            <a:ext cx="5772150" cy="552450"/>
            <a:chOff x="666750" y="5276850"/>
            <a:chExt cx="5772150" cy="552450"/>
          </a:xfrm>
        </p:grpSpPr>
        <p:sp>
          <p:nvSpPr>
            <p:cNvPr id="60" name="Rectangle 60"/>
            <p:cNvSpPr/>
            <p:nvPr/>
          </p:nvSpPr>
          <p:spPr>
            <a:xfrm>
              <a:off x="666750" y="5276850"/>
              <a:ext cx="577215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666750" y="5276850"/>
            <a:ext cx="5772150" cy="552450"/>
            <a:chOff x="666750" y="5276850"/>
            <a:chExt cx="5772150" cy="552450"/>
          </a:xfrm>
        </p:grpSpPr>
        <p:sp>
          <p:nvSpPr>
            <p:cNvPr id="62" name="Rectangle 62"/>
            <p:cNvSpPr/>
            <p:nvPr/>
          </p:nvSpPr>
          <p:spPr>
            <a:xfrm>
              <a:off x="666750" y="5276850"/>
              <a:ext cx="577215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66750" y="5276850"/>
            <a:ext cx="5772150" cy="552450"/>
            <a:chOff x="666750" y="5276850"/>
            <a:chExt cx="5772150" cy="552450"/>
          </a:xfrm>
        </p:grpSpPr>
        <p:sp>
          <p:nvSpPr>
            <p:cNvPr id="64" name="Rectangle 64"/>
            <p:cNvSpPr/>
            <p:nvPr/>
          </p:nvSpPr>
          <p:spPr>
            <a:xfrm>
              <a:off x="666750" y="5276850"/>
              <a:ext cx="5772150" cy="552450"/>
            </a:xfrm>
            <a:prstGeom prst="roundRect">
              <a:avLst>
                <a:gd name="adj" fmla="val 37931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76945" y="3695700"/>
            <a:ext cx="2048460" cy="2057400"/>
            <a:chOff x="8376945" y="3695700"/>
            <a:chExt cx="2048460" cy="2057400"/>
          </a:xfrm>
        </p:grpSpPr>
        <p:sp>
          <p:nvSpPr>
            <p:cNvPr id="66" name="Ellipse 66"/>
            <p:cNvSpPr/>
            <p:nvPr/>
          </p:nvSpPr>
          <p:spPr>
            <a:xfrm>
              <a:off x="9134475" y="3695700"/>
              <a:ext cx="533400" cy="10287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 rot="3600000">
              <a:off x="9579915" y="3952875"/>
              <a:ext cx="533400" cy="10287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 rot="7200000">
              <a:off x="9579915" y="4467225"/>
              <a:ext cx="533400" cy="10287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 rot="10800000">
              <a:off x="9134475" y="4724400"/>
              <a:ext cx="533400" cy="10287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 rot="-7200000">
              <a:off x="8689035" y="4467225"/>
              <a:ext cx="533400" cy="10287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 rot="-3600000">
              <a:off x="8689035" y="3952875"/>
              <a:ext cx="533400" cy="10287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153525" y="4476750"/>
              <a:ext cx="495300" cy="4953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8376945" y="3695700"/>
            <a:ext cx="2048460" cy="2057400"/>
            <a:chOff x="8376945" y="3695700"/>
            <a:chExt cx="2048460" cy="2057400"/>
          </a:xfrm>
        </p:grpSpPr>
        <p:sp>
          <p:nvSpPr>
            <p:cNvPr id="74" name="Ellipse 74"/>
            <p:cNvSpPr/>
            <p:nvPr/>
          </p:nvSpPr>
          <p:spPr>
            <a:xfrm>
              <a:off x="9134475" y="3695700"/>
              <a:ext cx="533400" cy="10287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 rot="3600000">
              <a:off x="9579915" y="3952875"/>
              <a:ext cx="533400" cy="10287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 rot="7200000">
              <a:off x="9579915" y="4467225"/>
              <a:ext cx="533400" cy="10287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 rot="10800000">
              <a:off x="9134475" y="4724400"/>
              <a:ext cx="533400" cy="10287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 rot="-7200000">
              <a:off x="8689035" y="4467225"/>
              <a:ext cx="533400" cy="10287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 rot="-3600000">
              <a:off x="8689035" y="3952875"/>
              <a:ext cx="533400" cy="10287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9153525" y="4476750"/>
              <a:ext cx="495300" cy="4953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7162800" y="2286000"/>
            <a:ext cx="4476750" cy="3543300"/>
            <a:chOff x="7162800" y="2286000"/>
            <a:chExt cx="4476750" cy="3543300"/>
          </a:xfrm>
        </p:grpSpPr>
        <p:sp>
          <p:nvSpPr>
            <p:cNvPr id="82" name="Rectangle 82"/>
            <p:cNvSpPr/>
            <p:nvPr/>
          </p:nvSpPr>
          <p:spPr>
            <a:xfrm>
              <a:off x="7162800" y="2286000"/>
              <a:ext cx="4476750" cy="3543300"/>
            </a:xfrm>
            <a:prstGeom prst="roundRect">
              <a:avLst>
                <a:gd name="adj" fmla="val 5376"/>
              </a:avLst>
            </a:prstGeom>
            <a:solidFill>
              <a:srgbClr val="2B3A55"/>
            </a:solidFill>
            <a:ln>
              <a:noFill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659511" y="3105150"/>
            <a:ext cx="5817489" cy="353473"/>
            <a:chOff x="659511" y="3105150"/>
            <a:chExt cx="5817489" cy="353473"/>
          </a:xfrm>
        </p:grpSpPr>
        <p:sp>
          <p:nvSpPr>
            <p:cNvPr id="84" name="Rectangle 84"/>
            <p:cNvSpPr/>
            <p:nvPr/>
          </p:nvSpPr>
          <p:spPr>
            <a:xfrm>
              <a:off x="666750" y="3105150"/>
              <a:ext cx="5810250" cy="32385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9511" y="3179921"/>
              <a:ext cx="27743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t.color("orange","yellow")</a:t>
              </a:r>
              <a:endParaRPr lang="en-US" sz="142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59511" y="3105150"/>
            <a:ext cx="5817489" cy="353473"/>
            <a:chOff x="659511" y="3105150"/>
            <a:chExt cx="5817489" cy="353473"/>
          </a:xfrm>
        </p:grpSpPr>
        <p:sp>
          <p:nvSpPr>
            <p:cNvPr id="87" name="Rectangle 87"/>
            <p:cNvSpPr/>
            <p:nvPr/>
          </p:nvSpPr>
          <p:spPr>
            <a:xfrm>
              <a:off x="666750" y="3105150"/>
              <a:ext cx="5810250" cy="32385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9511" y="3179921"/>
              <a:ext cx="26840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9B7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t.color("purple","violet")</a:t>
              </a:r>
              <a:endParaRPr lang="en-US" sz="1420" b="1" dirty="0">
                <a:solidFill>
                  <a:srgbClr val="9B7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94764" y="5550218"/>
            <a:ext cx="2012823" cy="264033"/>
            <a:chOff x="8394764" y="5550218"/>
            <a:chExt cx="2012823" cy="264033"/>
          </a:xfrm>
        </p:grpSpPr>
        <p:sp>
          <p:nvSpPr>
            <p:cNvPr id="90" name="TextBox 90"/>
            <p:cNvSpPr txBox="1"/>
            <p:nvPr/>
          </p:nvSpPr>
          <p:spPr>
            <a:xfrm>
              <a:off x="8394764" y="5550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9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点击运行，花朵才会出现</a:t>
              </a:r>
              <a:endParaRPr lang="zh-CN" sz="1350" b="1" dirty="0">
                <a:solidFill>
                  <a:srgbClr val="2E9B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016758" y="5550218"/>
            <a:ext cx="768833" cy="264033"/>
            <a:chOff x="9016758" y="5550218"/>
            <a:chExt cx="768833" cy="264033"/>
          </a:xfrm>
        </p:grpSpPr>
        <p:sp>
          <p:nvSpPr>
            <p:cNvPr id="92" name="TextBox 92"/>
            <p:cNvSpPr txBox="1"/>
            <p:nvPr/>
          </p:nvSpPr>
          <p:spPr>
            <a:xfrm>
              <a:off x="9016758" y="5550218"/>
              <a:ext cx="76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绘制中……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8874" y="5550218"/>
            <a:ext cx="1084601" cy="264033"/>
            <a:chOff x="8858874" y="5550218"/>
            <a:chExt cx="1084601" cy="264033"/>
          </a:xfrm>
        </p:grpSpPr>
        <p:sp>
          <p:nvSpPr>
            <p:cNvPr id="94" name="TextBox 94"/>
            <p:cNvSpPr txBox="1"/>
            <p:nvPr/>
          </p:nvSpPr>
          <p:spPr>
            <a:xfrm>
              <a:off x="8858874" y="555021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6 片花瓣完成</a:t>
              </a:r>
              <a:endParaRPr lang="zh-CN" sz="1350" b="1" dirty="0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536942" y="2673668"/>
            <a:ext cx="940575" cy="264033"/>
            <a:chOff x="7536942" y="2673668"/>
            <a:chExt cx="940575" cy="264033"/>
          </a:xfrm>
        </p:grpSpPr>
        <p:sp>
          <p:nvSpPr>
            <p:cNvPr id="96" name="TextBox 96"/>
            <p:cNvSpPr txBox="1"/>
            <p:nvPr/>
          </p:nvSpPr>
          <p:spPr>
            <a:xfrm>
              <a:off x="7536942" y="267366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开始绘制……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536942" y="2997518"/>
            <a:ext cx="1422178" cy="264033"/>
            <a:chOff x="7536942" y="2997518"/>
            <a:chExt cx="1422178" cy="264033"/>
          </a:xfrm>
        </p:grpSpPr>
        <p:sp>
          <p:nvSpPr>
            <p:cNvPr id="98" name="TextBox 98"/>
            <p:cNvSpPr txBox="1"/>
            <p:nvPr/>
          </p:nvSpPr>
          <p:spPr>
            <a:xfrm>
              <a:off x="7536942" y="2997518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颜色：red / pink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536942" y="3321368"/>
            <a:ext cx="1385830" cy="264033"/>
            <a:chOff x="7536942" y="3321368"/>
            <a:chExt cx="1385830" cy="264033"/>
          </a:xfrm>
        </p:grpSpPr>
        <p:sp>
          <p:nvSpPr>
            <p:cNvPr id="100" name="TextBox 100"/>
            <p:cNvSpPr txBox="1"/>
            <p:nvPr/>
          </p:nvSpPr>
          <p:spPr>
            <a:xfrm>
              <a:off x="7536942" y="332136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花瓣 1→6 完成 ✓</a:t>
              </a:r>
              <a:endParaRPr lang="zh-CN" sz="1350" dirty="0">
                <a:solidFill>
                  <a:srgbClr val="A9E7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536942" y="2673668"/>
            <a:ext cx="940575" cy="264033"/>
            <a:chOff x="7536942" y="2673668"/>
            <a:chExt cx="940575" cy="264033"/>
          </a:xfrm>
        </p:grpSpPr>
        <p:sp>
          <p:nvSpPr>
            <p:cNvPr id="102" name="TextBox 102"/>
            <p:cNvSpPr txBox="1"/>
            <p:nvPr/>
          </p:nvSpPr>
          <p:spPr>
            <a:xfrm>
              <a:off x="7536942" y="267366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开始绘制……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536942" y="2997518"/>
            <a:ext cx="1912868" cy="264033"/>
            <a:chOff x="7536942" y="2997518"/>
            <a:chExt cx="1912868" cy="264033"/>
          </a:xfrm>
        </p:grpSpPr>
        <p:sp>
          <p:nvSpPr>
            <p:cNvPr id="104" name="TextBox 104"/>
            <p:cNvSpPr txBox="1"/>
            <p:nvPr/>
          </p:nvSpPr>
          <p:spPr>
            <a:xfrm>
              <a:off x="7536942" y="29975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颜色：orange / yellow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7536942" y="3321368"/>
            <a:ext cx="1385830" cy="264033"/>
            <a:chOff x="7536942" y="3321368"/>
            <a:chExt cx="1385830" cy="264033"/>
          </a:xfrm>
        </p:grpSpPr>
        <p:sp>
          <p:nvSpPr>
            <p:cNvPr id="106" name="TextBox 106"/>
            <p:cNvSpPr txBox="1"/>
            <p:nvPr/>
          </p:nvSpPr>
          <p:spPr>
            <a:xfrm>
              <a:off x="7536942" y="332136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花瓣 1→6 完成 ✓</a:t>
              </a:r>
              <a:endParaRPr lang="zh-CN" sz="1350" dirty="0">
                <a:solidFill>
                  <a:srgbClr val="A9E7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7536942" y="2673668"/>
            <a:ext cx="940575" cy="264033"/>
            <a:chOff x="7536942" y="2673668"/>
            <a:chExt cx="940575" cy="264033"/>
          </a:xfrm>
        </p:grpSpPr>
        <p:sp>
          <p:nvSpPr>
            <p:cNvPr id="108" name="TextBox 108"/>
            <p:cNvSpPr txBox="1"/>
            <p:nvPr/>
          </p:nvSpPr>
          <p:spPr>
            <a:xfrm>
              <a:off x="7536942" y="267366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开始绘制……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536942" y="2997518"/>
            <a:ext cx="1831086" cy="264033"/>
            <a:chOff x="7536942" y="2997518"/>
            <a:chExt cx="1831086" cy="264033"/>
          </a:xfrm>
        </p:grpSpPr>
        <p:sp>
          <p:nvSpPr>
            <p:cNvPr id="110" name="TextBox 110"/>
            <p:cNvSpPr txBox="1"/>
            <p:nvPr/>
          </p:nvSpPr>
          <p:spPr>
            <a:xfrm>
              <a:off x="7536942" y="2997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颜色：purple / violet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536942" y="3321368"/>
            <a:ext cx="1385830" cy="264033"/>
            <a:chOff x="7536942" y="3321368"/>
            <a:chExt cx="1385830" cy="264033"/>
          </a:xfrm>
        </p:grpSpPr>
        <p:sp>
          <p:nvSpPr>
            <p:cNvPr id="112" name="TextBox 112"/>
            <p:cNvSpPr txBox="1"/>
            <p:nvPr/>
          </p:nvSpPr>
          <p:spPr>
            <a:xfrm>
              <a:off x="7536942" y="332136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花瓣 1→6 完成 ✓</a:t>
              </a:r>
              <a:endParaRPr lang="zh-CN" sz="1350" dirty="0">
                <a:solidFill>
                  <a:srgbClr val="A9E7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8490219" y="3619500"/>
            <a:ext cx="1821912" cy="1828800"/>
            <a:chOff x="8490219" y="3619500"/>
            <a:chExt cx="1821912" cy="1828800"/>
          </a:xfrm>
        </p:grpSpPr>
        <p:grpSp>
          <p:nvGrpSpPr>
            <p:cNvPr id="121" name="Group 121"/>
            <p:cNvGrpSpPr/>
            <p:nvPr/>
          </p:nvGrpSpPr>
          <p:grpSpPr>
            <a:xfrm>
              <a:off x="8490219" y="3619500"/>
              <a:ext cx="1821912" cy="1828800"/>
              <a:chOff x="8490219" y="3619500"/>
              <a:chExt cx="1821912" cy="1828800"/>
            </a:xfrm>
          </p:grpSpPr>
          <p:sp>
            <p:nvSpPr>
              <p:cNvPr id="114" name="Ellipse 114"/>
              <p:cNvSpPr/>
              <p:nvPr/>
            </p:nvSpPr>
            <p:spPr>
              <a:xfrm>
                <a:off x="9163050" y="36195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5" name="Ellipse 115"/>
              <p:cNvSpPr/>
              <p:nvPr/>
            </p:nvSpPr>
            <p:spPr>
              <a:xfrm rot="3600000">
                <a:off x="9558997" y="38481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6" name="Ellipse 116"/>
              <p:cNvSpPr/>
              <p:nvPr/>
            </p:nvSpPr>
            <p:spPr>
              <a:xfrm rot="7200000">
                <a:off x="9558997" y="43053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7" name="Ellipse 117"/>
              <p:cNvSpPr/>
              <p:nvPr/>
            </p:nvSpPr>
            <p:spPr>
              <a:xfrm rot="10800000">
                <a:off x="9163050" y="45339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8" name="Ellipse 118"/>
              <p:cNvSpPr/>
              <p:nvPr/>
            </p:nvSpPr>
            <p:spPr>
              <a:xfrm rot="-7200000">
                <a:off x="8767103" y="43053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9" name="Ellipse 119"/>
              <p:cNvSpPr/>
              <p:nvPr/>
            </p:nvSpPr>
            <p:spPr>
              <a:xfrm rot="-3600000">
                <a:off x="8767103" y="3848100"/>
                <a:ext cx="476250" cy="9144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9172575" y="4305300"/>
                <a:ext cx="457200" cy="4572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</p:grpSp>
      <p:grpSp>
        <p:nvGrpSpPr>
          <p:cNvPr id="131" name="Group 131"/>
          <p:cNvGrpSpPr/>
          <p:nvPr/>
        </p:nvGrpSpPr>
        <p:grpSpPr>
          <a:xfrm>
            <a:off x="8490219" y="3619500"/>
            <a:ext cx="1821912" cy="1828800"/>
            <a:chOff x="8490219" y="3619500"/>
            <a:chExt cx="1821912" cy="1828800"/>
          </a:xfrm>
        </p:grpSpPr>
        <p:grpSp>
          <p:nvGrpSpPr>
            <p:cNvPr id="130" name="Group 130"/>
            <p:cNvGrpSpPr/>
            <p:nvPr/>
          </p:nvGrpSpPr>
          <p:grpSpPr>
            <a:xfrm>
              <a:off x="8490219" y="3619500"/>
              <a:ext cx="1821912" cy="1828800"/>
              <a:chOff x="8490219" y="3619500"/>
              <a:chExt cx="1821912" cy="1828800"/>
            </a:xfrm>
          </p:grpSpPr>
          <p:sp>
            <p:nvSpPr>
              <p:cNvPr id="123" name="Ellipse 123"/>
              <p:cNvSpPr/>
              <p:nvPr/>
            </p:nvSpPr>
            <p:spPr>
              <a:xfrm>
                <a:off x="9163050" y="3619500"/>
                <a:ext cx="476250" cy="9144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4" name="Ellipse 124"/>
              <p:cNvSpPr/>
              <p:nvPr/>
            </p:nvSpPr>
            <p:spPr>
              <a:xfrm rot="3600000">
                <a:off x="9558997" y="3848100"/>
                <a:ext cx="476250" cy="914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5" name="Ellipse 125"/>
              <p:cNvSpPr/>
              <p:nvPr/>
            </p:nvSpPr>
            <p:spPr>
              <a:xfrm rot="7200000">
                <a:off x="9558997" y="4305300"/>
                <a:ext cx="476250" cy="9144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6" name="Ellipse 126"/>
              <p:cNvSpPr/>
              <p:nvPr/>
            </p:nvSpPr>
            <p:spPr>
              <a:xfrm rot="10800000">
                <a:off x="9163050" y="4533900"/>
                <a:ext cx="476250" cy="914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7" name="Ellipse 127"/>
              <p:cNvSpPr/>
              <p:nvPr/>
            </p:nvSpPr>
            <p:spPr>
              <a:xfrm rot="-7200000">
                <a:off x="8767103" y="4305300"/>
                <a:ext cx="476250" cy="9144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8" name="Ellipse 128"/>
              <p:cNvSpPr/>
              <p:nvPr/>
            </p:nvSpPr>
            <p:spPr>
              <a:xfrm rot="-3600000">
                <a:off x="8767103" y="3848100"/>
                <a:ext cx="476250" cy="9144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172575" y="4305300"/>
                <a:ext cx="457200" cy="457200"/>
              </a:xfrm>
              <a:prstGeom prst="ellipse">
                <a:avLst/>
              </a:pr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40" name="Group 140"/>
          <p:cNvGrpSpPr/>
          <p:nvPr/>
        </p:nvGrpSpPr>
        <p:grpSpPr>
          <a:xfrm>
            <a:off x="8490219" y="3619500"/>
            <a:ext cx="1821912" cy="1828800"/>
            <a:chOff x="8490219" y="3619500"/>
            <a:chExt cx="1821912" cy="1828800"/>
          </a:xfrm>
        </p:grpSpPr>
        <p:grpSp>
          <p:nvGrpSpPr>
            <p:cNvPr id="139" name="Group 139"/>
            <p:cNvGrpSpPr/>
            <p:nvPr/>
          </p:nvGrpSpPr>
          <p:grpSpPr>
            <a:xfrm>
              <a:off x="8490219" y="3619500"/>
              <a:ext cx="1821912" cy="1828800"/>
              <a:chOff x="8490219" y="3619500"/>
              <a:chExt cx="1821912" cy="1828800"/>
            </a:xfrm>
          </p:grpSpPr>
          <p:sp>
            <p:nvSpPr>
              <p:cNvPr id="132" name="Ellipse 132"/>
              <p:cNvSpPr/>
              <p:nvPr/>
            </p:nvSpPr>
            <p:spPr>
              <a:xfrm>
                <a:off x="9163050" y="3619500"/>
                <a:ext cx="476250" cy="9144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3" name="Ellipse 133"/>
              <p:cNvSpPr/>
              <p:nvPr/>
            </p:nvSpPr>
            <p:spPr>
              <a:xfrm rot="3600000">
                <a:off x="9558997" y="3848100"/>
                <a:ext cx="476250" cy="9144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4" name="Ellipse 134"/>
              <p:cNvSpPr/>
              <p:nvPr/>
            </p:nvSpPr>
            <p:spPr>
              <a:xfrm rot="7200000">
                <a:off x="9558997" y="4305300"/>
                <a:ext cx="476250" cy="9144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5" name="Ellipse 135"/>
              <p:cNvSpPr/>
              <p:nvPr/>
            </p:nvSpPr>
            <p:spPr>
              <a:xfrm rot="10800000">
                <a:off x="9163050" y="4533900"/>
                <a:ext cx="476250" cy="9144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6" name="Ellipse 136"/>
              <p:cNvSpPr/>
              <p:nvPr/>
            </p:nvSpPr>
            <p:spPr>
              <a:xfrm rot="-7200000">
                <a:off x="8767103" y="4305300"/>
                <a:ext cx="476250" cy="9144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 rot="-3600000">
                <a:off x="8767103" y="3848100"/>
                <a:ext cx="476250" cy="9144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8" name="Ellipse 138"/>
              <p:cNvSpPr/>
              <p:nvPr/>
            </p:nvSpPr>
            <p:spPr>
              <a:xfrm>
                <a:off x="9172575" y="4305300"/>
                <a:ext cx="457200" cy="4572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47700" y="666750"/>
            <a:ext cx="3977945" cy="1700784"/>
            <a:chOff x="647700" y="666750"/>
            <a:chExt cx="3977945" cy="1700784"/>
          </a:xfrm>
        </p:grpSpPr>
        <p:sp>
          <p:nvSpPr>
            <p:cNvPr id="2" name="Rectangle 2"/>
            <p:cNvSpPr/>
            <p:nvPr/>
          </p:nvSpPr>
          <p:spPr>
            <a:xfrm>
              <a:off x="666750" y="66675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0058" y="8029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第三站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1353502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选择挑战</a:t>
              </a:r>
              <a:endParaRPr lang="zh-CN" sz="40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606" y="2015490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先思考 → 再点击 → 看颜色反馈和解析</a:t>
              </a:r>
              <a:endParaRPr lang="zh-CN" sz="180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2914650"/>
            <a:ext cx="7067550" cy="2419350"/>
            <a:chOff x="666750" y="2914650"/>
            <a:chExt cx="7067550" cy="2419350"/>
          </a:xfrm>
        </p:grpSpPr>
        <p:sp>
          <p:nvSpPr>
            <p:cNvPr id="7" name="Rectangle 7"/>
            <p:cNvSpPr/>
            <p:nvPr/>
          </p:nvSpPr>
          <p:spPr>
            <a:xfrm>
              <a:off x="666750" y="2914650"/>
              <a:ext cx="7067550" cy="2419350"/>
            </a:xfrm>
            <a:prstGeom prst="roundRect">
              <a:avLst>
                <a:gd name="adj" fmla="val 1338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7082" y="3240405"/>
              <a:ext cx="1432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8 题 · 4 页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3829050"/>
              <a:ext cx="2305050" cy="590550"/>
            </a:xfrm>
            <a:prstGeom prst="roundRect">
              <a:avLst>
                <a:gd name="adj" fmla="val 38710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13540" y="4031932"/>
              <a:ext cx="117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7A4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绿色 = 正确</a:t>
              </a:r>
              <a:endParaRPr lang="zh-CN" sz="1650" b="1" dirty="0">
                <a:solidFill>
                  <a:srgbClr val="207A4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600450" y="3829050"/>
              <a:ext cx="2305050" cy="590550"/>
            </a:xfrm>
            <a:prstGeom prst="roundRect">
              <a:avLst>
                <a:gd name="adj" fmla="val 38710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66240" y="4031932"/>
              <a:ext cx="117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粉色 = 错误</a:t>
              </a:r>
              <a:endParaRPr lang="zh-CN" sz="16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749" y="4782979"/>
              <a:ext cx="3451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每题一次点击：选项着色 + 解析出现</a:t>
              </a:r>
              <a:endParaRPr lang="zh-CN" sz="15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86750" y="3048000"/>
            <a:ext cx="2800350" cy="1562100"/>
            <a:chOff x="8286750" y="3048000"/>
            <a:chExt cx="2800350" cy="1562100"/>
          </a:xfrm>
        </p:grpSpPr>
        <p:sp>
          <p:nvSpPr>
            <p:cNvPr id="15" name="Ellipse 15"/>
            <p:cNvSpPr/>
            <p:nvPr/>
          </p:nvSpPr>
          <p:spPr>
            <a:xfrm>
              <a:off x="828675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9998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2970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4293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77265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8588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515600" y="3048000"/>
              <a:ext cx="571500" cy="571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728830" y="3241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4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828675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9998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5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5" name="Ellipse 25"/>
            <p:cNvSpPr/>
            <p:nvPr/>
          </p:nvSpPr>
          <p:spPr>
            <a:xfrm>
              <a:off x="902970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4293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6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977265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8588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7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Ellipse 29"/>
            <p:cNvSpPr/>
            <p:nvPr/>
          </p:nvSpPr>
          <p:spPr>
            <a:xfrm>
              <a:off x="10515600" y="4038600"/>
              <a:ext cx="571500" cy="571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728830" y="42319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8</a:t>
              </a:r>
              <a:endParaRPr lang="en-US" sz="16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选择挑战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命令辨认</a:t>
              </a:r>
              <a:endParaRPr lang="zh-CN" sz="28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初始中性 · 点击后绿对粉错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让海龟隐藏，应该调用哪个函数？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1383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hideturtle()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1465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showturtle()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914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home()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877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done()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1452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hideturtle()</a:t>
              </a:r>
              <a:endParaRPr lang="en-US" sz="1350" b="1" dirty="0">
                <a:solidFill>
                  <a:srgbClr val="207A4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1538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showturtle()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959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home()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920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done()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3674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hide 表示隐藏；它只隐藏光标，不会擦掉图画。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让海龟重新显示，应该调用哪个函数？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1383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hideturtle()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1465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showturtle()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984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circle()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1212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forward()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1452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hideturtle()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1538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showturtle()</a:t>
              </a:r>
              <a:endParaRPr lang="en-US" sz="1350" b="1" dirty="0">
                <a:solidFill>
                  <a:srgbClr val="207A4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1033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circle()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127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forward()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898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show 表示显示；showturtle() 让光标重新出现。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选择挑战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窗口与角度</a:t>
              </a:r>
              <a:endParaRPr lang="zh-CN" sz="28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初始中性 · 点击后绿对粉错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哪行代码能设置窗口标题？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2697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screen.title("小红花画展")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2203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t.title("小红花画展")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1529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turtle.done()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1829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screen.bgcolor()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2786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screen.title("小红花画展")</a:t>
              </a:r>
              <a:endParaRPr lang="zh-CN" sz="1350" b="1" dirty="0">
                <a:solidFill>
                  <a:srgbClr val="207A4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2266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t.title("小红花画展")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1605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turtle.done()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1920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screen.bgcolor()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title() 属于窗口对象 screen，标题文字要放在引号里。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画六瓣花，每画一瓣后左转多少度？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30°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45°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60°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90°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30°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45°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60°</a:t>
              </a:r>
              <a:endParaRPr lang="en-US" sz="1350" b="1" dirty="0">
                <a:solidFill>
                  <a:srgbClr val="207A4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90°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一圈 360° 平均分成 6 份：360 ÷ 6 = 60°。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选择挑战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展示与方向</a:t>
              </a:r>
              <a:endParaRPr lang="zh-CN" sz="28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初始中性 · 点击后绿对粉错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5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作品完成后，怎样让画面更整洁？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隐藏海龟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清空画布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C. 关闭窗口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1050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D. 删除代码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隐藏海龟</a:t>
              </a:r>
              <a:endParaRPr lang="zh-CN" sz="1350" b="1" dirty="0">
                <a:solidFill>
                  <a:srgbClr val="207A4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清空画布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C. 关闭窗口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106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D. 删除代码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3183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hideturtle() 隐藏光标，作品仍然保留。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6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43381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让花茎朝下，setheading 应设为多少？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493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90°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180°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270°</a:t>
              </a:r>
              <a:endParaRPr lang="en-US" sz="1350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517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A. 0°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B. 90°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73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B83E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C. 180°</a:t>
              </a:r>
              <a:endParaRPr lang="en-US" sz="1350" b="1" dirty="0">
                <a:solidFill>
                  <a:srgbClr val="B83E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73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07A45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D. 270°</a:t>
              </a:r>
              <a:endParaRPr lang="en-US" sz="1350" b="1" dirty="0">
                <a:solidFill>
                  <a:srgbClr val="207A45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0°向右、90°向上、180°向左、270°向下。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23850"/>
            <a:ext cx="11170158" cy="611695"/>
            <a:chOff x="514350" y="323850"/>
            <a:chExt cx="11170158" cy="611695"/>
          </a:xfrm>
        </p:grpSpPr>
        <p:sp>
          <p:nvSpPr>
            <p:cNvPr id="2" name="Rectangle 2"/>
            <p:cNvSpPr/>
            <p:nvPr/>
          </p:nvSpPr>
          <p:spPr>
            <a:xfrm>
              <a:off x="514350" y="323850"/>
              <a:ext cx="1638300" cy="4381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2020" y="457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选择挑战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404872" y="3781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调试与综合</a:t>
              </a:r>
              <a:endParaRPr lang="zh-CN" sz="28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2687" y="5019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初始中性 · 点击后绿对粉错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4350" y="1181100"/>
            <a:ext cx="11163300" cy="2343150"/>
            <a:chOff x="514350" y="1181100"/>
            <a:chExt cx="11163300" cy="2343150"/>
          </a:xfrm>
        </p:grpSpPr>
        <p:sp>
          <p:nvSpPr>
            <p:cNvPr id="7" name="Rectangle 7"/>
            <p:cNvSpPr/>
            <p:nvPr/>
          </p:nvSpPr>
          <p:spPr>
            <a:xfrm>
              <a:off x="514350" y="118110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3144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473" y="145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7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156" y="14344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哪种修改方式更安全？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" y="1997392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一次改很多处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31692" y="1997392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改一处马上运行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2530792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C. 只改不运行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31692" y="2530792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D. 报错就重写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100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5887" y="2415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1866900"/>
            <a:ext cx="10515600" cy="952500"/>
            <a:chOff x="781050" y="1866900"/>
            <a:chExt cx="10515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810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92" y="1997392"/>
              <a:ext cx="1448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一次改很多处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18669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1692" y="1997392"/>
              <a:ext cx="1640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改一处马上运行</a:t>
              </a:r>
              <a:endParaRPr lang="zh-CN" sz="1350" b="1" dirty="0">
                <a:solidFill>
                  <a:srgbClr val="207A4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592" y="2530792"/>
              <a:ext cx="125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C. 只改不运行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86150" y="240030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31692" y="2530792"/>
              <a:ext cx="125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D. 报错就重写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2542" y="2045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2923" y="237696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一次只改一处并及时运行，最容易定位错误。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8900" y="1866900"/>
            <a:ext cx="4857750" cy="952500"/>
            <a:chOff x="6438900" y="1866900"/>
            <a:chExt cx="4857750" cy="952500"/>
          </a:xfrm>
        </p:grpSpPr>
        <p:sp>
          <p:nvSpPr>
            <p:cNvPr id="35" name="Rectangle 35"/>
            <p:cNvSpPr/>
            <p:nvPr/>
          </p:nvSpPr>
          <p:spPr>
            <a:xfrm>
              <a:off x="6438900" y="186690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14350" y="3714750"/>
            <a:ext cx="11163300" cy="2343150"/>
            <a:chOff x="514350" y="3714750"/>
            <a:chExt cx="111633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514350" y="3714750"/>
              <a:ext cx="11163300" cy="23431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85800" y="384810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73" y="3990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8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156" y="39681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本课最重要的目标是什么？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592" y="4531042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背下所有颜色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1692" y="4531042"/>
              <a:ext cx="1818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综合命令完成作品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6592" y="5064442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C. 把代码写得最长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7FAFC"/>
            </a:solidFill>
            <a:ln w="19050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1692" y="5064442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D. 隐藏所有窗口</a:t>
              </a:r>
              <a:endParaRPr lang="zh-CN" sz="13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3100" y="4635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想好了吗？点击揭晓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887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先说理由，再看解析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81050" y="4400550"/>
            <a:ext cx="10515600" cy="952500"/>
            <a:chOff x="781050" y="4400550"/>
            <a:chExt cx="10515600" cy="952500"/>
          </a:xfrm>
        </p:grpSpPr>
        <p:sp>
          <p:nvSpPr>
            <p:cNvPr id="53" name="Rectangle 53"/>
            <p:cNvSpPr/>
            <p:nvPr/>
          </p:nvSpPr>
          <p:spPr>
            <a:xfrm>
              <a:off x="7810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6592" y="4531042"/>
              <a:ext cx="1448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A. 背下所有颜色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486150" y="44005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631692" y="4531042"/>
              <a:ext cx="183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B. 综合命令完成作品</a:t>
              </a:r>
              <a:endParaRPr lang="zh-CN" sz="1350" b="1" dirty="0">
                <a:solidFill>
                  <a:srgbClr val="207A4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10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6592" y="5064442"/>
              <a:ext cx="1640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C. 把代码写得最长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6150" y="4933950"/>
              <a:ext cx="2514600" cy="419100"/>
            </a:xfrm>
            <a:prstGeom prst="roundRect">
              <a:avLst>
                <a:gd name="adj" fmla="val 40909"/>
              </a:avLst>
            </a:prstGeom>
            <a:solidFill>
              <a:srgbClr val="FFE3E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1692" y="5064442"/>
              <a:ext cx="1448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3E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D. 隐藏所有窗口</a:t>
              </a:r>
              <a:endParaRPr lang="zh-CN" sz="1350" b="1" dirty="0">
                <a:solidFill>
                  <a:srgbClr val="B83E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2542" y="4578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解析</a:t>
              </a:r>
              <a:endParaRPr lang="zh-CN" sz="1350" b="1" dirty="0">
                <a:solidFill>
                  <a:srgbClr val="2072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22923" y="49106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阶段复盘的重点是把已学命令组合成完整作品。</a:t>
              </a:r>
              <a:endParaRPr lang="zh-CN" sz="128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38900" y="4400550"/>
            <a:ext cx="4857750" cy="952500"/>
            <a:chOff x="6438900" y="4400550"/>
            <a:chExt cx="4857750" cy="952500"/>
          </a:xfrm>
        </p:grpSpPr>
        <p:sp>
          <p:nvSpPr>
            <p:cNvPr id="65" name="Rectangle 65"/>
            <p:cNvSpPr/>
            <p:nvPr/>
          </p:nvSpPr>
          <p:spPr>
            <a:xfrm>
              <a:off x="6438900" y="4400550"/>
              <a:ext cx="4857750" cy="952500"/>
            </a:xfrm>
            <a:prstGeom prst="roundRect">
              <a:avLst>
                <a:gd name="adj" fmla="val 22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762000"/>
            <a:ext cx="3905250" cy="5143500"/>
            <a:chOff x="762000" y="762000"/>
            <a:chExt cx="3905250" cy="5143500"/>
          </a:xfrm>
        </p:grpSpPr>
        <p:sp>
          <p:nvSpPr>
            <p:cNvPr id="2" name="Rectangle 2"/>
            <p:cNvSpPr/>
            <p:nvPr/>
          </p:nvSpPr>
          <p:spPr>
            <a:xfrm>
              <a:off x="762000" y="762000"/>
              <a:ext cx="3905250" cy="5143500"/>
            </a:xfrm>
            <a:prstGeom prst="roundRect">
              <a:avLst>
                <a:gd name="adj" fmla="val 1122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2007549" y="1444942"/>
              <a:ext cx="1414152" cy="1704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8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10</a:t>
              </a:r>
              <a:endParaRPr lang="en-US" sz="88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15109" y="275367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分钟休息</a:t>
              </a:r>
              <a:endParaRPr lang="zh-CN" sz="25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Ellipse 5"/>
            <p:cNvSpPr/>
            <p:nvPr/>
          </p:nvSpPr>
          <p:spPr>
            <a:xfrm>
              <a:off x="2066925" y="3409950"/>
              <a:ext cx="1295400" cy="12954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2714625" y="3638550"/>
              <a:ext cx="342900" cy="666750"/>
            </a:xfrm>
            <a:custGeom>
              <a:avLst/>
              <a:gdLst/>
              <a:ahLst/>
              <a:cxnLst/>
              <a:rect l="l" t="t" r="r" b="b"/>
              <a:pathLst>
                <a:path w="342900" h="666750">
                  <a:moveTo>
                    <a:pt x="0" y="0"/>
                  </a:moveTo>
                  <a:lnTo>
                    <a:pt x="0" y="476250"/>
                  </a:lnTo>
                  <a:lnTo>
                    <a:pt x="342900" y="666750"/>
                  </a:lnTo>
                </a:path>
              </a:pathLst>
            </a:custGeom>
            <a:noFill/>
            <a:ln w="133350" cap="rnd">
              <a:solidFill>
                <a:srgbClr val="FFFFFF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239512" y="1002030"/>
            <a:ext cx="6190488" cy="4293870"/>
            <a:chOff x="5239512" y="1002030"/>
            <a:chExt cx="6190488" cy="4293870"/>
          </a:xfrm>
        </p:grpSpPr>
        <p:sp>
          <p:nvSpPr>
            <p:cNvPr id="8" name="TextBox 8"/>
            <p:cNvSpPr txBox="1"/>
            <p:nvPr/>
          </p:nvSpPr>
          <p:spPr>
            <a:xfrm>
              <a:off x="5239512" y="1002030"/>
              <a:ext cx="442128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保存 .py，休息一下</a:t>
              </a:r>
              <a:endParaRPr lang="zh-CN" sz="36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257800" y="1943100"/>
              <a:ext cx="6172200" cy="9525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467350" y="215265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54937" y="23202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0394" y="23040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先保存刚才的程序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257800" y="3143250"/>
              <a:ext cx="6172200" cy="9525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467350" y="33528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54937" y="35204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00394" y="35042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望远处，放松眼睛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57800" y="4343400"/>
              <a:ext cx="6172200" cy="9525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467350" y="4552950"/>
              <a:ext cx="533400" cy="5334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54937" y="47205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0394" y="470439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回来后打开同一个文件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42900"/>
            <a:ext cx="5863590" cy="643890"/>
            <a:chOff x="514350" y="342900"/>
            <a:chExt cx="5863590" cy="643890"/>
          </a:xfrm>
        </p:grpSpPr>
        <p:sp>
          <p:nvSpPr>
            <p:cNvPr id="2" name="Rectangle 2"/>
            <p:cNvSpPr/>
            <p:nvPr/>
          </p:nvSpPr>
          <p:spPr>
            <a:xfrm>
              <a:off x="514350" y="342900"/>
              <a:ext cx="1524000" cy="4381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60158" y="476250"/>
              <a:ext cx="632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动手 B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08860" y="4000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给花朵添上花心和花茎</a:t>
              </a:r>
              <a:endParaRPr lang="zh-CN" sz="30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1352550"/>
            <a:ext cx="6191250" cy="4648200"/>
            <a:chOff x="514350" y="1352550"/>
            <a:chExt cx="6191250" cy="46482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6191250" cy="4648200"/>
            </a:xfrm>
            <a:prstGeom prst="roundRect">
              <a:avLst>
                <a:gd name="adj" fmla="val 6148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" y="1352550"/>
              <a:ext cx="6191250" cy="51435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524000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补全 5 行代码</a:t>
              </a:r>
              <a:endParaRPr lang="zh-CN" sz="15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1145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1649" y="2239804"/>
              <a:ext cx="22387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t.____(45, "yellow")</a:t>
              </a:r>
              <a:endParaRPr lang="en-US" sz="158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27051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1649" y="2830354"/>
              <a:ext cx="20047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t.__________(270)</a:t>
              </a:r>
              <a:endParaRPr lang="en-US" sz="158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2956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1649" y="3420904"/>
              <a:ext cx="14198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t._______(8)</a:t>
              </a:r>
              <a:endParaRPr lang="en-US" sz="158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8862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1649" y="4011454"/>
              <a:ext cx="22387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t.________("green")</a:t>
              </a:r>
              <a:endParaRPr lang="en-US" sz="158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4767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1649" y="4602004"/>
              <a:ext cx="16537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t._______(140)</a:t>
              </a:r>
              <a:endParaRPr lang="en-US" sz="158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38200" y="5257800"/>
              <a:ext cx="5543550" cy="514350"/>
              <a:chOff x="838200" y="5257800"/>
              <a:chExt cx="5543550" cy="5143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38200" y="5257800"/>
                <a:ext cx="5543550" cy="514350"/>
              </a:xfrm>
              <a:prstGeom prst="roundRect">
                <a:avLst>
                  <a:gd name="adj" fmla="val 37037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935224" y="54225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点击核对答案</a:t>
                </a:r>
                <a:endPara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838200" y="5257800"/>
                <a:ext cx="5543550" cy="514350"/>
              </a:xfrm>
              <a:prstGeom prst="roundRect">
                <a:avLst>
                  <a:gd name="adj" fmla="val 37037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34" name="Group 34"/>
          <p:cNvGrpSpPr/>
          <p:nvPr/>
        </p:nvGrpSpPr>
        <p:grpSpPr>
          <a:xfrm>
            <a:off x="838200" y="2114550"/>
            <a:ext cx="5543550" cy="2800350"/>
            <a:chOff x="838200" y="2114550"/>
            <a:chExt cx="5543550" cy="2800350"/>
          </a:xfrm>
        </p:grpSpPr>
        <p:sp>
          <p:nvSpPr>
            <p:cNvPr id="24" name="Rectangle 24"/>
            <p:cNvSpPr/>
            <p:nvPr/>
          </p:nvSpPr>
          <p:spPr>
            <a:xfrm>
              <a:off x="838200" y="21145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1649" y="2239804"/>
              <a:ext cx="22270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t.dot(45, "yellow")</a:t>
              </a:r>
              <a:endParaRPr lang="en-US" sz="1580" b="1" dirty="0">
                <a:solidFill>
                  <a:srgbClr val="207A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8200" y="27051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1649" y="2830354"/>
              <a:ext cx="20483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t.setheading(270)</a:t>
              </a:r>
              <a:endParaRPr lang="en-US" sz="1580" b="1" dirty="0">
                <a:solidFill>
                  <a:srgbClr val="207A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32956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1649" y="3420904"/>
              <a:ext cx="14341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t.pensize(8)</a:t>
              </a:r>
              <a:endParaRPr lang="en-US" sz="1580" b="1" dirty="0">
                <a:solidFill>
                  <a:srgbClr val="207A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" y="388620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01649" y="4011454"/>
              <a:ext cx="22940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t.pencolor("green")</a:t>
              </a:r>
              <a:endParaRPr lang="en-US" sz="1580" b="1" dirty="0">
                <a:solidFill>
                  <a:srgbClr val="207A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8200" y="4476750"/>
              <a:ext cx="5543550" cy="438150"/>
            </a:xfrm>
            <a:prstGeom prst="roundRect">
              <a:avLst>
                <a:gd name="adj" fmla="val 34783"/>
              </a:avLst>
            </a:prstGeom>
            <a:solidFill>
              <a:srgbClr val="DDF7E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1649" y="4602004"/>
              <a:ext cx="17803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07A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t.forward(140)</a:t>
              </a:r>
              <a:endParaRPr lang="en-US" sz="1580" b="1" dirty="0">
                <a:solidFill>
                  <a:srgbClr val="207A4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124700" y="1352550"/>
            <a:ext cx="4552950" cy="4648200"/>
            <a:chOff x="7124700" y="1352550"/>
            <a:chExt cx="4552950" cy="4648200"/>
          </a:xfrm>
        </p:grpSpPr>
        <p:sp>
          <p:nvSpPr>
            <p:cNvPr id="35" name="Rectangle 35"/>
            <p:cNvSpPr/>
            <p:nvPr/>
          </p:nvSpPr>
          <p:spPr>
            <a:xfrm>
              <a:off x="7124700" y="1352550"/>
              <a:ext cx="4552950" cy="4648200"/>
            </a:xfrm>
            <a:prstGeom prst="roundRect">
              <a:avLst>
                <a:gd name="adj" fmla="val 6276"/>
              </a:avLst>
            </a:prstGeom>
            <a:solidFill>
              <a:srgbClr val="FFF3D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225912" y="1924050"/>
              <a:ext cx="2350526" cy="2990850"/>
              <a:chOff x="8225912" y="1924050"/>
              <a:chExt cx="2350526" cy="299085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9096375" y="1924050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 rot="3600000">
                <a:off x="9607806" y="221932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 rot="7200000">
                <a:off x="9607806" y="280987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 rot="10800000">
                <a:off x="9096375" y="3105150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 rot="-7200000">
                <a:off x="8584944" y="280987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 rot="-3600000">
                <a:off x="8584944" y="2219325"/>
                <a:ext cx="609600" cy="1181100"/>
              </a:xfrm>
              <a:prstGeom prst="ellipse">
                <a:avLst/>
              </a:prstGeom>
              <a:solidFill>
                <a:srgbClr val="FFB2CA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115425" y="2819400"/>
                <a:ext cx="571500" cy="5715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401175" y="339090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133350" cap="rnd">
                <a:solidFill>
                  <a:srgbClr val="65C4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97318" y="5003482"/>
              <a:ext cx="139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dot() 画花心</a:t>
              </a:r>
              <a:endParaRPr lang="zh-CN" sz="16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97318" y="534638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270° 朝下 · forward(140) 画花茎</a:t>
              </a:r>
              <a:endParaRPr lang="zh-CN" sz="1650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38200" y="5257800"/>
            <a:ext cx="5543550" cy="514350"/>
            <a:chOff x="838200" y="5257800"/>
            <a:chExt cx="5543550" cy="514350"/>
          </a:xfrm>
        </p:grpSpPr>
        <p:sp>
          <p:nvSpPr>
            <p:cNvPr id="48" name="Rectangle 48"/>
            <p:cNvSpPr/>
            <p:nvPr/>
          </p:nvSpPr>
          <p:spPr>
            <a:xfrm>
              <a:off x="838200" y="5257800"/>
              <a:ext cx="5543550" cy="514350"/>
            </a:xfrm>
            <a:prstGeom prst="roundRect">
              <a:avLst>
                <a:gd name="adj" fmla="val 3703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restart="always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4810" y="323850"/>
            <a:ext cx="11223498" cy="586740"/>
            <a:chOff x="384810" y="323850"/>
            <a:chExt cx="11223498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384810" y="3238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花茎长度实验</a:t>
              </a:r>
              <a:endParaRPr lang="zh-CN" sz="30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40830" y="473392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只改 forward 的数字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0050" y="1009650"/>
            <a:ext cx="5448300" cy="476250"/>
            <a:chOff x="400050" y="1009650"/>
            <a:chExt cx="5448300" cy="476250"/>
          </a:xfrm>
        </p:grpSpPr>
        <p:grpSp>
          <p:nvGrpSpPr>
            <p:cNvPr id="7" name="Group 7"/>
            <p:cNvGrpSpPr/>
            <p:nvPr/>
          </p:nvGrpSpPr>
          <p:grpSpPr>
            <a:xfrm>
              <a:off x="400050" y="1009650"/>
              <a:ext cx="1714500" cy="476250"/>
              <a:chOff x="400050" y="1009650"/>
              <a:chExt cx="1714500" cy="4762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400050" y="1009650"/>
                <a:ext cx="1714500" cy="476250"/>
              </a:xfrm>
              <a:prstGeom prst="roundRect">
                <a:avLst>
                  <a:gd name="adj" fmla="val 40000"/>
                </a:avLst>
              </a:prstGeom>
              <a:solidFill>
                <a:srgbClr val="FF6FA5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51878" y="1162050"/>
                <a:ext cx="8108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短 · 100</a:t>
                </a:r>
                <a:endPara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8" name="Rectangle 8"/>
            <p:cNvSpPr/>
            <p:nvPr/>
          </p:nvSpPr>
          <p:spPr>
            <a:xfrm>
              <a:off x="4000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266950" y="1009650"/>
              <a:ext cx="1714500" cy="476250"/>
              <a:chOff x="2266950" y="1009650"/>
              <a:chExt cx="1714500" cy="476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266950" y="1009650"/>
                <a:ext cx="1714500" cy="476250"/>
              </a:xfrm>
              <a:prstGeom prst="roundRect">
                <a:avLst>
                  <a:gd name="adj" fmla="val 40000"/>
                </a:avLst>
              </a:pr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617813" y="1162050"/>
                <a:ext cx="10127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标准 · 140</a:t>
                </a:r>
                <a:endPara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22669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133850" y="1009650"/>
              <a:ext cx="1714500" cy="476250"/>
              <a:chOff x="4133850" y="1009650"/>
              <a:chExt cx="1714500" cy="476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133850" y="1009650"/>
                <a:ext cx="1714500" cy="476250"/>
              </a:xfrm>
              <a:prstGeom prst="roundRect">
                <a:avLst>
                  <a:gd name="adj" fmla="val 40000"/>
                </a:avLst>
              </a:prstGeom>
              <a:solidFill>
                <a:srgbClr val="65C46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585678" y="1162050"/>
                <a:ext cx="8108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长 · 180</a:t>
                </a:r>
                <a:endPara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41338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00050" y="1714500"/>
            <a:ext cx="6096000" cy="4343400"/>
            <a:chOff x="400050" y="1714500"/>
            <a:chExt cx="6096000" cy="4343400"/>
          </a:xfrm>
        </p:grpSpPr>
        <p:sp>
          <p:nvSpPr>
            <p:cNvPr id="18" name="Rectangle 18"/>
            <p:cNvSpPr/>
            <p:nvPr/>
          </p:nvSpPr>
          <p:spPr>
            <a:xfrm>
              <a:off x="400050" y="1714500"/>
              <a:ext cx="6096000" cy="4343400"/>
            </a:xfrm>
            <a:prstGeom prst="roundRect">
              <a:avLst>
                <a:gd name="adj" fmla="val 614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0050" y="1714500"/>
              <a:ext cx="6096000" cy="49530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230" y="1876425"/>
              <a:ext cx="873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stem.py</a:t>
              </a:r>
              <a:endParaRPr lang="en-US" sz="1500" b="1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6468" y="25079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t.dot(45, "yellow")</a:t>
              </a:r>
              <a:endParaRPr lang="en-US" sz="165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" y="2946082"/>
              <a:ext cx="2038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t.setheading(270)</a:t>
              </a:r>
              <a:endParaRPr lang="en-US" sz="165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" y="3384232"/>
              <a:ext cx="1427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t.pensize(8)</a:t>
              </a:r>
              <a:endParaRPr lang="en-US" sz="165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6468" y="3822382"/>
              <a:ext cx="2282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t.pencolor("green")</a:t>
              </a:r>
              <a:endParaRPr lang="en-US" sz="1650" dirty="0">
                <a:solidFill>
                  <a:srgbClr val="33415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" y="5219700"/>
              <a:ext cx="5562600" cy="571500"/>
              <a:chOff x="666750" y="5219700"/>
              <a:chExt cx="5562600" cy="571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6750" y="5219700"/>
                <a:ext cx="5562600" cy="571500"/>
              </a:xfrm>
              <a:prstGeom prst="roundRect">
                <a:avLst>
                  <a:gd name="adj" fmla="val 36667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896300" y="5413058"/>
                <a:ext cx="11035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▶ 运行程序</a:t>
                </a:r>
                <a:endPara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66750" y="5219700"/>
                <a:ext cx="5562600" cy="571500"/>
              </a:xfrm>
              <a:prstGeom prst="roundRect">
                <a:avLst>
                  <a:gd name="adj" fmla="val 36667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36" name="Group 36"/>
          <p:cNvGrpSpPr/>
          <p:nvPr/>
        </p:nvGrpSpPr>
        <p:grpSpPr>
          <a:xfrm>
            <a:off x="6838950" y="1714500"/>
            <a:ext cx="4953000" cy="4343400"/>
            <a:chOff x="6838950" y="1714500"/>
            <a:chExt cx="4953000" cy="4343400"/>
          </a:xfrm>
        </p:grpSpPr>
        <p:sp>
          <p:nvSpPr>
            <p:cNvPr id="30" name="Rectangle 30"/>
            <p:cNvSpPr/>
            <p:nvPr/>
          </p:nvSpPr>
          <p:spPr>
            <a:xfrm>
              <a:off x="6838950" y="1714500"/>
              <a:ext cx="4953000" cy="4343400"/>
            </a:xfrm>
            <a:prstGeom prst="roundRect">
              <a:avLst>
                <a:gd name="adj" fmla="val 6140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55180" y="197167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终端 + 结果</a:t>
              </a:r>
              <a:endParaRPr lang="zh-CN" sz="15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7155942" y="2502218"/>
              <a:ext cx="1594828" cy="911733"/>
              <a:chOff x="7155942" y="2502218"/>
              <a:chExt cx="1594828" cy="91173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7155942" y="2502218"/>
                <a:ext cx="1322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设置方向：270°</a:t>
                </a:r>
                <a:endPara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155942" y="2826068"/>
                <a:ext cx="1594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设置画笔：绿色 / 8</a:t>
                </a:r>
                <a:endPara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55942" y="3149918"/>
                <a:ext cx="15221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A9E7B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绘制花茎：完成 ✓</a:t>
                </a:r>
                <a:endParaRPr lang="zh-CN" sz="135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400050" y="1009650"/>
            <a:ext cx="1714500" cy="476250"/>
            <a:chOff x="400050" y="1009650"/>
            <a:chExt cx="1714500" cy="476250"/>
          </a:xfrm>
        </p:grpSpPr>
        <p:sp>
          <p:nvSpPr>
            <p:cNvPr id="37" name="Rectangle 37"/>
            <p:cNvSpPr/>
            <p:nvPr/>
          </p:nvSpPr>
          <p:spPr>
            <a:xfrm>
              <a:off x="4000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2266950" y="1009650"/>
            <a:ext cx="1714500" cy="476250"/>
            <a:chOff x="2266950" y="1009650"/>
            <a:chExt cx="1714500" cy="476250"/>
          </a:xfrm>
        </p:grpSpPr>
        <p:sp>
          <p:nvSpPr>
            <p:cNvPr id="39" name="Rectangle 39"/>
            <p:cNvSpPr/>
            <p:nvPr/>
          </p:nvSpPr>
          <p:spPr>
            <a:xfrm>
              <a:off x="22669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4133850" y="1009650"/>
            <a:ext cx="1714500" cy="476250"/>
            <a:chOff x="4133850" y="1009650"/>
            <a:chExt cx="1714500" cy="476250"/>
          </a:xfrm>
        </p:grpSpPr>
        <p:sp>
          <p:nvSpPr>
            <p:cNvPr id="41" name="Rectangle 41"/>
            <p:cNvSpPr/>
            <p:nvPr/>
          </p:nvSpPr>
          <p:spPr>
            <a:xfrm>
              <a:off x="4133850" y="1009650"/>
              <a:ext cx="1714500" cy="476250"/>
            </a:xfrm>
            <a:prstGeom prst="roundRect">
              <a:avLst>
                <a:gd name="adj" fmla="val 4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66750" y="5219700"/>
            <a:ext cx="5562600" cy="571500"/>
            <a:chOff x="666750" y="5219700"/>
            <a:chExt cx="5562600" cy="571500"/>
          </a:xfrm>
        </p:grpSpPr>
        <p:sp>
          <p:nvSpPr>
            <p:cNvPr id="43" name="Rectangle 43"/>
            <p:cNvSpPr/>
            <p:nvPr/>
          </p:nvSpPr>
          <p:spPr>
            <a:xfrm>
              <a:off x="666750" y="5219700"/>
              <a:ext cx="5562600" cy="571500"/>
            </a:xfrm>
            <a:prstGeom prst="roundRect">
              <a:avLst>
                <a:gd name="adj" fmla="val 36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66750" y="5219700"/>
            <a:ext cx="5562600" cy="571500"/>
            <a:chOff x="666750" y="5219700"/>
            <a:chExt cx="5562600" cy="571500"/>
          </a:xfrm>
        </p:grpSpPr>
        <p:sp>
          <p:nvSpPr>
            <p:cNvPr id="45" name="Rectangle 45"/>
            <p:cNvSpPr/>
            <p:nvPr/>
          </p:nvSpPr>
          <p:spPr>
            <a:xfrm>
              <a:off x="666750" y="5219700"/>
              <a:ext cx="5562600" cy="571500"/>
            </a:xfrm>
            <a:prstGeom prst="roundRect">
              <a:avLst>
                <a:gd name="adj" fmla="val 36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66750" y="5219700"/>
            <a:ext cx="5562600" cy="571500"/>
            <a:chOff x="666750" y="5219700"/>
            <a:chExt cx="5562600" cy="571500"/>
          </a:xfrm>
        </p:grpSpPr>
        <p:sp>
          <p:nvSpPr>
            <p:cNvPr id="47" name="Rectangle 47"/>
            <p:cNvSpPr/>
            <p:nvPr/>
          </p:nvSpPr>
          <p:spPr>
            <a:xfrm>
              <a:off x="666750" y="5219700"/>
              <a:ext cx="5562600" cy="571500"/>
            </a:xfrm>
            <a:prstGeom prst="roundRect">
              <a:avLst>
                <a:gd name="adj" fmla="val 36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9029700" y="3886200"/>
            <a:ext cx="571500" cy="1524000"/>
            <a:chOff x="9029700" y="3886200"/>
            <a:chExt cx="571500" cy="1524000"/>
          </a:xfrm>
        </p:grpSpPr>
        <p:sp>
          <p:nvSpPr>
            <p:cNvPr id="49" name="Ellipse 49"/>
            <p:cNvSpPr/>
            <p:nvPr/>
          </p:nvSpPr>
          <p:spPr>
            <a:xfrm>
              <a:off x="9029700" y="3886200"/>
              <a:ext cx="571500" cy="5715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9315450" y="44577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133350" cap="rnd">
              <a:solidFill>
                <a:srgbClr val="65C466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9029700" y="3657600"/>
            <a:ext cx="571500" cy="2286000"/>
            <a:chOff x="9029700" y="3657600"/>
            <a:chExt cx="571500" cy="2286000"/>
          </a:xfrm>
        </p:grpSpPr>
        <p:sp>
          <p:nvSpPr>
            <p:cNvPr id="52" name="Ellipse 52"/>
            <p:cNvSpPr/>
            <p:nvPr/>
          </p:nvSpPr>
          <p:spPr>
            <a:xfrm>
              <a:off x="9029700" y="3657600"/>
              <a:ext cx="571500" cy="5715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9315450" y="42291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133350" cap="rnd">
              <a:solidFill>
                <a:srgbClr val="65C466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66750" y="4229100"/>
            <a:ext cx="3714750" cy="430339"/>
            <a:chOff x="666750" y="4229100"/>
            <a:chExt cx="3714750" cy="430339"/>
          </a:xfrm>
        </p:grpSpPr>
        <p:sp>
          <p:nvSpPr>
            <p:cNvPr id="55" name="Rectangle 55"/>
            <p:cNvSpPr/>
            <p:nvPr/>
          </p:nvSpPr>
          <p:spPr>
            <a:xfrm>
              <a:off x="666750" y="4229100"/>
              <a:ext cx="3714750" cy="419100"/>
            </a:xfrm>
            <a:prstGeom prst="roundRect">
              <a:avLst>
                <a:gd name="adj" fmla="val 31818"/>
              </a:avLst>
            </a:prstGeom>
            <a:solidFill>
              <a:srgbClr val="E5F4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2668" y="4336732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72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t.forward(140)</a:t>
              </a:r>
              <a:endParaRPr lang="en-US" sz="1650" dirty="0">
                <a:solidFill>
                  <a:srgbClr val="2072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029700" y="3886200"/>
            <a:ext cx="571500" cy="1962150"/>
            <a:chOff x="9029700" y="3886200"/>
            <a:chExt cx="571500" cy="1962150"/>
          </a:xfrm>
        </p:grpSpPr>
        <p:sp>
          <p:nvSpPr>
            <p:cNvPr id="58" name="Ellipse 58"/>
            <p:cNvSpPr/>
            <p:nvPr/>
          </p:nvSpPr>
          <p:spPr>
            <a:xfrm>
              <a:off x="9029700" y="3886200"/>
              <a:ext cx="571500" cy="5715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9315450" y="445770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133350" cap="rnd">
              <a:solidFill>
                <a:srgbClr val="65C466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7048500" y="2286000"/>
            <a:ext cx="4533900" cy="3562350"/>
            <a:chOff x="7048500" y="2286000"/>
            <a:chExt cx="4533900" cy="3562350"/>
          </a:xfrm>
        </p:grpSpPr>
        <p:sp>
          <p:nvSpPr>
            <p:cNvPr id="61" name="Rectangle 61"/>
            <p:cNvSpPr/>
            <p:nvPr/>
          </p:nvSpPr>
          <p:spPr>
            <a:xfrm>
              <a:off x="7048500" y="2286000"/>
              <a:ext cx="4533900" cy="3562350"/>
            </a:xfrm>
            <a:prstGeom prst="roundRect">
              <a:avLst>
                <a:gd name="adj" fmla="val 5348"/>
              </a:avLst>
            </a:prstGeom>
            <a:solidFill>
              <a:srgbClr val="2B3A55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66750" y="4229100"/>
            <a:ext cx="3714750" cy="430339"/>
            <a:chOff x="666750" y="4229100"/>
            <a:chExt cx="3714750" cy="430339"/>
          </a:xfrm>
        </p:grpSpPr>
        <p:sp>
          <p:nvSpPr>
            <p:cNvPr id="63" name="Rectangle 63"/>
            <p:cNvSpPr/>
            <p:nvPr/>
          </p:nvSpPr>
          <p:spPr>
            <a:xfrm>
              <a:off x="666750" y="4229100"/>
              <a:ext cx="3714750" cy="419100"/>
            </a:xfrm>
            <a:prstGeom prst="roundRect">
              <a:avLst>
                <a:gd name="adj" fmla="val 31818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2668" y="4336732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t.forward(100)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750" y="4229100"/>
            <a:ext cx="3714750" cy="430339"/>
            <a:chOff x="666750" y="4229100"/>
            <a:chExt cx="3714750" cy="430339"/>
          </a:xfrm>
        </p:grpSpPr>
        <p:sp>
          <p:nvSpPr>
            <p:cNvPr id="66" name="Rectangle 66"/>
            <p:cNvSpPr/>
            <p:nvPr/>
          </p:nvSpPr>
          <p:spPr>
            <a:xfrm>
              <a:off x="666750" y="4229100"/>
              <a:ext cx="3714750" cy="419100"/>
            </a:xfrm>
            <a:prstGeom prst="roundRect">
              <a:avLst>
                <a:gd name="adj" fmla="val 3181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2668" y="4336732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t.forward(180)</a:t>
              </a:r>
              <a:endParaRPr lang="en-US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280463" y="5626418"/>
            <a:ext cx="2012823" cy="264033"/>
            <a:chOff x="8280463" y="5626418"/>
            <a:chExt cx="2012823" cy="264033"/>
          </a:xfrm>
        </p:grpSpPr>
        <p:sp>
          <p:nvSpPr>
            <p:cNvPr id="69" name="TextBox 69"/>
            <p:cNvSpPr txBox="1"/>
            <p:nvPr/>
          </p:nvSpPr>
          <p:spPr>
            <a:xfrm>
              <a:off x="8280463" y="5626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9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点击运行，观察花茎长度</a:t>
              </a:r>
              <a:endParaRPr lang="zh-CN" sz="1350" b="1" dirty="0">
                <a:solidFill>
                  <a:srgbClr val="2E9B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902458" y="5626418"/>
            <a:ext cx="768833" cy="264033"/>
            <a:chOff x="8902458" y="5626418"/>
            <a:chExt cx="768833" cy="264033"/>
          </a:xfrm>
        </p:grpSpPr>
        <p:sp>
          <p:nvSpPr>
            <p:cNvPr id="71" name="TextBox 71"/>
            <p:cNvSpPr txBox="1"/>
            <p:nvPr/>
          </p:nvSpPr>
          <p:spPr>
            <a:xfrm>
              <a:off x="8902458" y="5626418"/>
              <a:ext cx="76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绘制中……</a:t>
              </a:r>
              <a:endParaRPr lang="zh-CN" sz="13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734806" y="5626418"/>
            <a:ext cx="1104138" cy="264033"/>
            <a:chOff x="8734806" y="5626418"/>
            <a:chExt cx="1104138" cy="264033"/>
          </a:xfrm>
        </p:grpSpPr>
        <p:sp>
          <p:nvSpPr>
            <p:cNvPr id="73" name="TextBox 73"/>
            <p:cNvSpPr txBox="1"/>
            <p:nvPr/>
          </p:nvSpPr>
          <p:spPr>
            <a:xfrm>
              <a:off x="8734806" y="5626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长度对比完成</a:t>
              </a:r>
              <a:endParaRPr lang="zh-CN" sz="1350" b="1" dirty="0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327392" y="2635568"/>
            <a:ext cx="958748" cy="264033"/>
            <a:chOff x="7327392" y="2635568"/>
            <a:chExt cx="958748" cy="264033"/>
          </a:xfrm>
        </p:grpSpPr>
        <p:sp>
          <p:nvSpPr>
            <p:cNvPr id="75" name="TextBox 75"/>
            <p:cNvSpPr txBox="1"/>
            <p:nvPr/>
          </p:nvSpPr>
          <p:spPr>
            <a:xfrm>
              <a:off x="7327392" y="2635568"/>
              <a:ext cx="95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方向：270°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27392" y="2959418"/>
            <a:ext cx="1231354" cy="264033"/>
            <a:chOff x="7327392" y="2959418"/>
            <a:chExt cx="1231354" cy="264033"/>
          </a:xfrm>
        </p:grpSpPr>
        <p:sp>
          <p:nvSpPr>
            <p:cNvPr id="77" name="TextBox 77"/>
            <p:cNvSpPr txBox="1"/>
            <p:nvPr/>
          </p:nvSpPr>
          <p:spPr>
            <a:xfrm>
              <a:off x="7327392" y="2959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forward：100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327392" y="2959418"/>
            <a:ext cx="1231354" cy="264033"/>
            <a:chOff x="7327392" y="2959418"/>
            <a:chExt cx="1231354" cy="264033"/>
          </a:xfrm>
        </p:grpSpPr>
        <p:sp>
          <p:nvSpPr>
            <p:cNvPr id="79" name="TextBox 79"/>
            <p:cNvSpPr txBox="1"/>
            <p:nvPr/>
          </p:nvSpPr>
          <p:spPr>
            <a:xfrm>
              <a:off x="7327392" y="2959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forward：140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327392" y="2959418"/>
            <a:ext cx="1231354" cy="264033"/>
            <a:chOff x="7327392" y="2959418"/>
            <a:chExt cx="1231354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7327392" y="2959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forward：180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327392" y="3283268"/>
            <a:ext cx="976922" cy="264033"/>
            <a:chOff x="7327392" y="3283268"/>
            <a:chExt cx="976922" cy="264033"/>
          </a:xfrm>
        </p:grpSpPr>
        <p:sp>
          <p:nvSpPr>
            <p:cNvPr id="83" name="TextBox 83"/>
            <p:cNvSpPr txBox="1"/>
            <p:nvPr/>
          </p:nvSpPr>
          <p:spPr>
            <a:xfrm>
              <a:off x="7327392" y="328326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绘制完成 ✓</a:t>
              </a:r>
              <a:endParaRPr lang="zh-CN" sz="1350" dirty="0">
                <a:solidFill>
                  <a:srgbClr val="A9E7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020175" y="3638550"/>
            <a:ext cx="533400" cy="1295400"/>
            <a:chOff x="9020175" y="3638550"/>
            <a:chExt cx="533400" cy="1295400"/>
          </a:xfrm>
        </p:grpSpPr>
        <p:sp>
          <p:nvSpPr>
            <p:cNvPr id="85" name="Ellipse 85"/>
            <p:cNvSpPr/>
            <p:nvPr/>
          </p:nvSpPr>
          <p:spPr>
            <a:xfrm>
              <a:off x="9020175" y="3638550"/>
              <a:ext cx="533400" cy="533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86" name="Line 86"/>
            <p:cNvSpPr/>
            <p:nvPr/>
          </p:nvSpPr>
          <p:spPr>
            <a:xfrm>
              <a:off x="9286875" y="41719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33350" cap="rnd">
              <a:solidFill>
                <a:srgbClr val="22C55E"/>
              </a:solidFill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9020175" y="3543300"/>
            <a:ext cx="533400" cy="1676400"/>
            <a:chOff x="9020175" y="3543300"/>
            <a:chExt cx="533400" cy="1676400"/>
          </a:xfrm>
        </p:grpSpPr>
        <p:sp>
          <p:nvSpPr>
            <p:cNvPr id="88" name="Ellipse 88"/>
            <p:cNvSpPr/>
            <p:nvPr/>
          </p:nvSpPr>
          <p:spPr>
            <a:xfrm>
              <a:off x="9020175" y="3543300"/>
              <a:ext cx="533400" cy="533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89" name="Line 89"/>
            <p:cNvSpPr/>
            <p:nvPr/>
          </p:nvSpPr>
          <p:spPr>
            <a:xfrm>
              <a:off x="9286875" y="40767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33350" cap="rnd">
              <a:solidFill>
                <a:srgbClr val="22C55E"/>
              </a:solidFill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9020175" y="3352800"/>
            <a:ext cx="533400" cy="1962150"/>
            <a:chOff x="9020175" y="3352800"/>
            <a:chExt cx="533400" cy="1962150"/>
          </a:xfrm>
        </p:grpSpPr>
        <p:sp>
          <p:nvSpPr>
            <p:cNvPr id="91" name="Ellipse 91"/>
            <p:cNvSpPr/>
            <p:nvPr/>
          </p:nvSpPr>
          <p:spPr>
            <a:xfrm>
              <a:off x="9020175" y="3352800"/>
              <a:ext cx="533400" cy="533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92" name="Line 92"/>
            <p:cNvSpPr/>
            <p:nvPr/>
          </p:nvSpPr>
          <p:spPr>
            <a:xfrm>
              <a:off x="9286875" y="388620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33350" cap="rnd">
              <a:solidFill>
                <a:srgbClr val="22C55E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47700" y="666750"/>
            <a:ext cx="2802712" cy="1700784"/>
            <a:chOff x="647700" y="666750"/>
            <a:chExt cx="2802712" cy="1700784"/>
          </a:xfrm>
        </p:grpSpPr>
        <p:sp>
          <p:nvSpPr>
            <p:cNvPr id="2" name="Rectangle 2"/>
            <p:cNvSpPr/>
            <p:nvPr/>
          </p:nvSpPr>
          <p:spPr>
            <a:xfrm>
              <a:off x="666750" y="66675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30058" y="80295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第四站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1353502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作品工坊</a:t>
              </a:r>
              <a:endParaRPr lang="zh-CN" sz="40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606" y="20154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补全 → 组合 → 运行 → 展示</a:t>
              </a:r>
              <a:endParaRPr lang="zh-CN" sz="180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2952750"/>
            <a:ext cx="7143750" cy="2209800"/>
            <a:chOff x="666750" y="2952750"/>
            <a:chExt cx="7143750" cy="2209800"/>
          </a:xfrm>
        </p:grpSpPr>
        <p:sp>
          <p:nvSpPr>
            <p:cNvPr id="7" name="Rectangle 7"/>
            <p:cNvSpPr/>
            <p:nvPr/>
          </p:nvSpPr>
          <p:spPr>
            <a:xfrm>
              <a:off x="666750" y="2952750"/>
              <a:ext cx="7143750" cy="647700"/>
            </a:xfrm>
            <a:prstGeom prst="roundRect">
              <a:avLst>
                <a:gd name="adj" fmla="val 35294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" y="304800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823" y="31908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6944" y="315182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补全花心与花茎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3733800"/>
              <a:ext cx="7143750" cy="647700"/>
            </a:xfrm>
            <a:prstGeom prst="roundRect">
              <a:avLst>
                <a:gd name="adj" fmla="val 35294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3829050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1823" y="3971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6944" y="39328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组合完整小红花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" y="4514850"/>
              <a:ext cx="7143750" cy="647700"/>
            </a:xfrm>
            <a:prstGeom prst="roundRect">
              <a:avLst>
                <a:gd name="adj" fmla="val 35294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19150" y="4610100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1823" y="47529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6944" y="471392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展示并解释修改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86750" y="1703294"/>
            <a:ext cx="3143250" cy="3927662"/>
            <a:chOff x="8286750" y="1703294"/>
            <a:chExt cx="3143250" cy="3927662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703294"/>
              <a:ext cx="3143250" cy="392766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960620" cy="643890"/>
            <a:chOff x="514350" y="361950"/>
            <a:chExt cx="4960620" cy="643890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1428750" cy="438150"/>
            </a:xfrm>
            <a:prstGeom prst="roundRect">
              <a:avLst>
                <a:gd name="adj" fmla="val 50000"/>
              </a:avLst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36282" y="49530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PBL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13610" y="41910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把所有积木拼起来</a:t>
              </a:r>
              <a:endParaRPr lang="zh-CN" sz="30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4350" y="1409700"/>
            <a:ext cx="6858000" cy="4762500"/>
            <a:chOff x="514350" y="1409700"/>
            <a:chExt cx="6858000" cy="4762500"/>
          </a:xfrm>
        </p:grpSpPr>
        <p:sp>
          <p:nvSpPr>
            <p:cNvPr id="6" name="Rectangle 6"/>
            <p:cNvSpPr/>
            <p:nvPr/>
          </p:nvSpPr>
          <p:spPr>
            <a:xfrm>
              <a:off x="514350" y="1409700"/>
              <a:ext cx="6858000" cy="4762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95325" y="1628775"/>
              <a:ext cx="438150" cy="43815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473" y="1762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8156" y="169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窗口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4130" y="1724025"/>
              <a:ext cx="2334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 / title / bgcolor</a:t>
              </a:r>
              <a:endParaRPr lang="en-US" sz="1500" dirty="0">
                <a:solidFill>
                  <a:srgbClr val="6670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95325" y="2314575"/>
              <a:ext cx="438150" cy="4381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8473" y="2447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8156" y="23774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花瓣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4130" y="24098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循环 6 次</a:t>
              </a:r>
              <a:endParaRPr lang="zh-CN" sz="1500" dirty="0">
                <a:solidFill>
                  <a:srgbClr val="66708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5325" y="3000375"/>
              <a:ext cx="438150" cy="4381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473" y="3133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48156" y="30632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花心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64130" y="309562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dot(45, "yellow")</a:t>
              </a:r>
              <a:endParaRPr lang="en-US" sz="1500" dirty="0">
                <a:solidFill>
                  <a:srgbClr val="6670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5325" y="3686175"/>
              <a:ext cx="438150" cy="43815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473" y="3819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8156" y="37490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花茎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64130" y="37814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270° / 绿色 / 140</a:t>
              </a:r>
              <a:endParaRPr lang="zh-CN" sz="1500" dirty="0">
                <a:solidFill>
                  <a:srgbClr val="66708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5325" y="4371975"/>
              <a:ext cx="438150" cy="438150"/>
            </a:xfrm>
            <a:prstGeom prst="ellipse">
              <a:avLst/>
            </a:prstGeom>
            <a:solidFill>
              <a:srgbClr val="9B7B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473" y="4505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5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8156" y="4434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收尾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64130" y="446722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hideturtle()</a:t>
              </a:r>
              <a:endParaRPr lang="en-US" sz="1500" dirty="0">
                <a:solidFill>
                  <a:srgbClr val="6670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5325" y="5057775"/>
              <a:ext cx="438150" cy="438150"/>
            </a:xfrm>
            <a:prstGeom prst="ellipse">
              <a:avLst/>
            </a:prstGeom>
            <a:solidFill>
              <a:srgbClr val="33415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473" y="5191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6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48156" y="5120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保持窗口</a:t>
              </a:r>
              <a:endParaRPr lang="zh-CN" sz="18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4130" y="51530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6708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turtle.done()</a:t>
              </a:r>
              <a:endParaRPr lang="en-US" sz="1500" dirty="0">
                <a:solidFill>
                  <a:srgbClr val="6670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772400" y="1409700"/>
            <a:ext cx="3905250" cy="4762500"/>
            <a:chOff x="7772400" y="1409700"/>
            <a:chExt cx="3905250" cy="4762500"/>
          </a:xfrm>
        </p:grpSpPr>
        <p:sp>
          <p:nvSpPr>
            <p:cNvPr id="32" name="Rectangle 32"/>
            <p:cNvSpPr/>
            <p:nvPr/>
          </p:nvSpPr>
          <p:spPr>
            <a:xfrm>
              <a:off x="7772400" y="1409700"/>
              <a:ext cx="3905250" cy="4762500"/>
            </a:xfrm>
            <a:prstGeom prst="roundRect">
              <a:avLst>
                <a:gd name="adj" fmla="val 780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3682" y="1735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作品验收</a:t>
              </a:r>
              <a:endParaRPr lang="zh-CN" sz="21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25968" y="23174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✓ 程序能运行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5968" y="2774632"/>
              <a:ext cx="2526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✓ 花瓣、花心、花茎完整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5968" y="32318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✓ 能指出一处修改</a:t>
              </a:r>
              <a:endParaRPr lang="zh-CN" sz="16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829050"/>
              <a:ext cx="3257550" cy="1790700"/>
            </a:xfrm>
            <a:prstGeom prst="roundRect">
              <a:avLst>
                <a:gd name="adj" fmla="val 13830"/>
              </a:avLst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55330" y="4086225"/>
              <a:ext cx="1501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3D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只选 1–2 项修改</a:t>
              </a:r>
              <a:endParaRPr lang="zh-CN" sz="1500" b="1" dirty="0">
                <a:solidFill>
                  <a:srgbClr val="FFF3D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5330" y="4505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背景颜色 · 花瓣颜色</a:t>
              </a:r>
              <a:endParaRPr lang="zh-CN" sz="150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886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花茎长度 · 窗口标题</a:t>
              </a:r>
              <a:endParaRPr lang="zh-CN" sz="150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28422" y="282892"/>
            <a:ext cx="11298936" cy="557403"/>
            <a:chOff x="328422" y="282892"/>
            <a:chExt cx="11298936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328422" y="282892"/>
              <a:ext cx="356157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小红花画展 · 运行台</a:t>
              </a:r>
              <a:endParaRPr lang="zh-CN" sz="28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432798" y="425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代码、终端、画面严格一致</a:t>
              </a:r>
              <a:endParaRPr lang="zh-CN" sz="13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2900" y="933450"/>
            <a:ext cx="5048250" cy="457200"/>
            <a:chOff x="342900" y="933450"/>
            <a:chExt cx="5048250" cy="457200"/>
          </a:xfrm>
        </p:grpSpPr>
        <p:grpSp>
          <p:nvGrpSpPr>
            <p:cNvPr id="7" name="Group 7"/>
            <p:cNvGrpSpPr/>
            <p:nvPr/>
          </p:nvGrpSpPr>
          <p:grpSpPr>
            <a:xfrm>
              <a:off x="342900" y="933450"/>
              <a:ext cx="1581150" cy="457200"/>
              <a:chOff x="342900" y="933450"/>
              <a:chExt cx="1581150" cy="4572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342900" y="933450"/>
                <a:ext cx="1581150" cy="457200"/>
              </a:xfrm>
              <a:prstGeom prst="roundRect">
                <a:avLst>
                  <a:gd name="adj" fmla="val 39583"/>
                </a:avLst>
              </a:pr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22960" y="1076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基础版</a:t>
                </a:r>
                <a:endPara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8" name="Rectangle 8"/>
            <p:cNvSpPr/>
            <p:nvPr/>
          </p:nvSpPr>
          <p:spPr>
            <a:xfrm>
              <a:off x="3429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076450" y="933450"/>
              <a:ext cx="1581150" cy="457200"/>
              <a:chOff x="2076450" y="933450"/>
              <a:chExt cx="1581150" cy="4572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076450" y="933450"/>
                <a:ext cx="1581150" cy="457200"/>
              </a:xfrm>
              <a:prstGeom prst="roundRect">
                <a:avLst>
                  <a:gd name="adj" fmla="val 39583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556510" y="1076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暖阳版</a:t>
                </a:r>
                <a:endPara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207645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810000" y="933450"/>
              <a:ext cx="1581150" cy="457200"/>
              <a:chOff x="3810000" y="933450"/>
              <a:chExt cx="158115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810000" y="933450"/>
                <a:ext cx="1581150" cy="457200"/>
              </a:xfrm>
              <a:prstGeom prst="roundRect">
                <a:avLst>
                  <a:gd name="adj" fmla="val 39583"/>
                </a:avLst>
              </a:pr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290060" y="10763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紫霞版</a:t>
                </a:r>
                <a:endPara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38100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342900" y="1581150"/>
            <a:ext cx="6667500" cy="4762500"/>
            <a:chOff x="342900" y="1581150"/>
            <a:chExt cx="6667500" cy="4762500"/>
          </a:xfrm>
        </p:grpSpPr>
        <p:sp>
          <p:nvSpPr>
            <p:cNvPr id="18" name="Rectangle 18"/>
            <p:cNvSpPr/>
            <p:nvPr/>
          </p:nvSpPr>
          <p:spPr>
            <a:xfrm>
              <a:off x="342900" y="1581150"/>
              <a:ext cx="6667500" cy="4762500"/>
            </a:xfrm>
            <a:prstGeom prst="roundRect">
              <a:avLst>
                <a:gd name="adj" fmla="val 5200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2900" y="1581150"/>
              <a:ext cx="6667500" cy="457200"/>
            </a:xfrm>
            <a:prstGeom prst="roundRect">
              <a:avLst>
                <a:gd name="adj" fmla="val 50000"/>
              </a:avLst>
            </a:prstGeom>
            <a:solidFill>
              <a:srgbClr val="EEF6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461" y="1722596"/>
              <a:ext cx="1590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15C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flower_show.py</a:t>
              </a:r>
              <a:endParaRPr lang="en-US" sz="1420" b="1" dirty="0">
                <a:solidFill>
                  <a:srgbClr val="33415C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603504" y="2327910"/>
              <a:ext cx="4535424" cy="2463546"/>
              <a:chOff x="603504" y="2327910"/>
              <a:chExt cx="4535424" cy="246354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03504" y="2327910"/>
                <a:ext cx="1078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E9B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import turtle</a:t>
                </a:r>
                <a:endParaRPr lang="en-US" sz="12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3504" y="2575560"/>
                <a:ext cx="1932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screen=turtle.Screen()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03504" y="2823210"/>
                <a:ext cx="45354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3415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screen.title("小红花画展"); screen.bgcolor("lightblue")</a:t>
                </a:r>
                <a:endParaRPr lang="zh-CN" sz="1200" dirty="0">
                  <a:solidFill>
                    <a:srgbClr val="33415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3504" y="3070860"/>
                <a:ext cx="24749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t=turtle.Turtle(); t.speed(0)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3504" y="3318510"/>
                <a:ext cx="1797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FF6FA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t.color("red","pink")</a:t>
                </a:r>
                <a:endParaRPr lang="en-US" sz="12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3504" y="3566160"/>
                <a:ext cx="1764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for petal in range(6):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2104" y="3813810"/>
                <a:ext cx="42850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t.begin_fill(); t.circle(45); t.end_fill(); t.left(60)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03504" y="4061460"/>
                <a:ext cx="31703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t.dot(45,"yellow"); t.setheading(270)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3504" y="4309110"/>
                <a:ext cx="42365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t.pensize(8); t.pencolor("green"); t.forward(140)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3504" y="4556760"/>
                <a:ext cx="24272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3415C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t.hideturtle(); turtle.done()</a:t>
                </a:r>
                <a:endParaRPr lang="en-US" sz="1200" dirty="0">
                  <a:solidFill>
                    <a:srgbClr val="33415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09600" y="5562600"/>
              <a:ext cx="6134100" cy="533400"/>
              <a:chOff x="609600" y="5562600"/>
              <a:chExt cx="6134100" cy="5334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09600" y="5562600"/>
                <a:ext cx="6134100" cy="533400"/>
              </a:xfrm>
              <a:prstGeom prst="roundRect">
                <a:avLst>
                  <a:gd name="adj" fmla="val 35714"/>
                </a:avLst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148333" y="5745004"/>
                <a:ext cx="10566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▶ 运行程序</a:t>
                </a:r>
                <a:endParaRPr lang="zh-CN" sz="158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09600" y="5562600"/>
                <a:ext cx="6134100" cy="533400"/>
              </a:xfrm>
              <a:prstGeom prst="roundRect">
                <a:avLst>
                  <a:gd name="adj" fmla="val 35714"/>
                </a:avLst>
              </a:prstGeom>
              <a:solidFill>
                <a:srgbClr val="FFFFFF">
                  <a:alpha val="100"/>
                </a:srgbClr>
              </a:solidFill>
              <a:ln>
                <a:noFill/>
              </a:ln>
            </p:spPr>
          </p:sp>
        </p:grpSp>
      </p:grpSp>
      <p:grpSp>
        <p:nvGrpSpPr>
          <p:cNvPr id="45" name="Group 45"/>
          <p:cNvGrpSpPr/>
          <p:nvPr/>
        </p:nvGrpSpPr>
        <p:grpSpPr>
          <a:xfrm>
            <a:off x="7277100" y="1581150"/>
            <a:ext cx="4572000" cy="4762500"/>
            <a:chOff x="7277100" y="1581150"/>
            <a:chExt cx="4572000" cy="4762500"/>
          </a:xfrm>
        </p:grpSpPr>
        <p:sp>
          <p:nvSpPr>
            <p:cNvPr id="37" name="Rectangle 37"/>
            <p:cNvSpPr/>
            <p:nvPr/>
          </p:nvSpPr>
          <p:spPr>
            <a:xfrm>
              <a:off x="7277100" y="1581150"/>
              <a:ext cx="4572000" cy="4762500"/>
            </a:xfrm>
            <a:prstGeom prst="roundRect">
              <a:avLst>
                <a:gd name="adj" fmla="val 5417"/>
              </a:avLst>
            </a:prstGeom>
            <a:solidFill>
              <a:srgbClr val="2B3A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93711" y="18273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终端输出</a:t>
              </a:r>
              <a:endParaRPr lang="zh-CN" sz="142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594854" y="2346960"/>
              <a:ext cx="1377239" cy="1377696"/>
              <a:chOff x="7594854" y="2346960"/>
              <a:chExt cx="1377239" cy="137769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7594854" y="234696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创建窗口 ✓</a:t>
                </a:r>
                <a:endPara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94854" y="2632710"/>
                <a:ext cx="12156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绘制 6 片花瓣 ✓</a:t>
                </a:r>
                <a:endPara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94854" y="291846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添加花心 ✓</a:t>
                </a:r>
                <a:endPara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94854" y="3204210"/>
                <a:ext cx="868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绘制花茎 ✓</a:t>
                </a:r>
                <a:endPara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94854" y="3489960"/>
                <a:ext cx="13772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9E7B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隐藏海龟 · 完成 ✓</a:t>
                </a:r>
                <a:endParaRPr lang="zh-CN" sz="120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342900" y="933450"/>
            <a:ext cx="1581150" cy="457200"/>
            <a:chOff x="342900" y="933450"/>
            <a:chExt cx="1581150" cy="457200"/>
          </a:xfrm>
        </p:grpSpPr>
        <p:sp>
          <p:nvSpPr>
            <p:cNvPr id="46" name="Rectangle 46"/>
            <p:cNvSpPr/>
            <p:nvPr/>
          </p:nvSpPr>
          <p:spPr>
            <a:xfrm>
              <a:off x="3429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2076450" y="933450"/>
            <a:ext cx="1581150" cy="457200"/>
            <a:chOff x="2076450" y="933450"/>
            <a:chExt cx="1581150" cy="457200"/>
          </a:xfrm>
        </p:grpSpPr>
        <p:sp>
          <p:nvSpPr>
            <p:cNvPr id="48" name="Rectangle 48"/>
            <p:cNvSpPr/>
            <p:nvPr/>
          </p:nvSpPr>
          <p:spPr>
            <a:xfrm>
              <a:off x="207645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3810000" y="933450"/>
            <a:ext cx="1581150" cy="457200"/>
            <a:chOff x="3810000" y="933450"/>
            <a:chExt cx="1581150" cy="457200"/>
          </a:xfrm>
        </p:grpSpPr>
        <p:sp>
          <p:nvSpPr>
            <p:cNvPr id="50" name="Rectangle 50"/>
            <p:cNvSpPr/>
            <p:nvPr/>
          </p:nvSpPr>
          <p:spPr>
            <a:xfrm>
              <a:off x="3810000" y="933450"/>
              <a:ext cx="1581150" cy="457200"/>
            </a:xfrm>
            <a:prstGeom prst="roundRect">
              <a:avLst>
                <a:gd name="adj" fmla="val 3958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09600" y="5562600"/>
            <a:ext cx="6134100" cy="533400"/>
            <a:chOff x="609600" y="5562600"/>
            <a:chExt cx="6134100" cy="533400"/>
          </a:xfrm>
        </p:grpSpPr>
        <p:sp>
          <p:nvSpPr>
            <p:cNvPr id="52" name="Rectangle 52"/>
            <p:cNvSpPr/>
            <p:nvPr/>
          </p:nvSpPr>
          <p:spPr>
            <a:xfrm>
              <a:off x="609600" y="5562600"/>
              <a:ext cx="6134100" cy="533400"/>
            </a:xfrm>
            <a:prstGeom prst="roundRect">
              <a:avLst>
                <a:gd name="adj" fmla="val 3571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09600" y="5562600"/>
            <a:ext cx="6134100" cy="533400"/>
            <a:chOff x="609600" y="5562600"/>
            <a:chExt cx="6134100" cy="533400"/>
          </a:xfrm>
        </p:grpSpPr>
        <p:sp>
          <p:nvSpPr>
            <p:cNvPr id="54" name="Rectangle 54"/>
            <p:cNvSpPr/>
            <p:nvPr/>
          </p:nvSpPr>
          <p:spPr>
            <a:xfrm>
              <a:off x="609600" y="5562600"/>
              <a:ext cx="6134100" cy="533400"/>
            </a:xfrm>
            <a:prstGeom prst="roundRect">
              <a:avLst>
                <a:gd name="adj" fmla="val 3571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09600" y="5562600"/>
            <a:ext cx="6134100" cy="533400"/>
            <a:chOff x="609600" y="5562600"/>
            <a:chExt cx="6134100" cy="533400"/>
          </a:xfrm>
        </p:grpSpPr>
        <p:sp>
          <p:nvSpPr>
            <p:cNvPr id="56" name="Rectangle 56"/>
            <p:cNvSpPr/>
            <p:nvPr/>
          </p:nvSpPr>
          <p:spPr>
            <a:xfrm>
              <a:off x="609600" y="5562600"/>
              <a:ext cx="6134100" cy="533400"/>
            </a:xfrm>
            <a:prstGeom prst="roundRect">
              <a:avLst>
                <a:gd name="adj" fmla="val 3571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709294" y="3581400"/>
            <a:ext cx="1821912" cy="2105025"/>
            <a:chOff x="8709294" y="3581400"/>
            <a:chExt cx="1821912" cy="2105025"/>
          </a:xfrm>
        </p:grpSpPr>
        <p:sp>
          <p:nvSpPr>
            <p:cNvPr id="58" name="Ellipse 58"/>
            <p:cNvSpPr/>
            <p:nvPr/>
          </p:nvSpPr>
          <p:spPr>
            <a:xfrm>
              <a:off x="9382125" y="3581400"/>
              <a:ext cx="476250" cy="9144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 rot="3600000">
              <a:off x="9778072" y="3810000"/>
              <a:ext cx="476250" cy="914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 rot="7200000">
              <a:off x="9778072" y="4267200"/>
              <a:ext cx="476250" cy="9144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 rot="10800000">
              <a:off x="9382125" y="4495800"/>
              <a:ext cx="476250" cy="914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 rot="-7200000">
              <a:off x="8986178" y="4267200"/>
              <a:ext cx="476250" cy="914400"/>
            </a:xfrm>
            <a:prstGeom prst="ellipse">
              <a:avLst/>
            </a:prstGeom>
            <a:solidFill>
              <a:srgbClr val="FFB347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 rot="-3600000">
              <a:off x="8986178" y="3810000"/>
              <a:ext cx="476250" cy="9144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391650" y="4267200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9620250" y="4724400"/>
              <a:ext cx="9525" cy="962025"/>
            </a:xfrm>
            <a:custGeom>
              <a:avLst/>
              <a:gdLst/>
              <a:ahLst/>
              <a:cxnLst/>
              <a:rect l="l" t="t" r="r" b="b"/>
              <a:pathLst>
                <a:path w="9525" h="962025">
                  <a:moveTo>
                    <a:pt x="0" y="0"/>
                  </a:moveTo>
                  <a:lnTo>
                    <a:pt x="0" y="962025"/>
                  </a:lnTo>
                </a:path>
              </a:pathLst>
            </a:custGeom>
            <a:noFill/>
            <a:ln w="114300" cap="rnd">
              <a:solidFill>
                <a:srgbClr val="65C466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709294" y="3371850"/>
            <a:ext cx="1821912" cy="2486025"/>
            <a:chOff x="8709294" y="3371850"/>
            <a:chExt cx="1821912" cy="2486025"/>
          </a:xfrm>
        </p:grpSpPr>
        <p:sp>
          <p:nvSpPr>
            <p:cNvPr id="67" name="Ellipse 67"/>
            <p:cNvSpPr/>
            <p:nvPr/>
          </p:nvSpPr>
          <p:spPr>
            <a:xfrm>
              <a:off x="9382125" y="3371850"/>
              <a:ext cx="476250" cy="9144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 rot="3600000">
              <a:off x="9778072" y="3600450"/>
              <a:ext cx="476250" cy="9144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 rot="7200000">
              <a:off x="9778072" y="4057650"/>
              <a:ext cx="476250" cy="9144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 rot="10800000">
              <a:off x="9382125" y="4286250"/>
              <a:ext cx="476250" cy="9144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 rot="-7200000">
              <a:off x="8986178" y="4057650"/>
              <a:ext cx="476250" cy="914400"/>
            </a:xfrm>
            <a:prstGeom prst="ellipse">
              <a:avLst/>
            </a:prstGeom>
            <a:solidFill>
              <a:srgbClr val="B89AF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 rot="-3600000">
              <a:off x="8986178" y="3600450"/>
              <a:ext cx="476250" cy="914400"/>
            </a:xfrm>
            <a:prstGeom prst="ellipse">
              <a:avLst/>
            </a:prstGeom>
            <a:solidFill>
              <a:srgbClr val="D9C8F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391650" y="4057650"/>
              <a:ext cx="457200" cy="4572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9620250" y="4514850"/>
              <a:ext cx="9525" cy="1343025"/>
            </a:xfrm>
            <a:custGeom>
              <a:avLst/>
              <a:gdLst/>
              <a:ahLst/>
              <a:cxnLst/>
              <a:rect l="l" t="t" r="r" b="b"/>
              <a:pathLst>
                <a:path w="9525" h="1343025">
                  <a:moveTo>
                    <a:pt x="0" y="0"/>
                  </a:moveTo>
                  <a:lnTo>
                    <a:pt x="0" y="1343025"/>
                  </a:lnTo>
                </a:path>
              </a:pathLst>
            </a:custGeom>
            <a:noFill/>
            <a:ln w="114300" cap="rnd">
              <a:solidFill>
                <a:srgbClr val="65C466"/>
              </a:solidFill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8709294" y="3581400"/>
            <a:ext cx="1821912" cy="2295525"/>
            <a:chOff x="8709294" y="3581400"/>
            <a:chExt cx="1821912" cy="2295525"/>
          </a:xfrm>
        </p:grpSpPr>
        <p:sp>
          <p:nvSpPr>
            <p:cNvPr id="76" name="Ellipse 76"/>
            <p:cNvSpPr/>
            <p:nvPr/>
          </p:nvSpPr>
          <p:spPr>
            <a:xfrm>
              <a:off x="9382125" y="35814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 rot="3600000">
              <a:off x="9778072" y="38100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 rot="7200000">
              <a:off x="9778072" y="42672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 rot="10800000">
              <a:off x="9382125" y="44958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 rot="-7200000">
              <a:off x="8986178" y="42672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 rot="-3600000">
              <a:off x="8986178" y="3810000"/>
              <a:ext cx="476250" cy="914400"/>
            </a:xfrm>
            <a:prstGeom prst="ellipse">
              <a:avLst/>
            </a:prstGeom>
            <a:solidFill>
              <a:srgbClr val="FF9DBC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9391650" y="4267200"/>
              <a:ext cx="457200" cy="457200"/>
            </a:xfrm>
            <a:prstGeom prst="ellipse">
              <a:avLst/>
            </a:prstGeom>
            <a:solidFill>
              <a:srgbClr val="FFD36A"/>
            </a:solidFill>
            <a:ln>
              <a:noFill/>
            </a:ln>
          </p:spPr>
        </p:sp>
        <p:sp>
          <p:nvSpPr>
            <p:cNvPr id="83" name="Line 83"/>
            <p:cNvSpPr/>
            <p:nvPr/>
          </p:nvSpPr>
          <p:spPr>
            <a:xfrm>
              <a:off x="9620250" y="4724400"/>
              <a:ext cx="9525" cy="1152525"/>
            </a:xfrm>
            <a:custGeom>
              <a:avLst/>
              <a:gdLst/>
              <a:ahLst/>
              <a:cxnLst/>
              <a:rect l="l" t="t" r="r" b="b"/>
              <a:pathLst>
                <a:path w="9525" h="1152525">
                  <a:moveTo>
                    <a:pt x="0" y="0"/>
                  </a:moveTo>
                  <a:lnTo>
                    <a:pt x="0" y="1152525"/>
                  </a:lnTo>
                </a:path>
              </a:pathLst>
            </a:custGeom>
            <a:noFill/>
            <a:ln w="114300" cap="rnd">
              <a:solidFill>
                <a:srgbClr val="65C466"/>
              </a:solidFill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7486650" y="2095500"/>
            <a:ext cx="4152900" cy="4038600"/>
            <a:chOff x="7486650" y="2095500"/>
            <a:chExt cx="4152900" cy="4038600"/>
          </a:xfrm>
        </p:grpSpPr>
        <p:sp>
          <p:nvSpPr>
            <p:cNvPr id="85" name="Rectangle 85"/>
            <p:cNvSpPr/>
            <p:nvPr/>
          </p:nvSpPr>
          <p:spPr>
            <a:xfrm>
              <a:off x="7486650" y="2095500"/>
              <a:ext cx="4152900" cy="4038600"/>
            </a:xfrm>
            <a:prstGeom prst="roundRect">
              <a:avLst>
                <a:gd name="adj" fmla="val 4717"/>
              </a:avLst>
            </a:prstGeom>
            <a:solidFill>
              <a:srgbClr val="2B3A55"/>
            </a:solidFill>
            <a:ln>
              <a:noFill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571500" y="2800350"/>
            <a:ext cx="6191250" cy="762000"/>
            <a:chOff x="571500" y="2800350"/>
            <a:chExt cx="6191250" cy="762000"/>
          </a:xfrm>
        </p:grpSpPr>
        <p:sp>
          <p:nvSpPr>
            <p:cNvPr id="87" name="Rectangle 87"/>
            <p:cNvSpPr/>
            <p:nvPr/>
          </p:nvSpPr>
          <p:spPr>
            <a:xfrm>
              <a:off x="571500" y="2800350"/>
              <a:ext cx="61912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03504" y="2899410"/>
              <a:ext cx="4705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9F1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screen.title("暖阳小红花"); screen.bgcolor("lightyellow")</a:t>
              </a:r>
              <a:endParaRPr lang="zh-CN" sz="1200" dirty="0">
                <a:solidFill>
                  <a:srgbClr val="FF9F1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03504" y="324231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t.color("orange","yellow")</a:t>
              </a:r>
              <a:endParaRPr lang="en-US" sz="12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71500" y="2800350"/>
            <a:ext cx="6191250" cy="762000"/>
            <a:chOff x="571500" y="2800350"/>
            <a:chExt cx="6191250" cy="762000"/>
          </a:xfrm>
        </p:grpSpPr>
        <p:sp>
          <p:nvSpPr>
            <p:cNvPr id="91" name="Rectangle 91"/>
            <p:cNvSpPr/>
            <p:nvPr/>
          </p:nvSpPr>
          <p:spPr>
            <a:xfrm>
              <a:off x="571500" y="2800350"/>
              <a:ext cx="61912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03504" y="2899410"/>
              <a:ext cx="452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B7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screen.title("我的紫霞花"); screen.bgcolor("lavender")</a:t>
              </a:r>
              <a:endParaRPr lang="zh-CN" sz="1200" dirty="0">
                <a:solidFill>
                  <a:srgbClr val="9B7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3504" y="32423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B7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t.color("purple","violet")</a:t>
              </a:r>
              <a:endParaRPr lang="en-US" sz="1200" dirty="0">
                <a:solidFill>
                  <a:srgbClr val="9B7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570798" y="5901214"/>
            <a:ext cx="1908404" cy="249364"/>
            <a:chOff x="8570798" y="5901214"/>
            <a:chExt cx="1908404" cy="249364"/>
          </a:xfrm>
        </p:grpSpPr>
        <p:sp>
          <p:nvSpPr>
            <p:cNvPr id="95" name="TextBox 95"/>
            <p:cNvSpPr txBox="1"/>
            <p:nvPr/>
          </p:nvSpPr>
          <p:spPr>
            <a:xfrm>
              <a:off x="8570798" y="59012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E9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点击运行，逐步组装作品</a:t>
              </a:r>
              <a:endParaRPr lang="zh-CN" sz="1280" b="1" dirty="0">
                <a:solidFill>
                  <a:srgbClr val="2E9B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160541" y="5901214"/>
            <a:ext cx="728917" cy="249364"/>
            <a:chOff x="9160541" y="5901214"/>
            <a:chExt cx="728917" cy="249364"/>
          </a:xfrm>
        </p:grpSpPr>
        <p:sp>
          <p:nvSpPr>
            <p:cNvPr id="97" name="TextBox 97"/>
            <p:cNvSpPr txBox="1"/>
            <p:nvPr/>
          </p:nvSpPr>
          <p:spPr>
            <a:xfrm>
              <a:off x="9160541" y="5901214"/>
              <a:ext cx="72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运行中……</a:t>
              </a:r>
              <a:endParaRPr lang="zh-CN" sz="128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743112" y="5901214"/>
            <a:ext cx="1563776" cy="249364"/>
            <a:chOff x="8743112" y="5901214"/>
            <a:chExt cx="1563776" cy="249364"/>
          </a:xfrm>
        </p:grpSpPr>
        <p:sp>
          <p:nvSpPr>
            <p:cNvPr id="99" name="TextBox 99"/>
            <p:cNvSpPr txBox="1"/>
            <p:nvPr/>
          </p:nvSpPr>
          <p:spPr>
            <a:xfrm>
              <a:off x="8743112" y="59012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2C55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作品完成，可以展示</a:t>
              </a:r>
              <a:endParaRPr lang="zh-CN" sz="1280" b="1" dirty="0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652004" y="2366010"/>
            <a:ext cx="868375" cy="234696"/>
            <a:chOff x="7652004" y="2366010"/>
            <a:chExt cx="868375" cy="234696"/>
          </a:xfrm>
        </p:grpSpPr>
        <p:sp>
          <p:nvSpPr>
            <p:cNvPr id="101" name="TextBox 101"/>
            <p:cNvSpPr txBox="1"/>
            <p:nvPr/>
          </p:nvSpPr>
          <p:spPr>
            <a:xfrm>
              <a:off x="7652004" y="23660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创建窗口 ✓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7652004" y="2651760"/>
            <a:ext cx="1215695" cy="234696"/>
            <a:chOff x="7652004" y="2651760"/>
            <a:chExt cx="1215695" cy="234696"/>
          </a:xfrm>
        </p:grpSpPr>
        <p:sp>
          <p:nvSpPr>
            <p:cNvPr id="103" name="TextBox 103"/>
            <p:cNvSpPr txBox="1"/>
            <p:nvPr/>
          </p:nvSpPr>
          <p:spPr>
            <a:xfrm>
              <a:off x="7652004" y="2651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绘制 6 片花瓣 ✓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7652004" y="2937510"/>
            <a:ext cx="1353007" cy="234696"/>
            <a:chOff x="7652004" y="2937510"/>
            <a:chExt cx="1353007" cy="234696"/>
          </a:xfrm>
        </p:grpSpPr>
        <p:sp>
          <p:nvSpPr>
            <p:cNvPr id="105" name="TextBox 105"/>
            <p:cNvSpPr txBox="1"/>
            <p:nvPr/>
          </p:nvSpPr>
          <p:spPr>
            <a:xfrm>
              <a:off x="7652004" y="29375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添加花心与花茎 ✓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652004" y="3223260"/>
            <a:ext cx="868375" cy="234696"/>
            <a:chOff x="7652004" y="3223260"/>
            <a:chExt cx="868375" cy="234696"/>
          </a:xfrm>
        </p:grpSpPr>
        <p:sp>
          <p:nvSpPr>
            <p:cNvPr id="107" name="TextBox 107"/>
            <p:cNvSpPr txBox="1"/>
            <p:nvPr/>
          </p:nvSpPr>
          <p:spPr>
            <a:xfrm>
              <a:off x="7652004" y="322326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隐藏海龟 ✓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652004" y="3509010"/>
            <a:ext cx="868375" cy="234696"/>
            <a:chOff x="7652004" y="3509010"/>
            <a:chExt cx="868375" cy="234696"/>
          </a:xfrm>
        </p:grpSpPr>
        <p:sp>
          <p:nvSpPr>
            <p:cNvPr id="109" name="TextBox 109"/>
            <p:cNvSpPr txBox="1"/>
            <p:nvPr/>
          </p:nvSpPr>
          <p:spPr>
            <a:xfrm>
              <a:off x="7652004" y="35090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E7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保存作品 ✓</a:t>
              </a:r>
              <a:endParaRPr lang="zh-CN" sz="1200" dirty="0">
                <a:solidFill>
                  <a:srgbClr val="A9E7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8822568" y="3657600"/>
            <a:ext cx="1595364" cy="1905000"/>
            <a:chOff x="8822568" y="3657600"/>
            <a:chExt cx="1595364" cy="1905000"/>
          </a:xfrm>
        </p:grpSpPr>
        <p:grpSp>
          <p:nvGrpSpPr>
            <p:cNvPr id="119" name="Group 119"/>
            <p:cNvGrpSpPr/>
            <p:nvPr/>
          </p:nvGrpSpPr>
          <p:grpSpPr>
            <a:xfrm>
              <a:off x="8822568" y="3657600"/>
              <a:ext cx="1595364" cy="1905000"/>
              <a:chOff x="8822568" y="3657600"/>
              <a:chExt cx="1595364" cy="1905000"/>
            </a:xfrm>
          </p:grpSpPr>
          <p:sp>
            <p:nvSpPr>
              <p:cNvPr id="111" name="Ellipse 111"/>
              <p:cNvSpPr/>
              <p:nvPr/>
            </p:nvSpPr>
            <p:spPr>
              <a:xfrm>
                <a:off x="9410700" y="3657600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2" name="Ellipse 112"/>
              <p:cNvSpPr/>
              <p:nvPr/>
            </p:nvSpPr>
            <p:spPr>
              <a:xfrm rot="3600000">
                <a:off x="9757153" y="385762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3" name="Ellipse 113"/>
              <p:cNvSpPr/>
              <p:nvPr/>
            </p:nvSpPr>
            <p:spPr>
              <a:xfrm rot="7200000">
                <a:off x="9757153" y="425767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4" name="Ellipse 114"/>
              <p:cNvSpPr/>
              <p:nvPr/>
            </p:nvSpPr>
            <p:spPr>
              <a:xfrm rot="10800000">
                <a:off x="9410700" y="4457700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5" name="Ellipse 115"/>
              <p:cNvSpPr/>
              <p:nvPr/>
            </p:nvSpPr>
            <p:spPr>
              <a:xfrm rot="-7200000">
                <a:off x="9064247" y="425767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6" name="Ellipse 116"/>
              <p:cNvSpPr/>
              <p:nvPr/>
            </p:nvSpPr>
            <p:spPr>
              <a:xfrm rot="-3600000">
                <a:off x="9064247" y="3857625"/>
                <a:ext cx="419100" cy="800100"/>
              </a:xfrm>
              <a:prstGeom prst="ellipse">
                <a:avLst/>
              </a:prstGeom>
              <a:solidFill>
                <a:srgbClr val="FF9DBC"/>
              </a:solidFill>
              <a:ln>
                <a:noFill/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9420225" y="4257675"/>
                <a:ext cx="400050" cy="40005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18" name="Line 118"/>
              <p:cNvSpPr/>
              <p:nvPr/>
            </p:nvSpPr>
            <p:spPr>
              <a:xfrm>
                <a:off x="9620250" y="4657725"/>
                <a:ext cx="9525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5">
                    <a:moveTo>
                      <a:pt x="0" y="0"/>
                    </a:moveTo>
                    <a:lnTo>
                      <a:pt x="0" y="904875"/>
                    </a:lnTo>
                  </a:path>
                </a:pathLst>
              </a:custGeom>
              <a:noFill/>
              <a:ln w="114300" cap="rnd">
                <a:solidFill>
                  <a:srgbClr val="22C55E"/>
                </a:solidFill>
              </a:ln>
            </p:spPr>
          </p:sp>
        </p:grpSp>
      </p:grpSp>
      <p:grpSp>
        <p:nvGrpSpPr>
          <p:cNvPr id="130" name="Group 130"/>
          <p:cNvGrpSpPr/>
          <p:nvPr/>
        </p:nvGrpSpPr>
        <p:grpSpPr>
          <a:xfrm>
            <a:off x="8822568" y="3657600"/>
            <a:ext cx="1595364" cy="1905000"/>
            <a:chOff x="8822568" y="3657600"/>
            <a:chExt cx="1595364" cy="1905000"/>
          </a:xfrm>
        </p:grpSpPr>
        <p:grpSp>
          <p:nvGrpSpPr>
            <p:cNvPr id="129" name="Group 129"/>
            <p:cNvGrpSpPr/>
            <p:nvPr/>
          </p:nvGrpSpPr>
          <p:grpSpPr>
            <a:xfrm>
              <a:off x="8822568" y="3657600"/>
              <a:ext cx="1595364" cy="1905000"/>
              <a:chOff x="8822568" y="3657600"/>
              <a:chExt cx="1595364" cy="1905000"/>
            </a:xfrm>
          </p:grpSpPr>
          <p:sp>
            <p:nvSpPr>
              <p:cNvPr id="121" name="Ellipse 121"/>
              <p:cNvSpPr/>
              <p:nvPr/>
            </p:nvSpPr>
            <p:spPr>
              <a:xfrm>
                <a:off x="9410700" y="3657600"/>
                <a:ext cx="419100" cy="8001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2" name="Ellipse 122"/>
              <p:cNvSpPr/>
              <p:nvPr/>
            </p:nvSpPr>
            <p:spPr>
              <a:xfrm rot="3600000">
                <a:off x="9757153" y="3857625"/>
                <a:ext cx="419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3" name="Ellipse 123"/>
              <p:cNvSpPr/>
              <p:nvPr/>
            </p:nvSpPr>
            <p:spPr>
              <a:xfrm rot="7200000">
                <a:off x="9757153" y="4257675"/>
                <a:ext cx="419100" cy="8001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4" name="Ellipse 124"/>
              <p:cNvSpPr/>
              <p:nvPr/>
            </p:nvSpPr>
            <p:spPr>
              <a:xfrm rot="10800000">
                <a:off x="9410700" y="4457700"/>
                <a:ext cx="419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5" name="Ellipse 125"/>
              <p:cNvSpPr/>
              <p:nvPr/>
            </p:nvSpPr>
            <p:spPr>
              <a:xfrm rot="-7200000">
                <a:off x="9064247" y="4257675"/>
                <a:ext cx="419100" cy="800100"/>
              </a:xfrm>
              <a:prstGeom prst="ellipse">
                <a:avLst/>
              </a:prstGeom>
              <a:solidFill>
                <a:srgbClr val="FFB347"/>
              </a:solidFill>
              <a:ln>
                <a:noFill/>
              </a:ln>
            </p:spPr>
          </p:sp>
          <p:sp>
            <p:nvSpPr>
              <p:cNvPr id="126" name="Ellipse 126"/>
              <p:cNvSpPr/>
              <p:nvPr/>
            </p:nvSpPr>
            <p:spPr>
              <a:xfrm rot="-3600000">
                <a:off x="9064247" y="3857625"/>
                <a:ext cx="419100" cy="80010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9420225" y="4257675"/>
                <a:ext cx="400050" cy="400050"/>
              </a:xfrm>
              <a:prstGeom prst="ellipse">
                <a:avLst/>
              </a:pr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128" name="Line 128"/>
              <p:cNvSpPr/>
              <p:nvPr/>
            </p:nvSpPr>
            <p:spPr>
              <a:xfrm>
                <a:off x="9620250" y="4657725"/>
                <a:ext cx="9525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5">
                    <a:moveTo>
                      <a:pt x="0" y="0"/>
                    </a:moveTo>
                    <a:lnTo>
                      <a:pt x="0" y="904875"/>
                    </a:lnTo>
                  </a:path>
                </a:pathLst>
              </a:custGeom>
              <a:noFill/>
              <a:ln w="114300" cap="rnd">
                <a:solidFill>
                  <a:srgbClr val="22C55E"/>
                </a:solidFill>
              </a:ln>
            </p:spPr>
          </p:sp>
        </p:grpSp>
      </p:grpSp>
      <p:grpSp>
        <p:nvGrpSpPr>
          <p:cNvPr id="140" name="Group 140"/>
          <p:cNvGrpSpPr/>
          <p:nvPr/>
        </p:nvGrpSpPr>
        <p:grpSpPr>
          <a:xfrm>
            <a:off x="8822568" y="3657600"/>
            <a:ext cx="1595364" cy="1905000"/>
            <a:chOff x="8822568" y="3657600"/>
            <a:chExt cx="1595364" cy="1905000"/>
          </a:xfrm>
        </p:grpSpPr>
        <p:grpSp>
          <p:nvGrpSpPr>
            <p:cNvPr id="139" name="Group 139"/>
            <p:cNvGrpSpPr/>
            <p:nvPr/>
          </p:nvGrpSpPr>
          <p:grpSpPr>
            <a:xfrm>
              <a:off x="8822568" y="3657600"/>
              <a:ext cx="1595364" cy="1905000"/>
              <a:chOff x="8822568" y="3657600"/>
              <a:chExt cx="1595364" cy="1905000"/>
            </a:xfrm>
          </p:grpSpPr>
          <p:sp>
            <p:nvSpPr>
              <p:cNvPr id="131" name="Ellipse 131"/>
              <p:cNvSpPr/>
              <p:nvPr/>
            </p:nvSpPr>
            <p:spPr>
              <a:xfrm>
                <a:off x="9410700" y="3657600"/>
                <a:ext cx="419100" cy="8001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2" name="Ellipse 132"/>
              <p:cNvSpPr/>
              <p:nvPr/>
            </p:nvSpPr>
            <p:spPr>
              <a:xfrm rot="3600000">
                <a:off x="9757153" y="3857625"/>
                <a:ext cx="419100" cy="8001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3" name="Ellipse 133"/>
              <p:cNvSpPr/>
              <p:nvPr/>
            </p:nvSpPr>
            <p:spPr>
              <a:xfrm rot="7200000">
                <a:off x="9757153" y="4257675"/>
                <a:ext cx="419100" cy="8001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4" name="Ellipse 134"/>
              <p:cNvSpPr/>
              <p:nvPr/>
            </p:nvSpPr>
            <p:spPr>
              <a:xfrm rot="10800000">
                <a:off x="9410700" y="4457700"/>
                <a:ext cx="419100" cy="8001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5" name="Ellipse 135"/>
              <p:cNvSpPr/>
              <p:nvPr/>
            </p:nvSpPr>
            <p:spPr>
              <a:xfrm rot="-7200000">
                <a:off x="9064247" y="4257675"/>
                <a:ext cx="419100" cy="800100"/>
              </a:xfrm>
              <a:prstGeom prst="ellipse">
                <a:avLst/>
              </a:prstGeom>
              <a:solidFill>
                <a:srgbClr val="B89AFF"/>
              </a:solidFill>
              <a:ln>
                <a:noFill/>
              </a:ln>
            </p:spPr>
          </p:sp>
          <p:sp>
            <p:nvSpPr>
              <p:cNvPr id="136" name="Ellipse 136"/>
              <p:cNvSpPr/>
              <p:nvPr/>
            </p:nvSpPr>
            <p:spPr>
              <a:xfrm rot="-3600000">
                <a:off x="9064247" y="3857625"/>
                <a:ext cx="419100" cy="800100"/>
              </a:xfrm>
              <a:prstGeom prst="ellipse">
                <a:avLst/>
              </a:prstGeom>
              <a:solidFill>
                <a:srgbClr val="D9C8FF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9420225" y="4257675"/>
                <a:ext cx="400050" cy="400050"/>
              </a:xfrm>
              <a:prstGeom prst="ellipse">
                <a:avLst/>
              </a:prstGeom>
              <a:solidFill>
                <a:srgbClr val="FFD36A"/>
              </a:solidFill>
              <a:ln>
                <a:noFill/>
              </a:ln>
            </p:spPr>
          </p:sp>
          <p:sp>
            <p:nvSpPr>
              <p:cNvPr id="138" name="Line 138"/>
              <p:cNvSpPr/>
              <p:nvPr/>
            </p:nvSpPr>
            <p:spPr>
              <a:xfrm>
                <a:off x="9620250" y="4657725"/>
                <a:ext cx="9525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5">
                    <a:moveTo>
                      <a:pt x="0" y="0"/>
                    </a:moveTo>
                    <a:lnTo>
                      <a:pt x="0" y="904875"/>
                    </a:lnTo>
                  </a:path>
                </a:pathLst>
              </a:custGeom>
              <a:noFill/>
              <a:ln w="114300" cap="rnd">
                <a:solidFill>
                  <a:srgbClr val="22C55E"/>
                </a:solidFill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restart="always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08622"/>
            <a:ext cx="4679442" cy="827723"/>
            <a:chOff x="496824" y="408622"/>
            <a:chExt cx="4679442" cy="82772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08622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从基础版走到个人作品</a:t>
              </a:r>
              <a:endParaRPr lang="zh-CN" sz="34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6730" y="942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五步完成桌面画展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" name="Line 5"/>
          <p:cNvSpPr/>
          <p:nvPr/>
        </p:nvSpPr>
        <p:spPr>
          <a:xfrm>
            <a:off x="1200150" y="342900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133350" cap="rnd">
            <a:solidFill>
              <a:srgbClr val="CFE5F8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1028700" y="2129790"/>
            <a:ext cx="1104900" cy="2528983"/>
            <a:chOff x="1028700" y="2129790"/>
            <a:chExt cx="1104900" cy="2528983"/>
          </a:xfrm>
        </p:grpSpPr>
        <p:sp>
          <p:nvSpPr>
            <p:cNvPr id="6" name="Ellipse 6"/>
            <p:cNvSpPr/>
            <p:nvPr/>
          </p:nvSpPr>
          <p:spPr>
            <a:xfrm>
              <a:off x="1028700" y="287655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558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7374" y="2129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分类复习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1590" y="43800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四盒彩卡</a:t>
              </a:r>
              <a:endParaRPr lang="zh-CN" sz="142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24113" y="2129790"/>
            <a:ext cx="1381275" cy="2528983"/>
            <a:chOff x="3024113" y="2129790"/>
            <a:chExt cx="1381275" cy="2528983"/>
          </a:xfrm>
        </p:grpSpPr>
        <p:sp>
          <p:nvSpPr>
            <p:cNvPr id="11" name="Ellipse 11"/>
            <p:cNvSpPr/>
            <p:nvPr/>
          </p:nvSpPr>
          <p:spPr>
            <a:xfrm>
              <a:off x="3162300" y="2876550"/>
              <a:ext cx="1104900" cy="11049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894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9816" y="2129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运行小程序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24113" y="4380071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 + 花心花茎</a:t>
              </a:r>
              <a:endParaRPr lang="zh-CN" sz="142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72050" y="2129790"/>
            <a:ext cx="1352601" cy="2528983"/>
            <a:chOff x="5172050" y="2129790"/>
            <a:chExt cx="1352601" cy="2528983"/>
          </a:xfrm>
        </p:grpSpPr>
        <p:sp>
          <p:nvSpPr>
            <p:cNvPr id="16" name="Ellipse 16"/>
            <p:cNvSpPr/>
            <p:nvPr/>
          </p:nvSpPr>
          <p:spPr>
            <a:xfrm>
              <a:off x="5295900" y="2876550"/>
              <a:ext cx="1104900" cy="11049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230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33416" y="2129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组合基础版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2050" y="43800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完成第一次测试</a:t>
              </a:r>
              <a:endParaRPr lang="zh-CN" sz="142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23096" y="2129790"/>
            <a:ext cx="1317708" cy="2528983"/>
            <a:chOff x="7323096" y="2129790"/>
            <a:chExt cx="1317708" cy="2528983"/>
          </a:xfrm>
        </p:grpSpPr>
        <p:sp>
          <p:nvSpPr>
            <p:cNvPr id="21" name="Ellipse 21"/>
            <p:cNvSpPr/>
            <p:nvPr/>
          </p:nvSpPr>
          <p:spPr>
            <a:xfrm>
              <a:off x="7429500" y="2876550"/>
              <a:ext cx="1104900" cy="11049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56688" y="32546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3096" y="2129790"/>
              <a:ext cx="13177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只改 1–2 项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01230" y="43800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形成个人作品</a:t>
              </a:r>
              <a:endParaRPr lang="zh-CN" sz="142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82059" y="1961198"/>
            <a:ext cx="1390833" cy="2830925"/>
            <a:chOff x="9582059" y="1961198"/>
            <a:chExt cx="1390833" cy="2830925"/>
          </a:xfrm>
        </p:grpSpPr>
        <p:sp>
          <p:nvSpPr>
            <p:cNvPr id="26" name="Ellipse 26"/>
            <p:cNvSpPr/>
            <p:nvPr/>
          </p:nvSpPr>
          <p:spPr>
            <a:xfrm>
              <a:off x="9610725" y="2762250"/>
              <a:ext cx="1333500" cy="1333500"/>
            </a:xfrm>
            <a:prstGeom prst="ellipse">
              <a:avLst/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0014299" y="3167111"/>
              <a:ext cx="526092" cy="501404"/>
            </a:xfrm>
            <a:custGeom>
              <a:avLst/>
              <a:gdLst/>
              <a:ahLst/>
              <a:cxnLst/>
              <a:rect l="l" t="t" r="r" b="b"/>
              <a:pathLst>
                <a:path w="526092" h="501404">
                  <a:moveTo>
                    <a:pt x="173713" y="150923"/>
                  </a:moveTo>
                  <a:lnTo>
                    <a:pt x="21789" y="172949"/>
                  </a:lnTo>
                  <a:lnTo>
                    <a:pt x="19098" y="173497"/>
                  </a:lnTo>
                  <a:cubicBezTo>
                    <a:pt x="10805" y="175699"/>
                    <a:pt x="4338" y="182191"/>
                    <a:pt x="2169" y="190493"/>
                  </a:cubicBezTo>
                  <a:cubicBezTo>
                    <a:pt x="0" y="198794"/>
                    <a:pt x="2465" y="207621"/>
                    <a:pt x="8621" y="213597"/>
                  </a:cubicBezTo>
                  <a:lnTo>
                    <a:pt x="118682" y="320730"/>
                  </a:lnTo>
                  <a:lnTo>
                    <a:pt x="92726" y="472058"/>
                  </a:lnTo>
                  <a:lnTo>
                    <a:pt x="92417" y="474678"/>
                  </a:lnTo>
                  <a:cubicBezTo>
                    <a:pt x="91909" y="483255"/>
                    <a:pt x="96062" y="491441"/>
                    <a:pt x="103283" y="496097"/>
                  </a:cubicBezTo>
                  <a:cubicBezTo>
                    <a:pt x="110505" y="500754"/>
                    <a:pt x="119675" y="501159"/>
                    <a:pt x="127278" y="497157"/>
                  </a:cubicBezTo>
                  <a:lnTo>
                    <a:pt x="263153" y="425719"/>
                  </a:lnTo>
                  <a:lnTo>
                    <a:pt x="398717" y="497157"/>
                  </a:lnTo>
                  <a:lnTo>
                    <a:pt x="401098" y="498252"/>
                  </a:lnTo>
                  <a:cubicBezTo>
                    <a:pt x="409101" y="501404"/>
                    <a:pt x="418182" y="499996"/>
                    <a:pt x="424854" y="494567"/>
                  </a:cubicBezTo>
                  <a:cubicBezTo>
                    <a:pt x="431525" y="489139"/>
                    <a:pt x="434751" y="480535"/>
                    <a:pt x="433293" y="472058"/>
                  </a:cubicBezTo>
                  <a:lnTo>
                    <a:pt x="407313" y="320730"/>
                  </a:lnTo>
                  <a:lnTo>
                    <a:pt x="517422" y="213574"/>
                  </a:lnTo>
                  <a:lnTo>
                    <a:pt x="519280" y="211550"/>
                  </a:lnTo>
                  <a:cubicBezTo>
                    <a:pt x="524681" y="204897"/>
                    <a:pt x="526092" y="195855"/>
                    <a:pt x="522973" y="187873"/>
                  </a:cubicBezTo>
                  <a:cubicBezTo>
                    <a:pt x="519854" y="179892"/>
                    <a:pt x="512687" y="174202"/>
                    <a:pt x="504206" y="172973"/>
                  </a:cubicBezTo>
                  <a:lnTo>
                    <a:pt x="352283" y="150923"/>
                  </a:lnTo>
                  <a:lnTo>
                    <a:pt x="284369" y="13287"/>
                  </a:lnTo>
                  <a:cubicBezTo>
                    <a:pt x="280361" y="5152"/>
                    <a:pt x="272079" y="0"/>
                    <a:pt x="263010" y="0"/>
                  </a:cubicBezTo>
                  <a:cubicBezTo>
                    <a:pt x="253941" y="0"/>
                    <a:pt x="245659" y="5152"/>
                    <a:pt x="241650" y="13287"/>
                  </a:cubicBezTo>
                  <a:lnTo>
                    <a:pt x="173713" y="150923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42551" y="1961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桌面画展</a:t>
              </a:r>
              <a:endParaRPr lang="zh-CN" sz="19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82059" y="4513421"/>
              <a:ext cx="1390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“我用了……命令”</a:t>
              </a:r>
              <a:endParaRPr lang="zh-CN" sz="142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019300" y="5410200"/>
            <a:ext cx="8153400" cy="628650"/>
            <a:chOff x="2019300" y="5410200"/>
            <a:chExt cx="8153400" cy="628650"/>
          </a:xfrm>
        </p:grpSpPr>
        <p:sp>
          <p:nvSpPr>
            <p:cNvPr id="31" name="Rectangle 31"/>
            <p:cNvSpPr/>
            <p:nvPr/>
          </p:nvSpPr>
          <p:spPr>
            <a:xfrm>
              <a:off x="2019300" y="5410200"/>
              <a:ext cx="8153400" cy="628650"/>
            </a:xfrm>
            <a:prstGeom prst="roundRect">
              <a:avLst>
                <a:gd name="adj" fmla="val 393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2960" y="56254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每一步完成后，再走下一步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8348" y="441008"/>
            <a:ext cx="3000375" cy="827531"/>
            <a:chOff x="498348" y="441008"/>
            <a:chExt cx="3000375" cy="827531"/>
          </a:xfrm>
        </p:grpSpPr>
        <p:sp>
          <p:nvSpPr>
            <p:cNvPr id="2" name="TextBox 2"/>
            <p:cNvSpPr txBox="1"/>
            <p:nvPr/>
          </p:nvSpPr>
          <p:spPr>
            <a:xfrm>
              <a:off x="498348" y="44100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让作品开口说话</a:t>
              </a:r>
              <a:endParaRPr lang="zh-CN" sz="31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5968" y="945832"/>
              <a:ext cx="2560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展示 1 分钟 · 反馈 1 句话</a:t>
              </a:r>
              <a:endParaRPr lang="zh-CN" sz="165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524000"/>
            <a:ext cx="6572250" cy="4533900"/>
            <a:chOff x="514350" y="1524000"/>
            <a:chExt cx="6572250" cy="4533900"/>
          </a:xfrm>
        </p:grpSpPr>
        <p:sp>
          <p:nvSpPr>
            <p:cNvPr id="5" name="Rectangle 5"/>
            <p:cNvSpPr/>
            <p:nvPr/>
          </p:nvSpPr>
          <p:spPr>
            <a:xfrm>
              <a:off x="514350" y="1524000"/>
              <a:ext cx="6572250" cy="4533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38200" y="19431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2105025"/>
              <a:ext cx="381000" cy="3810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33144" y="2170748"/>
              <a:ext cx="1635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我的作品是……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8575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FF9F1C">
                <a:alpha val="12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0600" y="3019425"/>
              <a:ext cx="381000" cy="3810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3144" y="3085148"/>
              <a:ext cx="1373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我使用了……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37719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FF6FA5">
                <a:alpha val="12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933825"/>
              <a:ext cx="381000" cy="3810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3144" y="3999548"/>
              <a:ext cx="1373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我修改了……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686300"/>
              <a:ext cx="5924550" cy="704850"/>
            </a:xfrm>
            <a:prstGeom prst="roundRect">
              <a:avLst>
                <a:gd name="adj" fmla="val 32432"/>
              </a:avLst>
            </a:prstGeom>
            <a:solidFill>
              <a:srgbClr val="65C466">
                <a:alpha val="12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90600" y="4848225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33144" y="4913948"/>
              <a:ext cx="1635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下一次我想……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0" y="1524000"/>
            <a:ext cx="4171950" cy="4533900"/>
            <a:chOff x="7505700" y="1524000"/>
            <a:chExt cx="4171950" cy="4533900"/>
          </a:xfrm>
        </p:grpSpPr>
        <p:sp>
          <p:nvSpPr>
            <p:cNvPr id="19" name="Rectangle 19"/>
            <p:cNvSpPr/>
            <p:nvPr/>
          </p:nvSpPr>
          <p:spPr>
            <a:xfrm>
              <a:off x="7505700" y="1524000"/>
              <a:ext cx="4171950" cy="4533900"/>
            </a:xfrm>
            <a:prstGeom prst="roundRect">
              <a:avLst>
                <a:gd name="adj" fmla="val 776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6032" y="18688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同伴反馈看三点</a:t>
              </a:r>
              <a:endParaRPr lang="zh-CN" sz="21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48600" y="2514600"/>
              <a:ext cx="348615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039100" y="2724150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15967" y="28289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✓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83168" y="26412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能运行</a:t>
              </a:r>
              <a:endParaRPr lang="zh-CN" sz="16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85073" y="2967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程序顺利打开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48600" y="3524250"/>
              <a:ext cx="348615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039100" y="3733800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15967" y="3838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✓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83168" y="3650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结构完整</a:t>
              </a:r>
              <a:endParaRPr lang="zh-CN" sz="16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85073" y="39771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花瓣、花心、花茎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48600" y="4533900"/>
              <a:ext cx="348615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039100" y="4743450"/>
              <a:ext cx="381000" cy="381000"/>
            </a:xfrm>
            <a:prstGeom prst="ellipse">
              <a:avLst/>
            </a:prstGeom>
            <a:solidFill>
              <a:srgbClr val="65C46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15967" y="48482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✓</a:t>
              </a:r>
              <a:endParaRPr lang="en-US" sz="150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83168" y="4660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能解释</a:t>
              </a:r>
              <a:endParaRPr lang="zh-CN" sz="16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85073" y="49868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708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说清自己改了什么</a:t>
              </a:r>
              <a:endParaRPr lang="zh-CN" sz="1280" dirty="0">
                <a:solidFill>
                  <a:srgbClr val="66708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6824" y="427672"/>
            <a:ext cx="4215003" cy="808673"/>
            <a:chOff x="496824" y="427672"/>
            <a:chExt cx="4215003" cy="808673"/>
          </a:xfrm>
        </p:grpSpPr>
        <p:sp>
          <p:nvSpPr>
            <p:cNvPr id="2" name="TextBox 2"/>
            <p:cNvSpPr txBox="1"/>
            <p:nvPr/>
          </p:nvSpPr>
          <p:spPr>
            <a:xfrm>
              <a:off x="496824" y="427672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03044"/>
                  </a:solidFill>
                  <a:latin typeface="幼圆" panose="02010509060101010101" charset="-122"/>
                  <a:ea typeface="幼圆" panose="02010509060101010101" charset="-122"/>
                  <a:cs typeface="幼圆" panose="02010509060101010101" charset="-122"/>
                </a:rPr>
                <a:t>卡住时，先查这三处</a:t>
              </a:r>
              <a:endParaRPr lang="zh-CN" sz="3450" b="1" dirty="0">
                <a:solidFill>
                  <a:srgbClr val="203044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6730" y="942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不要删掉全部重来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85900"/>
            <a:ext cx="3429000" cy="4000500"/>
            <a:chOff x="609600" y="14859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609600" y="1485900"/>
              <a:ext cx="3429000" cy="4000500"/>
            </a:xfrm>
            <a:prstGeom prst="roundRect">
              <a:avLst>
                <a:gd name="adj" fmla="val 944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988582" y="1880989"/>
              <a:ext cx="441955" cy="383500"/>
            </a:xfrm>
            <a:custGeom>
              <a:avLst/>
              <a:gdLst/>
              <a:ahLst/>
              <a:cxnLst/>
              <a:rect l="l" t="t" r="r" b="b"/>
              <a:pathLst>
                <a:path w="441955" h="383500">
                  <a:moveTo>
                    <a:pt x="221093" y="0"/>
                  </a:moveTo>
                  <a:cubicBezTo>
                    <a:pt x="240044" y="0"/>
                    <a:pt x="257704" y="9267"/>
                    <a:pt x="268519" y="24745"/>
                  </a:cubicBezTo>
                  <a:lnTo>
                    <a:pt x="270603" y="27920"/>
                  </a:lnTo>
                  <a:lnTo>
                    <a:pt x="431615" y="296763"/>
                  </a:lnTo>
                  <a:cubicBezTo>
                    <a:pt x="441561" y="313990"/>
                    <a:pt x="441955" y="335120"/>
                    <a:pt x="432656" y="352706"/>
                  </a:cubicBezTo>
                  <a:cubicBezTo>
                    <a:pt x="423358" y="370291"/>
                    <a:pt x="405673" y="381863"/>
                    <a:pt x="385835" y="383341"/>
                  </a:cubicBezTo>
                  <a:lnTo>
                    <a:pt x="381966" y="383500"/>
                  </a:lnTo>
                  <a:lnTo>
                    <a:pt x="60001" y="383500"/>
                  </a:lnTo>
                  <a:cubicBezTo>
                    <a:pt x="40145" y="383276"/>
                    <a:pt x="21792" y="372879"/>
                    <a:pt x="11392" y="355962"/>
                  </a:cubicBezTo>
                  <a:cubicBezTo>
                    <a:pt x="992" y="339045"/>
                    <a:pt x="0" y="317975"/>
                    <a:pt x="8765" y="300156"/>
                  </a:cubicBezTo>
                  <a:lnTo>
                    <a:pt x="10729" y="296485"/>
                  </a:lnTo>
                  <a:lnTo>
                    <a:pt x="171662" y="27841"/>
                  </a:lnTo>
                  <a:cubicBezTo>
                    <a:pt x="182142" y="10560"/>
                    <a:pt x="200883" y="4"/>
                    <a:pt x="221093" y="0"/>
                  </a:cubicBezTo>
                  <a:close/>
                  <a:moveTo>
                    <a:pt x="221291" y="264517"/>
                  </a:moveTo>
                  <a:lnTo>
                    <a:pt x="218771" y="264656"/>
                  </a:lnTo>
                  <a:cubicBezTo>
                    <a:pt x="208789" y="265843"/>
                    <a:pt x="201271" y="274308"/>
                    <a:pt x="201271" y="284360"/>
                  </a:cubicBezTo>
                  <a:cubicBezTo>
                    <a:pt x="201271" y="294413"/>
                    <a:pt x="208789" y="302878"/>
                    <a:pt x="218771" y="304065"/>
                  </a:cubicBezTo>
                  <a:lnTo>
                    <a:pt x="221093" y="304204"/>
                  </a:lnTo>
                  <a:lnTo>
                    <a:pt x="223613" y="304065"/>
                  </a:lnTo>
                  <a:cubicBezTo>
                    <a:pt x="233595" y="302878"/>
                    <a:pt x="241113" y="294413"/>
                    <a:pt x="241113" y="284360"/>
                  </a:cubicBezTo>
                  <a:cubicBezTo>
                    <a:pt x="241113" y="274308"/>
                    <a:pt x="233595" y="265843"/>
                    <a:pt x="223613" y="264656"/>
                  </a:cubicBezTo>
                  <a:lnTo>
                    <a:pt x="221291" y="264517"/>
                  </a:lnTo>
                  <a:close/>
                  <a:moveTo>
                    <a:pt x="221093" y="125611"/>
                  </a:moveTo>
                  <a:cubicBezTo>
                    <a:pt x="211032" y="125612"/>
                    <a:pt x="202565" y="133142"/>
                    <a:pt x="201388" y="143133"/>
                  </a:cubicBezTo>
                  <a:lnTo>
                    <a:pt x="201249" y="145454"/>
                  </a:lnTo>
                  <a:lnTo>
                    <a:pt x="201249" y="224829"/>
                  </a:lnTo>
                  <a:lnTo>
                    <a:pt x="201388" y="227151"/>
                  </a:lnTo>
                  <a:cubicBezTo>
                    <a:pt x="202575" y="237133"/>
                    <a:pt x="211040" y="244651"/>
                    <a:pt x="221093" y="244651"/>
                  </a:cubicBezTo>
                  <a:cubicBezTo>
                    <a:pt x="231146" y="244651"/>
                    <a:pt x="239610" y="237133"/>
                    <a:pt x="240798" y="227151"/>
                  </a:cubicBezTo>
                  <a:lnTo>
                    <a:pt x="240936" y="224829"/>
                  </a:lnTo>
                  <a:lnTo>
                    <a:pt x="240936" y="145454"/>
                  </a:lnTo>
                  <a:lnTo>
                    <a:pt x="240798" y="143133"/>
                  </a:lnTo>
                  <a:cubicBezTo>
                    <a:pt x="239621" y="133142"/>
                    <a:pt x="231153" y="125612"/>
                    <a:pt x="221093" y="125611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46682" y="19450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花瓣画得很慢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2406" y="2701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先检查速度设置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971550" y="3371850"/>
              <a:ext cx="2705100" cy="800100"/>
            </a:xfrm>
            <a:prstGeom prst="roundRect">
              <a:avLst>
                <a:gd name="adj" fmla="val 261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97130" y="3649980"/>
              <a:ext cx="1653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t.speed(0)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3930" y="4619625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 表示最快绘制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1295400"/>
            <a:ext cx="3429000" cy="4191000"/>
            <a:chOff x="4381500" y="129540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295400"/>
              <a:ext cx="3429000" cy="4191000"/>
            </a:xfrm>
            <a:prstGeom prst="roundRect">
              <a:avLst>
                <a:gd name="adj" fmla="val 944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760482" y="1690489"/>
              <a:ext cx="441955" cy="383500"/>
            </a:xfrm>
            <a:custGeom>
              <a:avLst/>
              <a:gdLst/>
              <a:ahLst/>
              <a:cxnLst/>
              <a:rect l="l" t="t" r="r" b="b"/>
              <a:pathLst>
                <a:path w="441955" h="383500">
                  <a:moveTo>
                    <a:pt x="221093" y="0"/>
                  </a:moveTo>
                  <a:cubicBezTo>
                    <a:pt x="240044" y="0"/>
                    <a:pt x="257704" y="9267"/>
                    <a:pt x="268519" y="24745"/>
                  </a:cubicBezTo>
                  <a:lnTo>
                    <a:pt x="270603" y="27920"/>
                  </a:lnTo>
                  <a:lnTo>
                    <a:pt x="431615" y="296763"/>
                  </a:lnTo>
                  <a:cubicBezTo>
                    <a:pt x="441561" y="313990"/>
                    <a:pt x="441955" y="335120"/>
                    <a:pt x="432656" y="352706"/>
                  </a:cubicBezTo>
                  <a:cubicBezTo>
                    <a:pt x="423358" y="370291"/>
                    <a:pt x="405673" y="381863"/>
                    <a:pt x="385835" y="383341"/>
                  </a:cubicBezTo>
                  <a:lnTo>
                    <a:pt x="381966" y="383500"/>
                  </a:lnTo>
                  <a:lnTo>
                    <a:pt x="60001" y="383500"/>
                  </a:lnTo>
                  <a:cubicBezTo>
                    <a:pt x="40145" y="383276"/>
                    <a:pt x="21792" y="372879"/>
                    <a:pt x="11392" y="355962"/>
                  </a:cubicBezTo>
                  <a:cubicBezTo>
                    <a:pt x="992" y="339045"/>
                    <a:pt x="0" y="317975"/>
                    <a:pt x="8765" y="300156"/>
                  </a:cubicBezTo>
                  <a:lnTo>
                    <a:pt x="10729" y="296485"/>
                  </a:lnTo>
                  <a:lnTo>
                    <a:pt x="171662" y="27841"/>
                  </a:lnTo>
                  <a:cubicBezTo>
                    <a:pt x="182142" y="10560"/>
                    <a:pt x="200883" y="4"/>
                    <a:pt x="221093" y="0"/>
                  </a:cubicBezTo>
                  <a:close/>
                  <a:moveTo>
                    <a:pt x="221291" y="264517"/>
                  </a:moveTo>
                  <a:lnTo>
                    <a:pt x="218771" y="264656"/>
                  </a:lnTo>
                  <a:cubicBezTo>
                    <a:pt x="208789" y="265843"/>
                    <a:pt x="201271" y="274308"/>
                    <a:pt x="201271" y="284360"/>
                  </a:cubicBezTo>
                  <a:cubicBezTo>
                    <a:pt x="201271" y="294413"/>
                    <a:pt x="208789" y="302878"/>
                    <a:pt x="218771" y="304065"/>
                  </a:cubicBezTo>
                  <a:lnTo>
                    <a:pt x="221093" y="304204"/>
                  </a:lnTo>
                  <a:lnTo>
                    <a:pt x="223613" y="304065"/>
                  </a:lnTo>
                  <a:cubicBezTo>
                    <a:pt x="233595" y="302878"/>
                    <a:pt x="241113" y="294413"/>
                    <a:pt x="241113" y="284360"/>
                  </a:cubicBezTo>
                  <a:cubicBezTo>
                    <a:pt x="241113" y="274308"/>
                    <a:pt x="233595" y="265843"/>
                    <a:pt x="223613" y="264656"/>
                  </a:cubicBezTo>
                  <a:lnTo>
                    <a:pt x="221291" y="264517"/>
                  </a:lnTo>
                  <a:close/>
                  <a:moveTo>
                    <a:pt x="221093" y="125611"/>
                  </a:moveTo>
                  <a:cubicBezTo>
                    <a:pt x="211032" y="125612"/>
                    <a:pt x="202565" y="133142"/>
                    <a:pt x="201388" y="143133"/>
                  </a:cubicBezTo>
                  <a:lnTo>
                    <a:pt x="201249" y="145454"/>
                  </a:lnTo>
                  <a:lnTo>
                    <a:pt x="201249" y="224829"/>
                  </a:lnTo>
                  <a:lnTo>
                    <a:pt x="201388" y="227151"/>
                  </a:lnTo>
                  <a:cubicBezTo>
                    <a:pt x="202575" y="237133"/>
                    <a:pt x="211040" y="244651"/>
                    <a:pt x="221093" y="244651"/>
                  </a:cubicBezTo>
                  <a:cubicBezTo>
                    <a:pt x="231146" y="244651"/>
                    <a:pt x="239610" y="237133"/>
                    <a:pt x="240798" y="227151"/>
                  </a:cubicBezTo>
                  <a:lnTo>
                    <a:pt x="240936" y="224829"/>
                  </a:lnTo>
                  <a:lnTo>
                    <a:pt x="240936" y="145454"/>
                  </a:lnTo>
                  <a:lnTo>
                    <a:pt x="240798" y="143133"/>
                  </a:lnTo>
                  <a:cubicBezTo>
                    <a:pt x="239621" y="133142"/>
                    <a:pt x="231153" y="125612"/>
                    <a:pt x="221093" y="125611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8582" y="17545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花茎方向错了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34306" y="251079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向下通常是 270°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43450" y="3181350"/>
              <a:ext cx="2705100" cy="800100"/>
            </a:xfrm>
            <a:prstGeom prst="roundRect">
              <a:avLst>
                <a:gd name="adj" fmla="val 261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77359" y="3483769"/>
              <a:ext cx="243728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t.setheading(270)</a:t>
              </a:r>
              <a:endParaRPr lang="en-US" sz="18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5830" y="4429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再运行观察方向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485900"/>
            <a:ext cx="3429000" cy="4000500"/>
            <a:chOff x="8153400" y="1485900"/>
            <a:chExt cx="3429000" cy="4000500"/>
          </a:xfrm>
        </p:grpSpPr>
        <p:sp>
          <p:nvSpPr>
            <p:cNvPr id="21" name="Rectangle 21"/>
            <p:cNvSpPr/>
            <p:nvPr/>
          </p:nvSpPr>
          <p:spPr>
            <a:xfrm>
              <a:off x="8153400" y="1485900"/>
              <a:ext cx="3429000" cy="4000500"/>
            </a:xfrm>
            <a:prstGeom prst="roundRect">
              <a:avLst>
                <a:gd name="adj" fmla="val 944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532382" y="1880989"/>
              <a:ext cx="441955" cy="383500"/>
            </a:xfrm>
            <a:custGeom>
              <a:avLst/>
              <a:gdLst/>
              <a:ahLst/>
              <a:cxnLst/>
              <a:rect l="l" t="t" r="r" b="b"/>
              <a:pathLst>
                <a:path w="441955" h="383500">
                  <a:moveTo>
                    <a:pt x="221093" y="0"/>
                  </a:moveTo>
                  <a:cubicBezTo>
                    <a:pt x="240044" y="0"/>
                    <a:pt x="257704" y="9267"/>
                    <a:pt x="268519" y="24745"/>
                  </a:cubicBezTo>
                  <a:lnTo>
                    <a:pt x="270603" y="27920"/>
                  </a:lnTo>
                  <a:lnTo>
                    <a:pt x="431615" y="296763"/>
                  </a:lnTo>
                  <a:cubicBezTo>
                    <a:pt x="441561" y="313990"/>
                    <a:pt x="441955" y="335120"/>
                    <a:pt x="432656" y="352706"/>
                  </a:cubicBezTo>
                  <a:cubicBezTo>
                    <a:pt x="423358" y="370291"/>
                    <a:pt x="405673" y="381863"/>
                    <a:pt x="385835" y="383341"/>
                  </a:cubicBezTo>
                  <a:lnTo>
                    <a:pt x="381966" y="383500"/>
                  </a:lnTo>
                  <a:lnTo>
                    <a:pt x="60001" y="383500"/>
                  </a:lnTo>
                  <a:cubicBezTo>
                    <a:pt x="40145" y="383276"/>
                    <a:pt x="21792" y="372879"/>
                    <a:pt x="11392" y="355962"/>
                  </a:cubicBezTo>
                  <a:cubicBezTo>
                    <a:pt x="992" y="339045"/>
                    <a:pt x="0" y="317975"/>
                    <a:pt x="8765" y="300156"/>
                  </a:cubicBezTo>
                  <a:lnTo>
                    <a:pt x="10729" y="296485"/>
                  </a:lnTo>
                  <a:lnTo>
                    <a:pt x="171662" y="27841"/>
                  </a:lnTo>
                  <a:cubicBezTo>
                    <a:pt x="182142" y="10560"/>
                    <a:pt x="200883" y="4"/>
                    <a:pt x="221093" y="0"/>
                  </a:cubicBezTo>
                  <a:close/>
                  <a:moveTo>
                    <a:pt x="221291" y="264517"/>
                  </a:moveTo>
                  <a:lnTo>
                    <a:pt x="218771" y="264656"/>
                  </a:lnTo>
                  <a:cubicBezTo>
                    <a:pt x="208789" y="265843"/>
                    <a:pt x="201271" y="274308"/>
                    <a:pt x="201271" y="284360"/>
                  </a:cubicBezTo>
                  <a:cubicBezTo>
                    <a:pt x="201271" y="294413"/>
                    <a:pt x="208789" y="302878"/>
                    <a:pt x="218771" y="304065"/>
                  </a:cubicBezTo>
                  <a:lnTo>
                    <a:pt x="221093" y="304204"/>
                  </a:lnTo>
                  <a:lnTo>
                    <a:pt x="223613" y="304065"/>
                  </a:lnTo>
                  <a:cubicBezTo>
                    <a:pt x="233595" y="302878"/>
                    <a:pt x="241113" y="294413"/>
                    <a:pt x="241113" y="284360"/>
                  </a:cubicBezTo>
                  <a:cubicBezTo>
                    <a:pt x="241113" y="274308"/>
                    <a:pt x="233595" y="265843"/>
                    <a:pt x="223613" y="264656"/>
                  </a:cubicBezTo>
                  <a:lnTo>
                    <a:pt x="221291" y="264517"/>
                  </a:lnTo>
                  <a:close/>
                  <a:moveTo>
                    <a:pt x="221093" y="125611"/>
                  </a:moveTo>
                  <a:cubicBezTo>
                    <a:pt x="211032" y="125612"/>
                    <a:pt x="202565" y="133142"/>
                    <a:pt x="201388" y="143133"/>
                  </a:cubicBezTo>
                  <a:lnTo>
                    <a:pt x="201249" y="145454"/>
                  </a:lnTo>
                  <a:lnTo>
                    <a:pt x="201249" y="224829"/>
                  </a:lnTo>
                  <a:lnTo>
                    <a:pt x="201388" y="227151"/>
                  </a:lnTo>
                  <a:cubicBezTo>
                    <a:pt x="202575" y="237133"/>
                    <a:pt x="211040" y="244651"/>
                    <a:pt x="221093" y="244651"/>
                  </a:cubicBezTo>
                  <a:cubicBezTo>
                    <a:pt x="231146" y="244651"/>
                    <a:pt x="239610" y="237133"/>
                    <a:pt x="240798" y="227151"/>
                  </a:cubicBezTo>
                  <a:lnTo>
                    <a:pt x="240936" y="224829"/>
                  </a:lnTo>
                  <a:lnTo>
                    <a:pt x="240936" y="145454"/>
                  </a:lnTo>
                  <a:lnTo>
                    <a:pt x="240798" y="143133"/>
                  </a:lnTo>
                  <a:cubicBezTo>
                    <a:pt x="239621" y="133142"/>
                    <a:pt x="231153" y="125612"/>
                    <a:pt x="221093" y="125611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0482" y="19450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代码太长看不懂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06206" y="2701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回到教师半成品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15350" y="3371850"/>
              <a:ext cx="2705100" cy="1123950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15272" y="3612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逐段运行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7708" y="39938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花瓣 → 花心 → 花茎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07730" y="4810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不要求从空白重写全部代码</a:t>
              </a:r>
              <a:endParaRPr lang="zh-CN" sz="150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69486" y="5958840"/>
            <a:ext cx="3653028" cy="352044"/>
            <a:chOff x="4269486" y="5958840"/>
            <a:chExt cx="3653028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4269486" y="59588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先检查最可能的原因，再只改一处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965067" y="802958"/>
            <a:ext cx="4261866" cy="1381315"/>
            <a:chOff x="3965067" y="802958"/>
            <a:chExt cx="4261866" cy="1381315"/>
          </a:xfrm>
        </p:grpSpPr>
        <p:sp>
          <p:nvSpPr>
            <p:cNvPr id="2" name="TextBox 2"/>
            <p:cNvSpPr txBox="1"/>
            <p:nvPr/>
          </p:nvSpPr>
          <p:spPr>
            <a:xfrm>
              <a:off x="5249037" y="802958"/>
              <a:ext cx="1693926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150" b="1" dirty="0">
                  <a:solidFill>
                    <a:srgbClr val="2E9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综合</a:t>
              </a:r>
              <a:endParaRPr lang="zh-CN" sz="6150" b="1" dirty="0">
                <a:solidFill>
                  <a:srgbClr val="2E9B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965067" y="17735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把命令变成作品，把修改变成方法</a:t>
              </a:r>
              <a:endParaRPr lang="zh-CN" sz="210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6750" y="2724150"/>
            <a:ext cx="10858500" cy="1981200"/>
            <a:chOff x="666750" y="2724150"/>
            <a:chExt cx="10858500" cy="1981200"/>
          </a:xfrm>
        </p:grpSpPr>
        <p:sp>
          <p:nvSpPr>
            <p:cNvPr id="5" name="Rectangle 5"/>
            <p:cNvSpPr/>
            <p:nvPr/>
          </p:nvSpPr>
          <p:spPr>
            <a:xfrm>
              <a:off x="666750" y="2724150"/>
              <a:ext cx="3429000" cy="1981200"/>
            </a:xfrm>
            <a:prstGeom prst="roundRect">
              <a:avLst>
                <a:gd name="adj" fmla="val 1634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4400" y="2990850"/>
              <a:ext cx="533400" cy="5334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53718" y="3155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学会了</a:t>
              </a:r>
              <a:endParaRPr lang="zh-CN" sz="1650" b="1" dirty="0">
                <a:solidFill>
                  <a:srgbClr val="2E9B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3817" y="38090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组合已学命令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81500" y="2724150"/>
              <a:ext cx="3429000" cy="1981200"/>
            </a:xfrm>
            <a:prstGeom prst="roundRect">
              <a:avLst>
                <a:gd name="adj" fmla="val 1634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629150" y="29908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68468" y="3155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完成了</a:t>
              </a:r>
              <a:endParaRPr lang="zh-CN" sz="1650" b="1" dirty="0">
                <a:solidFill>
                  <a:srgbClr val="FF6FA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67312" y="38090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可署名的小红花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0" y="2724150"/>
              <a:ext cx="3429000" cy="1981200"/>
            </a:xfrm>
            <a:prstGeom prst="roundRect">
              <a:avLst>
                <a:gd name="adj" fmla="val 16346"/>
              </a:avLst>
            </a:prstGeom>
            <a:solidFill>
              <a:srgbClr val="FFFFFF"/>
            </a:solidFill>
            <a:ln w="19050">
              <a:solidFill>
                <a:srgbClr val="D9E8F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343900" y="2990850"/>
              <a:ext cx="533400" cy="533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83218" y="31556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带走了</a:t>
              </a:r>
              <a:endParaRPr lang="zh-CN" sz="165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13317" y="38090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一次只改一处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90700" y="5162550"/>
            <a:ext cx="8610600" cy="895350"/>
            <a:chOff x="1790700" y="5162550"/>
            <a:chExt cx="8610600" cy="895350"/>
          </a:xfrm>
        </p:grpSpPr>
        <p:sp>
          <p:nvSpPr>
            <p:cNvPr id="18" name="Rectangle 18"/>
            <p:cNvSpPr/>
            <p:nvPr/>
          </p:nvSpPr>
          <p:spPr>
            <a:xfrm>
              <a:off x="1790700" y="5162550"/>
              <a:ext cx="8610600" cy="895350"/>
            </a:xfrm>
            <a:prstGeom prst="roundRect">
              <a:avLst>
                <a:gd name="adj" fmla="val 31915"/>
              </a:avLst>
            </a:prstGeom>
            <a:solidFill>
              <a:srgbClr val="FFF3D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78730" y="53530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下次遇到错误，先检查</a:t>
              </a:r>
              <a:endParaRPr lang="zh-CN" sz="1500" b="1" dirty="0">
                <a:solidFill>
                  <a:srgbClr val="FF9F1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81587" y="5656898"/>
              <a:ext cx="2228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33415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拼写 → 符号 → 缩进</a:t>
              </a:r>
              <a:endParaRPr lang="zh-CN" sz="1950" b="1" dirty="0">
                <a:solidFill>
                  <a:srgbClr val="3341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ython应用课_第06课_阶段测评与复盘_阳光积木实验室_2026090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ython应用课_第06课_阶段测评与复盘_阳光积木实验室_2026090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6406</Words>
  <Application>WPS 演示</Application>
  <PresentationFormat>On-screen Show (16:9)</PresentationFormat>
  <Paragraphs>1388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Arial</vt:lpstr>
      <vt:lpstr>宋体</vt:lpstr>
      <vt:lpstr>Wingdings</vt:lpstr>
      <vt:lpstr>Arial</vt:lpstr>
      <vt:lpstr>幼圆</vt:lpstr>
      <vt:lpstr>微软雅黑</vt:lpstr>
      <vt:lpstr>Consolas</vt:lpstr>
      <vt:lpstr>Arial Unicode MS</vt:lpstr>
      <vt:lpstr>Calibri</vt:lpstr>
      <vt:lpstr>Segoe UI</vt:lpstr>
      <vt:lpstr>Python应用课_第06课_阶段测评与复盘_阳光积木实验室_20260905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2026-09-04T21:39:00Z</dcterms:created>
  <dcterms:modified xsi:type="dcterms:W3CDTF">2026-09-05T09:07:14Z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B88F95ABC0E84A599D8EBDD9DA0F1D31_12</vt:lpwstr>
  </property>
</Properties>
</file>