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6.xml"/>
</Relationships>
</file>

<file path=ppt/notesSlides/_rels/notesSlide2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7.xml"/>
</Relationships>
</file>

<file path=ppt/notesSlides/_rels/notesSlide2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8.xml"/>
</Relationships>
</file>

<file path=ppt/notesSlides/_rels/notesSlide2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9.xml"/>
</Relationships>
</file>

<file path=ppt/notesSlides/_rels/notesSlide3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0.xml"/>
</Relationships>
</file>

<file path=ppt/notesSlides/_rels/notesSlide3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1.xml"/>
</Relationships>
</file>

<file path=ppt/notesSlides/_rels/notesSlide3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2.xml"/>
</Relationships>
</file>

<file path=ppt/notesSlides/_rels/notesSlide3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3.xml"/>
</Relationships>
</file>

<file path=ppt/notesSlides/_rels/notesSlide3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4.xml"/>
</Relationships>
</file>

<file path=ppt/notesSlides/_rels/notesSlide3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5.xml"/>
</Relationships>
</file>

<file path=ppt/notesSlides/_rels/notesSlide3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欢迎来到第六课。今天我们要综合旧命令、学习三个新工具，再完成一朵能展示、能署名的小红花。右侧的大仙老师已经准备好，左下角的文件名就是今天要保存的作品。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今天的一百二十分钟分成四关：十题热身、新命令实验、选择挑战和作品工坊。选择挑战后先保存，再休息十分钟；最后每个人都要运行作品、说明修改并完成离堂复盘。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上排是三个学习目标：综合旧命令、认识新命令、完成小红花。下排是两项可观察表现：一次只改一处并马上运行，以及正确保存、清楚展示。通关时要同时做到能运行、结构完整和会解释修改。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热身前先把旧命令放进五个工具盒：移动转向、循环次数、坐标回家、颜色填充、背景与圆。接下来的十道题都从这五盒里来；每题先口答，再点击揭晓，答错就马上完整修正。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先独立思考，再举手或用手势作答，最后点击答案。回答时不只报命令名称，还要说出它完成什么任务；发现错误就立即修正。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第一题回忆怎样导入海龟模块，正确写法是 import turtle。第二题回忆怎样让海龟向前移动，常用命令是 forward。请先回答，再分别点击右侧区域核对。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第三题考查重复结构，for 循环可以让一组动作反复执行。第四题考查次数来源，range 生成循环所需的序列。请说明 range 括号里的数字怎样影响重复次数。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第五题回忆 goto 或 setpos，它们能把海龟送到指定坐标。第六题是 home，它会让海龟回到原点并恢复默认方向。揭晓后，请比较“去指定地点”和“回家”的区别。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第七题回忆 pencolor 或 color，它们控制线条和填充颜色。第八题是一对命令 begin_fill 与 end_fill，只有把要填充的封闭图形包在中间，颜色才会填进去。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第九题用 Screen().bgcolor 设置窗口背景。第十题用 circle 绘制圆形，也是本课花瓣和花心的重要基础。完成两题后，把十个旧工具和即将开始的小红花项目连接起来。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驱动问题是怎样综合海龟命令，画出一朵会旋转的彩色花。作品要有花瓣、花心和花茎，还要能够运行和展示；作者需要指出自己改过的一处并解释理由。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成功作品首先必须稳定运行，其次结构完整，最后能够说清修改。今天不比谁改得最多，而是比谁能用小步测试保证每一次修改都有依据。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这一站学习三个新工具：让海龟出现、让海龟退场、给窗口起名字。它们帮助作品更整洁、更会自我介绍，也更方便我们观察和调试。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把旧命令分成四盒：移动、重复、位置和装饰。分类不是为了背表格，而是遇到任务时能快速找到合适的积木。请为每一盒举出一个已经用过的命令。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showturtle 会让海龟光标出现，适合观察绘制过程。hideturtle 会让光标隐藏，适合展示最终作品。两条命令只改变光标是否可见，不会擦掉已经画好的图形。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先选择“显示海龟”或“隐藏海龟”，左侧代码会切换到对应命令。点击运行后，状态先变成运行中，终端再逐字输出结果，完成后显示成功提示。可以反复切换任务和运行，比较 show 与 hide 的效果。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先创建窗口对象 screen，再调用 screen.title。标题文字必须放在引号里；不要写成 t.title，因为 t 是画笔海龟，而 screen 才是窗口。点击后观察标题效果。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顶部三个任务会切换不同的窗口标题代码。每次选择后再点击运行，终端逐字显示本次标题，旧输出会重置。请观察只有引号中的文字变化，调用结构保持不变。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安全调试分四步：先运行基础版，只改一处，再次运行，确认后保存。这样一旦出现问题，就能迅速定位是哪一处修改造成的。最后点击理解为什么不能同时改很多地方。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一片花瓣可以用圆形动作得到，循环六次就形成六片花瓣。每完成一片左转六十度，六次正好转完三百六十度。先预测把 range 改成八会发生什么，再运行验证。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选择红花、橙花或紫花，观察代码中只有颜色参数改变。点击对应运行按钮后，终端按步骤逐行出现，并在最后显示相应花朵预览。代码、输出与预览必须彼此一致。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接下来用八道选择题检查理解。每题先举手或用手势选择，再点击揭晓；绿色表示正确，粉色提示易错点，解析要回答为什么。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第一题正确答案是 hideturtle，用于隐藏海龟。第二题正确答案是 showturtle，用于显示海龟。可以用 hide 和 show 的英文含义帮助记忆。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窗口标题通过 screen.title 设置。六瓣花把一圈平均分成六份，所以每次转六十度。请口头说出三百六十除以六的计算关系。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作品完成后隐藏海龟会让画面更整洁。二百七十度表示向下，适合画花茎；可以用身体转向复习零度向右、九十度向上和一百八十度向左。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改一处后马上运行，是最安全的调试方法。本课目标是综合命令完成作品，而不是追求代码最长。把“小步测试”和“综合应用”两个关键词连起来理解。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休息前先保存当前的 Python 文件，确认文件名和位置。离开屏幕、望远处放松眼睛；回来后打开同一个文件继续，不要另建空白程序。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先独立补全花心和花茎，再点击核对。关键命令依次包括 dot、setheading、pensize、pencolor 和 forward。黄色圆点是花心，二百七十度让花茎向下，forward 的数值决定花茎长度。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依次选择短、标准和长三种花茎。每次只修改 forward 的数字，再点击运行比较结果；终端逐行说明设置方向、绘制花茎和完成。请用参数变化解释画面变化。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现在把花瓣、花心和花茎装配成完整作品。可以从背景、花瓣颜色、花茎长度或窗口标题中选择一到两项修改，但每次只改一处并立即测试。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完整程序按创建窗口、画花瓣、画花心、画花茎、隐藏海龟和保持窗口的顺序执行。阅读代码时先找大段职责，再看每段里的参数，不要从第一行一直猜到最后一行。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基础版、暖阳版和紫霞版分别采用不同的背景、花瓣颜色与花茎长度。先切换任务，再点击对应运行按钮；终端按创建窗口、花瓣、花心、花茎和完成的顺序逐行出现，最后显示作品预览。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完成作品要依次做到运行基础版、选择一处修改、再次运行、隐藏海龟并设置标题、最后保存。请跟着点击顺序逐步完成，不要跳过再次运行这一关。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展示时用四句话介绍：我的作品是，我使用了，我修改了，下一次我想。听众只给一条具体建议，重点检查能否运行、结构是否完整，以及作者能否解释修改。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程序太慢时检查 speed 是否设为零；花茎方向不对时检查 setheading 是否为二百七十；花茎过长时只调整 forward。遇到问题先定位参数，再做一次小改动并重新运行。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今天的关键词是综合：把旧命令和三个新工具组合成可署名的小红花。我们还带走了只改一处、马上运行的小步测试方法。下次遇到错误，依次检查拼写、符号和缩进。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ython应用课_第06课_阶段测评与复盘_阳光积木实验室_2026090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ython应用课_第06课_阶段测评与复盘_阳光积木实验室_20260905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4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b374d61e61c593f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47ec0d2362240f6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ef12c5c504abb70.pn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5.xml"/>
</Relationships>
</file>

<file path=ppt/slides/_rels/slide2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6.xml"/>
</Relationships>
</file>

<file path=ppt/slides/_rels/slide2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7.xml"/>
</Relationships>
</file>

<file path=ppt/slides/_rels/slide2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8.xml"/>
</Relationships>
</file>

<file path=ppt/slides/_rels/slide2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9.xml"/>
</Relationships>
</file>

<file path=ppt/slides/_rels/slide3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edb1435b9835fba.png"/>
  <Relationship Id="rId3" Type="http://schemas.openxmlformats.org/officeDocument/2006/relationships/notesSlide" Target="../notesSlides/notesSlide30.xml"/>
</Relationships>
</file>

<file path=ppt/slides/_rels/slide3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1.xml"/>
</Relationships>
</file>

<file path=ppt/slides/_rels/slide3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2.xml"/>
</Relationships>
</file>

<file path=ppt/slides/_rels/slide3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3.xml"/>
</Relationships>
</file>

<file path=ppt/slides/_rels/slide3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4.xml"/>
</Relationships>
</file>

<file path=ppt/slides/_rels/slide3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5.xml"/>
</Relationships>
</file>

<file path=ppt/slides/_rels/slide3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5010150" y="-1238250"/>
            <a:ext cx="3619500" cy="3619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867900" y="4876800"/>
            <a:ext cx="3238500" cy="32385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495300"/>
            <a:ext cx="4095750" cy="552450"/>
            <a:chOff x="590550" y="495300"/>
            <a:chExt cx="4095750" cy="552450"/>
          </a:xfrm>
        </p:grpSpPr>
        <p:sp>
          <p:nvSpPr>
            <p:cNvPr id="4" name="Rectangle 4"/>
            <p:cNvSpPr/>
            <p:nvPr/>
          </p:nvSpPr>
          <p:spPr>
            <a:xfrm>
              <a:off x="590550" y="495300"/>
              <a:ext cx="4095750" cy="5524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714375" y="619125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800100" y="704850"/>
              <a:ext cx="133350" cy="1333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52906" y="643890"/>
              <a:ext cx="29242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神奇海龟小画家 · 第 06 课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644968"/>
            <a:ext cx="6086094" cy="1770316"/>
            <a:chOff x="571500" y="1644968"/>
            <a:chExt cx="6086094" cy="1770316"/>
          </a:xfrm>
        </p:grpSpPr>
        <p:sp>
          <p:nvSpPr>
            <p:cNvPr id="9" name="TextBox 9"/>
            <p:cNvSpPr txBox="1"/>
            <p:nvPr/>
          </p:nvSpPr>
          <p:spPr>
            <a:xfrm>
              <a:off x="571500" y="1644968"/>
              <a:ext cx="4137279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阶段测评与复盘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358" y="2522220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把学过的命令拼成一朵会旋转的小红花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406" y="306324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复习旧命令、学习新工具、运行验证，把代码拼成作品。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90550" y="3638550"/>
            <a:ext cx="1847850" cy="723900"/>
            <a:chOff x="590550" y="3638550"/>
            <a:chExt cx="1847850" cy="723900"/>
          </a:xfrm>
        </p:grpSpPr>
        <p:sp>
          <p:nvSpPr>
            <p:cNvPr id="13" name="Rectangle 13"/>
            <p:cNvSpPr/>
            <p:nvPr/>
          </p:nvSpPr>
          <p:spPr>
            <a:xfrm>
              <a:off x="590550" y="3638550"/>
              <a:ext cx="1847850" cy="723900"/>
            </a:xfrm>
            <a:prstGeom prst="roundRect">
              <a:avLst>
                <a:gd name="adj" fmla="val 2894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52475" y="3876675"/>
              <a:ext cx="247650" cy="24765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53668" y="388905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综合旧命令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533650" y="3752850"/>
            <a:ext cx="1847850" cy="723900"/>
            <a:chOff x="2533650" y="3752850"/>
            <a:chExt cx="1847850" cy="723900"/>
          </a:xfrm>
        </p:grpSpPr>
        <p:sp>
          <p:nvSpPr>
            <p:cNvPr id="17" name="Rectangle 17"/>
            <p:cNvSpPr/>
            <p:nvPr/>
          </p:nvSpPr>
          <p:spPr>
            <a:xfrm>
              <a:off x="2533650" y="3752850"/>
              <a:ext cx="1847850" cy="723900"/>
            </a:xfrm>
            <a:prstGeom prst="roundRect">
              <a:avLst>
                <a:gd name="adj" fmla="val 2894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695575" y="3990975"/>
              <a:ext cx="247650" cy="24765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096768" y="40033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学新命令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76750" y="3638550"/>
            <a:ext cx="1847850" cy="723900"/>
            <a:chOff x="4476750" y="3638550"/>
            <a:chExt cx="1847850" cy="723900"/>
          </a:xfrm>
        </p:grpSpPr>
        <p:sp>
          <p:nvSpPr>
            <p:cNvPr id="21" name="Rectangle 21"/>
            <p:cNvSpPr/>
            <p:nvPr/>
          </p:nvSpPr>
          <p:spPr>
            <a:xfrm>
              <a:off x="4476750" y="3638550"/>
              <a:ext cx="1847850" cy="723900"/>
            </a:xfrm>
            <a:prstGeom prst="roundRect">
              <a:avLst>
                <a:gd name="adj" fmla="val 2894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638675" y="3876675"/>
              <a:ext cx="247650" cy="24765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039868" y="38890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做小红花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90550" y="4762500"/>
            <a:ext cx="6096000" cy="1333500"/>
            <a:chOff x="590550" y="4762500"/>
            <a:chExt cx="6096000" cy="1333500"/>
          </a:xfrm>
        </p:grpSpPr>
        <p:sp>
          <p:nvSpPr>
            <p:cNvPr id="25" name="Rectangle 25"/>
            <p:cNvSpPr/>
            <p:nvPr/>
          </p:nvSpPr>
          <p:spPr>
            <a:xfrm>
              <a:off x="590550" y="4762500"/>
              <a:ext cx="6096000" cy="1333500"/>
            </a:xfrm>
            <a:prstGeom prst="roundRect">
              <a:avLst>
                <a:gd name="adj" fmla="val 21429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09625" y="49434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038225" y="49434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266825" y="49434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42950" y="5219700"/>
              <a:ext cx="5791200" cy="723900"/>
            </a:xfrm>
            <a:prstGeom prst="roundRect">
              <a:avLst>
                <a:gd name="adj" fmla="val 26316"/>
              </a:avLst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7918" y="5460682"/>
              <a:ext cx="2704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lesson06_red_flower.py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276850" y="5334000"/>
              <a:ext cx="1066800" cy="476250"/>
            </a:xfrm>
            <a:prstGeom prst="roundRect">
              <a:avLst>
                <a:gd name="adj" fmla="val 36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509260" y="5476875"/>
              <a:ext cx="601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RUN ▶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124700" y="838200"/>
            <a:ext cx="4552950" cy="5524500"/>
            <a:chOff x="7124700" y="838200"/>
            <a:chExt cx="4552950" cy="5524500"/>
          </a:xfrm>
        </p:grpSpPr>
        <p:sp>
          <p:nvSpPr>
            <p:cNvPr id="34" name="Rectangle 34"/>
            <p:cNvSpPr/>
            <p:nvPr/>
          </p:nvSpPr>
          <p:spPr>
            <a:xfrm>
              <a:off x="7124700" y="838200"/>
              <a:ext cx="4552950" cy="5524500"/>
            </a:xfrm>
            <a:prstGeom prst="roundRect">
              <a:avLst>
                <a:gd name="adj" fmla="val 1129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448550" y="1104900"/>
              <a:ext cx="3448050" cy="1009650"/>
            </a:xfrm>
            <a:prstGeom prst="roundRect">
              <a:avLst>
                <a:gd name="adj" fmla="val 2830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68006" y="1367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准备好了吗？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68768" y="17459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一起把命令拼成作品！</a:t>
              </a:r>
            </a:p>
          </p:txBody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34615" y="1809750"/>
              <a:ext cx="3133220" cy="4095750"/>
            </a:xfrm>
            <a:prstGeom prst="rect">
              <a:avLst/>
            </a:prstGeom>
          </p:spPr>
        </p:pic>
        <p:sp>
          <p:nvSpPr>
            <p:cNvPr id="39" name="Rectangle 39"/>
            <p:cNvSpPr/>
            <p:nvPr/>
          </p:nvSpPr>
          <p:spPr>
            <a:xfrm>
              <a:off x="9639300" y="5295900"/>
              <a:ext cx="1847850" cy="5143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110597" y="54511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大仙老师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571500" y="978218"/>
            <a:ext cx="5378196" cy="1084516"/>
            <a:chOff x="571500" y="978218"/>
            <a:chExt cx="5378196" cy="1084516"/>
          </a:xfrm>
        </p:grpSpPr>
        <p:sp>
          <p:nvSpPr>
            <p:cNvPr id="3" name="TextBox 3"/>
            <p:cNvSpPr txBox="1"/>
            <p:nvPr/>
          </p:nvSpPr>
          <p:spPr>
            <a:xfrm>
              <a:off x="571500" y="97821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本课路线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0456" y="17106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一百二十分钟，四关挑战，每一关都要动手验证。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5800" y="2819400"/>
            <a:ext cx="2476500" cy="1238250"/>
            <a:chOff x="685800" y="2819400"/>
            <a:chExt cx="2476500" cy="1238250"/>
          </a:xfrm>
        </p:grpSpPr>
        <p:sp>
          <p:nvSpPr>
            <p:cNvPr id="6" name="Rectangle 6"/>
            <p:cNvSpPr/>
            <p:nvPr/>
          </p:nvSpPr>
          <p:spPr>
            <a:xfrm>
              <a:off x="685800" y="2819400"/>
              <a:ext cx="247650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38200" y="29337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1823" y="30480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24356" y="30251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十题热身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6973" y="3462814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十二分钟 · 唤醒旧命令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6973" y="37104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先口答，再揭晓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467100" y="3067050"/>
            <a:ext cx="2476500" cy="1238250"/>
            <a:chOff x="3467100" y="3067050"/>
            <a:chExt cx="2476500" cy="1238250"/>
          </a:xfrm>
        </p:grpSpPr>
        <p:sp>
          <p:nvSpPr>
            <p:cNvPr id="13" name="Rectangle 13"/>
            <p:cNvSpPr/>
            <p:nvPr/>
          </p:nvSpPr>
          <p:spPr>
            <a:xfrm>
              <a:off x="3467100" y="3067050"/>
              <a:ext cx="247650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rgbClr val="FFD9A6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619500" y="318135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63123" y="32956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05656" y="32727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新命令实验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08273" y="3710464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四十三分钟 · 显隐海龟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08273" y="3958114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设置标题 · 花瓣实验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48400" y="2819400"/>
            <a:ext cx="2476500" cy="1238250"/>
            <a:chOff x="6248400" y="2819400"/>
            <a:chExt cx="2476500" cy="1238250"/>
          </a:xfrm>
        </p:grpSpPr>
        <p:sp>
          <p:nvSpPr>
            <p:cNvPr id="20" name="Rectangle 20"/>
            <p:cNvSpPr/>
            <p:nvPr/>
          </p:nvSpPr>
          <p:spPr>
            <a:xfrm>
              <a:off x="6248400" y="2819400"/>
              <a:ext cx="247650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rgbClr val="FFD0E1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6400800" y="29337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44423" y="30480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86956" y="30251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选择挑战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9573" y="34628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十分钟 · 八道题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89573" y="371046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先想，再点击揭晓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029700" y="3067050"/>
            <a:ext cx="2667000" cy="1238250"/>
            <a:chOff x="9029700" y="3067050"/>
            <a:chExt cx="2667000" cy="1238250"/>
          </a:xfrm>
        </p:grpSpPr>
        <p:sp>
          <p:nvSpPr>
            <p:cNvPr id="27" name="Rectangle 27"/>
            <p:cNvSpPr/>
            <p:nvPr/>
          </p:nvSpPr>
          <p:spPr>
            <a:xfrm>
              <a:off x="9029700" y="3067050"/>
              <a:ext cx="266700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19050">
              <a:solidFill>
                <a:srgbClr val="C8F0D4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182100" y="31813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325723" y="32956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68256" y="32727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作品工坊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70873" y="3710464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四十五分钟 · 运行修改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70873" y="39581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完成展示与复盘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181350" y="3333750"/>
            <a:ext cx="5829300" cy="266700"/>
            <a:chOff x="3181350" y="3333750"/>
            <a:chExt cx="5829300" cy="266700"/>
          </a:xfrm>
        </p:grpSpPr>
        <p:sp>
          <p:nvSpPr>
            <p:cNvPr id="34" name="Freeform 34"/>
            <p:cNvSpPr/>
            <p:nvPr/>
          </p:nvSpPr>
          <p:spPr>
            <a:xfrm>
              <a:off x="3181350" y="33337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cubicBezTo>
                    <a:pt x="152400" y="0"/>
                    <a:pt x="152400" y="266700"/>
                    <a:pt x="266700" y="266700"/>
                  </a:cubicBez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5962650" y="33337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266700"/>
                  </a:moveTo>
                  <a:cubicBezTo>
                    <a:pt x="152400" y="266700"/>
                    <a:pt x="152400" y="0"/>
                    <a:pt x="266700" y="0"/>
                  </a:cubicBez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743950" y="33337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cubicBezTo>
                    <a:pt x="152400" y="0"/>
                    <a:pt x="152400" y="266700"/>
                    <a:pt x="266700" y="266700"/>
                  </a:cubicBezTo>
                </a:path>
              </a:pathLst>
            </a:custGeom>
            <a:noFill/>
            <a:ln w="76200" cap="rnd">
              <a:solidFill>
                <a:schemeClr val="accent3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9029700" y="4629150"/>
            <a:ext cx="2667000" cy="571500"/>
            <a:chOff x="9029700" y="4629150"/>
            <a:chExt cx="2667000" cy="571500"/>
          </a:xfrm>
        </p:grpSpPr>
        <p:sp>
          <p:nvSpPr>
            <p:cNvPr id="38" name="Rectangle 38"/>
            <p:cNvSpPr/>
            <p:nvPr/>
          </p:nvSpPr>
          <p:spPr>
            <a:xfrm>
              <a:off x="9029700" y="4629150"/>
              <a:ext cx="2667000" cy="571500"/>
            </a:xfrm>
            <a:prstGeom prst="roundRect">
              <a:avLst>
                <a:gd name="adj" fmla="val 4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304579" y="482774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今天做到：可署名小红花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85800" y="4953000"/>
            <a:ext cx="7810500" cy="1066800"/>
            <a:chOff x="685800" y="4953000"/>
            <a:chExt cx="7810500" cy="1066800"/>
          </a:xfrm>
        </p:grpSpPr>
        <p:sp>
          <p:nvSpPr>
            <p:cNvPr id="41" name="Rectangle 41"/>
            <p:cNvSpPr/>
            <p:nvPr/>
          </p:nvSpPr>
          <p:spPr>
            <a:xfrm>
              <a:off x="685800" y="4953000"/>
              <a:ext cx="7810500" cy="1066800"/>
            </a:xfrm>
            <a:prstGeom prst="roundRect">
              <a:avLst>
                <a:gd name="adj" fmla="val 26786"/>
              </a:avLst>
            </a:prstGeom>
            <a:solidFill>
              <a:srgbClr val="FFFFFF">
                <a:alpha val="94000"/>
              </a:srgbClr>
            </a:solidFill>
            <a:ln w="19050">
              <a:solidFill>
                <a:srgbClr val="FFD9A6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876300" y="5143500"/>
              <a:ext cx="495300" cy="495300"/>
            </a:xfrm>
            <a:prstGeom prst="ellipse">
              <a:avLst/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87590" y="5273040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★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554480" y="51720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课堂提示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554861" y="5523071"/>
              <a:ext cx="6513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选择挑战后先保存文件，再休息十分钟；每次修改只动一处，马上运行验证。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457200" y="419100"/>
            <a:ext cx="10991850" cy="798195"/>
            <a:chOff x="457200" y="419100"/>
            <a:chExt cx="10991850" cy="798195"/>
          </a:xfrm>
        </p:grpSpPr>
        <p:sp>
          <p:nvSpPr>
            <p:cNvPr id="3" name="Rectangle 3"/>
            <p:cNvSpPr/>
            <p:nvPr/>
          </p:nvSpPr>
          <p:spPr>
            <a:xfrm>
              <a:off x="457200" y="419100"/>
              <a:ext cx="495300" cy="495300"/>
            </a:xfrm>
            <a:prstGeom prst="roundRect">
              <a:avLst>
                <a:gd name="adj" fmla="val 3461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127" y="541972"/>
              <a:ext cx="2954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26236" y="424815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今天要带走什么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54430" y="9239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看得见的五项通关能力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620250" y="457200"/>
              <a:ext cx="1828800" cy="4381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91120" y="597218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三项目标 · 两项表现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7200" y="1333500"/>
            <a:ext cx="3657600" cy="2190750"/>
            <a:chOff x="457200" y="1333500"/>
            <a:chExt cx="3657600" cy="2190750"/>
          </a:xfrm>
        </p:grpSpPr>
        <p:sp>
          <p:nvSpPr>
            <p:cNvPr id="10" name="Rectangle 10"/>
            <p:cNvSpPr/>
            <p:nvPr/>
          </p:nvSpPr>
          <p:spPr>
            <a:xfrm>
              <a:off x="45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647700" y="15430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9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综合旧命令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6280" y="2181225"/>
              <a:ext cx="23273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移动 · 转向 · 循环 · 坐标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2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2980" y="28860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72B8"/>
                  </a:solidFill>
                  <a:latin typeface="+mn-lt"/>
                  <a:ea typeface="+mn-ea"/>
                  <a:cs typeface="+mn-cs"/>
                </a:rPr>
                <a:t>颜色、填充和圆也能组合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67200" y="1333500"/>
            <a:ext cx="3657600" cy="2190750"/>
            <a:chOff x="4267200" y="1333500"/>
            <a:chExt cx="3657600" cy="2190750"/>
          </a:xfrm>
        </p:grpSpPr>
        <p:sp>
          <p:nvSpPr>
            <p:cNvPr id="18" name="Rectangle 18"/>
            <p:cNvSpPr/>
            <p:nvPr/>
          </p:nvSpPr>
          <p:spPr>
            <a:xfrm>
              <a:off x="426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9A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457700" y="154305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2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0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认识新命令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6661" y="2189321"/>
              <a:ext cx="28532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A6B80"/>
                  </a:solidFill>
                  <a:latin typeface="Consolas"/>
                  <a:ea typeface="Consolas"/>
                  <a:cs typeface="Consolas"/>
                </a:rPr>
                <a:t>showturtle() · hideturtle()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3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92980" y="2886075"/>
              <a:ext cx="15701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96800"/>
                  </a:solidFill>
                  <a:latin typeface="Consolas"/>
                  <a:ea typeface="Consolas"/>
                  <a:cs typeface="Consolas"/>
                </a:rPr>
                <a:t>screen.title()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77200" y="1333500"/>
            <a:ext cx="3657600" cy="2190750"/>
            <a:chOff x="8077200" y="1333500"/>
            <a:chExt cx="3657600" cy="2190750"/>
          </a:xfrm>
        </p:grpSpPr>
        <p:sp>
          <p:nvSpPr>
            <p:cNvPr id="26" name="Rectangle 26"/>
            <p:cNvSpPr/>
            <p:nvPr/>
          </p:nvSpPr>
          <p:spPr>
            <a:xfrm>
              <a:off x="807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0E1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267700" y="154305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3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1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完成小红花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36280" y="2181225"/>
              <a:ext cx="169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花瓣 · 花心 · 花茎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4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980" y="2886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83E68"/>
                  </a:solidFill>
                  <a:latin typeface="+mn-lt"/>
                  <a:ea typeface="+mn-ea"/>
                  <a:cs typeface="+mn-cs"/>
                </a:rPr>
                <a:t>能运行，也能说明修改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57200" y="3810000"/>
            <a:ext cx="3657600" cy="2190750"/>
            <a:chOff x="457200" y="3810000"/>
            <a:chExt cx="3657600" cy="2190750"/>
          </a:xfrm>
        </p:grpSpPr>
        <p:sp>
          <p:nvSpPr>
            <p:cNvPr id="34" name="Rectangle 34"/>
            <p:cNvSpPr/>
            <p:nvPr/>
          </p:nvSpPr>
          <p:spPr>
            <a:xfrm>
              <a:off x="45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47700" y="40195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0373" y="4152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91006" y="41300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会小步测试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6280" y="46577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一次只改一处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23900" y="52006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82980" y="53625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7A45"/>
                  </a:solidFill>
                  <a:latin typeface="+mn-lt"/>
                  <a:ea typeface="+mn-ea"/>
                  <a:cs typeface="+mn-cs"/>
                </a:rPr>
                <a:t>改完马上运行验证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267200" y="3810000"/>
            <a:ext cx="3657600" cy="2190750"/>
            <a:chOff x="4267200" y="3810000"/>
            <a:chExt cx="3657600" cy="2190750"/>
          </a:xfrm>
        </p:grpSpPr>
        <p:sp>
          <p:nvSpPr>
            <p:cNvPr id="42" name="Rectangle 42"/>
            <p:cNvSpPr/>
            <p:nvPr/>
          </p:nvSpPr>
          <p:spPr>
            <a:xfrm>
              <a:off x="426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9A6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4457700" y="401955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20373" y="4152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01006" y="41300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会保存与展示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26280" y="46577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作品有名字，作者有说明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533900" y="52006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93742" y="537876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96800"/>
                  </a:solidFill>
                  <a:latin typeface="Consolas"/>
                  <a:ea typeface="Consolas"/>
                  <a:cs typeface="Consolas"/>
                </a:rPr>
                <a:t>lesson06_red_flower.py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077200" y="3810000"/>
            <a:ext cx="3657600" cy="2190750"/>
            <a:chOff x="8077200" y="3810000"/>
            <a:chExt cx="3657600" cy="2190750"/>
          </a:xfrm>
        </p:grpSpPr>
        <p:sp>
          <p:nvSpPr>
            <p:cNvPr id="50" name="Rectangle 50"/>
            <p:cNvSpPr/>
            <p:nvPr/>
          </p:nvSpPr>
          <p:spPr>
            <a:xfrm>
              <a:off x="807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2DC"/>
            </a:solidFill>
            <a:ln w="19050">
              <a:solidFill>
                <a:srgbClr val="FFD9A6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8229600" y="4000500"/>
              <a:ext cx="533400" cy="533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55140" y="4142422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★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50249" y="417337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96800"/>
                  </a:solidFill>
                  <a:latin typeface="+mn-lt"/>
                  <a:ea typeface="+mn-ea"/>
                  <a:cs typeface="+mn-cs"/>
                </a:rPr>
                <a:t>通关标准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37042" y="4712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能运行：没有报错；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37042" y="50168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有结构：花瓣、花心、花茎；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37042" y="53216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会解释：说清自己改了哪里。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457200" y="419100"/>
            <a:ext cx="10991850" cy="798195"/>
            <a:chOff x="457200" y="419100"/>
            <a:chExt cx="10991850" cy="798195"/>
          </a:xfrm>
        </p:grpSpPr>
        <p:sp>
          <p:nvSpPr>
            <p:cNvPr id="3" name="Rectangle 3"/>
            <p:cNvSpPr/>
            <p:nvPr/>
          </p:nvSpPr>
          <p:spPr>
            <a:xfrm>
              <a:off x="457200" y="419100"/>
              <a:ext cx="495300" cy="495300"/>
            </a:xfrm>
            <a:prstGeom prst="roundRect">
              <a:avLst>
                <a:gd name="adj" fmla="val 3461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5769" y="5676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26236" y="424815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十题热身赛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54430" y="9239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五盒旧积木，马上开始抢答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620250" y="457200"/>
              <a:ext cx="1828800" cy="4381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81989" y="597218"/>
              <a:ext cx="1505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96800"/>
                  </a:solidFill>
                  <a:latin typeface="+mn-lt"/>
                  <a:ea typeface="+mn-ea"/>
                  <a:cs typeface="+mn-cs"/>
                </a:rPr>
                <a:t>第一站 · 十二分钟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7200" y="1333500"/>
            <a:ext cx="3657600" cy="2190750"/>
            <a:chOff x="457200" y="1333500"/>
            <a:chExt cx="3657600" cy="2190750"/>
          </a:xfrm>
        </p:grpSpPr>
        <p:sp>
          <p:nvSpPr>
            <p:cNvPr id="10" name="Rectangle 10"/>
            <p:cNvSpPr/>
            <p:nvPr/>
          </p:nvSpPr>
          <p:spPr>
            <a:xfrm>
              <a:off x="45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647700" y="15430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9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移动与转向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6280" y="2181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让海龟走起来、转起来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2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2980" y="2886075"/>
              <a:ext cx="20143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72B8"/>
                  </a:solidFill>
                  <a:latin typeface="Consolas"/>
                  <a:ea typeface="Consolas"/>
                  <a:cs typeface="Consolas"/>
                </a:rPr>
                <a:t>forward() · left()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67200" y="1333500"/>
            <a:ext cx="3657600" cy="2190750"/>
            <a:chOff x="4267200" y="1333500"/>
            <a:chExt cx="3657600" cy="2190750"/>
          </a:xfrm>
        </p:grpSpPr>
        <p:sp>
          <p:nvSpPr>
            <p:cNvPr id="18" name="Rectangle 18"/>
            <p:cNvSpPr/>
            <p:nvPr/>
          </p:nvSpPr>
          <p:spPr>
            <a:xfrm>
              <a:off x="426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9A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457700" y="154305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2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0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循环与次数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6280" y="2181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把同一组动作重复执行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3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92980" y="288607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96800"/>
                  </a:solidFill>
                  <a:latin typeface="Consolas"/>
                  <a:ea typeface="Consolas"/>
                  <a:cs typeface="Consolas"/>
                </a:rPr>
                <a:t>for · range()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77200" y="1333500"/>
            <a:ext cx="3657600" cy="2190750"/>
            <a:chOff x="8077200" y="1333500"/>
            <a:chExt cx="3657600" cy="2190750"/>
          </a:xfrm>
        </p:grpSpPr>
        <p:sp>
          <p:nvSpPr>
            <p:cNvPr id="26" name="Rectangle 26"/>
            <p:cNvSpPr/>
            <p:nvPr/>
          </p:nvSpPr>
          <p:spPr>
            <a:xfrm>
              <a:off x="8077200" y="13335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FFD0E1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267700" y="154305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3037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11006" y="1653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坐标与回家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36280" y="2181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去指定位置或回到原点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43900" y="27241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980" y="2886075"/>
              <a:ext cx="16811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83E68"/>
                  </a:solidFill>
                  <a:latin typeface="Consolas"/>
                  <a:ea typeface="Consolas"/>
                  <a:cs typeface="Consolas"/>
                </a:rPr>
                <a:t>goto() · home()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57200" y="3810000"/>
            <a:ext cx="3657600" cy="2190750"/>
            <a:chOff x="457200" y="3810000"/>
            <a:chExt cx="3657600" cy="2190750"/>
          </a:xfrm>
        </p:grpSpPr>
        <p:sp>
          <p:nvSpPr>
            <p:cNvPr id="34" name="Rectangle 34"/>
            <p:cNvSpPr/>
            <p:nvPr/>
          </p:nvSpPr>
          <p:spPr>
            <a:xfrm>
              <a:off x="45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rgbClr val="C8F0D4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47700" y="4019550"/>
              <a:ext cx="457200" cy="4572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0373" y="4152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91006" y="41300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颜色与填充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6280" y="46577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给线条和封闭图形上色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23900" y="52006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83742" y="537876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A45"/>
                  </a:solidFill>
                  <a:latin typeface="Consolas"/>
                  <a:ea typeface="Consolas"/>
                  <a:cs typeface="Consolas"/>
                </a:rPr>
                <a:t>color() · begin_fill()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267200" y="3810000"/>
            <a:ext cx="3657600" cy="2190750"/>
            <a:chOff x="4267200" y="3810000"/>
            <a:chExt cx="3657600" cy="2190750"/>
          </a:xfrm>
        </p:grpSpPr>
        <p:sp>
          <p:nvSpPr>
            <p:cNvPr id="42" name="Rectangle 42"/>
            <p:cNvSpPr/>
            <p:nvPr/>
          </p:nvSpPr>
          <p:spPr>
            <a:xfrm>
              <a:off x="426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4457700" y="40195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20373" y="41529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01006" y="4130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背景与圆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26280" y="46577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设置舞台，再画出圆形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533900" y="5200650"/>
              <a:ext cx="3124200" cy="495300"/>
            </a:xfrm>
            <a:prstGeom prst="roundRect">
              <a:avLst>
                <a:gd name="adj" fmla="val 346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93742" y="53787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072B8"/>
                  </a:solidFill>
                  <a:latin typeface="Consolas"/>
                  <a:ea typeface="Consolas"/>
                  <a:cs typeface="Consolas"/>
                </a:rPr>
                <a:t>bgcolor() · circle()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077200" y="3810000"/>
            <a:ext cx="3657600" cy="2190750"/>
            <a:chOff x="8077200" y="3810000"/>
            <a:chExt cx="3657600" cy="2190750"/>
          </a:xfrm>
        </p:grpSpPr>
        <p:sp>
          <p:nvSpPr>
            <p:cNvPr id="50" name="Rectangle 50"/>
            <p:cNvSpPr/>
            <p:nvPr/>
          </p:nvSpPr>
          <p:spPr>
            <a:xfrm>
              <a:off x="8077200" y="3810000"/>
              <a:ext cx="3657600" cy="2190750"/>
            </a:xfrm>
            <a:prstGeom prst="roundRect">
              <a:avLst>
                <a:gd name="adj" fmla="val 13043"/>
              </a:avLst>
            </a:prstGeom>
            <a:solidFill>
              <a:srgbClr val="FFF2DC"/>
            </a:solidFill>
            <a:ln w="19050">
              <a:solidFill>
                <a:srgbClr val="FFD9A6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8229600" y="4000500"/>
              <a:ext cx="533400" cy="533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55140" y="4142422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★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50249" y="417337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96800"/>
                  </a:solidFill>
                  <a:latin typeface="+mn-lt"/>
                  <a:ea typeface="+mn-ea"/>
                  <a:cs typeface="+mn-cs"/>
                </a:rPr>
                <a:t>热身玩法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37042" y="4712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先口答，再点击揭晓；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37042" y="50168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答错不扣分，马上完整修正；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37042" y="53216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B80"/>
                  </a:solidFill>
                  <a:latin typeface="+mn-lt"/>
                  <a:ea typeface="+mn-ea"/>
                  <a:cs typeface="+mn-cs"/>
                </a:rPr>
                <a:t>十颗星，十次唤醒记忆。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先想，再亮答案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3041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快不是唯一目标，能说出“为什么”才算过关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课前复习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P05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9334500" y="247650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10191750" y="2238375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9810750" y="314325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10668000" y="3095625"/>
            <a:ext cx="704850" cy="704850"/>
          </a:xfrm>
          <a:prstGeom prst="roundRect">
            <a:avLst>
              <a:gd name="adj" fmla="val 24324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075" y="1759744"/>
            <a:ext cx="285550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听清题目，先自己想 3 秒</a:t>
            </a:r>
          </a:p>
        </p:txBody>
      </p:sp>
      <p:sp>
        <p:nvSpPr>
          <p:cNvPr id="20" name="Ellipse 20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075" y="2597944"/>
            <a:ext cx="338508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用口答 / 手势 / 小白板亮答案</a:t>
            </a:r>
          </a:p>
        </p:txBody>
      </p:sp>
      <p:sp>
        <p:nvSpPr>
          <p:cNvPr id="23" name="Ellipse 23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075" y="3436144"/>
            <a:ext cx="356224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点击揭晓：答案和解释一起出现</a:t>
            </a:r>
          </a:p>
        </p:txBody>
      </p:sp>
      <p:sp>
        <p:nvSpPr>
          <p:cNvPr id="26" name="Ellipse 26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62075" y="4274344"/>
            <a:ext cx="381533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答错不扣分，马上用完整句子修正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7682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1–2 · 起步命令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P06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1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2739898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导入海龟模块怎么写？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23900" y="3429000"/>
            <a:ext cx="5010150" cy="1066800"/>
            <a:chOff x="723900" y="3429000"/>
            <a:chExt cx="50101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72390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3638550"/>
              <a:ext cx="14146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import turtle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685" y="3993356"/>
              <a:ext cx="1953006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先导入 turtle 模块，后面才能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使用海龟命令。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7380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2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2467966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向前走用什么命令？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457950" y="3429000"/>
            <a:ext cx="5010150" cy="1066800"/>
            <a:chOff x="6457950" y="3429000"/>
            <a:chExt cx="5010150" cy="1066800"/>
          </a:xfrm>
        </p:grpSpPr>
        <p:sp>
          <p:nvSpPr>
            <p:cNvPr id="37" name="Rectangle 37"/>
            <p:cNvSpPr/>
            <p:nvPr/>
          </p:nvSpPr>
          <p:spPr>
            <a:xfrm>
              <a:off x="645795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0830" y="3638550"/>
              <a:ext cx="11071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forward()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42735" y="3993356"/>
              <a:ext cx="192455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forward() 让当前海龟沿朝向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前进。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7682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3–4 · 重复动作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P07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3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3011830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重复动作使用什么结构？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23900" y="3429000"/>
            <a:ext cx="5010150" cy="1066800"/>
            <a:chOff x="723900" y="3429000"/>
            <a:chExt cx="50101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72390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3638550"/>
              <a:ext cx="832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for 循环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685" y="3993356"/>
              <a:ext cx="1963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for 把同一组动作重复执行。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7380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4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2467966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循环次数写在哪里？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457950" y="3429000"/>
            <a:ext cx="5010150" cy="1066800"/>
            <a:chOff x="6457950" y="3429000"/>
            <a:chExt cx="5010150" cy="1066800"/>
          </a:xfrm>
        </p:grpSpPr>
        <p:sp>
          <p:nvSpPr>
            <p:cNvPr id="37" name="Rectangle 37"/>
            <p:cNvSpPr/>
            <p:nvPr/>
          </p:nvSpPr>
          <p:spPr>
            <a:xfrm>
              <a:off x="645795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0830" y="3638550"/>
              <a:ext cx="10970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range() 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42735" y="3993356"/>
              <a:ext cx="2144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range() 决定循环执行多少次。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7682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5–6 · 位置导航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P08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5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3011830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移动到指定坐标用什么？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23900" y="3429000"/>
            <a:ext cx="5010150" cy="1066800"/>
            <a:chOff x="723900" y="3429000"/>
            <a:chExt cx="50101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72390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3638550"/>
              <a:ext cx="19769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goto() 或 setpos()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685" y="3993356"/>
              <a:ext cx="157607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goto()/setpos() 都能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把海龟移动到指定坐标。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7380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6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2196033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回到中心用什么？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457950" y="3429000"/>
            <a:ext cx="5010150" cy="1066800"/>
            <a:chOff x="6457950" y="3429000"/>
            <a:chExt cx="5010150" cy="1066800"/>
          </a:xfrm>
        </p:grpSpPr>
        <p:sp>
          <p:nvSpPr>
            <p:cNvPr id="37" name="Rectangle 37"/>
            <p:cNvSpPr/>
            <p:nvPr/>
          </p:nvSpPr>
          <p:spPr>
            <a:xfrm>
              <a:off x="645795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0830" y="3638550"/>
              <a:ext cx="7573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home()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42735" y="3993356"/>
              <a:ext cx="20921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home() 让海龟回到中心位置。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17206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7–8 · 颜色与填充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P09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7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2739898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设置线条颜色用什么？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23900" y="3429000"/>
            <a:ext cx="5010150" cy="1066800"/>
            <a:chOff x="723900" y="3429000"/>
            <a:chExt cx="50101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72390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3638550"/>
              <a:ext cx="2220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pencolor() 或 color()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685" y="3993356"/>
              <a:ext cx="1632966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pencolor 专管线条；colo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 也能设置颜色。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7380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8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3827628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开始和结束填充是哪两个命令？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457950" y="3429000"/>
            <a:ext cx="5010150" cy="1066800"/>
            <a:chOff x="6457950" y="3429000"/>
            <a:chExt cx="5010150" cy="1066800"/>
          </a:xfrm>
        </p:grpSpPr>
        <p:sp>
          <p:nvSpPr>
            <p:cNvPr id="37" name="Rectangle 37"/>
            <p:cNvSpPr/>
            <p:nvPr/>
          </p:nvSpPr>
          <p:spPr>
            <a:xfrm>
              <a:off x="645795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0830" y="3638550"/>
              <a:ext cx="24535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begin_fill() / end_fill()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42735" y="399335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开始与结束必须成对包住要填充的图形。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001433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热身 9–10 · 背景与圆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210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先独立想，再点击揭晓；答案和“为什么”一起出现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热身抢答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P10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9753" y="1661160"/>
            <a:ext cx="5303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 9 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613" y="2019776"/>
            <a:ext cx="2467966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设置背景色用什么？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754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54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5369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23900" y="4762500"/>
            <a:ext cx="2000250" cy="400050"/>
            <a:chOff x="723900" y="4762500"/>
            <a:chExt cx="2000250" cy="400050"/>
          </a:xfrm>
        </p:grpSpPr>
        <p:sp>
          <p:nvSpPr>
            <p:cNvPr id="20" name="Rectangle 20"/>
            <p:cNvSpPr/>
            <p:nvPr/>
          </p:nvSpPr>
          <p:spPr>
            <a:xfrm>
              <a:off x="72390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23900" y="3429000"/>
            <a:ext cx="5010150" cy="1066800"/>
            <a:chOff x="723900" y="3429000"/>
            <a:chExt cx="50101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72390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3638550"/>
              <a:ext cx="20702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Screen().bgcolor()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685" y="3993356"/>
              <a:ext cx="1929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背景属于图形窗口 Screen。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6191250" y="1314450"/>
            <a:ext cx="5543550" cy="43338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38900" y="1524000"/>
            <a:ext cx="120015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27157" y="1661160"/>
            <a:ext cx="6236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 10 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7663" y="2019776"/>
            <a:ext cx="2467966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画圆常用什么命令？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57950" y="3429000"/>
            <a:ext cx="5010150" cy="1066800"/>
          </a:xfrm>
          <a:prstGeom prst="roundRect">
            <a:avLst>
              <a:gd name="adj" fmla="val 19643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41592" y="36452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先说你的答案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41592" y="40071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再点击下方按钮揭晓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57950" y="4762500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87743" y="48834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点击揭晓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57950" y="4762500"/>
            <a:ext cx="2000250" cy="400050"/>
            <a:chOff x="6457950" y="4762500"/>
            <a:chExt cx="2000250" cy="400050"/>
          </a:xfrm>
        </p:grpSpPr>
        <p:sp>
          <p:nvSpPr>
            <p:cNvPr id="35" name="Rectangle 35"/>
            <p:cNvSpPr/>
            <p:nvPr/>
          </p:nvSpPr>
          <p:spPr>
            <a:xfrm>
              <a:off x="6457950" y="4762500"/>
              <a:ext cx="200025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457950" y="3429000"/>
            <a:ext cx="5010150" cy="1066800"/>
            <a:chOff x="6457950" y="3429000"/>
            <a:chExt cx="5010150" cy="1066800"/>
          </a:xfrm>
        </p:grpSpPr>
        <p:sp>
          <p:nvSpPr>
            <p:cNvPr id="37" name="Rectangle 37"/>
            <p:cNvSpPr/>
            <p:nvPr/>
          </p:nvSpPr>
          <p:spPr>
            <a:xfrm>
              <a:off x="6457950" y="3429000"/>
              <a:ext cx="5010150" cy="1066800"/>
            </a:xfrm>
            <a:prstGeom prst="roundRect">
              <a:avLst>
                <a:gd name="adj" fmla="val 1964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0830" y="3638550"/>
              <a:ext cx="8421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circle()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42735" y="3993356"/>
              <a:ext cx="1227582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circle() 是 Turtle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常用的画圆命令。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送你一朵小红花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51823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驱动问题：怎样综合使用海龟命令，为同学画一朵会旋转的彩色花？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项目启动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P11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E2ED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9773603" y="2372678"/>
            <a:ext cx="1598294" cy="2454116"/>
            <a:chOff x="9773603" y="2372678"/>
            <a:chExt cx="1598294" cy="2454116"/>
          </a:xfrm>
        </p:grpSpPr>
        <p:sp>
          <p:nvSpPr>
            <p:cNvPr id="13" name="Ellipse 13"/>
            <p:cNvSpPr/>
            <p:nvPr/>
          </p:nvSpPr>
          <p:spPr>
            <a:xfrm>
              <a:off x="10200322" y="2372678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0627042" y="2619375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0627042" y="3112770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200322" y="3359468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773603" y="3112770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9773603" y="2619375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0353675" y="3019425"/>
              <a:ext cx="438150" cy="438150"/>
            </a:xfrm>
            <a:prstGeom prst="ellipse">
              <a:avLst/>
            </a:prstGeom>
            <a:solidFill>
              <a:srgbClr val="FFE26A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572750" y="3457575"/>
              <a:ext cx="9525" cy="1369219"/>
            </a:xfrm>
            <a:custGeom>
              <a:avLst/>
              <a:gdLst/>
              <a:ahLst/>
              <a:cxnLst/>
              <a:rect l="l" t="t" r="r" b="b"/>
              <a:pathLst>
                <a:path w="9525" h="1369219">
                  <a:moveTo>
                    <a:pt x="0" y="0"/>
                  </a:moveTo>
                  <a:lnTo>
                    <a:pt x="0" y="1369219"/>
                  </a:lnTo>
                </a:path>
              </a:pathLst>
            </a:custGeom>
            <a:noFill/>
            <a:ln w="87630" cap="rnd">
              <a:solidFill>
                <a:srgbClr val="22C55E"/>
              </a:solidFill>
            </a:ln>
          </p:spPr>
        </p:sp>
      </p:grpSp>
      <p:sp>
        <p:nvSpPr>
          <p:cNvPr id="22" name="Ellipse 22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62075" y="1759744"/>
            <a:ext cx="5373076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最终成果：可展示、可署名的“小红花”单元作品</a:t>
            </a:r>
          </a:p>
        </p:txBody>
      </p:sp>
      <p:sp>
        <p:nvSpPr>
          <p:cNvPr id="25" name="Ellipse 25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62075" y="2597944"/>
            <a:ext cx="287891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花瓣：循环 + 颜色 + 填充</a:t>
            </a:r>
          </a:p>
        </p:txBody>
      </p:sp>
      <p:sp>
        <p:nvSpPr>
          <p:cNvPr id="28" name="Ellipse 28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62075" y="3436144"/>
            <a:ext cx="354959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花心与花茎：dot + 方向 + 粗线</a:t>
            </a:r>
          </a:p>
        </p:txBody>
      </p:sp>
      <p:sp>
        <p:nvSpPr>
          <p:cNvPr id="31" name="Ellipse 31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2075" y="4274344"/>
            <a:ext cx="4827676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最后：隐藏海龟、保存并向同伴说出修改点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做完，还要能讲出来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4253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先看清成功标准，再开始写代码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项目启动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P12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714500"/>
            <a:ext cx="3524250" cy="295275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57200" y="1714500"/>
            <a:ext cx="95250" cy="29527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647700" y="190500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97915" y="20450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0625" y="1988344"/>
            <a:ext cx="77830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能运行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5711" y="2398871"/>
            <a:ext cx="2178558" cy="5644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基础版能够完整运行，没有</a:t>
            </a:r>
            <a:br/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因为拼写或缩进中断。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210050" y="1714500"/>
            <a:ext cx="3524250" cy="295275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210050" y="1714500"/>
            <a:ext cx="95250" cy="295275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4400550" y="190500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550765" y="20450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43475" y="1988344"/>
            <a:ext cx="77830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够完整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88561" y="2398871"/>
            <a:ext cx="2178558" cy="5644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作品包含花瓣、花心、花茎</a:t>
            </a:r>
            <a:br/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三个部分。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962900" y="1714500"/>
            <a:ext cx="3524250" cy="295275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7962900" y="1714500"/>
            <a:ext cx="95250" cy="29527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8153400" y="190500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303615" y="20450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96325" y="1988344"/>
            <a:ext cx="77830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说得清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41411" y="2398871"/>
            <a:ext cx="2178558" cy="5644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能指出自己修改的一处内容</a:t>
            </a:r>
            <a:br/>
            <a:r>
              <a: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，并解释变化。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57200" y="5010150"/>
            <a:ext cx="10972800" cy="800100"/>
          </a:xfrm>
          <a:prstGeom prst="roundRect">
            <a:avLst>
              <a:gd name="adj" fmla="val 28571"/>
            </a:avLst>
          </a:prstGeom>
          <a:solidFill>
            <a:srgbClr val="E9FBEF"/>
          </a:solidFill>
          <a:ln w="19050">
            <a:solidFill>
              <a:srgbClr val="22C55E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2811306" y="5292090"/>
            <a:ext cx="626458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2C55E"/>
                </a:solidFill>
                <a:latin typeface="+mn-lt"/>
                <a:ea typeface="+mn-ea"/>
                <a:cs typeface="+mn-cs"/>
              </a:rPr>
              <a:t>通关口令：先跑通基础版 → 再只改 1–2 项 → 最后展示说明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1408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② 新命令小实验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9761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每讲一个命令，马上运行一次；不要连续听讲不验证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P13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0" y="2000759"/>
            <a:ext cx="2286000" cy="2856481"/>
          </a:xfrm>
          <a:prstGeom prst="rect">
            <a:avLst/>
          </a:prstGeom>
        </p:spPr>
      </p:pic>
      <p:sp>
        <p:nvSpPr>
          <p:cNvPr id="14" name="Ellipse 14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2075" y="1759744"/>
            <a:ext cx="3531245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showturtle()：让小海龟上场</a:t>
            </a:r>
          </a:p>
        </p:txBody>
      </p:sp>
      <p:sp>
        <p:nvSpPr>
          <p:cNvPr id="17" name="Ellipse 17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075" y="2597944"/>
            <a:ext cx="4599899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hideturtle()：作品完成后让小海龟退场</a:t>
            </a:r>
          </a:p>
        </p:txBody>
      </p:sp>
      <p:sp>
        <p:nvSpPr>
          <p:cNvPr id="20" name="Ellipse 20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075" y="3436144"/>
            <a:ext cx="411903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screen.title()：给图形窗口起名字</a:t>
            </a:r>
          </a:p>
        </p:txBody>
      </p:sp>
      <p:sp>
        <p:nvSpPr>
          <p:cNvPr id="23" name="Ellipse 23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075" y="4274344"/>
            <a:ext cx="381533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小步测试：只改一处，再运行一次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把命令放回四盒彩卡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0385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想不起来命令时，先问：我现在要做哪一类动作？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524000"/>
            <a:ext cx="5334000" cy="1714500"/>
          </a:xfrm>
          <a:prstGeom prst="roundRect">
            <a:avLst>
              <a:gd name="adj" fmla="val 15556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723900" y="184785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93165" y="20069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22832" y="1906905"/>
            <a:ext cx="5867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移动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25880" y="2466975"/>
            <a:ext cx="201434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forward() · left()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076950" y="1524000"/>
            <a:ext cx="5334000" cy="1714500"/>
          </a:xfrm>
          <a:prstGeom prst="roundRect">
            <a:avLst>
              <a:gd name="adj" fmla="val 15556"/>
            </a:avLst>
          </a:prstGeom>
          <a:solidFill>
            <a:srgbClr val="FFF2DC"/>
          </a:solidFill>
          <a:ln w="19050">
            <a:solidFill>
              <a:schemeClr val="accent2"/>
            </a:solidFill>
          </a:ln>
        </p:spPr>
      </p:sp>
      <p:sp>
        <p:nvSpPr>
          <p:cNvPr id="17" name="Ellipse 17"/>
          <p:cNvSpPr/>
          <p:nvPr/>
        </p:nvSpPr>
        <p:spPr>
          <a:xfrm>
            <a:off x="6343650" y="184785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512915" y="20069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42582" y="1906905"/>
            <a:ext cx="5867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重复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45630" y="2466975"/>
            <a:ext cx="1459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for · range()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57200" y="3619500"/>
            <a:ext cx="5334000" cy="1714500"/>
          </a:xfrm>
          <a:prstGeom prst="roundRect">
            <a:avLst>
              <a:gd name="adj" fmla="val 15556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sp>
        <p:nvSpPr>
          <p:cNvPr id="22" name="Ellipse 22"/>
          <p:cNvSpPr/>
          <p:nvPr/>
        </p:nvSpPr>
        <p:spPr>
          <a:xfrm>
            <a:off x="723900" y="394335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93165" y="41024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22832" y="4002405"/>
            <a:ext cx="5867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位置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5880" y="4562475"/>
            <a:ext cx="334708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3"/>
                </a:solidFill>
                <a:latin typeface="Consolas"/>
                <a:ea typeface="Consolas"/>
                <a:cs typeface="Consolas"/>
              </a:rPr>
              <a:t>goto() · home() · setheading()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076950" y="3619500"/>
            <a:ext cx="5334000" cy="1714500"/>
          </a:xfrm>
          <a:prstGeom prst="roundRect">
            <a:avLst>
              <a:gd name="adj" fmla="val 15556"/>
            </a:avLst>
          </a:prstGeom>
          <a:solidFill>
            <a:srgbClr val="E9FBEF"/>
          </a:solidFill>
          <a:ln w="19050">
            <a:solidFill>
              <a:srgbClr val="22C55E"/>
            </a:solidFill>
          </a:ln>
        </p:spPr>
      </p:sp>
      <p:sp>
        <p:nvSpPr>
          <p:cNvPr id="27" name="Ellipse 27"/>
          <p:cNvSpPr/>
          <p:nvPr/>
        </p:nvSpPr>
        <p:spPr>
          <a:xfrm>
            <a:off x="6343650" y="394335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512915" y="41024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42582" y="4002405"/>
            <a:ext cx="5867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装饰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945630" y="4562475"/>
            <a:ext cx="290283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color() · fill · bgcolor()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74902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小海龟：上场 / 退场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1145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显示方便观察，完成后隐藏让作品更整洁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P15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524000"/>
            <a:ext cx="5334000" cy="3810000"/>
          </a:xfrm>
          <a:prstGeom prst="roundRect">
            <a:avLst>
              <a:gd name="adj" fmla="val 7500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grpSp>
        <p:nvGrpSpPr>
          <p:cNvPr id="21" name="Group 21"/>
          <p:cNvGrpSpPr/>
          <p:nvPr/>
        </p:nvGrpSpPr>
        <p:grpSpPr>
          <a:xfrm>
            <a:off x="2419350" y="2076450"/>
            <a:ext cx="1704975" cy="1847850"/>
            <a:chOff x="2419350" y="2076450"/>
            <a:chExt cx="1704975" cy="1847850"/>
          </a:xfrm>
        </p:grpSpPr>
        <p:sp>
          <p:nvSpPr>
            <p:cNvPr id="12" name="Line 12"/>
            <p:cNvSpPr/>
            <p:nvPr/>
          </p:nvSpPr>
          <p:spPr>
            <a:xfrm>
              <a:off x="3143250" y="3181350"/>
              <a:ext cx="9525" cy="742950"/>
            </a:xfrm>
            <a:custGeom>
              <a:avLst/>
              <a:gdLst/>
              <a:ahLst/>
              <a:cxnLst/>
              <a:rect l="l" t="t" r="r" b="b"/>
              <a:pathLst>
                <a:path w="9525" h="742950">
                  <a:moveTo>
                    <a:pt x="0" y="0"/>
                  </a:moveTo>
                  <a:lnTo>
                    <a:pt x="0" y="742950"/>
                  </a:lnTo>
                </a:path>
              </a:pathLst>
            </a:custGeom>
            <a:noFill/>
            <a:ln w="76200" cap="rnd">
              <a:solidFill>
                <a:srgbClr val="22C55E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2819400" y="20764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219450" y="23050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219450" y="27622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819400" y="29908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419350" y="27622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2419350" y="23050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914650" y="2628900"/>
              <a:ext cx="457200" cy="457200"/>
            </a:xfrm>
            <a:prstGeom prst="ellipse">
              <a:avLst/>
            </a:prstGeom>
            <a:solidFill>
              <a:srgbClr val="FFE26A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895725" y="2839818"/>
              <a:ext cx="228600" cy="197973"/>
            </a:xfrm>
            <a:custGeom>
              <a:avLst/>
              <a:gdLst/>
              <a:ahLst/>
              <a:cxnLst/>
              <a:rect l="l" t="t" r="r" b="b"/>
              <a:pathLst>
                <a:path w="228600" h="197973">
                  <a:moveTo>
                    <a:pt x="114300" y="0"/>
                  </a:moveTo>
                  <a:lnTo>
                    <a:pt x="0" y="197973"/>
                  </a:lnTo>
                  <a:lnTo>
                    <a:pt x="228600" y="197973"/>
                  </a:lnTo>
                  <a:close/>
                </a:path>
              </a:pathLst>
            </a:custGeom>
            <a:solidFill>
              <a:srgbClr val="22C55E"/>
            </a:solidFill>
            <a:ln w="19050">
              <a:solidFill>
                <a:srgbClr val="168A43"/>
              </a:solidFill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2044179" y="3773805"/>
            <a:ext cx="219814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t.showturtle()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579560" y="4260532"/>
            <a:ext cx="11273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显示小海龟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400800" y="1524000"/>
            <a:ext cx="5334000" cy="3810000"/>
          </a:xfrm>
          <a:prstGeom prst="roundRect">
            <a:avLst>
              <a:gd name="adj" fmla="val 7500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grpSp>
        <p:nvGrpSpPr>
          <p:cNvPr id="33" name="Group 33"/>
          <p:cNvGrpSpPr/>
          <p:nvPr/>
        </p:nvGrpSpPr>
        <p:grpSpPr>
          <a:xfrm>
            <a:off x="8343900" y="2076450"/>
            <a:ext cx="1447800" cy="1847850"/>
            <a:chOff x="8343900" y="2076450"/>
            <a:chExt cx="1447800" cy="1847850"/>
          </a:xfrm>
        </p:grpSpPr>
        <p:sp>
          <p:nvSpPr>
            <p:cNvPr id="25" name="Line 25"/>
            <p:cNvSpPr/>
            <p:nvPr/>
          </p:nvSpPr>
          <p:spPr>
            <a:xfrm>
              <a:off x="9067800" y="3181350"/>
              <a:ext cx="9525" cy="742950"/>
            </a:xfrm>
            <a:custGeom>
              <a:avLst/>
              <a:gdLst/>
              <a:ahLst/>
              <a:cxnLst/>
              <a:rect l="l" t="t" r="r" b="b"/>
              <a:pathLst>
                <a:path w="9525" h="742950">
                  <a:moveTo>
                    <a:pt x="0" y="0"/>
                  </a:moveTo>
                  <a:lnTo>
                    <a:pt x="0" y="742950"/>
                  </a:lnTo>
                </a:path>
              </a:pathLst>
            </a:custGeom>
            <a:noFill/>
            <a:ln w="76200" cap="rnd">
              <a:solidFill>
                <a:srgbClr val="22C55E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743950" y="20764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9144000" y="23050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144000" y="27622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8743950" y="29908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8343900" y="27622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343900" y="2305050"/>
              <a:ext cx="647700" cy="647700"/>
            </a:xfrm>
            <a:prstGeom prst="ellipse">
              <a:avLst/>
            </a:prstGeom>
            <a:solidFill>
              <a:srgbClr val="FFB9D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839200" y="2628900"/>
              <a:ext cx="457200" cy="457200"/>
            </a:xfrm>
            <a:prstGeom prst="ellipse">
              <a:avLst/>
            </a:prstGeom>
            <a:solidFill>
              <a:srgbClr val="FFE26A"/>
            </a:solidFill>
            <a:ln w="28575">
              <a:solidFill>
                <a:schemeClr val="accent2"/>
              </a:solidFill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7968729" y="3773805"/>
            <a:ext cx="219814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chemeClr val="accent3"/>
                </a:solidFill>
                <a:latin typeface="Consolas"/>
                <a:ea typeface="Consolas"/>
                <a:cs typeface="Consolas"/>
              </a:rPr>
              <a:t>t.hideturtle()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343775" y="4276725"/>
            <a:ext cx="34480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隐藏图标，但不会删除已经画好的图形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海龟显隐实验站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P16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2752725" cy="457200"/>
            <a:chOff x="457200" y="1028700"/>
            <a:chExt cx="27527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27527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1884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让海龟上场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2752725" cy="457200"/>
            <a:chOff x="457200" y="1028700"/>
            <a:chExt cx="27527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27527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3324225" y="1028700"/>
            <a:ext cx="2752725" cy="457200"/>
            <a:chOff x="3324225" y="1028700"/>
            <a:chExt cx="2752725" cy="457200"/>
          </a:xfrm>
        </p:grpSpPr>
        <p:sp>
          <p:nvSpPr>
            <p:cNvPr id="16" name="Rectangle 16"/>
            <p:cNvSpPr/>
            <p:nvPr/>
          </p:nvSpPr>
          <p:spPr>
            <a:xfrm>
              <a:off x="3324225" y="1028700"/>
              <a:ext cx="27527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29539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让海龟退场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324225" y="1028700"/>
            <a:ext cx="2752725" cy="457200"/>
            <a:chOff x="3324225" y="1028700"/>
            <a:chExt cx="2752725" cy="457200"/>
          </a:xfrm>
        </p:grpSpPr>
        <p:sp>
          <p:nvSpPr>
            <p:cNvPr id="19" name="Rectangle 19"/>
            <p:cNvSpPr/>
            <p:nvPr/>
          </p:nvSpPr>
          <p:spPr>
            <a:xfrm>
              <a:off x="3324225" y="1028700"/>
              <a:ext cx="27527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1" name="Rectangle 21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3854882" y="1886902"/>
            <a:ext cx="20178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lesson06_turtle_visibility.py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26" name="Rectangle 26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6473" y="285321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t.showturtle()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32" name="Rectangle 32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473" y="285321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t.hideturtle()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38" name="Rectangle 38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41" name="Rectangle 41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44" name="Rectangle 44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47" name="Rectangle 47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802888" y="545068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运行中：切换海龟状态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50" name="Rectangle 50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255211" y="54506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实验完成</a:t>
              </a:r>
            </a:p>
          </p:txBody>
        </p:sp>
      </p:grpSp>
      <p:sp>
        <p:nvSpPr>
          <p:cNvPr id="53" name="Rectangle 53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55" name="Rectangle 55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57" name="Group 57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56" name="TextBox 56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618220" y="2495550"/>
            <a:ext cx="859155" cy="1255395"/>
            <a:chOff x="8618220" y="2495550"/>
            <a:chExt cx="859155" cy="1255395"/>
          </a:xfrm>
        </p:grpSpPr>
        <p:grpSp>
          <p:nvGrpSpPr>
            <p:cNvPr id="65" name="Group 65"/>
            <p:cNvGrpSpPr/>
            <p:nvPr/>
          </p:nvGrpSpPr>
          <p:grpSpPr>
            <a:xfrm>
              <a:off x="8743950" y="2495550"/>
              <a:ext cx="733425" cy="609600"/>
              <a:chOff x="8743950" y="2495550"/>
              <a:chExt cx="733425" cy="609600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8743950" y="2514600"/>
                <a:ext cx="571500" cy="5715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9229725" y="2676525"/>
                <a:ext cx="247650" cy="24765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60" name="Ellipse 60"/>
              <p:cNvSpPr/>
              <p:nvPr/>
            </p:nvSpPr>
            <p:spPr>
              <a:xfrm>
                <a:off x="8782050" y="2495550"/>
                <a:ext cx="152400" cy="1524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9124950" y="2495550"/>
                <a:ext cx="152400" cy="1524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62" name="Ellipse 62"/>
              <p:cNvSpPr/>
              <p:nvPr/>
            </p:nvSpPr>
            <p:spPr>
              <a:xfrm>
                <a:off x="8782050" y="2952750"/>
                <a:ext cx="152400" cy="1524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9124950" y="2952750"/>
                <a:ext cx="152400" cy="1524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64" name="Ellipse 64"/>
              <p:cNvSpPr/>
              <p:nvPr/>
            </p:nvSpPr>
            <p:spPr>
              <a:xfrm>
                <a:off x="9372600" y="2743200"/>
                <a:ext cx="38100" cy="38100"/>
              </a:xfrm>
              <a:prstGeom prst="ellipse">
                <a:avLst/>
              </a:prstGeom>
              <a:solidFill>
                <a:srgbClr val="17243A"/>
              </a:solidFill>
              <a:ln>
                <a:noFill/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8618220" y="34575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海龟可见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8517255" y="2495550"/>
            <a:ext cx="1024890" cy="1255395"/>
            <a:chOff x="8517255" y="2495550"/>
            <a:chExt cx="1024890" cy="1255395"/>
          </a:xfrm>
        </p:grpSpPr>
        <p:grpSp>
          <p:nvGrpSpPr>
            <p:cNvPr id="74" name="Group 74"/>
            <p:cNvGrpSpPr/>
            <p:nvPr/>
          </p:nvGrpSpPr>
          <p:grpSpPr>
            <a:xfrm>
              <a:off x="8743950" y="2495550"/>
              <a:ext cx="733425" cy="609600"/>
              <a:chOff x="8743950" y="2495550"/>
              <a:chExt cx="733425" cy="609600"/>
            </a:xfrm>
          </p:grpSpPr>
          <p:sp>
            <p:nvSpPr>
              <p:cNvPr id="68" name="Ellipse 68"/>
              <p:cNvSpPr/>
              <p:nvPr/>
            </p:nvSpPr>
            <p:spPr>
              <a:xfrm>
                <a:off x="8743950" y="2514600"/>
                <a:ext cx="571500" cy="57150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  <p:sp>
            <p:nvSpPr>
              <p:cNvPr id="69" name="Ellipse 69"/>
              <p:cNvSpPr/>
              <p:nvPr/>
            </p:nvSpPr>
            <p:spPr>
              <a:xfrm>
                <a:off x="9229725" y="2676525"/>
                <a:ext cx="247650" cy="24765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  <p:sp>
            <p:nvSpPr>
              <p:cNvPr id="70" name="Ellipse 70"/>
              <p:cNvSpPr/>
              <p:nvPr/>
            </p:nvSpPr>
            <p:spPr>
              <a:xfrm>
                <a:off x="8782050" y="2495550"/>
                <a:ext cx="152400" cy="15240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  <p:sp>
            <p:nvSpPr>
              <p:cNvPr id="71" name="Ellipse 71"/>
              <p:cNvSpPr/>
              <p:nvPr/>
            </p:nvSpPr>
            <p:spPr>
              <a:xfrm>
                <a:off x="9124950" y="2495550"/>
                <a:ext cx="152400" cy="15240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  <p:sp>
            <p:nvSpPr>
              <p:cNvPr id="72" name="Ellipse 72"/>
              <p:cNvSpPr/>
              <p:nvPr/>
            </p:nvSpPr>
            <p:spPr>
              <a:xfrm>
                <a:off x="8782050" y="2952750"/>
                <a:ext cx="152400" cy="15240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9124950" y="2952750"/>
                <a:ext cx="152400" cy="152400"/>
              </a:xfrm>
              <a:prstGeom prst="ellipse">
                <a:avLst/>
              </a:prstGeom>
              <a:solidFill>
                <a:srgbClr val="D9E3EA">
                  <a:alpha val="22000"/>
                </a:srgbClr>
              </a:solidFill>
              <a:ln>
                <a:noFill/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8517255" y="3457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海龟已隐藏</a:t>
              </a:r>
            </a:p>
          </p:txBody>
        </p:sp>
      </p:grpSp>
      <p:sp>
        <p:nvSpPr>
          <p:cNvPr id="77" name="Rectangle 77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79" name="TextBox 79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81" name="TextBox 81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运行中：切换海龟状态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83" name="TextBox 83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显示完成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85" name="TextBox 85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隐藏完成</a:t>
              </a:r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89" name="Group 8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88" name="Rectangle 88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91" name="Group 91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90" name="Rectangle 9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2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3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5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8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2" fill="hold">
                      <p:stCondLst>
                        <p:cond delay="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19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0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2" fill="hold">
                      <p:stCondLst>
                        <p:cond delay="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1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2" fill="hold">
                      <p:stCondLst>
                        <p:cond delay="0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2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2" fill="hold">
                      <p:stCondLst>
                        <p:cond delay="0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2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7" fill="hold">
                      <p:stCondLst>
                        <p:cond delay="0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3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2" fill="hold">
                      <p:stCondLst>
                        <p:cond delay="0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4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2" fill="hold">
                      <p:stCondLst>
                        <p:cond delay="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4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7" fill="hold">
                      <p:stCondLst>
                        <p:cond delay="0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5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2" fill="hold">
                      <p:stCondLst>
                        <p:cond delay="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5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7" fill="hold">
                      <p:stCondLst>
                        <p:cond delay="0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6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2" fill="hold">
                      <p:stCondLst>
                        <p:cond delay="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7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2" fill="hold">
                      <p:stCondLst>
                        <p:cond delay="0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7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7" fill="hold">
                      <p:stCondLst>
                        <p:cond delay="0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8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2" fill="hold">
                      <p:stCondLst>
                        <p:cond delay="0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8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4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29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9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4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30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7" fill="hold">
                      <p:stCondLst>
                        <p:cond delay="0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9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31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2" fill="hold">
                      <p:stCondLst>
                        <p:cond delay="0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4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31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7" fill="hold">
                      <p:stCondLst>
                        <p:cond delay="0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9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523017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screen.title() 给画展挂牌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2869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标题写在图形窗口顶部，不会画进画布内部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P17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600200"/>
            <a:ext cx="5619750" cy="3429000"/>
          </a:xfrm>
          <a:prstGeom prst="roundRect">
            <a:avLst>
              <a:gd name="adj" fmla="val 7778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666750" y="18097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857250" y="18097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1047750" y="18097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061993" y="1810702"/>
            <a:ext cx="17916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lesson06_window_title.py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8942" y="2121218"/>
            <a:ext cx="13131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turtle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8942" y="2406968"/>
            <a:ext cx="2420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screen = turtle.Screen()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8942" y="2692718"/>
            <a:ext cx="252168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CC71"/>
                </a:solidFill>
                <a:latin typeface="Consolas"/>
                <a:ea typeface="Microsoft YaHei"/>
                <a:cs typeface="Consolas"/>
              </a:rPr>
              <a:t>screen.title("小红花画展")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8942" y="2978468"/>
            <a:ext cx="13131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turtle.done()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477000" y="1600200"/>
            <a:ext cx="5257800" cy="34290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819900" y="2095500"/>
            <a:ext cx="4572000" cy="2343150"/>
          </a:xfrm>
          <a:prstGeom prst="roundRect">
            <a:avLst>
              <a:gd name="adj" fmla="val 8130"/>
            </a:avLst>
          </a:prstGeom>
          <a:solidFill>
            <a:schemeClr val="lt1"/>
          </a:solidFill>
          <a:ln w="19050">
            <a:solidFill>
              <a:schemeClr val="accent6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819900" y="2095500"/>
            <a:ext cx="4572000" cy="400050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644700" y="221646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小红花画展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136115" y="3017044"/>
            <a:ext cx="193957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Turtle 图形窗口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219950" y="4629150"/>
            <a:ext cx="37719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888224" y="4766310"/>
            <a:ext cx="2435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只改双引号里的文字，就能换标题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窗口标题实验站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新命令实验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P18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259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小红花画展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6" name="Rectangle 16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76347" y="12039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我的海龟作品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9" name="Rectangle 19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1" name="Rectangle 21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lt2"/>
            </a:solidFill>
            <a:ln w="1714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7164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送你一朵花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4" name="Rectangle 24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6" name="Rectangle 2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081043" y="1886902"/>
            <a:ext cx="17916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lesson06_window_title.py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31" name="Rectangle 3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6473" y="2567464"/>
              <a:ext cx="2294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473" y="2853214"/>
              <a:ext cx="239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screen.title("小红花画展")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37" name="Rectangle 37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6473" y="2567464"/>
              <a:ext cx="2294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6473" y="2853214"/>
              <a:ext cx="25631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screen.title("我的海龟作品")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43" name="Rectangle 43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6473" y="2567464"/>
              <a:ext cx="2294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6473" y="2853214"/>
              <a:ext cx="239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screen.title("送你一朵花")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6473" y="31389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49" name="Rectangle 49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52" name="Rectangle 5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55" name="Rectangle 55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58" name="Rectangle 58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61" name="Rectangle 61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866590" y="5450681"/>
              <a:ext cx="1391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正在设置窗口标题……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64" name="Rectangle 64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104437" y="54506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标题设置完成</a:t>
              </a:r>
            </a:p>
          </p:txBody>
        </p:sp>
      </p:grpSp>
      <p:sp>
        <p:nvSpPr>
          <p:cNvPr id="67" name="Rectangle 67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69" name="Rectangle 69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71" name="Group 71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70" name="TextBox 70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7353300" y="2000250"/>
            <a:ext cx="3333750" cy="1524000"/>
            <a:chOff x="7353300" y="2000250"/>
            <a:chExt cx="3333750" cy="1524000"/>
          </a:xfrm>
        </p:grpSpPr>
        <p:sp>
          <p:nvSpPr>
            <p:cNvPr id="72" name="Rectangle 72"/>
            <p:cNvSpPr/>
            <p:nvPr/>
          </p:nvSpPr>
          <p:spPr>
            <a:xfrm>
              <a:off x="7353300" y="2000250"/>
              <a:ext cx="3333750" cy="1524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353300" y="2000250"/>
              <a:ext cx="333375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610219" y="20897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小红花画展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246390" y="2733675"/>
              <a:ext cx="15475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Turtle 图形窗口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287131" y="30899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标题只显示在窗口栏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353300" y="2000250"/>
            <a:ext cx="3333750" cy="1524000"/>
            <a:chOff x="7353300" y="2000250"/>
            <a:chExt cx="3333750" cy="1524000"/>
          </a:xfrm>
        </p:grpSpPr>
        <p:sp>
          <p:nvSpPr>
            <p:cNvPr id="78" name="Rectangle 78"/>
            <p:cNvSpPr/>
            <p:nvPr/>
          </p:nvSpPr>
          <p:spPr>
            <a:xfrm>
              <a:off x="7353300" y="2000250"/>
              <a:ext cx="3333750" cy="1524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7353300" y="2000250"/>
              <a:ext cx="333375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529447" y="20897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我的海龟作品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246390" y="2733675"/>
              <a:ext cx="15475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Turtle 图形窗口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287131" y="30899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标题只显示在窗口栏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7353300" y="2000250"/>
            <a:ext cx="3333750" cy="1524000"/>
            <a:chOff x="7353300" y="2000250"/>
            <a:chExt cx="3333750" cy="1524000"/>
          </a:xfrm>
        </p:grpSpPr>
        <p:sp>
          <p:nvSpPr>
            <p:cNvPr id="84" name="Rectangle 84"/>
            <p:cNvSpPr/>
            <p:nvPr/>
          </p:nvSpPr>
          <p:spPr>
            <a:xfrm>
              <a:off x="7353300" y="2000250"/>
              <a:ext cx="3333750" cy="1524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7353300" y="2000250"/>
              <a:ext cx="333375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8610219" y="20897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送你一朵花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246390" y="2733675"/>
              <a:ext cx="15475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Turtle 图形窗口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287131" y="30899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标题只显示在窗口栏</a:t>
              </a:r>
            </a:p>
          </p:txBody>
        </p:sp>
      </p:grpSp>
      <p:sp>
        <p:nvSpPr>
          <p:cNvPr id="90" name="Rectangle 90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91" name="TextBox 91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93" name="Group 93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92" name="TextBox 92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6661023" y="5082064"/>
            <a:ext cx="1581008" cy="249364"/>
            <a:chOff x="6661023" y="5082064"/>
            <a:chExt cx="1581008" cy="249364"/>
          </a:xfrm>
        </p:grpSpPr>
        <p:sp>
          <p:nvSpPr>
            <p:cNvPr id="94" name="TextBox 94"/>
            <p:cNvSpPr txBox="1"/>
            <p:nvPr/>
          </p:nvSpPr>
          <p:spPr>
            <a:xfrm>
              <a:off x="6661023" y="5082064"/>
              <a:ext cx="1581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正在设置窗口标题……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6661594" y="5094208"/>
            <a:ext cx="1573403" cy="227362"/>
            <a:chOff x="6661594" y="5094208"/>
            <a:chExt cx="1573403" cy="227362"/>
          </a:xfrm>
        </p:grpSpPr>
        <p:sp>
          <p:nvSpPr>
            <p:cNvPr id="96" name="TextBox 96"/>
            <p:cNvSpPr txBox="1"/>
            <p:nvPr/>
          </p:nvSpPr>
          <p:spPr>
            <a:xfrm>
              <a:off x="6661594" y="5094208"/>
              <a:ext cx="157340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窗口标题：小红花画展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661594" y="5094208"/>
            <a:ext cx="1729562" cy="227362"/>
            <a:chOff x="6661594" y="5094208"/>
            <a:chExt cx="1729562" cy="227362"/>
          </a:xfrm>
        </p:grpSpPr>
        <p:sp>
          <p:nvSpPr>
            <p:cNvPr id="98" name="TextBox 98"/>
            <p:cNvSpPr txBox="1"/>
            <p:nvPr/>
          </p:nvSpPr>
          <p:spPr>
            <a:xfrm>
              <a:off x="6661594" y="5094208"/>
              <a:ext cx="1729562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窗口标题：我的海龟作品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6661594" y="5094208"/>
            <a:ext cx="1573403" cy="227362"/>
            <a:chOff x="6661594" y="5094208"/>
            <a:chExt cx="1573403" cy="227362"/>
          </a:xfrm>
        </p:grpSpPr>
        <p:sp>
          <p:nvSpPr>
            <p:cNvPr id="100" name="TextBox 100"/>
            <p:cNvSpPr txBox="1"/>
            <p:nvPr/>
          </p:nvSpPr>
          <p:spPr>
            <a:xfrm>
              <a:off x="6661594" y="5094208"/>
              <a:ext cx="157340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窗口标题：送你一朵花</a:t>
              </a:r>
            </a:p>
          </p:txBody>
        </p:sp>
      </p:grpSp>
      <p:sp>
        <p:nvSpPr>
          <p:cNvPr id="102" name="TextBox 102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104" name="Group 104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03" name="Rectangle 103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06" name="Group 106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05" name="Rectangle 105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08" name="Group 108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07" name="Rectangle 10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5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0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8" fill="hold">
                      <p:stCondLst>
                        <p:cond delay="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1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8" fill="hold">
                      <p:stCondLst>
                        <p:cond delay="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2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3" fill="hold">
                      <p:stCondLst>
                        <p:cond delay="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2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3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3" fill="hold">
                      <p:stCondLst>
                        <p:cond delay="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3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8" fill="hold">
                      <p:stCondLst>
                        <p:cond delay="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4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8" fill="hold">
                      <p:stCondLst>
                        <p:cond delay="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5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3" fill="hold">
                      <p:stCondLst>
                        <p:cond delay="0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6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8" fill="hold">
                      <p:stCondLst>
                        <p:cond delay="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7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8" fill="hold">
                      <p:stCondLst>
                        <p:cond delay="0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8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3" fill="hold">
                      <p:stCondLst>
                        <p:cond delay="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8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8" fill="hold">
                      <p:stCondLst>
                        <p:cond delay="0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9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3" fill="hold">
                      <p:stCondLst>
                        <p:cond delay="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9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8" fill="hold">
                      <p:stCondLst>
                        <p:cond delay="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0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8" fill="hold">
                      <p:stCondLst>
                        <p:cond delay="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1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3" fill="hold">
                      <p:stCondLst>
                        <p:cond delay="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8" fill="hold">
                      <p:stCondLst>
                        <p:cond delay="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2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33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8" fill="hold">
                      <p:stCondLst>
                        <p:cond delay="0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34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3" fill="hold">
                      <p:stCondLst>
                        <p:cond delay="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34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8" fill="hold">
                      <p:stCondLst>
                        <p:cond delay="0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35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3" fill="hold">
                      <p:stCondLst>
                        <p:cond delay="0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35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8" fill="hold">
                      <p:stCondLst>
                        <p:cond delay="0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36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8" fill="hold">
                      <p:stCondLst>
                        <p:cond delay="0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37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3" fill="hold">
                      <p:stCondLst>
                        <p:cond delay="0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37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8" fill="hold">
                      <p:stCondLst>
                        <p:cond delay="0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38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3" fill="hold">
                      <p:stCondLst>
                        <p:cond delay="0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38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8" fill="hold">
                      <p:stCondLst>
                        <p:cond delay="0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39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8" fill="hold">
                      <p:stCondLst>
                        <p:cond delay="0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0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3" fill="hold">
                      <p:stCondLst>
                        <p:cond delay="0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0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8" fill="hold">
                      <p:stCondLst>
                        <p:cond delay="0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41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3" fill="hold">
                      <p:stCondLst>
                        <p:cond delay="0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>
                      <p:stCondLst>
                        <p:cond delay="0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42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8" fill="hold">
                      <p:stCondLst>
                        <p:cond delay="0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3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3" fill="hold">
                      <p:stCondLst>
                        <p:cond delay="0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3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8" fill="hold">
                      <p:stCondLst>
                        <p:cond delay="0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44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3" fill="hold">
                      <p:stCondLst>
                        <p:cond delay="0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4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8" fill="hold">
                      <p:stCondLst>
                        <p:cond delay="0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45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8" fill="hold">
                      <p:stCondLst>
                        <p:cond delay="0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6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3" fill="hold">
                      <p:stCondLst>
                        <p:cond delay="0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6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8" fill="hold">
                      <p:stCondLst>
                        <p:cond delay="0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47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3" fill="hold">
                      <p:stCondLst>
                        <p:cond delay="0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7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8" fill="hold">
                      <p:stCondLst>
                        <p:cond delay="0"/>
                      </p:stCondLst>
                      <p:childTnLst>
                        <p:par>
                          <p:cTn id="4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48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8" fill="hold">
                      <p:stCondLst>
                        <p:cond delay="0"/>
                      </p:stCondLst>
                      <p:childTnLst>
                        <p:par>
                          <p:cTn id="4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49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3" fill="hold">
                      <p:stCondLst>
                        <p:cond delay="0"/>
                      </p:stCondLst>
                      <p:childTnLst>
                        <p:par>
                          <p:cTn id="4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49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8" fill="hold">
                      <p:stCondLst>
                        <p:cond delay="0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50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3" fill="hold">
                      <p:stCondLst>
                        <p:cond delay="0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50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8" fill="hold">
                      <p:stCondLst>
                        <p:cond delay="0"/>
                      </p:stCondLst>
                      <p:childTnLst>
                        <p:par>
                          <p:cTn id="5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51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8" fill="hold">
                      <p:stCondLst>
                        <p:cond delay="0"/>
                      </p:stCondLst>
                      <p:childTnLst>
                        <p:par>
                          <p:cTn id="5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52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3" fill="hold">
                      <p:stCondLst>
                        <p:cond delay="0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5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52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8" fill="hold">
                      <p:stCondLst>
                        <p:cond delay="0"/>
                      </p:stCondLst>
                      <p:childTnLst>
                        <p:par>
                          <p:cTn id="5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0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53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3" fill="hold">
                      <p:stCondLst>
                        <p:cond delay="0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5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53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8" fill="hold">
                      <p:stCondLst>
                        <p:cond delay="0"/>
                      </p:stCondLst>
                      <p:childTnLst>
                        <p:par>
                          <p:cTn id="5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0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5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54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8" fill="hold">
                      <p:stCondLst>
                        <p:cond delay="0"/>
                      </p:stCondLst>
                      <p:childTnLst>
                        <p:par>
                          <p:cTn id="5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0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552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3" fill="hold">
                      <p:stCondLst>
                        <p:cond delay="0"/>
                      </p:stCondLst>
                      <p:childTnLst>
                        <p:par>
                          <p:cTn id="5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5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557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8" fill="hold">
                      <p:stCondLst>
                        <p:cond delay="0"/>
                      </p:stCondLst>
                      <p:childTnLst>
                        <p:par>
                          <p:cTn id="5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0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56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3" fill="hold">
                      <p:stCondLst>
                        <p:cond delay="0"/>
                      </p:stCondLst>
                      <p:childTnLst>
                        <p:par>
                          <p:cTn id="5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5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56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8" fill="hold">
                      <p:stCondLst>
                        <p:cond delay="0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57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3" fill="hold">
                      <p:stCondLst>
                        <p:cond delay="0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57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8" fill="hold">
                      <p:stCondLst>
                        <p:cond delay="0"/>
                      </p:stCondLst>
                      <p:childTnLst>
                        <p:par>
                          <p:cTn id="5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4536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一次只改一处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432079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安全修改四步法：小步修改，更容易发现哪一步出了问题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测试与修改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P19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9334500" y="247650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10191750" y="2238375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9810750" y="314325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10668000" y="3095625"/>
            <a:ext cx="704850" cy="704850"/>
          </a:xfrm>
          <a:prstGeom prst="roundRect">
            <a:avLst>
              <a:gd name="adj" fmla="val 24324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075" y="1759744"/>
            <a:ext cx="356224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运行基础版：先确认原程序能跑</a:t>
            </a:r>
          </a:p>
        </p:txBody>
      </p:sp>
      <p:sp>
        <p:nvSpPr>
          <p:cNvPr id="20" name="Ellipse 20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075" y="2597944"/>
            <a:ext cx="406842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只改一处：颜色、数字或标题选一项</a:t>
            </a:r>
          </a:p>
        </p:txBody>
      </p:sp>
      <p:sp>
        <p:nvSpPr>
          <p:cNvPr id="23" name="Ellipse 23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075" y="3436144"/>
            <a:ext cx="4321505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再次运行：马上观察变化是否符合预期</a:t>
            </a:r>
          </a:p>
        </p:txBody>
      </p:sp>
      <p:sp>
        <p:nvSpPr>
          <p:cNvPr id="26" name="Ellipse 26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62075" y="4274344"/>
            <a:ext cx="356224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确认后保存：再进入下一次修改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34035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练习 A · 用循环画花瓣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01483" y="461010"/>
            <a:ext cx="8472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动手练习 A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P20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5619750" cy="457200"/>
            <a:chOff x="457200" y="1028700"/>
            <a:chExt cx="5619750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5619750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57119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粉色基础版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5619750" cy="457200"/>
            <a:chOff x="457200" y="1028700"/>
            <a:chExt cx="5619750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5619750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16" name="Rectangle 1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533367" y="1886902"/>
            <a:ext cx="133936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lesson06_petals.py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628650" y="2152650"/>
            <a:ext cx="5314950" cy="2950178"/>
            <a:chOff x="628650" y="2152650"/>
            <a:chExt cx="5314950" cy="2950178"/>
          </a:xfrm>
        </p:grpSpPr>
        <p:sp>
          <p:nvSpPr>
            <p:cNvPr id="21" name="Rectangle 2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6473" y="313896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6473" y="34247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6473" y="37104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6473" y="399621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6473" y="42819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6473" y="45677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6473" y="48534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33" name="Rectangle 33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36" name="Rectangle 36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39" name="Rectangle 39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961767" y="5450681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绘制中：6 次循环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42" name="Rectangle 42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112541" y="5450681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6 片花瓣完成</a:t>
              </a:r>
            </a:p>
          </p:txBody>
        </p:sp>
      </p:grpSp>
      <p:sp>
        <p:nvSpPr>
          <p:cNvPr id="45" name="Rectangle 45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49" name="Group 49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353425" y="2057400"/>
            <a:ext cx="1390650" cy="1504950"/>
            <a:chOff x="8353425" y="2057400"/>
            <a:chExt cx="1390650" cy="1504950"/>
          </a:xfrm>
        </p:grpSpPr>
        <p:grpSp>
          <p:nvGrpSpPr>
            <p:cNvPr id="57" name="Group 57"/>
            <p:cNvGrpSpPr/>
            <p:nvPr/>
          </p:nvGrpSpPr>
          <p:grpSpPr>
            <a:xfrm>
              <a:off x="8353425" y="2057400"/>
              <a:ext cx="1390650" cy="1504950"/>
              <a:chOff x="8353425" y="2057400"/>
              <a:chExt cx="1390650" cy="1504950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8724900" y="2057400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9096375" y="2271712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9096375" y="2700338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8724900" y="2914650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8353425" y="2700338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8353425" y="2271712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6" name="Ellipse 56"/>
              <p:cNvSpPr/>
              <p:nvPr/>
            </p:nvSpPr>
            <p:spPr>
              <a:xfrm>
                <a:off x="8858250" y="2619375"/>
                <a:ext cx="381000" cy="3810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</p:grpSp>
      </p:grpSp>
      <p:sp>
        <p:nvSpPr>
          <p:cNvPr id="59" name="Rectangle 59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61" name="TextBox 61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661023" y="5082064"/>
            <a:ext cx="1408694" cy="249364"/>
            <a:chOff x="6661023" y="5082064"/>
            <a:chExt cx="1408694" cy="249364"/>
          </a:xfrm>
        </p:grpSpPr>
        <p:sp>
          <p:nvSpPr>
            <p:cNvPr id="63" name="TextBox 63"/>
            <p:cNvSpPr txBox="1"/>
            <p:nvPr/>
          </p:nvSpPr>
          <p:spPr>
            <a:xfrm>
              <a:off x="6661023" y="5082064"/>
              <a:ext cx="14086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绘制中：6 次循环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65" name="TextBox 65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开始绘制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67" name="TextBox 67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6片粉色圆形花瓣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661594" y="5513308"/>
            <a:ext cx="324129" cy="227362"/>
            <a:chOff x="6661594" y="5513308"/>
            <a:chExt cx="324129" cy="227362"/>
          </a:xfrm>
        </p:grpSpPr>
        <p:sp>
          <p:nvSpPr>
            <p:cNvPr id="69" name="TextBox 69"/>
            <p:cNvSpPr txBox="1"/>
            <p:nvPr/>
          </p:nvSpPr>
          <p:spPr>
            <a:xfrm>
              <a:off x="6661594" y="551330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2" name="Rectangle 7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3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4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1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6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1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6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4" fill="hold">
                      <p:stCondLst>
                        <p:cond delay="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6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7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6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花瓣颜色实验站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01483" y="461010"/>
            <a:ext cx="8472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动手练习 A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P21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2594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粉色基础版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6" name="Rectangle 16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18663" y="12039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橙色版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9" name="Rectangle 19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1" name="Rectangle 21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lt2"/>
            </a:solidFill>
            <a:ln w="1714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933188" y="12039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紫色版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4" name="Rectangle 24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6" name="Rectangle 2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533367" y="1886902"/>
            <a:ext cx="133936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lesson06_petals.py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628650" y="2152650"/>
            <a:ext cx="5314950" cy="2950178"/>
            <a:chOff x="628650" y="2152650"/>
            <a:chExt cx="5314950" cy="2950178"/>
          </a:xfrm>
        </p:grpSpPr>
        <p:sp>
          <p:nvSpPr>
            <p:cNvPr id="31" name="Rectangle 3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473" y="313896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6473" y="34247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6473" y="37104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6473" y="399621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6473" y="42819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6473" y="45677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6473" y="48534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28650" y="2152650"/>
            <a:ext cx="5314950" cy="2950178"/>
            <a:chOff x="628650" y="2152650"/>
            <a:chExt cx="5314950" cy="2950178"/>
          </a:xfrm>
        </p:grpSpPr>
        <p:sp>
          <p:nvSpPr>
            <p:cNvPr id="43" name="Rectangle 43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6473" y="3138964"/>
              <a:ext cx="2287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"orange")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6473" y="34247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6473" y="37104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6473" y="399621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6473" y="42819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6473" y="45677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6473" y="48534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28650" y="2152650"/>
            <a:ext cx="5314950" cy="2950178"/>
            <a:chOff x="628650" y="2152650"/>
            <a:chExt cx="5314950" cy="2950178"/>
          </a:xfrm>
        </p:grpSpPr>
        <p:sp>
          <p:nvSpPr>
            <p:cNvPr id="55" name="Rectangle 55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6473" y="3138964"/>
              <a:ext cx="2287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"purple")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6473" y="34247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6473" y="37104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6473" y="399621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6473" y="42819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6473" y="45677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6473" y="485346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67" name="Rectangle 6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0" name="Rectangle 7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3" name="Rectangle 73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6" name="Rectangle 76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9" name="Rectangle 79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3640994" y="5450681"/>
              <a:ext cx="18429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绘制中：次数 6 / 角度 60°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82" name="Rectangle 82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4255211" y="54506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花瓣完成</a:t>
              </a:r>
            </a:p>
          </p:txBody>
        </p:sp>
      </p:grpSp>
      <p:sp>
        <p:nvSpPr>
          <p:cNvPr id="85" name="Rectangle 85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86" name="TextBox 86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87" name="Rectangle 87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89" name="Group 89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88" name="TextBox 88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8353425" y="2057400"/>
            <a:ext cx="1390650" cy="1504950"/>
            <a:chOff x="8353425" y="2057400"/>
            <a:chExt cx="1390650" cy="1504950"/>
          </a:xfrm>
        </p:grpSpPr>
        <p:grpSp>
          <p:nvGrpSpPr>
            <p:cNvPr id="97" name="Group 97"/>
            <p:cNvGrpSpPr/>
            <p:nvPr/>
          </p:nvGrpSpPr>
          <p:grpSpPr>
            <a:xfrm>
              <a:off x="8353425" y="2057400"/>
              <a:ext cx="1390650" cy="1504950"/>
              <a:chOff x="8353425" y="2057400"/>
              <a:chExt cx="1390650" cy="1504950"/>
            </a:xfrm>
          </p:grpSpPr>
          <p:sp>
            <p:nvSpPr>
              <p:cNvPr id="90" name="Ellipse 90"/>
              <p:cNvSpPr/>
              <p:nvPr/>
            </p:nvSpPr>
            <p:spPr>
              <a:xfrm>
                <a:off x="8724900" y="2057400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1" name="Ellipse 91"/>
              <p:cNvSpPr/>
              <p:nvPr/>
            </p:nvSpPr>
            <p:spPr>
              <a:xfrm>
                <a:off x="9096375" y="2271712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2" name="Ellipse 92"/>
              <p:cNvSpPr/>
              <p:nvPr/>
            </p:nvSpPr>
            <p:spPr>
              <a:xfrm>
                <a:off x="9096375" y="2700338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3" name="Ellipse 93"/>
              <p:cNvSpPr/>
              <p:nvPr/>
            </p:nvSpPr>
            <p:spPr>
              <a:xfrm>
                <a:off x="8724900" y="2914650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4" name="Ellipse 94"/>
              <p:cNvSpPr/>
              <p:nvPr/>
            </p:nvSpPr>
            <p:spPr>
              <a:xfrm>
                <a:off x="8353425" y="2700338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5" name="Ellipse 95"/>
              <p:cNvSpPr/>
              <p:nvPr/>
            </p:nvSpPr>
            <p:spPr>
              <a:xfrm>
                <a:off x="8353425" y="2271712"/>
                <a:ext cx="647700" cy="64770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6" name="Ellipse 96"/>
              <p:cNvSpPr/>
              <p:nvPr/>
            </p:nvSpPr>
            <p:spPr>
              <a:xfrm>
                <a:off x="8858250" y="2619375"/>
                <a:ext cx="381000" cy="3810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</p:grpSp>
      </p:grpSp>
      <p:grpSp>
        <p:nvGrpSpPr>
          <p:cNvPr id="107" name="Group 107"/>
          <p:cNvGrpSpPr/>
          <p:nvPr/>
        </p:nvGrpSpPr>
        <p:grpSpPr>
          <a:xfrm>
            <a:off x="8353425" y="2057400"/>
            <a:ext cx="1390650" cy="1504950"/>
            <a:chOff x="8353425" y="2057400"/>
            <a:chExt cx="1390650" cy="1504950"/>
          </a:xfrm>
        </p:grpSpPr>
        <p:grpSp>
          <p:nvGrpSpPr>
            <p:cNvPr id="106" name="Group 106"/>
            <p:cNvGrpSpPr/>
            <p:nvPr/>
          </p:nvGrpSpPr>
          <p:grpSpPr>
            <a:xfrm>
              <a:off x="8353425" y="2057400"/>
              <a:ext cx="1390650" cy="1504950"/>
              <a:chOff x="8353425" y="2057400"/>
              <a:chExt cx="1390650" cy="1504950"/>
            </a:xfrm>
          </p:grpSpPr>
          <p:sp>
            <p:nvSpPr>
              <p:cNvPr id="99" name="Ellipse 99"/>
              <p:cNvSpPr/>
              <p:nvPr/>
            </p:nvSpPr>
            <p:spPr>
              <a:xfrm>
                <a:off x="8724900" y="2057400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0" name="Ellipse 100"/>
              <p:cNvSpPr/>
              <p:nvPr/>
            </p:nvSpPr>
            <p:spPr>
              <a:xfrm>
                <a:off x="9096375" y="2271712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1" name="Ellipse 101"/>
              <p:cNvSpPr/>
              <p:nvPr/>
            </p:nvSpPr>
            <p:spPr>
              <a:xfrm>
                <a:off x="9096375" y="2700338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2" name="Ellipse 102"/>
              <p:cNvSpPr/>
              <p:nvPr/>
            </p:nvSpPr>
            <p:spPr>
              <a:xfrm>
                <a:off x="8724900" y="2914650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3" name="Ellipse 103"/>
              <p:cNvSpPr/>
              <p:nvPr/>
            </p:nvSpPr>
            <p:spPr>
              <a:xfrm>
                <a:off x="8353425" y="2700338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4" name="Ellipse 104"/>
              <p:cNvSpPr/>
              <p:nvPr/>
            </p:nvSpPr>
            <p:spPr>
              <a:xfrm>
                <a:off x="8353425" y="2271712"/>
                <a:ext cx="647700" cy="647700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05" name="Ellipse 105"/>
              <p:cNvSpPr/>
              <p:nvPr/>
            </p:nvSpPr>
            <p:spPr>
              <a:xfrm>
                <a:off x="8858250" y="2619375"/>
                <a:ext cx="381000" cy="3810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</p:grpSp>
      </p:grpSp>
      <p:grpSp>
        <p:nvGrpSpPr>
          <p:cNvPr id="116" name="Group 116"/>
          <p:cNvGrpSpPr/>
          <p:nvPr/>
        </p:nvGrpSpPr>
        <p:grpSpPr>
          <a:xfrm>
            <a:off x="8353425" y="2057400"/>
            <a:ext cx="1390650" cy="1504950"/>
            <a:chOff x="8353425" y="2057400"/>
            <a:chExt cx="1390650" cy="1504950"/>
          </a:xfrm>
        </p:grpSpPr>
        <p:grpSp>
          <p:nvGrpSpPr>
            <p:cNvPr id="115" name="Group 115"/>
            <p:cNvGrpSpPr/>
            <p:nvPr/>
          </p:nvGrpSpPr>
          <p:grpSpPr>
            <a:xfrm>
              <a:off x="8353425" y="2057400"/>
              <a:ext cx="1390650" cy="1504950"/>
              <a:chOff x="8353425" y="2057400"/>
              <a:chExt cx="1390650" cy="1504950"/>
            </a:xfrm>
          </p:grpSpPr>
          <p:sp>
            <p:nvSpPr>
              <p:cNvPr id="108" name="Ellipse 108"/>
              <p:cNvSpPr/>
              <p:nvPr/>
            </p:nvSpPr>
            <p:spPr>
              <a:xfrm>
                <a:off x="8724900" y="2057400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09" name="Ellipse 109"/>
              <p:cNvSpPr/>
              <p:nvPr/>
            </p:nvSpPr>
            <p:spPr>
              <a:xfrm>
                <a:off x="9096375" y="2271712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0" name="Ellipse 110"/>
              <p:cNvSpPr/>
              <p:nvPr/>
            </p:nvSpPr>
            <p:spPr>
              <a:xfrm>
                <a:off x="9096375" y="2700338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1" name="Ellipse 111"/>
              <p:cNvSpPr/>
              <p:nvPr/>
            </p:nvSpPr>
            <p:spPr>
              <a:xfrm>
                <a:off x="8724900" y="2914650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2" name="Ellipse 112"/>
              <p:cNvSpPr/>
              <p:nvPr/>
            </p:nvSpPr>
            <p:spPr>
              <a:xfrm>
                <a:off x="8353425" y="2700338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3" name="Ellipse 113"/>
              <p:cNvSpPr/>
              <p:nvPr/>
            </p:nvSpPr>
            <p:spPr>
              <a:xfrm>
                <a:off x="8353425" y="2271712"/>
                <a:ext cx="647700" cy="647700"/>
              </a:xfrm>
              <a:prstGeom prst="ellipse">
                <a:avLst/>
              </a:prstGeom>
              <a:solidFill>
                <a:srgbClr val="9B7BFF"/>
              </a:solidFill>
              <a:ln w="28575">
                <a:solidFill>
                  <a:srgbClr val="9B7BFF"/>
                </a:solidFill>
              </a:ln>
            </p:spPr>
          </p:sp>
          <p:sp>
            <p:nvSpPr>
              <p:cNvPr id="114" name="Ellipse 114"/>
              <p:cNvSpPr/>
              <p:nvPr/>
            </p:nvSpPr>
            <p:spPr>
              <a:xfrm>
                <a:off x="8858250" y="2619375"/>
                <a:ext cx="381000" cy="3810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</p:grpSp>
      </p:grpSp>
      <p:sp>
        <p:nvSpPr>
          <p:cNvPr id="117" name="Rectangle 117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18" name="TextBox 118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120" name="Group 120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119" name="TextBox 119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6661023" y="5082064"/>
            <a:ext cx="2244415" cy="249364"/>
            <a:chOff x="6661023" y="5082064"/>
            <a:chExt cx="2244415" cy="249364"/>
          </a:xfrm>
        </p:grpSpPr>
        <p:sp>
          <p:nvSpPr>
            <p:cNvPr id="121" name="TextBox 121"/>
            <p:cNvSpPr txBox="1"/>
            <p:nvPr/>
          </p:nvSpPr>
          <p:spPr>
            <a:xfrm>
              <a:off x="6661023" y="5082064"/>
              <a:ext cx="2244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绘制中：次数 6 / 角度 60°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23" name="TextBox 123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开始绘制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25" name="TextBox 125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6片粉色圆形花瓣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6661594" y="5513308"/>
            <a:ext cx="324129" cy="227362"/>
            <a:chOff x="6661594" y="5513308"/>
            <a:chExt cx="324129" cy="227362"/>
          </a:xfrm>
        </p:grpSpPr>
        <p:sp>
          <p:nvSpPr>
            <p:cNvPr id="127" name="TextBox 127"/>
            <p:cNvSpPr txBox="1"/>
            <p:nvPr/>
          </p:nvSpPr>
          <p:spPr>
            <a:xfrm>
              <a:off x="6661594" y="551330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29" name="TextBox 129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开始绘制</a:t>
              </a: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31" name="TextBox 131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6片橙色圆形花瓣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6661594" y="5513308"/>
            <a:ext cx="324129" cy="227362"/>
            <a:chOff x="6661594" y="5513308"/>
            <a:chExt cx="324129" cy="227362"/>
          </a:xfrm>
        </p:grpSpPr>
        <p:sp>
          <p:nvSpPr>
            <p:cNvPr id="133" name="TextBox 133"/>
            <p:cNvSpPr txBox="1"/>
            <p:nvPr/>
          </p:nvSpPr>
          <p:spPr>
            <a:xfrm>
              <a:off x="6661594" y="551330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35" name="TextBox 135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开始绘制</a:t>
              </a:r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37" name="TextBox 137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6片紫色圆形花瓣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6661594" y="5513308"/>
            <a:ext cx="324129" cy="227362"/>
            <a:chOff x="6661594" y="5513308"/>
            <a:chExt cx="324129" cy="227362"/>
          </a:xfrm>
        </p:grpSpPr>
        <p:sp>
          <p:nvSpPr>
            <p:cNvPr id="139" name="TextBox 139"/>
            <p:cNvSpPr txBox="1"/>
            <p:nvPr/>
          </p:nvSpPr>
          <p:spPr>
            <a:xfrm>
              <a:off x="6661594" y="551330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sp>
        <p:nvSpPr>
          <p:cNvPr id="141" name="TextBox 14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143" name="Group 143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42" name="Rectangle 14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45" name="Group 14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44" name="Rectangle 144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47" name="Group 147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46" name="Rectangle 146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2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3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5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8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2" fill="hold">
                      <p:stCondLst>
                        <p:cond delay="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9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0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2" fill="hold">
                      <p:stCondLst>
                        <p:cond delay="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1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2" fill="hold">
                      <p:stCondLst>
                        <p:cond delay="0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2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2" fill="hold">
                      <p:stCondLst>
                        <p:cond delay="0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7" fill="hold">
                      <p:stCondLst>
                        <p:cond delay="0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3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2" fill="hold">
                      <p:stCondLst>
                        <p:cond delay="0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4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2" fill="hold">
                      <p:stCondLst>
                        <p:cond delay="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4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7" fill="hold">
                      <p:stCondLst>
                        <p:cond delay="0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5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2" fill="hold">
                      <p:stCondLst>
                        <p:cond delay="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5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7" fill="hold">
                      <p:stCondLst>
                        <p:cond delay="0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6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2" fill="hold">
                      <p:stCondLst>
                        <p:cond delay="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7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2" fill="hold">
                      <p:stCondLst>
                        <p:cond delay="0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7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7" fill="hold">
                      <p:stCondLst>
                        <p:cond delay="0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8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2" fill="hold">
                      <p:stCondLst>
                        <p:cond delay="0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8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9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0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7" fill="hold">
                      <p:stCondLst>
                        <p:cond delay="0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2" fill="hold">
                      <p:stCondLst>
                        <p:cond delay="0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1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7" fill="hold">
                      <p:stCondLst>
                        <p:cond delay="0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>
                      <p:stCondLst>
                        <p:cond delay="0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3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7" fill="hold">
                      <p:stCondLst>
                        <p:cond delay="0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4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2" fill="hold">
                      <p:stCondLst>
                        <p:cond delay="0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4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7" fill="hold">
                      <p:stCondLst>
                        <p:cond delay="0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5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2" fill="hold">
                      <p:stCondLst>
                        <p:cond delay="0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5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7" fill="hold">
                      <p:stCondLst>
                        <p:cond delay="0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6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2" fill="hold">
                      <p:stCondLst>
                        <p:cond delay="0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7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2" fill="hold">
                      <p:stCondLst>
                        <p:cond delay="0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7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7" fill="hold">
                      <p:stCondLst>
                        <p:cond delay="0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8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2" fill="hold">
                      <p:stCondLst>
                        <p:cond delay="0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9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2" fill="hold">
                      <p:stCondLst>
                        <p:cond delay="0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9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7" fill="hold">
                      <p:stCondLst>
                        <p:cond delay="0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0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2" fill="hold">
                      <p:stCondLst>
                        <p:cond delay="0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0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7" fill="hold">
                      <p:stCondLst>
                        <p:cond delay="0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1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2" fill="hold">
                      <p:stCondLst>
                        <p:cond delay="0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2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2" fill="hold">
                      <p:stCondLst>
                        <p:cond delay="0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2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7" fill="hold">
                      <p:stCondLst>
                        <p:cond delay="0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3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2" fill="hold">
                      <p:stCondLst>
                        <p:cond delay="0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3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7" fill="hold">
                      <p:stCondLst>
                        <p:cond delay="0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4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2" fill="hold">
                      <p:stCondLst>
                        <p:cond delay="0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45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2" fill="hold">
                      <p:stCondLst>
                        <p:cond delay="0"/>
                      </p:stCondLst>
                      <p:childTnLst>
                        <p:par>
                          <p:cTn id="4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45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7" fill="hold">
                      <p:stCondLst>
                        <p:cond delay="0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46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2" fill="hold">
                      <p:stCondLst>
                        <p:cond delay="0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46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7" fill="hold">
                      <p:stCondLst>
                        <p:cond delay="0"/>
                      </p:stCondLst>
                      <p:childTnLst>
                        <p:par>
                          <p:cTn id="4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47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2" fill="hold">
                      <p:stCondLst>
                        <p:cond delay="0"/>
                      </p:stCondLst>
                      <p:childTnLst>
                        <p:par>
                          <p:cTn id="4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48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2" fill="hold">
                      <p:stCondLst>
                        <p:cond delay="0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48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7" fill="hold">
                      <p:stCondLst>
                        <p:cond delay="0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49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2" fill="hold">
                      <p:stCondLst>
                        <p:cond delay="0"/>
                      </p:stCondLst>
                      <p:childTnLst>
                        <p:par>
                          <p:cTn id="4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49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7" fill="hold">
                      <p:stCondLst>
                        <p:cond delay="0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50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2" fill="hold">
                      <p:stCondLst>
                        <p:cond delay="0"/>
                      </p:stCondLst>
                      <p:childTnLst>
                        <p:par>
                          <p:cTn id="5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9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51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2" fill="hold">
                      <p:stCondLst>
                        <p:cond delay="0"/>
                      </p:stCondLst>
                      <p:childTnLst>
                        <p:par>
                          <p:cTn id="5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4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51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7" fill="hold">
                      <p:stCondLst>
                        <p:cond delay="0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52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2" fill="hold">
                      <p:stCondLst>
                        <p:cond delay="0"/>
                      </p:stCondLst>
                      <p:childTnLst>
                        <p:par>
                          <p:cTn id="5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52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7" fill="hold">
                      <p:stCondLst>
                        <p:cond delay="0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53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2" fill="hold">
                      <p:stCondLst>
                        <p:cond delay="0"/>
                      </p:stCondLst>
                      <p:childTnLst>
                        <p:par>
                          <p:cTn id="5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53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7" fill="hold">
                      <p:stCondLst>
                        <p:cond delay="0"/>
                      </p:stCondLst>
                      <p:childTnLst>
                        <p:par>
                          <p:cTn id="5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54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2" fill="hold">
                      <p:stCondLst>
                        <p:cond delay="0"/>
                      </p:stCondLst>
                      <p:childTnLst>
                        <p:par>
                          <p:cTn id="5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54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7" fill="hold">
                      <p:stCondLst>
                        <p:cond delay="0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55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2" fill="hold">
                      <p:stCondLst>
                        <p:cond delay="0"/>
                      </p:stCondLst>
                      <p:childTnLst>
                        <p:par>
                          <p:cTn id="5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55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7" fill="hold">
                      <p:stCondLst>
                        <p:cond delay="0"/>
                      </p:stCondLst>
                      <p:childTnLst>
                        <p:par>
                          <p:cTn id="5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56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2" fill="hold">
                      <p:stCondLst>
                        <p:cond delay="0"/>
                      </p:stCondLst>
                      <p:childTnLst>
                        <p:par>
                          <p:cTn id="5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57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2" fill="hold">
                      <p:stCondLst>
                        <p:cond delay="0"/>
                      </p:stCondLst>
                      <p:childTnLst>
                        <p:par>
                          <p:cTn id="5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57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7" fill="hold">
                      <p:stCondLst>
                        <p:cond delay="0"/>
                      </p:stCondLst>
                      <p:childTnLst>
                        <p:par>
                          <p:cTn id="5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58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2" fill="hold">
                      <p:stCondLst>
                        <p:cond delay="0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58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7" fill="hold">
                      <p:stCondLst>
                        <p:cond delay="0"/>
                      </p:stCondLst>
                      <p:childTnLst>
                        <p:par>
                          <p:cTn id="5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59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2" fill="hold">
                      <p:stCondLst>
                        <p:cond delay="0"/>
                      </p:stCondLst>
                      <p:childTnLst>
                        <p:par>
                          <p:cTn id="5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0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2" fill="hold">
                      <p:stCondLst>
                        <p:cond delay="0"/>
                      </p:stCondLst>
                      <p:childTnLst>
                        <p:par>
                          <p:cTn id="6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0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7" fill="hold">
                      <p:stCondLst>
                        <p:cond delay="0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1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2" fill="hold">
                      <p:stCondLst>
                        <p:cond delay="0"/>
                      </p:stCondLst>
                      <p:childTnLst>
                        <p:par>
                          <p:cTn id="6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1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7" fill="hold">
                      <p:stCondLst>
                        <p:cond delay="0"/>
                      </p:stCondLst>
                      <p:childTnLst>
                        <p:par>
                          <p:cTn id="6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2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2" fill="hold">
                      <p:stCondLst>
                        <p:cond delay="0"/>
                      </p:stCondLst>
                      <p:childTnLst>
                        <p:par>
                          <p:cTn id="6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3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2" fill="hold">
                      <p:stCondLst>
                        <p:cond delay="0"/>
                      </p:stCondLst>
                      <p:childTnLst>
                        <p:par>
                          <p:cTn id="6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3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7" fill="hold">
                      <p:stCondLst>
                        <p:cond delay="0"/>
                      </p:stCondLst>
                      <p:childTnLst>
                        <p:par>
                          <p:cTn id="6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4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2" fill="hold">
                      <p:stCondLst>
                        <p:cond delay="0"/>
                      </p:stCondLst>
                      <p:childTnLst>
                        <p:par>
                          <p:cTn id="6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4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7" fill="hold">
                      <p:stCondLst>
                        <p:cond delay="0"/>
                      </p:stCondLst>
                      <p:childTnLst>
                        <p:par>
                          <p:cTn id="6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5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2" fill="hold">
                      <p:stCondLst>
                        <p:cond delay="0"/>
                      </p:stCondLst>
                      <p:childTnLst>
                        <p:par>
                          <p:cTn id="6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5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7" fill="hold">
                      <p:stCondLst>
                        <p:cond delay="0"/>
                      </p:stCondLst>
                      <p:childTnLst>
                        <p:par>
                          <p:cTn id="6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6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2" fill="hold">
                      <p:stCondLst>
                        <p:cond delay="0"/>
                      </p:stCondLst>
                      <p:childTnLst>
                        <p:par>
                          <p:cTn id="6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6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7" fill="hold">
                      <p:stCondLst>
                        <p:cond delay="0"/>
                      </p:stCondLst>
                      <p:childTnLst>
                        <p:par>
                          <p:cTn id="6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7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2" fill="hold">
                      <p:stCondLst>
                        <p:cond delay="0"/>
                      </p:stCondLst>
                      <p:childTnLst>
                        <p:par>
                          <p:cTn id="6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7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7" fill="hold">
                      <p:stCondLst>
                        <p:cond delay="0"/>
                      </p:stCondLst>
                      <p:childTnLst>
                        <p:par>
                          <p:cTn id="6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8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2" fill="hold">
                      <p:stCondLst>
                        <p:cond delay="0"/>
                      </p:stCondLst>
                      <p:childTnLst>
                        <p:par>
                          <p:cTn id="6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9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2" fill="hold">
                      <p:stCondLst>
                        <p:cond delay="0"/>
                      </p:stCondLst>
                      <p:childTnLst>
                        <p:par>
                          <p:cTn id="6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9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7" fill="hold">
                      <p:stCondLst>
                        <p:cond delay="0"/>
                      </p:stCondLst>
                      <p:childTnLst>
                        <p:par>
                          <p:cTn id="6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70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2" fill="hold">
                      <p:stCondLst>
                        <p:cond delay="0"/>
                      </p:stCondLst>
                      <p:childTnLst>
                        <p:par>
                          <p:cTn id="7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70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7" fill="hold">
                      <p:stCondLst>
                        <p:cond delay="0"/>
                      </p:stCondLst>
                      <p:childTnLst>
                        <p:par>
                          <p:cTn id="7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71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2" fill="hold">
                      <p:stCondLst>
                        <p:cond delay="0"/>
                      </p:stCondLst>
                      <p:childTnLst>
                        <p:par>
                          <p:cTn id="7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71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7" fill="hold">
                      <p:stCondLst>
                        <p:cond delay="0"/>
                      </p:stCondLst>
                      <p:childTnLst>
                        <p:par>
                          <p:cTn id="7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72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2" fill="hold">
                      <p:stCondLst>
                        <p:cond delay="0"/>
                      </p:stCondLst>
                      <p:childTnLst>
                        <p:par>
                          <p:cTn id="7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72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7" fill="hold">
                      <p:stCondLst>
                        <p:cond delay="0"/>
                      </p:stCondLst>
                      <p:childTnLst>
                        <p:par>
                          <p:cTn id="7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29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73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2" fill="hold">
                      <p:stCondLst>
                        <p:cond delay="0"/>
                      </p:stCondLst>
                      <p:childTnLst>
                        <p:par>
                          <p:cTn id="7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34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73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7" fill="hold">
                      <p:stCondLst>
                        <p:cond delay="0"/>
                      </p:stCondLst>
                      <p:childTnLst>
                        <p:par>
                          <p:cTn id="7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39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74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2" fill="hold">
                      <p:stCondLst>
                        <p:cond delay="0"/>
                      </p:stCondLst>
                      <p:childTnLst>
                        <p:par>
                          <p:cTn id="7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4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9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75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2" fill="hold">
                      <p:stCondLst>
                        <p:cond delay="0"/>
                      </p:stCondLst>
                      <p:childTnLst>
                        <p:par>
                          <p:cTn id="7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4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75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7" fill="hold">
                      <p:stCondLst>
                        <p:cond delay="0"/>
                      </p:stCondLst>
                      <p:childTnLst>
                        <p:par>
                          <p:cTn id="7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9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76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2" fill="hold">
                      <p:stCondLst>
                        <p:cond delay="0"/>
                      </p:stCondLst>
                      <p:childTnLst>
                        <p:par>
                          <p:cTn id="7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4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76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7" fill="hold">
                      <p:stCondLst>
                        <p:cond delay="0"/>
                      </p:stCondLst>
                      <p:childTnLst>
                        <p:par>
                          <p:cTn id="7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9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77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2" fill="hold">
                      <p:stCondLst>
                        <p:cond delay="0"/>
                      </p:stCondLst>
                      <p:childTnLst>
                        <p:par>
                          <p:cTn id="7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74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77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7" fill="hold">
                      <p:stCondLst>
                        <p:cond delay="0"/>
                      </p:stCondLst>
                      <p:childTnLst>
                        <p:par>
                          <p:cTn id="7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79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78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2" fill="hold">
                      <p:stCondLst>
                        <p:cond delay="0"/>
                      </p:stCondLst>
                      <p:childTnLst>
                        <p:par>
                          <p:cTn id="7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84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786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7" fill="hold">
                      <p:stCondLst>
                        <p:cond delay="0"/>
                      </p:stCondLst>
                      <p:childTnLst>
                        <p:par>
                          <p:cTn id="7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79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2" fill="hold">
                      <p:stCondLst>
                        <p:cond delay="0"/>
                      </p:stCondLst>
                      <p:childTnLst>
                        <p:par>
                          <p:cTn id="7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796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7" fill="hold">
                      <p:stCondLst>
                        <p:cond delay="0"/>
                      </p:stCondLst>
                      <p:childTnLst>
                        <p:par>
                          <p:cTn id="7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801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2" fill="hold">
                      <p:stCondLst>
                        <p:cond delay="0"/>
                      </p:stCondLst>
                      <p:childTnLst>
                        <p:par>
                          <p:cTn id="8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4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806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7" fill="hold">
                      <p:stCondLst>
                        <p:cond delay="0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9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811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2" fill="hold">
                      <p:stCondLst>
                        <p:cond delay="0"/>
                      </p:stCondLst>
                      <p:childTnLst>
                        <p:par>
                          <p:cTn id="8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4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1408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③ 八题选择挑战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422781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A/B/C/D，再点击揭晓；错题马上回到代码验证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P22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9334500" y="247650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10191750" y="2238375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9810750" y="3143250"/>
            <a:ext cx="704850" cy="704850"/>
          </a:xfrm>
          <a:prstGeom prst="roundRect">
            <a:avLst>
              <a:gd name="adj" fmla="val 24324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10668000" y="3095625"/>
            <a:ext cx="704850" cy="704850"/>
          </a:xfrm>
          <a:prstGeom prst="roundRect">
            <a:avLst>
              <a:gd name="adj" fmla="val 24324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075" y="1759744"/>
            <a:ext cx="222912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1–2：显示还是隐藏</a:t>
            </a:r>
          </a:p>
        </p:txBody>
      </p:sp>
      <p:sp>
        <p:nvSpPr>
          <p:cNvPr id="20" name="Ellipse 20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075" y="2597944"/>
            <a:ext cx="296749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3–4：窗口标题与花瓣转角</a:t>
            </a:r>
          </a:p>
        </p:txBody>
      </p:sp>
      <p:sp>
        <p:nvSpPr>
          <p:cNvPr id="23" name="Ellipse 23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075" y="3436144"/>
            <a:ext cx="296749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5–6：作品整洁与向下方向</a:t>
            </a:r>
          </a:p>
        </p:txBody>
      </p:sp>
      <p:sp>
        <p:nvSpPr>
          <p:cNvPr id="26" name="Ellipse 26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62075" y="4274344"/>
            <a:ext cx="347366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7–8：安全修改方法与本课目标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97978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选择题 1–2 · 显示还是隐藏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636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A/B/C/D，再点击揭晓；错题回到代码验证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034397" y="4610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八题选择挑战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P23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586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第1题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137" y="1947386"/>
            <a:ext cx="256453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隐藏画完后的海龟可用？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81915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983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1773" y="3015139"/>
            <a:ext cx="106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hideturtle()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81915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1983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1773" y="3567589"/>
            <a:ext cx="11416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showturtle()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390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1915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983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1773" y="4120039"/>
            <a:ext cx="90036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forward()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2390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1915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983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1773" y="4672489"/>
            <a:ext cx="63328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input()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2390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3479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23900" y="5143500"/>
            <a:ext cx="1524000" cy="400050"/>
            <a:chOff x="723900" y="5143500"/>
            <a:chExt cx="1524000" cy="400050"/>
          </a:xfrm>
        </p:grpSpPr>
        <p:sp>
          <p:nvSpPr>
            <p:cNvPr id="33" name="Rectangle 33"/>
            <p:cNvSpPr/>
            <p:nvPr/>
          </p:nvSpPr>
          <p:spPr>
            <a:xfrm>
              <a:off x="72390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23900" y="2857500"/>
            <a:ext cx="5010150" cy="2857500"/>
            <a:chOff x="723900" y="2857500"/>
            <a:chExt cx="5010150" cy="2857500"/>
          </a:xfrm>
        </p:grpSpPr>
        <p:sp>
          <p:nvSpPr>
            <p:cNvPr id="35" name="Rectangle 35"/>
            <p:cNvSpPr/>
            <p:nvPr/>
          </p:nvSpPr>
          <p:spPr>
            <a:xfrm>
              <a:off x="72390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390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2390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2390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8125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546985" y="5174456"/>
              <a:ext cx="2531923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解析：hideturtle() 只隐藏海龟图标，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已经画好的图形会保留。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619125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43890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71991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第2题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49187" y="1947386"/>
            <a:ext cx="210144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重新显示海龟可用？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5795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655320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388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965823" y="3015139"/>
            <a:ext cx="5902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title()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5795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655320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5388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65823" y="3567589"/>
            <a:ext cx="11416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showturtle()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45795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655320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65388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65823" y="4120039"/>
            <a:ext cx="8314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end_fill()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45795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9" name="Ellipse 59"/>
          <p:cNvSpPr/>
          <p:nvPr/>
        </p:nvSpPr>
        <p:spPr>
          <a:xfrm>
            <a:off x="655320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5388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965823" y="4672489"/>
            <a:ext cx="5815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goto()</a:t>
            </a:r>
          </a:p>
        </p:txBody>
      </p:sp>
      <p:sp>
        <p:nvSpPr>
          <p:cNvPr id="62" name="Rectangle 62"/>
          <p:cNvSpPr/>
          <p:nvPr/>
        </p:nvSpPr>
        <p:spPr>
          <a:xfrm>
            <a:off x="645795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86884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6457950" y="5143500"/>
            <a:ext cx="1524000" cy="400050"/>
            <a:chOff x="6457950" y="5143500"/>
            <a:chExt cx="1524000" cy="400050"/>
          </a:xfrm>
        </p:grpSpPr>
        <p:sp>
          <p:nvSpPr>
            <p:cNvPr id="64" name="Rectangle 64"/>
            <p:cNvSpPr/>
            <p:nvPr/>
          </p:nvSpPr>
          <p:spPr>
            <a:xfrm>
              <a:off x="645795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6457950" y="2857500"/>
            <a:ext cx="5010150" cy="2857500"/>
            <a:chOff x="6457950" y="2857500"/>
            <a:chExt cx="5010150" cy="2857500"/>
          </a:xfrm>
        </p:grpSpPr>
        <p:sp>
          <p:nvSpPr>
            <p:cNvPr id="66" name="Rectangle 66"/>
            <p:cNvSpPr/>
            <p:nvPr/>
          </p:nvSpPr>
          <p:spPr>
            <a:xfrm>
              <a:off x="645795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5795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5795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5795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11530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81035" y="5174456"/>
              <a:ext cx="2314651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解析：showturtle() 用来重新显示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海龟图标。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57592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选择题 3–4 · 标题与转角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636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A/B/C/D，再点击揭晓；错题回到代码验证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034397" y="4610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八题选择挑战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586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第3题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137" y="1947386"/>
            <a:ext cx="233299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给窗口设置名称可用？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81915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983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1773" y="3015139"/>
            <a:ext cx="12536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screen.title()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81915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1983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1773" y="3567589"/>
            <a:ext cx="108991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t.forward()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390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1915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983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1773" y="4120039"/>
            <a:ext cx="67636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range()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2390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1915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983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1773" y="4672489"/>
            <a:ext cx="5815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type()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2390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3479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23900" y="5143500"/>
            <a:ext cx="1524000" cy="400050"/>
            <a:chOff x="723900" y="5143500"/>
            <a:chExt cx="1524000" cy="400050"/>
          </a:xfrm>
        </p:grpSpPr>
        <p:sp>
          <p:nvSpPr>
            <p:cNvPr id="33" name="Rectangle 33"/>
            <p:cNvSpPr/>
            <p:nvPr/>
          </p:nvSpPr>
          <p:spPr>
            <a:xfrm>
              <a:off x="72390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23900" y="2857500"/>
            <a:ext cx="5010150" cy="2857500"/>
            <a:chOff x="723900" y="2857500"/>
            <a:chExt cx="5010150" cy="2857500"/>
          </a:xfrm>
        </p:grpSpPr>
        <p:sp>
          <p:nvSpPr>
            <p:cNvPr id="35" name="Rectangle 35"/>
            <p:cNvSpPr/>
            <p:nvPr/>
          </p:nvSpPr>
          <p:spPr>
            <a:xfrm>
              <a:off x="72390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390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2390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2390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8125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546985" y="5174456"/>
              <a:ext cx="2373681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解析：screen.title("…") 用来修改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绘图窗口标题。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619125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43890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71991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第4题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49187" y="1947386"/>
            <a:ext cx="316134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6片花瓣围一圈，每次可左转？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5795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655320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388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965823" y="3015139"/>
            <a:ext cx="3748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30度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5795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655320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5388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65823" y="3567589"/>
            <a:ext cx="3748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45度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45795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655320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65388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65823" y="4120039"/>
            <a:ext cx="3748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60度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45795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9" name="Ellipse 59"/>
          <p:cNvSpPr/>
          <p:nvPr/>
        </p:nvSpPr>
        <p:spPr>
          <a:xfrm>
            <a:off x="655320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5388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965823" y="4672489"/>
            <a:ext cx="4695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120度</a:t>
            </a:r>
          </a:p>
        </p:txBody>
      </p:sp>
      <p:sp>
        <p:nvSpPr>
          <p:cNvPr id="62" name="Rectangle 62"/>
          <p:cNvSpPr/>
          <p:nvPr/>
        </p:nvSpPr>
        <p:spPr>
          <a:xfrm>
            <a:off x="645795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86884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6457950" y="5143500"/>
            <a:ext cx="1524000" cy="400050"/>
            <a:chOff x="6457950" y="5143500"/>
            <a:chExt cx="1524000" cy="400050"/>
          </a:xfrm>
        </p:grpSpPr>
        <p:sp>
          <p:nvSpPr>
            <p:cNvPr id="64" name="Rectangle 64"/>
            <p:cNvSpPr/>
            <p:nvPr/>
          </p:nvSpPr>
          <p:spPr>
            <a:xfrm>
              <a:off x="645795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6457950" y="2857500"/>
            <a:ext cx="5010150" cy="2857500"/>
            <a:chOff x="6457950" y="2857500"/>
            <a:chExt cx="5010150" cy="2857500"/>
          </a:xfrm>
        </p:grpSpPr>
        <p:sp>
          <p:nvSpPr>
            <p:cNvPr id="66" name="Rectangle 66"/>
            <p:cNvSpPr/>
            <p:nvPr/>
          </p:nvSpPr>
          <p:spPr>
            <a:xfrm>
              <a:off x="645795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5795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5795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5795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11530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81035" y="5174456"/>
              <a:ext cx="1963674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解析：一圈 360° ÷ 6 片花瓣，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每次应转 60°。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57592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选择题 5–6 · 整洁与方向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636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A/B/C/D，再点击揭晓；错题回到代码验证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034397" y="4610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八题选择挑战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P25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586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第5题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137" y="1947386"/>
            <a:ext cx="325917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画完作品后隐藏海龟的好处是？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81915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983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1773" y="3015139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画面更整洁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81915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1983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1773" y="35675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删除作品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390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1915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983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1773" y="412003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速度更慢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2390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1915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983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1773" y="46724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不能保存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2390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3479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23900" y="5143500"/>
            <a:ext cx="1524000" cy="400050"/>
            <a:chOff x="723900" y="5143500"/>
            <a:chExt cx="1524000" cy="400050"/>
          </a:xfrm>
        </p:grpSpPr>
        <p:sp>
          <p:nvSpPr>
            <p:cNvPr id="33" name="Rectangle 33"/>
            <p:cNvSpPr/>
            <p:nvPr/>
          </p:nvSpPr>
          <p:spPr>
            <a:xfrm>
              <a:off x="72390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23900" y="2857500"/>
            <a:ext cx="5010150" cy="2857500"/>
            <a:chOff x="723900" y="2857500"/>
            <a:chExt cx="5010150" cy="2857500"/>
          </a:xfrm>
        </p:grpSpPr>
        <p:sp>
          <p:nvSpPr>
            <p:cNvPr id="35" name="Rectangle 35"/>
            <p:cNvSpPr/>
            <p:nvPr/>
          </p:nvSpPr>
          <p:spPr>
            <a:xfrm>
              <a:off x="72390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390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2390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2390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8125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546985" y="5174456"/>
              <a:ext cx="242951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解析：隐藏海龟能让最终作品更干净，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也不会遮住图形。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619125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43890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71991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第6题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49187" y="1947386"/>
            <a:ext cx="256453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花茎向下可把方向设为？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5795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655320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388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965823" y="3015139"/>
            <a:ext cx="1077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5795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655320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5388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65823" y="3567589"/>
            <a:ext cx="2024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90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45795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655320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65388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65823" y="4120039"/>
            <a:ext cx="29727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180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45795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9" name="Ellipse 59"/>
          <p:cNvSpPr/>
          <p:nvPr/>
        </p:nvSpPr>
        <p:spPr>
          <a:xfrm>
            <a:off x="655320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5388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965823" y="4672489"/>
            <a:ext cx="29727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270</a:t>
            </a:r>
          </a:p>
        </p:txBody>
      </p:sp>
      <p:sp>
        <p:nvSpPr>
          <p:cNvPr id="62" name="Rectangle 62"/>
          <p:cNvSpPr/>
          <p:nvPr/>
        </p:nvSpPr>
        <p:spPr>
          <a:xfrm>
            <a:off x="645795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86884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6457950" y="5143500"/>
            <a:ext cx="1524000" cy="400050"/>
            <a:chOff x="6457950" y="5143500"/>
            <a:chExt cx="1524000" cy="400050"/>
          </a:xfrm>
        </p:grpSpPr>
        <p:sp>
          <p:nvSpPr>
            <p:cNvPr id="64" name="Rectangle 64"/>
            <p:cNvSpPr/>
            <p:nvPr/>
          </p:nvSpPr>
          <p:spPr>
            <a:xfrm>
              <a:off x="645795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6457950" y="2857500"/>
            <a:ext cx="5010150" cy="2857500"/>
            <a:chOff x="6457950" y="2857500"/>
            <a:chExt cx="5010150" cy="2857500"/>
          </a:xfrm>
        </p:grpSpPr>
        <p:sp>
          <p:nvSpPr>
            <p:cNvPr id="66" name="Rectangle 66"/>
            <p:cNvSpPr/>
            <p:nvPr/>
          </p:nvSpPr>
          <p:spPr>
            <a:xfrm>
              <a:off x="645795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5795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5795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5795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11530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81035" y="5174456"/>
              <a:ext cx="2210105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解析：turtle 中 270° 指向下方，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适合画向下的花茎。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57592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选择题 7–8 · 方法与目标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636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先选 A/B/C/D，再点击揭晓；错题回到代码验证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034397" y="4610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八题选择挑战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P26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0485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8586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第7题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137" y="1947386"/>
            <a:ext cx="325917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测试作品更安全的修改方法是？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81915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983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1773" y="3015139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一次改十处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81915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1983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1773" y="3567589"/>
            <a:ext cx="139146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每次改一处再运行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390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1915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983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1773" y="4120039"/>
            <a:ext cx="52989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不运行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2390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1915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983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1773" y="46724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删除全部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2390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3479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23900" y="5143500"/>
            <a:ext cx="1524000" cy="400050"/>
            <a:chOff x="723900" y="5143500"/>
            <a:chExt cx="1524000" cy="400050"/>
          </a:xfrm>
        </p:grpSpPr>
        <p:sp>
          <p:nvSpPr>
            <p:cNvPr id="33" name="Rectangle 33"/>
            <p:cNvSpPr/>
            <p:nvPr/>
          </p:nvSpPr>
          <p:spPr>
            <a:xfrm>
              <a:off x="72390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23900" y="2857500"/>
            <a:ext cx="5010150" cy="2857500"/>
            <a:chOff x="723900" y="2857500"/>
            <a:chExt cx="5010150" cy="2857500"/>
          </a:xfrm>
        </p:grpSpPr>
        <p:sp>
          <p:nvSpPr>
            <p:cNvPr id="35" name="Rectangle 35"/>
            <p:cNvSpPr/>
            <p:nvPr/>
          </p:nvSpPr>
          <p:spPr>
            <a:xfrm>
              <a:off x="72390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390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2390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2390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8125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546985" y="5174456"/>
              <a:ext cx="186055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解析：一次只改一处再运行，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最容易发现是哪一步出错。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6191250" y="1219200"/>
            <a:ext cx="5543550" cy="4648200"/>
          </a:xfrm>
          <a:prstGeom prst="roundRect">
            <a:avLst>
              <a:gd name="adj" fmla="val 614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438900" y="1428750"/>
            <a:ext cx="9906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719914" y="1565910"/>
            <a:ext cx="4285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第8题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49187" y="1947386"/>
            <a:ext cx="233299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本课最重要的目标是？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57950" y="28575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6553200" y="29337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3885" y="30218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965823" y="3015139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背所有单词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57950" y="34099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6553200" y="34861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53885" y="35742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65823" y="3567589"/>
            <a:ext cx="139146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综合命令完成作品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457950" y="396240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6553200" y="403860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653885" y="412670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65823" y="4120039"/>
            <a:ext cx="8745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写最长代码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457950" y="4514850"/>
            <a:ext cx="5010150" cy="457200"/>
          </a:xfrm>
          <a:prstGeom prst="roundRect">
            <a:avLst>
              <a:gd name="adj" fmla="val 33333"/>
            </a:avLst>
          </a:prstGeom>
          <a:solidFill>
            <a:schemeClr val="lt1"/>
          </a:solidFill>
          <a:ln w="14288">
            <a:solidFill>
              <a:schemeClr val="accent6"/>
            </a:solidFill>
          </a:ln>
        </p:spPr>
      </p:sp>
      <p:sp>
        <p:nvSpPr>
          <p:cNvPr id="59" name="Ellipse 59"/>
          <p:cNvSpPr/>
          <p:nvPr/>
        </p:nvSpPr>
        <p:spPr>
          <a:xfrm>
            <a:off x="6553200" y="4591050"/>
            <a:ext cx="304800" cy="30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53885" y="4679156"/>
            <a:ext cx="1034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965823" y="46724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使用网络</a:t>
            </a:r>
          </a:p>
        </p:txBody>
      </p:sp>
      <p:sp>
        <p:nvSpPr>
          <p:cNvPr id="62" name="Rectangle 62"/>
          <p:cNvSpPr/>
          <p:nvPr/>
        </p:nvSpPr>
        <p:spPr>
          <a:xfrm>
            <a:off x="6457950" y="5143500"/>
            <a:ext cx="1524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868846" y="52725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揭晓答案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6457950" y="5143500"/>
            <a:ext cx="1524000" cy="400050"/>
            <a:chOff x="6457950" y="5143500"/>
            <a:chExt cx="1524000" cy="400050"/>
          </a:xfrm>
        </p:grpSpPr>
        <p:sp>
          <p:nvSpPr>
            <p:cNvPr id="64" name="Rectangle 64"/>
            <p:cNvSpPr/>
            <p:nvPr/>
          </p:nvSpPr>
          <p:spPr>
            <a:xfrm>
              <a:off x="6457950" y="5143500"/>
              <a:ext cx="1524000" cy="400050"/>
            </a:xfrm>
            <a:prstGeom prst="roundRect">
              <a:avLst>
                <a:gd name="adj" fmla="val 47619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6457950" y="2857500"/>
            <a:ext cx="5010150" cy="2857500"/>
            <a:chOff x="6457950" y="2857500"/>
            <a:chExt cx="5010150" cy="2857500"/>
          </a:xfrm>
        </p:grpSpPr>
        <p:sp>
          <p:nvSpPr>
            <p:cNvPr id="66" name="Rectangle 66"/>
            <p:cNvSpPr/>
            <p:nvPr/>
          </p:nvSpPr>
          <p:spPr>
            <a:xfrm>
              <a:off x="6457950" y="28575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57950" y="34099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E9FBEF">
                <a:alpha val="78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57950" y="396240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57950" y="4514850"/>
              <a:ext cx="5010150" cy="457200"/>
            </a:xfrm>
            <a:prstGeom prst="roundRect">
              <a:avLst>
                <a:gd name="adj" fmla="val 33333"/>
              </a:avLst>
            </a:prstGeom>
            <a:solidFill>
              <a:srgbClr val="FFE2ED">
                <a:alpha val="78000"/>
              </a:srgb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115300" y="5048250"/>
              <a:ext cx="3352800" cy="666750"/>
            </a:xfrm>
            <a:prstGeom prst="roundRect">
              <a:avLst>
                <a:gd name="adj" fmla="val 25714"/>
              </a:avLst>
            </a:prstGeom>
            <a:solidFill>
              <a:srgbClr val="FFF7E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81035" y="517445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解析：本课目标是综合多个命令，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完成一幅可展示的小红花作品。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3861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保存好，再休息 10 分钟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4253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文件名只用英文、数字和下划线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课间保存站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P27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314450" y="1619250"/>
            <a:ext cx="9563100" cy="3429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1695450" y="2171700"/>
            <a:ext cx="1371600" cy="1371600"/>
          </a:xfrm>
          <a:prstGeom prst="ellipse">
            <a:avLst/>
          </a:prstGeom>
          <a:solidFill>
            <a:schemeClr val="lt2"/>
          </a:solidFill>
          <a:ln w="28575">
            <a:solidFill>
              <a:schemeClr val="accent1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2288952" y="2554605"/>
            <a:ext cx="1845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44890" y="294894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✓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18740" y="3699986"/>
            <a:ext cx="92502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Ctrl + 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63979" y="4110514"/>
            <a:ext cx="143454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保存当前 .py 文件</a:t>
            </a:r>
          </a:p>
        </p:txBody>
      </p:sp>
      <p:sp>
        <p:nvSpPr>
          <p:cNvPr id="17" name="Ellipse 17"/>
          <p:cNvSpPr/>
          <p:nvPr/>
        </p:nvSpPr>
        <p:spPr>
          <a:xfrm>
            <a:off x="4648200" y="2171700"/>
            <a:ext cx="1371600" cy="1371600"/>
          </a:xfrm>
          <a:prstGeom prst="ellipse">
            <a:avLst/>
          </a:prstGeom>
          <a:solidFill>
            <a:srgbClr val="FFF2DC"/>
          </a:solidFill>
          <a:ln w="28575">
            <a:solidFill>
              <a:schemeClr val="accent2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241702" y="2554605"/>
            <a:ext cx="1845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197640" y="294894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☕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55489" y="3699986"/>
            <a:ext cx="135702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休息 10 分钟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24425" y="4110514"/>
            <a:ext cx="121914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活动眼睛和手指</a:t>
            </a:r>
          </a:p>
        </p:txBody>
      </p:sp>
      <p:sp>
        <p:nvSpPr>
          <p:cNvPr id="22" name="Ellipse 22"/>
          <p:cNvSpPr/>
          <p:nvPr/>
        </p:nvSpPr>
        <p:spPr>
          <a:xfrm>
            <a:off x="7600950" y="2171700"/>
            <a:ext cx="1371600" cy="1371600"/>
          </a:xfrm>
          <a:prstGeom prst="ellipse">
            <a:avLst/>
          </a:prstGeom>
          <a:solidFill>
            <a:srgbClr val="E9FBEF"/>
          </a:solidFill>
          <a:ln w="28575">
            <a:solidFill>
              <a:srgbClr val="22C55E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194452" y="2554605"/>
            <a:ext cx="1845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22C55E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07637" y="2948940"/>
            <a:ext cx="1582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2C55E"/>
                </a:solidFill>
                <a:latin typeface="+mn-lt"/>
                <a:ea typeface="+mn-ea"/>
                <a:cs typeface="+mn-cs"/>
              </a:rPr>
              <a:t>▶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99121" y="3699986"/>
            <a:ext cx="1175258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回来先运行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04862" y="4110514"/>
            <a:ext cx="15637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确认已有代码仍正常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171950" y="5257800"/>
            <a:ext cx="3848100" cy="400050"/>
          </a:xfrm>
          <a:prstGeom prst="roundRect">
            <a:avLst>
              <a:gd name="adj" fmla="val 50000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963281" y="5378768"/>
            <a:ext cx="22654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lesson06_red_flower.py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00217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练习 B · 花心 + 花茎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01483" y="461010"/>
            <a:ext cx="8472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动手练习 B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P28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5619750" cy="457200"/>
            <a:chOff x="457200" y="1028700"/>
            <a:chExt cx="5619750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5619750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772510" y="1203960"/>
              <a:ext cx="9891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标准长度 140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5619750" cy="457200"/>
            <a:chOff x="457200" y="1028700"/>
            <a:chExt cx="5619750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5619750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16" name="Rectangle 1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081043" y="1886902"/>
            <a:ext cx="17916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lesson06_center_stem.py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21" name="Rectangle 2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6473" y="313896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6473" y="34247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6473" y="37104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6473" y="399621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6473" y="42819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6473" y="4567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32" name="Rectangle 3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35" name="Rectangle 35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38" name="Rectangle 38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620828" y="5450681"/>
              <a:ext cx="188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运行中：花心 → 方向 → 花茎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41" name="Rectangle 41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029050" y="54506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花心和花茎完成</a:t>
              </a:r>
            </a:p>
          </p:txBody>
        </p:sp>
      </p:grpSp>
      <p:sp>
        <p:nvSpPr>
          <p:cNvPr id="44" name="Rectangle 44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48" name="Group 48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47" name="TextBox 47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492490" y="1874520"/>
            <a:ext cx="1112520" cy="1668780"/>
            <a:chOff x="8492490" y="1874520"/>
            <a:chExt cx="1112520" cy="1668780"/>
          </a:xfrm>
        </p:grpSpPr>
        <p:grpSp>
          <p:nvGrpSpPr>
            <p:cNvPr id="57" name="Group 57"/>
            <p:cNvGrpSpPr/>
            <p:nvPr/>
          </p:nvGrpSpPr>
          <p:grpSpPr>
            <a:xfrm>
              <a:off x="8492490" y="1874520"/>
              <a:ext cx="1112520" cy="1668780"/>
              <a:chOff x="8492490" y="1874520"/>
              <a:chExt cx="1112520" cy="1668780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8789670" y="18745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908685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908685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8789670" y="25603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849249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849249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8896350" y="2324100"/>
                <a:ext cx="304800" cy="3048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56" name="Line 56"/>
              <p:cNvSpPr/>
              <p:nvPr/>
            </p:nvSpPr>
            <p:spPr>
              <a:xfrm>
                <a:off x="9048750" y="2628900"/>
                <a:ext cx="9525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14400">
                    <a:moveTo>
                      <a:pt x="0" y="0"/>
                    </a:moveTo>
                    <a:lnTo>
                      <a:pt x="0" y="914400"/>
                    </a:lnTo>
                  </a:path>
                </a:pathLst>
              </a:custGeom>
              <a:noFill/>
              <a:ln w="60960" cap="rnd">
                <a:solidFill>
                  <a:srgbClr val="22C55E"/>
                </a:solidFill>
              </a:ln>
            </p:spPr>
          </p:sp>
        </p:grpSp>
      </p:grpSp>
      <p:sp>
        <p:nvSpPr>
          <p:cNvPr id="59" name="Rectangle 59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61" name="TextBox 61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661023" y="5082064"/>
            <a:ext cx="2304725" cy="249364"/>
            <a:chOff x="6661023" y="5082064"/>
            <a:chExt cx="2304725" cy="249364"/>
          </a:xfrm>
        </p:grpSpPr>
        <p:sp>
          <p:nvSpPr>
            <p:cNvPr id="63" name="TextBox 63"/>
            <p:cNvSpPr txBox="1"/>
            <p:nvPr/>
          </p:nvSpPr>
          <p:spPr>
            <a:xfrm>
              <a:off x="6661023" y="5082064"/>
              <a:ext cx="23047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运行中：花心 → 方向 → 花茎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65" name="TextBox 65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661594" y="5303758"/>
            <a:ext cx="823839" cy="227362"/>
            <a:chOff x="6661594" y="5303758"/>
            <a:chExt cx="823839" cy="227362"/>
          </a:xfrm>
        </p:grpSpPr>
        <p:sp>
          <p:nvSpPr>
            <p:cNvPr id="67" name="TextBox 67"/>
            <p:cNvSpPr txBox="1"/>
            <p:nvPr/>
          </p:nvSpPr>
          <p:spPr>
            <a:xfrm>
              <a:off x="6661594" y="5303758"/>
              <a:ext cx="82383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方向：270°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661594" y="5513308"/>
            <a:ext cx="1050270" cy="227362"/>
            <a:chOff x="6661594" y="5513308"/>
            <a:chExt cx="1050270" cy="227362"/>
          </a:xfrm>
        </p:grpSpPr>
        <p:sp>
          <p:nvSpPr>
            <p:cNvPr id="69" name="TextBox 69"/>
            <p:cNvSpPr txBox="1"/>
            <p:nvPr/>
          </p:nvSpPr>
          <p:spPr>
            <a:xfrm>
              <a:off x="6661594" y="5513308"/>
              <a:ext cx="105027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绿色花茎：140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661594" y="5722858"/>
            <a:ext cx="324129" cy="227362"/>
            <a:chOff x="6661594" y="5722858"/>
            <a:chExt cx="324129" cy="227362"/>
          </a:xfrm>
        </p:grpSpPr>
        <p:sp>
          <p:nvSpPr>
            <p:cNvPr id="71" name="TextBox 71"/>
            <p:cNvSpPr txBox="1"/>
            <p:nvPr/>
          </p:nvSpPr>
          <p:spPr>
            <a:xfrm>
              <a:off x="6661594" y="572285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75" name="Group 7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4" name="Rectangle 74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5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5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0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5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0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5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5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花茎长度实验站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01483" y="461010"/>
            <a:ext cx="8472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动手练习 B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P29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28212" y="1203960"/>
              <a:ext cx="648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短 · 100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6" name="Rectangle 16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61965" y="1203960"/>
              <a:ext cx="8102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标准 · 140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9" name="Rectangle 19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1" name="Rectangle 21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lt2"/>
            </a:solidFill>
            <a:ln w="1714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857262" y="1203960"/>
              <a:ext cx="648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长 · 180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4" name="Rectangle 24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6" name="Rectangle 2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081043" y="1886902"/>
            <a:ext cx="17916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lesson06_center_stem.py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31" name="Rectangle 3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473" y="313896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6473" y="34247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6473" y="37104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6473" y="399621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6473" y="42819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t.forward(100)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6473" y="4567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42" name="Rectangle 42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6473" y="313896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6473" y="34247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6473" y="37104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6473" y="399621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6473" y="42819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6473" y="4567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28650" y="2152650"/>
            <a:ext cx="5314950" cy="2914650"/>
            <a:chOff x="628650" y="2152650"/>
            <a:chExt cx="5314950" cy="2914650"/>
          </a:xfrm>
        </p:grpSpPr>
        <p:sp>
          <p:nvSpPr>
            <p:cNvPr id="53" name="Rectangle 53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36473" y="2281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6473" y="2567464"/>
              <a:ext cx="1821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6473" y="28532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6473" y="313896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6473" y="3424714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6473" y="3710464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6473" y="3996214"/>
              <a:ext cx="181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6473" y="428196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t.forward(180)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6473" y="4567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64" name="Rectangle 64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67" name="Rectangle 6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70" name="Rectangle 7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3" name="Rectangle 73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6" name="Rectangle 76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3510197" y="5450681"/>
              <a:ext cx="2104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运行中：只比较 forward 参数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79" name="Rectangle 79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104437" y="54506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长度对比完成</a:t>
              </a:r>
            </a:p>
          </p:txBody>
        </p:sp>
      </p:grpSp>
      <p:sp>
        <p:nvSpPr>
          <p:cNvPr id="82" name="Rectangle 82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84" name="Rectangle 84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86" name="Group 86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85" name="TextBox 85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8492490" y="1874520"/>
            <a:ext cx="1112520" cy="1363980"/>
            <a:chOff x="8492490" y="1874520"/>
            <a:chExt cx="1112520" cy="1363980"/>
          </a:xfrm>
        </p:grpSpPr>
        <p:grpSp>
          <p:nvGrpSpPr>
            <p:cNvPr id="95" name="Group 95"/>
            <p:cNvGrpSpPr/>
            <p:nvPr/>
          </p:nvGrpSpPr>
          <p:grpSpPr>
            <a:xfrm>
              <a:off x="8492490" y="1874520"/>
              <a:ext cx="1112520" cy="1363980"/>
              <a:chOff x="8492490" y="1874520"/>
              <a:chExt cx="1112520" cy="1363980"/>
            </a:xfrm>
          </p:grpSpPr>
          <p:sp>
            <p:nvSpPr>
              <p:cNvPr id="87" name="Ellipse 87"/>
              <p:cNvSpPr/>
              <p:nvPr/>
            </p:nvSpPr>
            <p:spPr>
              <a:xfrm>
                <a:off x="8789670" y="18745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88" name="Ellipse 88"/>
              <p:cNvSpPr/>
              <p:nvPr/>
            </p:nvSpPr>
            <p:spPr>
              <a:xfrm>
                <a:off x="908685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89" name="Ellipse 89"/>
              <p:cNvSpPr/>
              <p:nvPr/>
            </p:nvSpPr>
            <p:spPr>
              <a:xfrm>
                <a:off x="908685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0" name="Ellipse 90"/>
              <p:cNvSpPr/>
              <p:nvPr/>
            </p:nvSpPr>
            <p:spPr>
              <a:xfrm>
                <a:off x="8789670" y="25603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1" name="Ellipse 91"/>
              <p:cNvSpPr/>
              <p:nvPr/>
            </p:nvSpPr>
            <p:spPr>
              <a:xfrm>
                <a:off x="849249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2" name="Ellipse 92"/>
              <p:cNvSpPr/>
              <p:nvPr/>
            </p:nvSpPr>
            <p:spPr>
              <a:xfrm>
                <a:off x="849249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3" name="Ellipse 93"/>
              <p:cNvSpPr/>
              <p:nvPr/>
            </p:nvSpPr>
            <p:spPr>
              <a:xfrm>
                <a:off x="8896350" y="2324100"/>
                <a:ext cx="304800" cy="3048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94" name="Line 94"/>
              <p:cNvSpPr/>
              <p:nvPr/>
            </p:nvSpPr>
            <p:spPr>
              <a:xfrm>
                <a:off x="9048750" y="2628900"/>
                <a:ext cx="9525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09600">
                    <a:moveTo>
                      <a:pt x="0" y="0"/>
                    </a:moveTo>
                    <a:lnTo>
                      <a:pt x="0" y="609600"/>
                    </a:lnTo>
                  </a:path>
                </a:pathLst>
              </a:custGeom>
              <a:noFill/>
              <a:ln w="60960" cap="rnd">
                <a:solidFill>
                  <a:srgbClr val="22C55E"/>
                </a:solidFill>
              </a:ln>
            </p:spPr>
          </p:sp>
        </p:grpSp>
      </p:grpSp>
      <p:grpSp>
        <p:nvGrpSpPr>
          <p:cNvPr id="106" name="Group 106"/>
          <p:cNvGrpSpPr/>
          <p:nvPr/>
        </p:nvGrpSpPr>
        <p:grpSpPr>
          <a:xfrm>
            <a:off x="8492490" y="1874520"/>
            <a:ext cx="1112520" cy="1668780"/>
            <a:chOff x="8492490" y="1874520"/>
            <a:chExt cx="1112520" cy="1668780"/>
          </a:xfrm>
        </p:grpSpPr>
        <p:grpSp>
          <p:nvGrpSpPr>
            <p:cNvPr id="105" name="Group 105"/>
            <p:cNvGrpSpPr/>
            <p:nvPr/>
          </p:nvGrpSpPr>
          <p:grpSpPr>
            <a:xfrm>
              <a:off x="8492490" y="1874520"/>
              <a:ext cx="1112520" cy="1668780"/>
              <a:chOff x="8492490" y="1874520"/>
              <a:chExt cx="1112520" cy="1668780"/>
            </a:xfrm>
          </p:grpSpPr>
          <p:sp>
            <p:nvSpPr>
              <p:cNvPr id="97" name="Ellipse 97"/>
              <p:cNvSpPr/>
              <p:nvPr/>
            </p:nvSpPr>
            <p:spPr>
              <a:xfrm>
                <a:off x="8789670" y="18745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8" name="Ellipse 98"/>
              <p:cNvSpPr/>
              <p:nvPr/>
            </p:nvSpPr>
            <p:spPr>
              <a:xfrm>
                <a:off x="908685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99" name="Ellipse 99"/>
              <p:cNvSpPr/>
              <p:nvPr/>
            </p:nvSpPr>
            <p:spPr>
              <a:xfrm>
                <a:off x="908685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0" name="Ellipse 100"/>
              <p:cNvSpPr/>
              <p:nvPr/>
            </p:nvSpPr>
            <p:spPr>
              <a:xfrm>
                <a:off x="8789670" y="25603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1" name="Ellipse 101"/>
              <p:cNvSpPr/>
              <p:nvPr/>
            </p:nvSpPr>
            <p:spPr>
              <a:xfrm>
                <a:off x="849249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2" name="Ellipse 102"/>
              <p:cNvSpPr/>
              <p:nvPr/>
            </p:nvSpPr>
            <p:spPr>
              <a:xfrm>
                <a:off x="849249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3" name="Ellipse 103"/>
              <p:cNvSpPr/>
              <p:nvPr/>
            </p:nvSpPr>
            <p:spPr>
              <a:xfrm>
                <a:off x="8896350" y="2324100"/>
                <a:ext cx="304800" cy="3048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04" name="Line 104"/>
              <p:cNvSpPr/>
              <p:nvPr/>
            </p:nvSpPr>
            <p:spPr>
              <a:xfrm>
                <a:off x="9048750" y="2628900"/>
                <a:ext cx="9525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14400">
                    <a:moveTo>
                      <a:pt x="0" y="0"/>
                    </a:moveTo>
                    <a:lnTo>
                      <a:pt x="0" y="914400"/>
                    </a:lnTo>
                  </a:path>
                </a:pathLst>
              </a:custGeom>
              <a:noFill/>
              <a:ln w="60960" cap="rnd">
                <a:solidFill>
                  <a:srgbClr val="22C55E"/>
                </a:solidFill>
              </a:ln>
            </p:spPr>
          </p:sp>
        </p:grpSp>
      </p:grpSp>
      <p:grpSp>
        <p:nvGrpSpPr>
          <p:cNvPr id="116" name="Group 116"/>
          <p:cNvGrpSpPr/>
          <p:nvPr/>
        </p:nvGrpSpPr>
        <p:grpSpPr>
          <a:xfrm>
            <a:off x="8492490" y="1874520"/>
            <a:ext cx="1112520" cy="1973580"/>
            <a:chOff x="8492490" y="1874520"/>
            <a:chExt cx="1112520" cy="1973580"/>
          </a:xfrm>
        </p:grpSpPr>
        <p:grpSp>
          <p:nvGrpSpPr>
            <p:cNvPr id="115" name="Group 115"/>
            <p:cNvGrpSpPr/>
            <p:nvPr/>
          </p:nvGrpSpPr>
          <p:grpSpPr>
            <a:xfrm>
              <a:off x="8492490" y="1874520"/>
              <a:ext cx="1112520" cy="1973580"/>
              <a:chOff x="8492490" y="1874520"/>
              <a:chExt cx="1112520" cy="1973580"/>
            </a:xfrm>
          </p:grpSpPr>
          <p:sp>
            <p:nvSpPr>
              <p:cNvPr id="107" name="Ellipse 107"/>
              <p:cNvSpPr/>
              <p:nvPr/>
            </p:nvSpPr>
            <p:spPr>
              <a:xfrm>
                <a:off x="8789670" y="18745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8" name="Ellipse 108"/>
              <p:cNvSpPr/>
              <p:nvPr/>
            </p:nvSpPr>
            <p:spPr>
              <a:xfrm>
                <a:off x="908685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09" name="Ellipse 109"/>
              <p:cNvSpPr/>
              <p:nvPr/>
            </p:nvSpPr>
            <p:spPr>
              <a:xfrm>
                <a:off x="908685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0" name="Ellipse 110"/>
              <p:cNvSpPr/>
              <p:nvPr/>
            </p:nvSpPr>
            <p:spPr>
              <a:xfrm>
                <a:off x="8789670" y="256032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1" name="Ellipse 111"/>
              <p:cNvSpPr/>
              <p:nvPr/>
            </p:nvSpPr>
            <p:spPr>
              <a:xfrm>
                <a:off x="8492490" y="23888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2" name="Ellipse 112"/>
              <p:cNvSpPr/>
              <p:nvPr/>
            </p:nvSpPr>
            <p:spPr>
              <a:xfrm>
                <a:off x="8492490" y="2045970"/>
                <a:ext cx="518160" cy="518160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3" name="Ellipse 113"/>
              <p:cNvSpPr/>
              <p:nvPr/>
            </p:nvSpPr>
            <p:spPr>
              <a:xfrm>
                <a:off x="8896350" y="2324100"/>
                <a:ext cx="304800" cy="30480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14" name="Line 114"/>
              <p:cNvSpPr/>
              <p:nvPr/>
            </p:nvSpPr>
            <p:spPr>
              <a:xfrm>
                <a:off x="9048750" y="2628900"/>
                <a:ext cx="9525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9200">
                    <a:moveTo>
                      <a:pt x="0" y="0"/>
                    </a:moveTo>
                    <a:lnTo>
                      <a:pt x="0" y="1219200"/>
                    </a:lnTo>
                  </a:path>
                </a:pathLst>
              </a:custGeom>
              <a:noFill/>
              <a:ln w="60960" cap="rnd">
                <a:solidFill>
                  <a:srgbClr val="22C55E"/>
                </a:solidFill>
              </a:ln>
            </p:spPr>
          </p:sp>
        </p:grpSp>
      </p:grpSp>
      <p:sp>
        <p:nvSpPr>
          <p:cNvPr id="117" name="Rectangle 117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18" name="TextBox 118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120" name="Group 120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119" name="TextBox 119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6661023" y="5082064"/>
            <a:ext cx="2416729" cy="249364"/>
            <a:chOff x="6661023" y="5082064"/>
            <a:chExt cx="2416729" cy="249364"/>
          </a:xfrm>
        </p:grpSpPr>
        <p:sp>
          <p:nvSpPr>
            <p:cNvPr id="121" name="TextBox 121"/>
            <p:cNvSpPr txBox="1"/>
            <p:nvPr/>
          </p:nvSpPr>
          <p:spPr>
            <a:xfrm>
              <a:off x="6661023" y="5082064"/>
              <a:ext cx="2416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运行中：只比较 forward 参数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23" name="TextBox 123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6661594" y="5303758"/>
            <a:ext cx="823839" cy="227362"/>
            <a:chOff x="6661594" y="5303758"/>
            <a:chExt cx="823839" cy="227362"/>
          </a:xfrm>
        </p:grpSpPr>
        <p:sp>
          <p:nvSpPr>
            <p:cNvPr id="125" name="TextBox 125"/>
            <p:cNvSpPr txBox="1"/>
            <p:nvPr/>
          </p:nvSpPr>
          <p:spPr>
            <a:xfrm>
              <a:off x="6661594" y="5303758"/>
              <a:ext cx="82383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方向：270°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6661594" y="5513308"/>
            <a:ext cx="1050270" cy="227362"/>
            <a:chOff x="6661594" y="5513308"/>
            <a:chExt cx="1050270" cy="227362"/>
          </a:xfrm>
        </p:grpSpPr>
        <p:sp>
          <p:nvSpPr>
            <p:cNvPr id="127" name="TextBox 127"/>
            <p:cNvSpPr txBox="1"/>
            <p:nvPr/>
          </p:nvSpPr>
          <p:spPr>
            <a:xfrm>
              <a:off x="6661594" y="5513308"/>
              <a:ext cx="105027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绿色花茎：100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6661594" y="5722858"/>
            <a:ext cx="324129" cy="227362"/>
            <a:chOff x="6661594" y="5722858"/>
            <a:chExt cx="324129" cy="227362"/>
          </a:xfrm>
        </p:grpSpPr>
        <p:sp>
          <p:nvSpPr>
            <p:cNvPr id="129" name="TextBox 129"/>
            <p:cNvSpPr txBox="1"/>
            <p:nvPr/>
          </p:nvSpPr>
          <p:spPr>
            <a:xfrm>
              <a:off x="6661594" y="572285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31" name="TextBox 131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6661594" y="5303758"/>
            <a:ext cx="823839" cy="227362"/>
            <a:chOff x="6661594" y="5303758"/>
            <a:chExt cx="823839" cy="227362"/>
          </a:xfrm>
        </p:grpSpPr>
        <p:sp>
          <p:nvSpPr>
            <p:cNvPr id="133" name="TextBox 133"/>
            <p:cNvSpPr txBox="1"/>
            <p:nvPr/>
          </p:nvSpPr>
          <p:spPr>
            <a:xfrm>
              <a:off x="6661594" y="5303758"/>
              <a:ext cx="82383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方向：270°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6661594" y="5513308"/>
            <a:ext cx="1050270" cy="227362"/>
            <a:chOff x="6661594" y="5513308"/>
            <a:chExt cx="1050270" cy="227362"/>
          </a:xfrm>
        </p:grpSpPr>
        <p:sp>
          <p:nvSpPr>
            <p:cNvPr id="135" name="TextBox 135"/>
            <p:cNvSpPr txBox="1"/>
            <p:nvPr/>
          </p:nvSpPr>
          <p:spPr>
            <a:xfrm>
              <a:off x="6661594" y="5513308"/>
              <a:ext cx="105027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绿色花茎：140</a:t>
              </a:r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6661594" y="5722858"/>
            <a:ext cx="324129" cy="227362"/>
            <a:chOff x="6661594" y="5722858"/>
            <a:chExt cx="324129" cy="227362"/>
          </a:xfrm>
        </p:grpSpPr>
        <p:sp>
          <p:nvSpPr>
            <p:cNvPr id="137" name="TextBox 137"/>
            <p:cNvSpPr txBox="1"/>
            <p:nvPr/>
          </p:nvSpPr>
          <p:spPr>
            <a:xfrm>
              <a:off x="6661594" y="572285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39" name="TextBox 139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</a:t>
              </a:r>
            </a:p>
          </p:txBody>
        </p:sp>
      </p:grpSp>
      <p:grpSp>
        <p:nvGrpSpPr>
          <p:cNvPr id="142" name="Group 142"/>
          <p:cNvGrpSpPr/>
          <p:nvPr/>
        </p:nvGrpSpPr>
        <p:grpSpPr>
          <a:xfrm>
            <a:off x="6661594" y="5303758"/>
            <a:ext cx="823839" cy="227362"/>
            <a:chOff x="6661594" y="5303758"/>
            <a:chExt cx="823839" cy="227362"/>
          </a:xfrm>
        </p:grpSpPr>
        <p:sp>
          <p:nvSpPr>
            <p:cNvPr id="141" name="TextBox 141"/>
            <p:cNvSpPr txBox="1"/>
            <p:nvPr/>
          </p:nvSpPr>
          <p:spPr>
            <a:xfrm>
              <a:off x="6661594" y="5303758"/>
              <a:ext cx="82383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方向：270°</a:t>
              </a:r>
            </a:p>
          </p:txBody>
        </p:sp>
      </p:grpSp>
      <p:grpSp>
        <p:nvGrpSpPr>
          <p:cNvPr id="144" name="Group 144"/>
          <p:cNvGrpSpPr/>
          <p:nvPr/>
        </p:nvGrpSpPr>
        <p:grpSpPr>
          <a:xfrm>
            <a:off x="6661594" y="5513308"/>
            <a:ext cx="1050270" cy="227362"/>
            <a:chOff x="6661594" y="5513308"/>
            <a:chExt cx="1050270" cy="227362"/>
          </a:xfrm>
        </p:grpSpPr>
        <p:sp>
          <p:nvSpPr>
            <p:cNvPr id="143" name="TextBox 143"/>
            <p:cNvSpPr txBox="1"/>
            <p:nvPr/>
          </p:nvSpPr>
          <p:spPr>
            <a:xfrm>
              <a:off x="6661594" y="5513308"/>
              <a:ext cx="105027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绿色花茎：180</a:t>
              </a:r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6661594" y="5722858"/>
            <a:ext cx="324129" cy="227362"/>
            <a:chOff x="6661594" y="5722858"/>
            <a:chExt cx="324129" cy="227362"/>
          </a:xfrm>
        </p:grpSpPr>
        <p:sp>
          <p:nvSpPr>
            <p:cNvPr id="145" name="TextBox 145"/>
            <p:cNvSpPr txBox="1"/>
            <p:nvPr/>
          </p:nvSpPr>
          <p:spPr>
            <a:xfrm>
              <a:off x="6661594" y="5722858"/>
              <a:ext cx="32412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完成</a:t>
              </a:r>
            </a:p>
          </p:txBody>
        </p:sp>
      </p:grpSp>
      <p:sp>
        <p:nvSpPr>
          <p:cNvPr id="147" name="TextBox 147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149" name="Group 14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48" name="Rectangle 148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51" name="Group 151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50" name="Rectangle 15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53" name="Group 153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52" name="Rectangle 15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3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6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4" fill="hold">
                      <p:stCondLst>
                        <p:cond delay="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7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7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9" fill="hold">
                      <p:stCondLst>
                        <p:cond delay="0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8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4" fill="hold">
                      <p:stCondLst>
                        <p:cond delay="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9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4" fill="hold">
                      <p:stCondLst>
                        <p:cond delay="0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9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9" fill="hold">
                      <p:stCondLst>
                        <p:cond delay="0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0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9" fill="hold">
                      <p:stCondLst>
                        <p:cond delay="0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2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9" fill="hold">
                      <p:stCondLst>
                        <p:cond delay="0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3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4" fill="hold">
                      <p:stCondLst>
                        <p:cond delay="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3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9" fill="hold">
                      <p:stCondLst>
                        <p:cond delay="0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4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4" fill="hold">
                      <p:stCondLst>
                        <p:cond delay="0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5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4" fill="hold">
                      <p:stCondLst>
                        <p:cond delay="0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>
                      <p:stCondLst>
                        <p:cond delay="0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6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4" fill="hold">
                      <p:stCondLst>
                        <p:cond delay="0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6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9" fill="hold">
                      <p:stCondLst>
                        <p:cond delay="0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8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4" fill="hold">
                      <p:stCondLst>
                        <p:cond delay="0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9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4" fill="hold">
                      <p:stCondLst>
                        <p:cond delay="0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9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9" fill="hold">
                      <p:stCondLst>
                        <p:cond delay="0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0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4" fill="hold">
                      <p:stCondLst>
                        <p:cond delay="0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1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4" fill="hold">
                      <p:stCondLst>
                        <p:cond delay="0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1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9" fill="hold">
                      <p:stCondLst>
                        <p:cond delay="0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2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2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9" fill="hold">
                      <p:stCondLst>
                        <p:cond delay="0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3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4" fill="hold">
                      <p:stCondLst>
                        <p:cond delay="0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4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4" fill="hold">
                      <p:stCondLst>
                        <p:cond delay="0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4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9" fill="hold">
                      <p:stCondLst>
                        <p:cond delay="0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5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9" fill="hold">
                      <p:stCondLst>
                        <p:cond delay="0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6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7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4" fill="hold">
                      <p:stCondLst>
                        <p:cond delay="0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7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9" fill="hold">
                      <p:stCondLst>
                        <p:cond delay="0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8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4" fill="hold">
                      <p:stCondLst>
                        <p:cond delay="0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8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9" fill="hold">
                      <p:stCondLst>
                        <p:cond delay="0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9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4" fill="hold">
                      <p:stCondLst>
                        <p:cond delay="0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0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4" fill="hold">
                      <p:stCondLst>
                        <p:cond delay="0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0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9" fill="hold">
                      <p:stCondLst>
                        <p:cond delay="0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1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4" fill="hold">
                      <p:stCondLst>
                        <p:cond delay="0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1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9" fill="hold">
                      <p:stCondLst>
                        <p:cond delay="0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2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4" fill="hold">
                      <p:stCondLst>
                        <p:cond delay="0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3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4" fill="hold">
                      <p:stCondLst>
                        <p:cond delay="0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3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9" fill="hold">
                      <p:stCondLst>
                        <p:cond delay="0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4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4" fill="hold">
                      <p:stCondLst>
                        <p:cond delay="0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4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9" fill="hold">
                      <p:stCondLst>
                        <p:cond delay="0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5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4" fill="hold">
                      <p:stCondLst>
                        <p:cond delay="0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6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4" fill="hold">
                      <p:stCondLst>
                        <p:cond delay="0"/>
                      </p:stCondLst>
                      <p:childTnLst>
                        <p:par>
                          <p:cTn id="4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6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9" fill="hold">
                      <p:stCondLst>
                        <p:cond delay="0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7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4" fill="hold">
                      <p:stCondLst>
                        <p:cond delay="0"/>
                      </p:stCondLst>
                      <p:childTnLst>
                        <p:par>
                          <p:cTn id="4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7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9" fill="hold">
                      <p:stCondLst>
                        <p:cond delay="0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8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4" fill="hold">
                      <p:stCondLst>
                        <p:cond delay="0"/>
                      </p:stCondLst>
                      <p:childTnLst>
                        <p:par>
                          <p:cTn id="4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9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4" fill="hold">
                      <p:stCondLst>
                        <p:cond delay="0"/>
                      </p:stCondLst>
                      <p:childTnLst>
                        <p:par>
                          <p:cTn id="4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9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9" fill="hold">
                      <p:stCondLst>
                        <p:cond delay="0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50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4" fill="hold">
                      <p:stCondLst>
                        <p:cond delay="0"/>
                      </p:stCondLst>
                      <p:childTnLst>
                        <p:par>
                          <p:cTn id="5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50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9" fill="hold">
                      <p:stCondLst>
                        <p:cond delay="0"/>
                      </p:stCondLst>
                      <p:childTnLst>
                        <p:par>
                          <p:cTn id="5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51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4" fill="hold">
                      <p:stCondLst>
                        <p:cond delay="0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52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4" fill="hold">
                      <p:stCondLst>
                        <p:cond delay="0"/>
                      </p:stCondLst>
                      <p:childTnLst>
                        <p:par>
                          <p:cTn id="5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52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9" fill="hold">
                      <p:stCondLst>
                        <p:cond delay="0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53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4" fill="hold">
                      <p:stCondLst>
                        <p:cond delay="0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53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9" fill="hold">
                      <p:stCondLst>
                        <p:cond delay="0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54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4" fill="hold">
                      <p:stCondLst>
                        <p:cond delay="0"/>
                      </p:stCondLst>
                      <p:childTnLst>
                        <p:par>
                          <p:cTn id="5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54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9" fill="hold">
                      <p:stCondLst>
                        <p:cond delay="0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55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4" fill="hold">
                      <p:stCondLst>
                        <p:cond delay="0"/>
                      </p:stCondLst>
                      <p:childTnLst>
                        <p:par>
                          <p:cTn id="5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55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9" fill="hold">
                      <p:stCondLst>
                        <p:cond delay="0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56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4" fill="hold">
                      <p:stCondLst>
                        <p:cond delay="0"/>
                      </p:stCondLst>
                      <p:childTnLst>
                        <p:par>
                          <p:cTn id="5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6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56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9" fill="hold">
                      <p:stCondLst>
                        <p:cond delay="0"/>
                      </p:stCondLst>
                      <p:childTnLst>
                        <p:par>
                          <p:cTn id="5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1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57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4" fill="hold">
                      <p:stCondLst>
                        <p:cond delay="0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58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4" fill="hold">
                      <p:stCondLst>
                        <p:cond delay="0"/>
                      </p:stCondLst>
                      <p:childTnLst>
                        <p:par>
                          <p:cTn id="5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58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9" fill="hold">
                      <p:stCondLst>
                        <p:cond delay="0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59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4" fill="hold">
                      <p:stCondLst>
                        <p:cond delay="0"/>
                      </p:stCondLst>
                      <p:childTnLst>
                        <p:par>
                          <p:cTn id="5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59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9" fill="hold">
                      <p:stCondLst>
                        <p:cond delay="0"/>
                      </p:stCondLst>
                      <p:childTnLst>
                        <p:par>
                          <p:cTn id="6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60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4" fill="hold">
                      <p:stCondLst>
                        <p:cond delay="0"/>
                      </p:stCondLst>
                      <p:childTnLst>
                        <p:par>
                          <p:cTn id="6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60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9" fill="hold">
                      <p:stCondLst>
                        <p:cond delay="0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61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4" fill="hold">
                      <p:stCondLst>
                        <p:cond delay="0"/>
                      </p:stCondLst>
                      <p:childTnLst>
                        <p:par>
                          <p:cTn id="6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61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9" fill="hold">
                      <p:stCondLst>
                        <p:cond delay="0"/>
                      </p:stCondLst>
                      <p:childTnLst>
                        <p:par>
                          <p:cTn id="6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62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4" fill="hold">
                      <p:stCondLst>
                        <p:cond delay="0"/>
                      </p:stCondLst>
                      <p:childTnLst>
                        <p:par>
                          <p:cTn id="6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62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9" fill="hold">
                      <p:stCondLst>
                        <p:cond delay="0"/>
                      </p:stCondLst>
                      <p:childTnLst>
                        <p:par>
                          <p:cTn id="6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63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4" fill="hold">
                      <p:stCondLst>
                        <p:cond delay="0"/>
                      </p:stCondLst>
                      <p:childTnLst>
                        <p:par>
                          <p:cTn id="6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64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4" fill="hold">
                      <p:stCondLst>
                        <p:cond delay="0"/>
                      </p:stCondLst>
                      <p:childTnLst>
                        <p:par>
                          <p:cTn id="6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64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9" fill="hold">
                      <p:stCondLst>
                        <p:cond delay="0"/>
                      </p:stCondLst>
                      <p:childTnLst>
                        <p:par>
                          <p:cTn id="6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65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4" fill="hold">
                      <p:stCondLst>
                        <p:cond delay="0"/>
                      </p:stCondLst>
                      <p:childTnLst>
                        <p:par>
                          <p:cTn id="6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65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9" fill="hold">
                      <p:stCondLst>
                        <p:cond delay="0"/>
                      </p:stCondLst>
                      <p:childTnLst>
                        <p:par>
                          <p:cTn id="6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66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4" fill="hold">
                      <p:stCondLst>
                        <p:cond delay="0"/>
                      </p:stCondLst>
                      <p:childTnLst>
                        <p:par>
                          <p:cTn id="6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66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9" fill="hold">
                      <p:stCondLst>
                        <p:cond delay="0"/>
                      </p:stCondLst>
                      <p:childTnLst>
                        <p:par>
                          <p:cTn id="6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67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4" fill="hold">
                      <p:stCondLst>
                        <p:cond delay="0"/>
                      </p:stCondLst>
                      <p:childTnLst>
                        <p:par>
                          <p:cTn id="6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67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9" fill="hold">
                      <p:stCondLst>
                        <p:cond delay="0"/>
                      </p:stCondLst>
                      <p:childTnLst>
                        <p:par>
                          <p:cTn id="6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68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4" fill="hold">
                      <p:stCondLst>
                        <p:cond delay="0"/>
                      </p:stCondLst>
                      <p:childTnLst>
                        <p:par>
                          <p:cTn id="6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68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9" fill="hold">
                      <p:stCondLst>
                        <p:cond delay="0"/>
                      </p:stCondLst>
                      <p:childTnLst>
                        <p:par>
                          <p:cTn id="6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69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4" fill="hold">
                      <p:stCondLst>
                        <p:cond delay="0"/>
                      </p:stCondLst>
                      <p:childTnLst>
                        <p:par>
                          <p:cTn id="6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69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9" fill="hold">
                      <p:stCondLst>
                        <p:cond delay="0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70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4" fill="hold">
                      <p:stCondLst>
                        <p:cond delay="0"/>
                      </p:stCondLst>
                      <p:childTnLst>
                        <p:par>
                          <p:cTn id="7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0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9" fill="hold">
                      <p:stCondLst>
                        <p:cond delay="0"/>
                      </p:stCondLst>
                      <p:childTnLst>
                        <p:par>
                          <p:cTn id="7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71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4" fill="hold">
                      <p:stCondLst>
                        <p:cond delay="0"/>
                      </p:stCondLst>
                      <p:childTnLst>
                        <p:par>
                          <p:cTn id="7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71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9" fill="hold">
                      <p:stCondLst>
                        <p:cond delay="0"/>
                      </p:stCondLst>
                      <p:childTnLst>
                        <p:par>
                          <p:cTn id="7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2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4" fill="hold">
                      <p:stCondLst>
                        <p:cond delay="0"/>
                      </p:stCondLst>
                      <p:childTnLst>
                        <p:par>
                          <p:cTn id="7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72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9" fill="hold">
                      <p:stCondLst>
                        <p:cond delay="0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73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4" fill="hold">
                      <p:stCondLst>
                        <p:cond delay="0"/>
                      </p:stCondLst>
                      <p:childTnLst>
                        <p:par>
                          <p:cTn id="7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3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9" fill="hold">
                      <p:stCondLst>
                        <p:cond delay="0"/>
                      </p:stCondLst>
                      <p:childTnLst>
                        <p:par>
                          <p:cTn id="7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74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4" fill="hold">
                      <p:stCondLst>
                        <p:cond delay="0"/>
                      </p:stCondLst>
                      <p:childTnLst>
                        <p:par>
                          <p:cTn id="7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74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9" fill="hold">
                      <p:stCondLst>
                        <p:cond delay="0"/>
                      </p:stCondLst>
                      <p:childTnLst>
                        <p:par>
                          <p:cTn id="7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5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4" fill="hold">
                      <p:stCondLst>
                        <p:cond delay="0"/>
                      </p:stCondLst>
                      <p:childTnLst>
                        <p:par>
                          <p:cTn id="7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76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4" fill="hold">
                      <p:stCondLst>
                        <p:cond delay="0"/>
                      </p:stCondLst>
                      <p:childTnLst>
                        <p:par>
                          <p:cTn id="7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6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9" fill="hold">
                      <p:stCondLst>
                        <p:cond delay="0"/>
                      </p:stCondLst>
                      <p:childTnLst>
                        <p:par>
                          <p:cTn id="7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77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4" fill="hold">
                      <p:stCondLst>
                        <p:cond delay="0"/>
                      </p:stCondLst>
                      <p:childTnLst>
                        <p:par>
                          <p:cTn id="7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77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9" fill="hold">
                      <p:stCondLst>
                        <p:cond delay="0"/>
                      </p:stCondLst>
                      <p:childTnLst>
                        <p:par>
                          <p:cTn id="7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8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4" fill="hold">
                      <p:stCondLst>
                        <p:cond delay="0"/>
                      </p:stCondLst>
                      <p:childTnLst>
                        <p:par>
                          <p:cTn id="7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78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9" fill="hold">
                      <p:stCondLst>
                        <p:cond delay="0"/>
                      </p:stCondLst>
                      <p:childTnLst>
                        <p:par>
                          <p:cTn id="7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79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4" fill="hold">
                      <p:stCondLst>
                        <p:cond delay="0"/>
                      </p:stCondLst>
                      <p:childTnLst>
                        <p:par>
                          <p:cTn id="7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9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9" fill="hold">
                      <p:stCondLst>
                        <p:cond delay="0"/>
                      </p:stCondLst>
                      <p:childTnLst>
                        <p:par>
                          <p:cTn id="8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0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4" fill="hold">
                      <p:stCondLst>
                        <p:cond delay="0"/>
                      </p:stCondLst>
                      <p:childTnLst>
                        <p:par>
                          <p:cTn id="8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80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9" fill="hold">
                      <p:stCondLst>
                        <p:cond delay="0"/>
                      </p:stCondLst>
                      <p:childTnLst>
                        <p:par>
                          <p:cTn id="8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81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4" fill="hold">
                      <p:stCondLst>
                        <p:cond delay="0"/>
                      </p:stCondLst>
                      <p:childTnLst>
                        <p:par>
                          <p:cTn id="8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1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9" fill="hold">
                      <p:stCondLst>
                        <p:cond delay="0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82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4" fill="hold">
                      <p:stCondLst>
                        <p:cond delay="0"/>
                      </p:stCondLst>
                      <p:childTnLst>
                        <p:par>
                          <p:cTn id="8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82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9" fill="hold">
                      <p:stCondLst>
                        <p:cond delay="0"/>
                      </p:stCondLst>
                      <p:childTnLst>
                        <p:par>
                          <p:cTn id="8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31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3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4" fill="hold">
                      <p:stCondLst>
                        <p:cond delay="0"/>
                      </p:stCondLst>
                      <p:childTnLst>
                        <p:par>
                          <p:cTn id="8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36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83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9" fill="hold">
                      <p:stCondLst>
                        <p:cond delay="0"/>
                      </p:stCondLst>
                      <p:childTnLst>
                        <p:par>
                          <p:cTn id="8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41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84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4" fill="hold">
                      <p:stCondLst>
                        <p:cond delay="0"/>
                      </p:stCondLst>
                      <p:childTnLst>
                        <p:par>
                          <p:cTn id="84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46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4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9" fill="hold">
                      <p:stCondLst>
                        <p:cond delay="0"/>
                      </p:stCondLst>
                      <p:childTnLst>
                        <p:par>
                          <p:cTn id="85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1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85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4" fill="hold">
                      <p:stCondLst>
                        <p:cond delay="0"/>
                      </p:stCondLst>
                      <p:childTnLst>
                        <p:par>
                          <p:cTn id="8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6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85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9" fill="hold">
                      <p:stCondLst>
                        <p:cond delay="0"/>
                      </p:stCondLst>
                      <p:childTnLst>
                        <p:par>
                          <p:cTn id="8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61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6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4" fill="hold">
                      <p:stCondLst>
                        <p:cond delay="0"/>
                      </p:stCondLst>
                      <p:childTnLst>
                        <p:par>
                          <p:cTn id="86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66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86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9" fill="hold">
                      <p:stCondLst>
                        <p:cond delay="0"/>
                      </p:stCondLst>
                      <p:childTnLst>
                        <p:par>
                          <p:cTn id="87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71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87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4" fill="hold">
                      <p:stCondLst>
                        <p:cond delay="0"/>
                      </p:stCondLst>
                      <p:childTnLst>
                        <p:par>
                          <p:cTn id="87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76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81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88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4" fill="hold">
                      <p:stCondLst>
                        <p:cond delay="0"/>
                      </p:stCondLst>
                      <p:childTnLst>
                        <p:par>
                          <p:cTn id="88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86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88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9" fill="hold">
                      <p:stCondLst>
                        <p:cond delay="0"/>
                      </p:stCondLst>
                      <p:childTnLst>
                        <p:par>
                          <p:cTn id="89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91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89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4" fill="hold">
                      <p:stCondLst>
                        <p:cond delay="0"/>
                      </p:stCondLst>
                      <p:childTnLst>
                        <p:par>
                          <p:cTn id="8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96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89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9" fill="hold">
                      <p:stCondLst>
                        <p:cond delay="0"/>
                      </p:stCondLst>
                      <p:childTnLst>
                        <p:par>
                          <p:cTn id="90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1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903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4" fill="hold">
                      <p:stCondLst>
                        <p:cond delay="0"/>
                      </p:stCondLst>
                      <p:childTnLst>
                        <p:par>
                          <p:cTn id="90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908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9" fill="hold">
                      <p:stCondLst>
                        <p:cond delay="0"/>
                      </p:stCondLst>
                      <p:childTnLst>
                        <p:par>
                          <p:cTn id="9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913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4" fill="hold">
                      <p:stCondLst>
                        <p:cond delay="0"/>
                      </p:stCondLst>
                      <p:childTnLst>
                        <p:par>
                          <p:cTn id="9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918" restart="whenNotActive" fill="hold" evtFilter="cancelBubble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9" fill="hold">
                      <p:stCondLst>
                        <p:cond delay="0"/>
                      </p:stCondLst>
                      <p:childTnLst>
                        <p:par>
                          <p:cTn id="9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21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"/>
                  </p:tgtEl>
                </p:cond>
              </p:nextCondLst>
            </p:seq>
            <p:seq concurrent="1" nextAc="seek">
              <p:cTn id="923" restart="whenNotActive" fill="hold" evtFilter="cancelBubble" nodeType="interactiveSeq">
                <p:stCondLst>
                  <p:cond evt="onClick" delay="0">
                    <p:tgtEl>
                      <p:spTgt spid="1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4" fill="hold">
                      <p:stCondLst>
                        <p:cond delay="0"/>
                      </p:stCondLst>
                      <p:childTnLst>
                        <p:par>
                          <p:cTn id="9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26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"/>
                  </p:tgtEl>
                </p:cond>
              </p:nextCondLst>
            </p:seq>
            <p:seq concurrent="1" nextAc="seek">
              <p:cTn id="928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9" fill="hold">
                      <p:stCondLst>
                        <p:cond delay="0"/>
                      </p:stCondLst>
                      <p:childTnLst>
                        <p:par>
                          <p:cTn id="9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31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91718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④ 微项目 · 送你一朵小红花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80385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不从空白重写：把已经跑通的代码积木逐段装起来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微项目装配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P30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E2ED"/>
          </a:solidFill>
          <a:ln>
            <a:noFill/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0" y="2000759"/>
            <a:ext cx="2286000" cy="2856481"/>
          </a:xfrm>
          <a:prstGeom prst="rect">
            <a:avLst/>
          </a:prstGeom>
        </p:spPr>
      </p:pic>
      <p:sp>
        <p:nvSpPr>
          <p:cNvPr id="14" name="Ellipse 14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2075" y="1759744"/>
            <a:ext cx="2638486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窗口：title + bgcolor</a:t>
            </a:r>
          </a:p>
        </p:txBody>
      </p:sp>
      <p:sp>
        <p:nvSpPr>
          <p:cNvPr id="17" name="Ellipse 17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2075" y="2597944"/>
            <a:ext cx="284095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花瓣：循环 6 次完成填充</a:t>
            </a:r>
          </a:p>
        </p:txBody>
      </p:sp>
      <p:sp>
        <p:nvSpPr>
          <p:cNvPr id="20" name="Ellipse 20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2075" y="3436144"/>
            <a:ext cx="3600211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花心花茎：dot + 270° + 粗绿线</a:t>
            </a:r>
          </a:p>
        </p:txBody>
      </p:sp>
      <p:sp>
        <p:nvSpPr>
          <p:cNvPr id="23" name="Ellipse 23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075" y="4274344"/>
            <a:ext cx="391656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完成：hideturtle() → 保存 → 展示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52806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长代码，也是一块块拼起来的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2869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出错时不要从头删：回到对应区块逐段检查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微项目装配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P31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524000"/>
            <a:ext cx="3429000" cy="1809750"/>
          </a:xfrm>
          <a:prstGeom prst="roundRect">
            <a:avLst>
              <a:gd name="adj" fmla="val 13684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77799" y="1715929"/>
            <a:ext cx="105663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① 窗口设置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9704" y="2118360"/>
            <a:ext cx="21512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screen = turtle.Screen()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9704" y="2375535"/>
            <a:ext cx="22414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Microsoft YaHei"/>
                <a:cs typeface="Consolas"/>
              </a:rPr>
              <a:t>screen.title("小红花画展")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9704" y="2632710"/>
            <a:ext cx="24111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screen.bgcolor("lightblue")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095750" y="1524000"/>
            <a:ext cx="3429000" cy="1809750"/>
          </a:xfrm>
          <a:prstGeom prst="roundRect">
            <a:avLst>
              <a:gd name="adj" fmla="val 13684"/>
            </a:avLst>
          </a:prstGeom>
          <a:solidFill>
            <a:srgbClr val="FFF2DC"/>
          </a:solidFill>
          <a:ln w="19050">
            <a:solidFill>
              <a:schemeClr val="accent2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316349" y="1715929"/>
            <a:ext cx="105663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② 创建海龟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18254" y="2118360"/>
            <a:ext cx="1707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 = turtle.Turtle()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18254" y="2375535"/>
            <a:ext cx="9006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t.speed(0)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734300" y="1524000"/>
            <a:ext cx="4000500" cy="1809750"/>
          </a:xfrm>
          <a:prstGeom prst="roundRect">
            <a:avLst>
              <a:gd name="adj" fmla="val 13684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954899" y="1715929"/>
            <a:ext cx="105663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③ 花瓣循环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56804" y="2118360"/>
            <a:ext cx="18780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t.color("red","pink")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56804" y="2375535"/>
            <a:ext cx="19668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for petal in range(6):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56804" y="2632710"/>
            <a:ext cx="16114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... circle(45) ...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56804" y="2889885"/>
            <a:ext cx="9006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t.left(60)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57200" y="3600450"/>
            <a:ext cx="5334000" cy="1809750"/>
          </a:xfrm>
          <a:prstGeom prst="roundRect">
            <a:avLst>
              <a:gd name="adj" fmla="val 13684"/>
            </a:avLst>
          </a:prstGeom>
          <a:solidFill>
            <a:srgbClr val="E9FBEF"/>
          </a:solidFill>
          <a:ln w="19050">
            <a:solidFill>
              <a:srgbClr val="22C55E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77799" y="3792379"/>
            <a:ext cx="131347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22C55E"/>
                </a:solidFill>
                <a:latin typeface="+mn-lt"/>
                <a:ea typeface="+mn-ea"/>
                <a:cs typeface="+mn-cs"/>
              </a:rPr>
              <a:t>④ 花心 + 花茎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9704" y="4194810"/>
            <a:ext cx="16114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t.dot(45,"yellow")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79704" y="4451985"/>
            <a:ext cx="15226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t.setheading(270)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9704" y="4709160"/>
            <a:ext cx="12560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t.forward(140)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000750" y="3600450"/>
            <a:ext cx="5734050" cy="1809750"/>
          </a:xfrm>
          <a:prstGeom prst="roundRect">
            <a:avLst>
              <a:gd name="adj" fmla="val 13684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6221349" y="3792379"/>
            <a:ext cx="63123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⑤ 收尾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223254" y="4194810"/>
            <a:ext cx="12560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t.hideturtle()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223254" y="44519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turtle.done()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2613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小红花作品实验站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288197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①选任务 → ②看代码 → ③运行 → ④看结果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微项目装配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P32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1" name="Rectangle 11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04138" y="12039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基础版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1800225" cy="457200"/>
            <a:chOff x="457200" y="1028700"/>
            <a:chExt cx="1800225" cy="457200"/>
          </a:xfrm>
        </p:grpSpPr>
        <p:sp>
          <p:nvSpPr>
            <p:cNvPr id="14" name="Rectangle 14"/>
            <p:cNvSpPr/>
            <p:nvPr/>
          </p:nvSpPr>
          <p:spPr>
            <a:xfrm>
              <a:off x="457200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6" name="Rectangle 16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57119" y="1203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暖色花瓣版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71725" y="1028700"/>
            <a:ext cx="1800225" cy="457200"/>
            <a:chOff x="2371725" y="1028700"/>
            <a:chExt cx="1800225" cy="457200"/>
          </a:xfrm>
        </p:grpSpPr>
        <p:sp>
          <p:nvSpPr>
            <p:cNvPr id="19" name="Rectangle 19"/>
            <p:cNvSpPr/>
            <p:nvPr/>
          </p:nvSpPr>
          <p:spPr>
            <a:xfrm>
              <a:off x="2371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1" name="Rectangle 21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5833"/>
              </a:avLst>
            </a:prstGeom>
            <a:solidFill>
              <a:schemeClr val="lt2"/>
            </a:solidFill>
            <a:ln w="1714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690872" y="12039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自定义标题版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76725" y="1028700"/>
            <a:ext cx="1800225" cy="457200"/>
            <a:chOff x="4276725" y="1028700"/>
            <a:chExt cx="1800225" cy="457200"/>
          </a:xfrm>
        </p:grpSpPr>
        <p:sp>
          <p:nvSpPr>
            <p:cNvPr id="24" name="Rectangle 24"/>
            <p:cNvSpPr/>
            <p:nvPr/>
          </p:nvSpPr>
          <p:spPr>
            <a:xfrm>
              <a:off x="4276725" y="1028700"/>
              <a:ext cx="1800225" cy="457200"/>
            </a:xfrm>
            <a:prstGeom prst="roundRect">
              <a:avLst>
                <a:gd name="adj" fmla="val 41667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sp>
        <p:nvSpPr>
          <p:cNvPr id="26" name="Rectangle 26"/>
          <p:cNvSpPr/>
          <p:nvPr/>
        </p:nvSpPr>
        <p:spPr>
          <a:xfrm>
            <a:off x="457200" y="1676400"/>
            <a:ext cx="5676900" cy="4362450"/>
          </a:xfrm>
          <a:prstGeom prst="roundRect">
            <a:avLst>
              <a:gd name="adj" fmla="val 611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66750" y="188595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57250" y="1885950"/>
            <a:ext cx="114300" cy="114300"/>
          </a:xfrm>
          <a:prstGeom prst="ellipse">
            <a:avLst/>
          </a:prstGeom>
          <a:solidFill>
            <a:srgbClr val="FFCC71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047750" y="1885950"/>
            <a:ext cx="114300" cy="1143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194124" y="1886902"/>
            <a:ext cx="16786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lesson06_red_flower.py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628650" y="2152650"/>
            <a:ext cx="5314950" cy="2954893"/>
            <a:chOff x="628650" y="2152650"/>
            <a:chExt cx="5314950" cy="2954893"/>
          </a:xfrm>
        </p:grpSpPr>
        <p:sp>
          <p:nvSpPr>
            <p:cNvPr id="31" name="Rectangle 31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8188" y="231814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8188" y="2462927"/>
              <a:ext cx="168514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8188" y="2607707"/>
              <a:ext cx="175581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screen.title("小红花画展")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8188" y="2752487"/>
              <a:ext cx="188868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screen.bgcolor("lightblue")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8188" y="2897267"/>
              <a:ext cx="133765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8188" y="304204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8188" y="318682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8188" y="333160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8188" y="347638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8188" y="36211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8188" y="376594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8188" y="391072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8188" y="405550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8188" y="4200287"/>
              <a:ext cx="119270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8188" y="43450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8188" y="448984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8188" y="463462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8188" y="477940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t.hideturtle()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8188" y="492418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28650" y="2152650"/>
            <a:ext cx="5314950" cy="2954893"/>
            <a:chOff x="628650" y="2152650"/>
            <a:chExt cx="5314950" cy="2954893"/>
          </a:xfrm>
        </p:grpSpPr>
        <p:sp>
          <p:nvSpPr>
            <p:cNvPr id="52" name="Rectangle 52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38188" y="231814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8188" y="2462927"/>
              <a:ext cx="168514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8188" y="2607707"/>
              <a:ext cx="175581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screen.title("小红花画展")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8188" y="2752487"/>
              <a:ext cx="188868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screen.bgcolor("lightblue")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8188" y="2897267"/>
              <a:ext cx="133765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8188" y="304204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8188" y="3186827"/>
              <a:ext cx="167989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"orange")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8188" y="333160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8188" y="347638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8188" y="36211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8188" y="376594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8188" y="391072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8188" y="405550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38188" y="4200287"/>
              <a:ext cx="119270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8188" y="43450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8188" y="448984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38188" y="463462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38188" y="477940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t.hideturtle()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38188" y="492418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628650" y="2152650"/>
            <a:ext cx="5314950" cy="2954893"/>
            <a:chOff x="628650" y="2152650"/>
            <a:chExt cx="5314950" cy="2954893"/>
          </a:xfrm>
        </p:grpSpPr>
        <p:sp>
          <p:nvSpPr>
            <p:cNvPr id="73" name="Rectangle 73"/>
            <p:cNvSpPr/>
            <p:nvPr/>
          </p:nvSpPr>
          <p:spPr>
            <a:xfrm>
              <a:off x="628650" y="2152650"/>
              <a:ext cx="5314950" cy="2914650"/>
            </a:xfrm>
            <a:prstGeom prst="roundRect">
              <a:avLst>
                <a:gd name="adj" fmla="val 457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38188" y="231814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38188" y="2462927"/>
              <a:ext cx="168514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38188" y="2607707"/>
              <a:ext cx="188235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screen.title("小昆的小红花")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38188" y="2752487"/>
              <a:ext cx="188868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screen.bgcolor("lightblue")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38188" y="2897267"/>
              <a:ext cx="133765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38188" y="304204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t.speed(0)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38188" y="318682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38188" y="333160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for petal in range(6):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38188" y="347638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38188" y="36211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t.circle(45)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38188" y="376594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38188" y="391072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t.left(60)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38188" y="405550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t.dot(45, "yellow")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38188" y="4200287"/>
              <a:ext cx="119270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t.setheading(270)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38188" y="4345067"/>
              <a:ext cx="8447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t.pensize(8)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38188" y="4489847"/>
              <a:ext cx="13318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t.pencolor("green")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38188" y="463462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t.forward(140)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38188" y="4779407"/>
              <a:ext cx="9839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t.hideturtle()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38188" y="492418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94" name="Rectangle 94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97" name="Rectangle 9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00" name="Rectangle 10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103" name="Rectangle 103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3878275" y="5450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已选任务，等待运行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106" name="Rectangle 106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3576726" y="545068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运行中：按代码区块逐步完成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3333750" y="5305425"/>
            <a:ext cx="2457450" cy="400050"/>
            <a:chOff x="3333750" y="5305425"/>
            <a:chExt cx="2457450" cy="400050"/>
          </a:xfrm>
        </p:grpSpPr>
        <p:sp>
          <p:nvSpPr>
            <p:cNvPr id="109" name="Rectangle 109"/>
            <p:cNvSpPr/>
            <p:nvPr/>
          </p:nvSpPr>
          <p:spPr>
            <a:xfrm>
              <a:off x="3333750" y="5305425"/>
              <a:ext cx="2457450" cy="40005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4179824" y="545068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作品完成！</a:t>
              </a:r>
            </a:p>
          </p:txBody>
        </p:sp>
      </p:grpSp>
      <p:sp>
        <p:nvSpPr>
          <p:cNvPr id="112" name="Rectangle 112"/>
          <p:cNvSpPr/>
          <p:nvPr/>
        </p:nvSpPr>
        <p:spPr>
          <a:xfrm>
            <a:off x="6362700" y="990600"/>
            <a:ext cx="5334000" cy="339090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13" name="TextBox 113"/>
          <p:cNvSpPr txBox="1"/>
          <p:nvPr/>
        </p:nvSpPr>
        <p:spPr>
          <a:xfrm>
            <a:off x="6660642" y="1244918"/>
            <a:ext cx="1687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运行画布 / 窗口状态</a:t>
            </a:r>
          </a:p>
        </p:txBody>
      </p:sp>
      <p:sp>
        <p:nvSpPr>
          <p:cNvPr id="114" name="Rectangle 114"/>
          <p:cNvSpPr/>
          <p:nvPr/>
        </p:nvSpPr>
        <p:spPr>
          <a:xfrm>
            <a:off x="6667500" y="1581150"/>
            <a:ext cx="4724400" cy="2476500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</p:sp>
      <p:grpSp>
        <p:nvGrpSpPr>
          <p:cNvPr id="116" name="Group 116"/>
          <p:cNvGrpSpPr/>
          <p:nvPr/>
        </p:nvGrpSpPr>
        <p:grpSpPr>
          <a:xfrm>
            <a:off x="8114157" y="2711768"/>
            <a:ext cx="1831086" cy="264033"/>
            <a:chOff x="8114157" y="2711768"/>
            <a:chExt cx="1831086" cy="264033"/>
          </a:xfrm>
        </p:grpSpPr>
        <p:sp>
          <p:nvSpPr>
            <p:cNvPr id="115" name="TextBox 115"/>
            <p:cNvSpPr txBox="1"/>
            <p:nvPr/>
          </p:nvSpPr>
          <p:spPr>
            <a:xfrm>
              <a:off x="8114157" y="2711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运行后这里才出现结果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8478393" y="1859470"/>
            <a:ext cx="1140714" cy="1979486"/>
            <a:chOff x="8478393" y="1859470"/>
            <a:chExt cx="1140714" cy="1979486"/>
          </a:xfrm>
        </p:grpSpPr>
        <p:grpSp>
          <p:nvGrpSpPr>
            <p:cNvPr id="125" name="Group 125"/>
            <p:cNvGrpSpPr/>
            <p:nvPr/>
          </p:nvGrpSpPr>
          <p:grpSpPr>
            <a:xfrm>
              <a:off x="8478393" y="1859470"/>
              <a:ext cx="1140714" cy="1710500"/>
              <a:chOff x="8478393" y="1859470"/>
              <a:chExt cx="1140714" cy="1710500"/>
            </a:xfrm>
          </p:grpSpPr>
          <p:sp>
            <p:nvSpPr>
              <p:cNvPr id="117" name="Ellipse 117"/>
              <p:cNvSpPr/>
              <p:nvPr/>
            </p:nvSpPr>
            <p:spPr>
              <a:xfrm>
                <a:off x="8783193" y="1859470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8" name="Ellipse 118"/>
              <p:cNvSpPr/>
              <p:nvPr/>
            </p:nvSpPr>
            <p:spPr>
              <a:xfrm>
                <a:off x="9087993" y="203568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9" name="Ellipse 119"/>
              <p:cNvSpPr/>
              <p:nvPr/>
            </p:nvSpPr>
            <p:spPr>
              <a:xfrm>
                <a:off x="9087993" y="238620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0" name="Ellipse 120"/>
              <p:cNvSpPr/>
              <p:nvPr/>
            </p:nvSpPr>
            <p:spPr>
              <a:xfrm>
                <a:off x="8783193" y="2562416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1" name="Ellipse 121"/>
              <p:cNvSpPr/>
              <p:nvPr/>
            </p:nvSpPr>
            <p:spPr>
              <a:xfrm>
                <a:off x="8478393" y="238620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2" name="Ellipse 122"/>
              <p:cNvSpPr/>
              <p:nvPr/>
            </p:nvSpPr>
            <p:spPr>
              <a:xfrm>
                <a:off x="8478393" y="203568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3" name="Ellipse 123"/>
              <p:cNvSpPr/>
              <p:nvPr/>
            </p:nvSpPr>
            <p:spPr>
              <a:xfrm>
                <a:off x="8892540" y="2320290"/>
                <a:ext cx="312420" cy="31242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24" name="Line 124"/>
              <p:cNvSpPr/>
              <p:nvPr/>
            </p:nvSpPr>
            <p:spPr>
              <a:xfrm>
                <a:off x="9048750" y="2632710"/>
                <a:ext cx="9525" cy="9372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37260">
                    <a:moveTo>
                      <a:pt x="0" y="0"/>
                    </a:moveTo>
                    <a:lnTo>
                      <a:pt x="0" y="937260"/>
                    </a:lnTo>
                  </a:path>
                </a:pathLst>
              </a:custGeom>
              <a:noFill/>
              <a:ln w="62484" cap="rnd">
                <a:solidFill>
                  <a:srgbClr val="22C55E"/>
                </a:solidFill>
              </a:ln>
            </p:spPr>
          </p:sp>
        </p:grpSp>
        <p:sp>
          <p:nvSpPr>
            <p:cNvPr id="126" name="TextBox 126"/>
            <p:cNvSpPr txBox="1"/>
            <p:nvPr/>
          </p:nvSpPr>
          <p:spPr>
            <a:xfrm>
              <a:off x="8638794" y="36042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小红花画展</a:t>
              </a:r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8478393" y="1859470"/>
            <a:ext cx="1140714" cy="1979486"/>
            <a:chOff x="8478393" y="1859470"/>
            <a:chExt cx="1140714" cy="1979486"/>
          </a:xfrm>
        </p:grpSpPr>
        <p:grpSp>
          <p:nvGrpSpPr>
            <p:cNvPr id="136" name="Group 136"/>
            <p:cNvGrpSpPr/>
            <p:nvPr/>
          </p:nvGrpSpPr>
          <p:grpSpPr>
            <a:xfrm>
              <a:off x="8478393" y="1859470"/>
              <a:ext cx="1140714" cy="1710500"/>
              <a:chOff x="8478393" y="1859470"/>
              <a:chExt cx="1140714" cy="1710500"/>
            </a:xfrm>
          </p:grpSpPr>
          <p:sp>
            <p:nvSpPr>
              <p:cNvPr id="128" name="Ellipse 128"/>
              <p:cNvSpPr/>
              <p:nvPr/>
            </p:nvSpPr>
            <p:spPr>
              <a:xfrm>
                <a:off x="8783193" y="1859470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29" name="Ellipse 129"/>
              <p:cNvSpPr/>
              <p:nvPr/>
            </p:nvSpPr>
            <p:spPr>
              <a:xfrm>
                <a:off x="9087993" y="2035683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0" name="Ellipse 130"/>
              <p:cNvSpPr/>
              <p:nvPr/>
            </p:nvSpPr>
            <p:spPr>
              <a:xfrm>
                <a:off x="9087993" y="2386203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1" name="Ellipse 131"/>
              <p:cNvSpPr/>
              <p:nvPr/>
            </p:nvSpPr>
            <p:spPr>
              <a:xfrm>
                <a:off x="8783193" y="2562416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2" name="Ellipse 132"/>
              <p:cNvSpPr/>
              <p:nvPr/>
            </p:nvSpPr>
            <p:spPr>
              <a:xfrm>
                <a:off x="8478393" y="2386203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3" name="Ellipse 133"/>
              <p:cNvSpPr/>
              <p:nvPr/>
            </p:nvSpPr>
            <p:spPr>
              <a:xfrm>
                <a:off x="8478393" y="2035683"/>
                <a:ext cx="531114" cy="531114"/>
              </a:xfrm>
              <a:prstGeom prst="ellipse">
                <a:avLst/>
              </a:prstGeom>
              <a:solidFill>
                <a:srgbClr val="FFA54D"/>
              </a:solidFill>
              <a:ln w="28575">
                <a:solidFill>
                  <a:srgbClr val="FFA54D"/>
                </a:solidFill>
              </a:ln>
            </p:spPr>
          </p:sp>
          <p:sp>
            <p:nvSpPr>
              <p:cNvPr id="134" name="Ellipse 134"/>
              <p:cNvSpPr/>
              <p:nvPr/>
            </p:nvSpPr>
            <p:spPr>
              <a:xfrm>
                <a:off x="8892540" y="2320290"/>
                <a:ext cx="312420" cy="31242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35" name="Line 135"/>
              <p:cNvSpPr/>
              <p:nvPr/>
            </p:nvSpPr>
            <p:spPr>
              <a:xfrm>
                <a:off x="9048750" y="2632710"/>
                <a:ext cx="9525" cy="9372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37260">
                    <a:moveTo>
                      <a:pt x="0" y="0"/>
                    </a:moveTo>
                    <a:lnTo>
                      <a:pt x="0" y="937260"/>
                    </a:lnTo>
                  </a:path>
                </a:pathLst>
              </a:custGeom>
              <a:noFill/>
              <a:ln w="62484" cap="rnd">
                <a:solidFill>
                  <a:srgbClr val="22C55E"/>
                </a:solidFill>
              </a:ln>
            </p:spPr>
          </p:sp>
        </p:grpSp>
        <p:sp>
          <p:nvSpPr>
            <p:cNvPr id="137" name="TextBox 137"/>
            <p:cNvSpPr txBox="1"/>
            <p:nvPr/>
          </p:nvSpPr>
          <p:spPr>
            <a:xfrm>
              <a:off x="8638794" y="36042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小红花画展</a:t>
              </a: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8478393" y="1859470"/>
            <a:ext cx="1140714" cy="1979486"/>
            <a:chOff x="8478393" y="1859470"/>
            <a:chExt cx="1140714" cy="1979486"/>
          </a:xfrm>
        </p:grpSpPr>
        <p:grpSp>
          <p:nvGrpSpPr>
            <p:cNvPr id="147" name="Group 147"/>
            <p:cNvGrpSpPr/>
            <p:nvPr/>
          </p:nvGrpSpPr>
          <p:grpSpPr>
            <a:xfrm>
              <a:off x="8478393" y="1859470"/>
              <a:ext cx="1140714" cy="1710500"/>
              <a:chOff x="8478393" y="1859470"/>
              <a:chExt cx="1140714" cy="1710500"/>
            </a:xfrm>
          </p:grpSpPr>
          <p:sp>
            <p:nvSpPr>
              <p:cNvPr id="139" name="Ellipse 139"/>
              <p:cNvSpPr/>
              <p:nvPr/>
            </p:nvSpPr>
            <p:spPr>
              <a:xfrm>
                <a:off x="8783193" y="1859470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0" name="Ellipse 140"/>
              <p:cNvSpPr/>
              <p:nvPr/>
            </p:nvSpPr>
            <p:spPr>
              <a:xfrm>
                <a:off x="9087993" y="203568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1" name="Ellipse 141"/>
              <p:cNvSpPr/>
              <p:nvPr/>
            </p:nvSpPr>
            <p:spPr>
              <a:xfrm>
                <a:off x="9087993" y="238620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2" name="Ellipse 142"/>
              <p:cNvSpPr/>
              <p:nvPr/>
            </p:nvSpPr>
            <p:spPr>
              <a:xfrm>
                <a:off x="8783193" y="2562416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3" name="Ellipse 143"/>
              <p:cNvSpPr/>
              <p:nvPr/>
            </p:nvSpPr>
            <p:spPr>
              <a:xfrm>
                <a:off x="8478393" y="238620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4" name="Ellipse 144"/>
              <p:cNvSpPr/>
              <p:nvPr/>
            </p:nvSpPr>
            <p:spPr>
              <a:xfrm>
                <a:off x="8478393" y="2035683"/>
                <a:ext cx="531114" cy="531114"/>
              </a:xfrm>
              <a:prstGeom prst="ellipse">
                <a:avLst/>
              </a:prstGeom>
              <a:solidFill>
                <a:srgbClr val="FF9AC4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45" name="Ellipse 145"/>
              <p:cNvSpPr/>
              <p:nvPr/>
            </p:nvSpPr>
            <p:spPr>
              <a:xfrm>
                <a:off x="8892540" y="2320290"/>
                <a:ext cx="312420" cy="312420"/>
              </a:xfrm>
              <a:prstGeom prst="ellipse">
                <a:avLst/>
              </a:prstGeom>
              <a:solidFill>
                <a:srgbClr val="FFE26A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46" name="Line 146"/>
              <p:cNvSpPr/>
              <p:nvPr/>
            </p:nvSpPr>
            <p:spPr>
              <a:xfrm>
                <a:off x="9048750" y="2632710"/>
                <a:ext cx="9525" cy="9372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37260">
                    <a:moveTo>
                      <a:pt x="0" y="0"/>
                    </a:moveTo>
                    <a:lnTo>
                      <a:pt x="0" y="937260"/>
                    </a:lnTo>
                  </a:path>
                </a:pathLst>
              </a:custGeom>
              <a:noFill/>
              <a:ln w="62484" cap="rnd">
                <a:solidFill>
                  <a:srgbClr val="22C55E"/>
                </a:solidFill>
              </a:ln>
            </p:spPr>
          </p:sp>
        </p:grpSp>
        <p:sp>
          <p:nvSpPr>
            <p:cNvPr id="148" name="TextBox 148"/>
            <p:cNvSpPr txBox="1"/>
            <p:nvPr/>
          </p:nvSpPr>
          <p:spPr>
            <a:xfrm>
              <a:off x="8558022" y="36042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小昆的小红花</a:t>
              </a:r>
            </a:p>
          </p:txBody>
        </p:sp>
      </p:grpSp>
      <p:sp>
        <p:nvSpPr>
          <p:cNvPr id="150" name="Rectangle 150"/>
          <p:cNvSpPr/>
          <p:nvPr/>
        </p:nvSpPr>
        <p:spPr>
          <a:xfrm>
            <a:off x="6362700" y="4533900"/>
            <a:ext cx="5334000" cy="1466850"/>
          </a:xfrm>
          <a:prstGeom prst="roundRect">
            <a:avLst>
              <a:gd name="adj" fmla="val 15584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151" name="TextBox 151"/>
          <p:cNvSpPr txBox="1"/>
          <p:nvPr/>
        </p:nvSpPr>
        <p:spPr>
          <a:xfrm>
            <a:off x="6661404" y="4728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rPr>
              <a:t>终端输出</a:t>
            </a:r>
          </a:p>
        </p:txBody>
      </p:sp>
      <p:grpSp>
        <p:nvGrpSpPr>
          <p:cNvPr id="153" name="Group 153"/>
          <p:cNvGrpSpPr/>
          <p:nvPr/>
        </p:nvGrpSpPr>
        <p:grpSpPr>
          <a:xfrm>
            <a:off x="6661023" y="5082064"/>
            <a:ext cx="1736090" cy="249364"/>
            <a:chOff x="6661023" y="5082064"/>
            <a:chExt cx="1736090" cy="249364"/>
          </a:xfrm>
        </p:grpSpPr>
        <p:sp>
          <p:nvSpPr>
            <p:cNvPr id="152" name="TextBox 152"/>
            <p:cNvSpPr txBox="1"/>
            <p:nvPr/>
          </p:nvSpPr>
          <p:spPr>
            <a:xfrm>
              <a:off x="6661023" y="5082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155" name="Group 155"/>
          <p:cNvGrpSpPr/>
          <p:nvPr/>
        </p:nvGrpSpPr>
        <p:grpSpPr>
          <a:xfrm>
            <a:off x="6661023" y="5082064"/>
            <a:ext cx="2253031" cy="249364"/>
            <a:chOff x="6661023" y="5082064"/>
            <a:chExt cx="2253031" cy="249364"/>
          </a:xfrm>
        </p:grpSpPr>
        <p:sp>
          <p:nvSpPr>
            <p:cNvPr id="154" name="TextBox 154"/>
            <p:cNvSpPr txBox="1"/>
            <p:nvPr/>
          </p:nvSpPr>
          <p:spPr>
            <a:xfrm>
              <a:off x="6661023" y="508206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运行中：按代码区块逐步完成</a:t>
              </a:r>
            </a:p>
          </p:txBody>
        </p:sp>
      </p:grpSp>
      <p:grpSp>
        <p:nvGrpSpPr>
          <p:cNvPr id="157" name="Group 157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56" name="TextBox 156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窗口就绪</a:t>
              </a:r>
            </a:p>
          </p:txBody>
        </p:sp>
      </p:grpSp>
      <p:grpSp>
        <p:nvGrpSpPr>
          <p:cNvPr id="159" name="Group 159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58" name="TextBox 158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6片粉色花瓣完成</a:t>
              </a:r>
            </a:p>
          </p:txBody>
        </p:sp>
      </p:grpSp>
      <p:grpSp>
        <p:nvGrpSpPr>
          <p:cNvPr id="161" name="Group 161"/>
          <p:cNvGrpSpPr/>
          <p:nvPr/>
        </p:nvGrpSpPr>
        <p:grpSpPr>
          <a:xfrm>
            <a:off x="6661594" y="5513308"/>
            <a:ext cx="1831066" cy="227362"/>
            <a:chOff x="6661594" y="5513308"/>
            <a:chExt cx="1831066" cy="227362"/>
          </a:xfrm>
        </p:grpSpPr>
        <p:sp>
          <p:nvSpPr>
            <p:cNvPr id="160" name="TextBox 160"/>
            <p:cNvSpPr txBox="1"/>
            <p:nvPr/>
          </p:nvSpPr>
          <p:spPr>
            <a:xfrm>
              <a:off x="6661594" y="5513308"/>
              <a:ext cx="183106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 + 绿色花茎完成</a:t>
              </a:r>
            </a:p>
          </p:txBody>
        </p:sp>
      </p:grpSp>
      <p:grpSp>
        <p:nvGrpSpPr>
          <p:cNvPr id="163" name="Group 163"/>
          <p:cNvGrpSpPr/>
          <p:nvPr/>
        </p:nvGrpSpPr>
        <p:grpSpPr>
          <a:xfrm>
            <a:off x="6661594" y="5722858"/>
            <a:ext cx="792607" cy="227362"/>
            <a:chOff x="6661594" y="5722858"/>
            <a:chExt cx="792607" cy="227362"/>
          </a:xfrm>
        </p:grpSpPr>
        <p:sp>
          <p:nvSpPr>
            <p:cNvPr id="162" name="TextBox 162"/>
            <p:cNvSpPr txBox="1"/>
            <p:nvPr/>
          </p:nvSpPr>
          <p:spPr>
            <a:xfrm>
              <a:off x="6661594" y="5722858"/>
              <a:ext cx="79260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海龟已隐藏</a:t>
              </a:r>
            </a:p>
          </p:txBody>
        </p:sp>
      </p:grpSp>
      <p:grpSp>
        <p:nvGrpSpPr>
          <p:cNvPr id="165" name="Group 165"/>
          <p:cNvGrpSpPr/>
          <p:nvPr/>
        </p:nvGrpSpPr>
        <p:grpSpPr>
          <a:xfrm>
            <a:off x="6661594" y="5932408"/>
            <a:ext cx="636448" cy="227362"/>
            <a:chOff x="6661594" y="5932408"/>
            <a:chExt cx="636448" cy="227362"/>
          </a:xfrm>
        </p:grpSpPr>
        <p:sp>
          <p:nvSpPr>
            <p:cNvPr id="164" name="TextBox 164"/>
            <p:cNvSpPr txBox="1"/>
            <p:nvPr/>
          </p:nvSpPr>
          <p:spPr>
            <a:xfrm>
              <a:off x="6661594" y="59324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作品完成</a:t>
              </a:r>
            </a:p>
          </p:txBody>
        </p:sp>
      </p:grpSp>
      <p:grpSp>
        <p:nvGrpSpPr>
          <p:cNvPr id="167" name="Group 167"/>
          <p:cNvGrpSpPr/>
          <p:nvPr/>
        </p:nvGrpSpPr>
        <p:grpSpPr>
          <a:xfrm>
            <a:off x="6661594" y="5094208"/>
            <a:ext cx="636448" cy="227362"/>
            <a:chOff x="6661594" y="5094208"/>
            <a:chExt cx="636448" cy="227362"/>
          </a:xfrm>
        </p:grpSpPr>
        <p:sp>
          <p:nvSpPr>
            <p:cNvPr id="166" name="TextBox 166"/>
            <p:cNvSpPr txBox="1"/>
            <p:nvPr/>
          </p:nvSpPr>
          <p:spPr>
            <a:xfrm>
              <a:off x="6661594" y="50942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窗口就绪</a:t>
              </a:r>
            </a:p>
          </p:txBody>
        </p:sp>
      </p:grpSp>
      <p:grpSp>
        <p:nvGrpSpPr>
          <p:cNvPr id="169" name="Group 169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68" name="TextBox 168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6片橙色花瓣完成</a:t>
              </a:r>
            </a:p>
          </p:txBody>
        </p:sp>
      </p:grpSp>
      <p:grpSp>
        <p:nvGrpSpPr>
          <p:cNvPr id="171" name="Group 171"/>
          <p:cNvGrpSpPr/>
          <p:nvPr/>
        </p:nvGrpSpPr>
        <p:grpSpPr>
          <a:xfrm>
            <a:off x="6661594" y="5513308"/>
            <a:ext cx="1831066" cy="227362"/>
            <a:chOff x="6661594" y="5513308"/>
            <a:chExt cx="1831066" cy="227362"/>
          </a:xfrm>
        </p:grpSpPr>
        <p:sp>
          <p:nvSpPr>
            <p:cNvPr id="170" name="TextBox 170"/>
            <p:cNvSpPr txBox="1"/>
            <p:nvPr/>
          </p:nvSpPr>
          <p:spPr>
            <a:xfrm>
              <a:off x="6661594" y="5513308"/>
              <a:ext cx="183106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 + 绿色花茎完成</a:t>
              </a:r>
            </a:p>
          </p:txBody>
        </p:sp>
      </p:grpSp>
      <p:grpSp>
        <p:nvGrpSpPr>
          <p:cNvPr id="173" name="Group 173"/>
          <p:cNvGrpSpPr/>
          <p:nvPr/>
        </p:nvGrpSpPr>
        <p:grpSpPr>
          <a:xfrm>
            <a:off x="6661594" y="5722858"/>
            <a:ext cx="792607" cy="227362"/>
            <a:chOff x="6661594" y="5722858"/>
            <a:chExt cx="792607" cy="227362"/>
          </a:xfrm>
        </p:grpSpPr>
        <p:sp>
          <p:nvSpPr>
            <p:cNvPr id="172" name="TextBox 172"/>
            <p:cNvSpPr txBox="1"/>
            <p:nvPr/>
          </p:nvSpPr>
          <p:spPr>
            <a:xfrm>
              <a:off x="6661594" y="5722858"/>
              <a:ext cx="79260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海龟已隐藏</a:t>
              </a:r>
            </a:p>
          </p:txBody>
        </p:sp>
      </p:grpSp>
      <p:grpSp>
        <p:nvGrpSpPr>
          <p:cNvPr id="175" name="Group 175"/>
          <p:cNvGrpSpPr/>
          <p:nvPr/>
        </p:nvGrpSpPr>
        <p:grpSpPr>
          <a:xfrm>
            <a:off x="6661594" y="5932408"/>
            <a:ext cx="636448" cy="227362"/>
            <a:chOff x="6661594" y="5932408"/>
            <a:chExt cx="636448" cy="227362"/>
          </a:xfrm>
        </p:grpSpPr>
        <p:sp>
          <p:nvSpPr>
            <p:cNvPr id="174" name="TextBox 174"/>
            <p:cNvSpPr txBox="1"/>
            <p:nvPr/>
          </p:nvSpPr>
          <p:spPr>
            <a:xfrm>
              <a:off x="6661594" y="59324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作品完成</a:t>
              </a:r>
            </a:p>
          </p:txBody>
        </p:sp>
      </p:grpSp>
      <p:grpSp>
        <p:nvGrpSpPr>
          <p:cNvPr id="177" name="Group 177"/>
          <p:cNvGrpSpPr/>
          <p:nvPr/>
        </p:nvGrpSpPr>
        <p:grpSpPr>
          <a:xfrm>
            <a:off x="6661594" y="5094208"/>
            <a:ext cx="1417244" cy="227362"/>
            <a:chOff x="6661594" y="5094208"/>
            <a:chExt cx="1417244" cy="227362"/>
          </a:xfrm>
        </p:grpSpPr>
        <p:sp>
          <p:nvSpPr>
            <p:cNvPr id="176" name="TextBox 176"/>
            <p:cNvSpPr txBox="1"/>
            <p:nvPr/>
          </p:nvSpPr>
          <p:spPr>
            <a:xfrm>
              <a:off x="6661594" y="5094208"/>
              <a:ext cx="1417244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标题：小昆的小红花</a:t>
              </a:r>
            </a:p>
          </p:txBody>
        </p:sp>
      </p:grpSp>
      <p:grpSp>
        <p:nvGrpSpPr>
          <p:cNvPr id="179" name="Group 179"/>
          <p:cNvGrpSpPr/>
          <p:nvPr/>
        </p:nvGrpSpPr>
        <p:grpSpPr>
          <a:xfrm>
            <a:off x="6661594" y="5303758"/>
            <a:ext cx="1190813" cy="227362"/>
            <a:chOff x="6661594" y="5303758"/>
            <a:chExt cx="1190813" cy="227362"/>
          </a:xfrm>
        </p:grpSpPr>
        <p:sp>
          <p:nvSpPr>
            <p:cNvPr id="178" name="TextBox 178"/>
            <p:cNvSpPr txBox="1"/>
            <p:nvPr/>
          </p:nvSpPr>
          <p:spPr>
            <a:xfrm>
              <a:off x="6661594" y="5303758"/>
              <a:ext cx="119081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6片粉色花瓣完成</a:t>
              </a:r>
            </a:p>
          </p:txBody>
        </p:sp>
      </p:grpSp>
      <p:grpSp>
        <p:nvGrpSpPr>
          <p:cNvPr id="181" name="Group 181"/>
          <p:cNvGrpSpPr/>
          <p:nvPr/>
        </p:nvGrpSpPr>
        <p:grpSpPr>
          <a:xfrm>
            <a:off x="6661594" y="5513308"/>
            <a:ext cx="1831066" cy="227362"/>
            <a:chOff x="6661594" y="5513308"/>
            <a:chExt cx="1831066" cy="227362"/>
          </a:xfrm>
        </p:grpSpPr>
        <p:sp>
          <p:nvSpPr>
            <p:cNvPr id="180" name="TextBox 180"/>
            <p:cNvSpPr txBox="1"/>
            <p:nvPr/>
          </p:nvSpPr>
          <p:spPr>
            <a:xfrm>
              <a:off x="6661594" y="5513308"/>
              <a:ext cx="183106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黄色花心 + 绿色花茎完成</a:t>
              </a:r>
            </a:p>
          </p:txBody>
        </p:sp>
      </p:grpSp>
      <p:grpSp>
        <p:nvGrpSpPr>
          <p:cNvPr id="183" name="Group 183"/>
          <p:cNvGrpSpPr/>
          <p:nvPr/>
        </p:nvGrpSpPr>
        <p:grpSpPr>
          <a:xfrm>
            <a:off x="6661594" y="5722858"/>
            <a:ext cx="792607" cy="227362"/>
            <a:chOff x="6661594" y="5722858"/>
            <a:chExt cx="792607" cy="227362"/>
          </a:xfrm>
        </p:grpSpPr>
        <p:sp>
          <p:nvSpPr>
            <p:cNvPr id="182" name="TextBox 182"/>
            <p:cNvSpPr txBox="1"/>
            <p:nvPr/>
          </p:nvSpPr>
          <p:spPr>
            <a:xfrm>
              <a:off x="6661594" y="5722858"/>
              <a:ext cx="79260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海龟已隐藏</a:t>
              </a:r>
            </a:p>
          </p:txBody>
        </p:sp>
      </p:grpSp>
      <p:grpSp>
        <p:nvGrpSpPr>
          <p:cNvPr id="185" name="Group 185"/>
          <p:cNvGrpSpPr/>
          <p:nvPr/>
        </p:nvGrpSpPr>
        <p:grpSpPr>
          <a:xfrm>
            <a:off x="6661594" y="5932408"/>
            <a:ext cx="636448" cy="227362"/>
            <a:chOff x="6661594" y="5932408"/>
            <a:chExt cx="636448" cy="227362"/>
          </a:xfrm>
        </p:grpSpPr>
        <p:sp>
          <p:nvSpPr>
            <p:cNvPr id="184" name="TextBox 184"/>
            <p:cNvSpPr txBox="1"/>
            <p:nvPr/>
          </p:nvSpPr>
          <p:spPr>
            <a:xfrm>
              <a:off x="6661594" y="5932408"/>
              <a:ext cx="6364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作品完成</a:t>
              </a:r>
            </a:p>
          </p:txBody>
        </p:sp>
      </p:grpSp>
      <p:sp>
        <p:nvSpPr>
          <p:cNvPr id="186" name="TextBox 186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  <p:grpSp>
        <p:nvGrpSpPr>
          <p:cNvPr id="188" name="Group 188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87" name="Rectangle 18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90" name="Group 190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89" name="Rectangle 189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92" name="Group 192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191" name="Rectangle 191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38462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1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2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3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5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1" fill="hold">
                      <p:stCondLst>
                        <p:cond delay="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6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6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7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6" fill="hold">
                      <p:stCondLst>
                        <p:cond delay="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8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8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6" fill="hold">
                      <p:stCondLst>
                        <p:cond delay="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9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1" fill="hold">
                      <p:stCondLst>
                        <p:cond delay="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9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6" fill="hold">
                      <p:stCondLst>
                        <p:cond delay="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0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6" fill="hold">
                      <p:stCondLst>
                        <p:cond delay="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>
                      <p:stCondLst>
                        <p:cond delay="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2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1" fill="hold">
                      <p:stCondLst>
                        <p:cond delay="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2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6" fill="hold">
                      <p:stCondLst>
                        <p:cond delay="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3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6" fill="hold">
                      <p:stCondLst>
                        <p:cond delay="0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4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1" fill="hold">
                      <p:stCondLst>
                        <p:cond delay="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>
                      <p:stCondLst>
                        <p:cond delay="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5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1" fill="hold">
                      <p:stCondLst>
                        <p:cond delay="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5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6" fill="hold">
                      <p:stCondLst>
                        <p:cond delay="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6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1" fill="hold">
                      <p:stCondLst>
                        <p:cond delay="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6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6" fill="hold">
                      <p:stCondLst>
                        <p:cond delay="0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7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1" fill="hold">
                      <p:stCondLst>
                        <p:cond delay="0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8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1" fill="hold">
                      <p:stCondLst>
                        <p:cond delay="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8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6" fill="hold">
                      <p:stCondLst>
                        <p:cond delay="0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9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6" fill="hold">
                      <p:stCondLst>
                        <p:cond delay="0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0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1" fill="hold">
                      <p:stCondLst>
                        <p:cond delay="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0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6" fill="hold">
                      <p:stCondLst>
                        <p:cond delay="0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1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1" fill="hold">
                      <p:stCondLst>
                        <p:cond delay="0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1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6" fill="hold">
                      <p:stCondLst>
                        <p:cond delay="0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2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6" fill="hold">
                      <p:stCondLst>
                        <p:cond delay="0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3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1" fill="hold">
                      <p:stCondLst>
                        <p:cond delay="0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3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6" fill="hold">
                      <p:stCondLst>
                        <p:cond delay="0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4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6" fill="hold">
                      <p:stCondLst>
                        <p:cond delay="0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5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6" fill="hold">
                      <p:stCondLst>
                        <p:cond delay="0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6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1" fill="hold">
                      <p:stCondLst>
                        <p:cond delay="0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6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6" fill="hold">
                      <p:stCondLst>
                        <p:cond delay="0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7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1" fill="hold">
                      <p:stCondLst>
                        <p:cond delay="0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7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6" fill="hold">
                      <p:stCondLst>
                        <p:cond delay="0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8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6" fill="hold">
                      <p:stCondLst>
                        <p:cond delay="0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9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1" fill="hold">
                      <p:stCondLst>
                        <p:cond delay="0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9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6" fill="hold">
                      <p:stCondLst>
                        <p:cond delay="0"/>
                      </p:stCondLst>
                      <p:childTnLst>
                        <p:par>
                          <p:cTn id="3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0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1" fill="hold">
                      <p:stCondLst>
                        <p:cond delay="0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1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6" fill="hold">
                      <p:stCondLst>
                        <p:cond delay="0"/>
                      </p:stCondLst>
                      <p:childTnLst>
                        <p:par>
                          <p:cTn id="4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2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1" fill="hold">
                      <p:stCondLst>
                        <p:cond delay="0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2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6" fill="hold">
                      <p:stCondLst>
                        <p:cond delay="0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3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1" fill="hold">
                      <p:stCondLst>
                        <p:cond delay="0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3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6" fill="hold">
                      <p:stCondLst>
                        <p:cond delay="0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4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4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6" fill="hold">
                      <p:stCondLst>
                        <p:cond delay="0"/>
                      </p:stCondLst>
                      <p:childTnLst>
                        <p:par>
                          <p:cTn id="4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5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1" fill="hold">
                      <p:stCondLst>
                        <p:cond delay="0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5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6" fill="hold">
                      <p:stCondLst>
                        <p:cond delay="0"/>
                      </p:stCondLst>
                      <p:childTnLst>
                        <p:par>
                          <p:cTn id="4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6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1" fill="hold">
                      <p:stCondLst>
                        <p:cond delay="0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6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6" fill="hold">
                      <p:stCondLst>
                        <p:cond delay="0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7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6" fill="hold">
                      <p:stCondLst>
                        <p:cond delay="0"/>
                      </p:stCondLst>
                      <p:childTnLst>
                        <p:par>
                          <p:cTn id="4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8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1" fill="hold">
                      <p:stCondLst>
                        <p:cond delay="0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8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6" fill="hold">
                      <p:stCondLst>
                        <p:cond delay="0"/>
                      </p:stCondLst>
                      <p:childTnLst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9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1" fill="hold">
                      <p:stCondLst>
                        <p:cond delay="0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9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6" fill="hold">
                      <p:stCondLst>
                        <p:cond delay="0"/>
                      </p:stCondLst>
                      <p:childTnLst>
                        <p:par>
                          <p:cTn id="4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50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6" fill="hold">
                      <p:stCondLst>
                        <p:cond delay="0"/>
                      </p:stCondLst>
                      <p:childTnLst>
                        <p:par>
                          <p:cTn id="5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1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1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6" fill="hold">
                      <p:stCondLst>
                        <p:cond delay="0"/>
                      </p:stCondLst>
                      <p:childTnLst>
                        <p:par>
                          <p:cTn id="5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52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1" fill="hold">
                      <p:stCondLst>
                        <p:cond delay="0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2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6" fill="hold">
                      <p:stCondLst>
                        <p:cond delay="0"/>
                      </p:stCondLst>
                      <p:childTnLst>
                        <p:par>
                          <p:cTn id="5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53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6" fill="hold">
                      <p:stCondLst>
                        <p:cond delay="0"/>
                      </p:stCondLst>
                      <p:childTnLst>
                        <p:par>
                          <p:cTn id="5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4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1" fill="hold">
                      <p:stCondLst>
                        <p:cond delay="0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4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6" fill="hold">
                      <p:stCondLst>
                        <p:cond delay="0"/>
                      </p:stCondLst>
                      <p:childTnLst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55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1" fill="hold">
                      <p:stCondLst>
                        <p:cond delay="0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5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6" fill="hold">
                      <p:stCondLst>
                        <p:cond delay="0"/>
                      </p:stCondLst>
                      <p:childTnLst>
                        <p:par>
                          <p:cTn id="5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56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1" fill="hold">
                      <p:stCondLst>
                        <p:cond delay="0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56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6" fill="hold">
                      <p:stCondLst>
                        <p:cond delay="0"/>
                      </p:stCondLst>
                      <p:childTnLst>
                        <p:par>
                          <p:cTn id="5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57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1" fill="hold">
                      <p:stCondLst>
                        <p:cond delay="0"/>
                      </p:stCondLst>
                      <p:childTnLst>
                        <p:par>
                          <p:cTn id="5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57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6" fill="hold">
                      <p:stCondLst>
                        <p:cond delay="0"/>
                      </p:stCondLst>
                      <p:childTnLst>
                        <p:par>
                          <p:cTn id="5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58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1" fill="hold">
                      <p:stCondLst>
                        <p:cond delay="0"/>
                      </p:stCondLst>
                      <p:childTnLst>
                        <p:par>
                          <p:cTn id="5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58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6" fill="hold">
                      <p:stCondLst>
                        <p:cond delay="0"/>
                      </p:stCondLst>
                      <p:childTnLst>
                        <p:par>
                          <p:cTn id="5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59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6" fill="hold">
                      <p:stCondLst>
                        <p:cond delay="0"/>
                      </p:stCondLst>
                      <p:childTnLst>
                        <p:par>
                          <p:cTn id="5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60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1" fill="hold">
                      <p:stCondLst>
                        <p:cond delay="0"/>
                      </p:stCondLst>
                      <p:childTnLst>
                        <p:par>
                          <p:cTn id="6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60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6" fill="hold">
                      <p:stCondLst>
                        <p:cond delay="0"/>
                      </p:stCondLst>
                      <p:childTnLst>
                        <p:par>
                          <p:cTn id="6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61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1" fill="hold">
                      <p:stCondLst>
                        <p:cond delay="0"/>
                      </p:stCondLst>
                      <p:childTnLst>
                        <p:par>
                          <p:cTn id="6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61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6" fill="hold">
                      <p:stCondLst>
                        <p:cond delay="0"/>
                      </p:stCondLst>
                      <p:childTnLst>
                        <p:par>
                          <p:cTn id="6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62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23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62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6" fill="hold">
                      <p:stCondLst>
                        <p:cond delay="0"/>
                      </p:stCondLst>
                      <p:childTnLst>
                        <p:par>
                          <p:cTn id="6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28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63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1" fill="hold">
                      <p:stCondLst>
                        <p:cond delay="0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63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6" fill="hold">
                      <p:stCondLst>
                        <p:cond delay="0"/>
                      </p:stCondLst>
                      <p:childTnLst>
                        <p:par>
                          <p:cTn id="6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64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1" fill="hold">
                      <p:stCondLst>
                        <p:cond delay="0"/>
                      </p:stCondLst>
                      <p:childTnLst>
                        <p:par>
                          <p:cTn id="6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64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6" fill="hold">
                      <p:stCondLst>
                        <p:cond delay="0"/>
                      </p:stCondLst>
                      <p:childTnLst>
                        <p:par>
                          <p:cTn id="6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65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6" fill="hold">
                      <p:stCondLst>
                        <p:cond delay="0"/>
                      </p:stCondLst>
                      <p:childTnLst>
                        <p:par>
                          <p:cTn id="6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66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1" fill="hold">
                      <p:stCondLst>
                        <p:cond delay="0"/>
                      </p:stCondLst>
                      <p:childTnLst>
                        <p:par>
                          <p:cTn id="6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66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6" fill="hold">
                      <p:stCondLst>
                        <p:cond delay="0"/>
                      </p:stCondLst>
                      <p:childTnLst>
                        <p:par>
                          <p:cTn id="6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67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1" fill="hold">
                      <p:stCondLst>
                        <p:cond delay="0"/>
                      </p:stCondLst>
                      <p:childTnLst>
                        <p:par>
                          <p:cTn id="6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67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6" fill="hold">
                      <p:stCondLst>
                        <p:cond delay="0"/>
                      </p:stCondLst>
                      <p:childTnLst>
                        <p:par>
                          <p:cTn id="6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68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1" fill="hold">
                      <p:stCondLst>
                        <p:cond delay="0"/>
                      </p:stCondLst>
                      <p:childTnLst>
                        <p:par>
                          <p:cTn id="6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68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6" fill="hold">
                      <p:stCondLst>
                        <p:cond delay="0"/>
                      </p:stCondLst>
                      <p:childTnLst>
                        <p:par>
                          <p:cTn id="6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69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1" fill="hold">
                      <p:stCondLst>
                        <p:cond delay="0"/>
                      </p:stCondLst>
                      <p:childTnLst>
                        <p:par>
                          <p:cTn id="6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69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6" fill="hold">
                      <p:stCondLst>
                        <p:cond delay="0"/>
                      </p:stCondLst>
                      <p:childTnLst>
                        <p:par>
                          <p:cTn id="6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70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1" fill="hold">
                      <p:stCondLst>
                        <p:cond delay="0"/>
                      </p:stCondLst>
                      <p:childTnLst>
                        <p:par>
                          <p:cTn id="7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70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6" fill="hold">
                      <p:stCondLst>
                        <p:cond delay="0"/>
                      </p:stCondLst>
                      <p:childTnLst>
                        <p:par>
                          <p:cTn id="7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71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1" fill="hold">
                      <p:stCondLst>
                        <p:cond delay="0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71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6" fill="hold">
                      <p:stCondLst>
                        <p:cond delay="0"/>
                      </p:stCondLst>
                      <p:childTnLst>
                        <p:par>
                          <p:cTn id="7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72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1" fill="hold">
                      <p:stCondLst>
                        <p:cond delay="0"/>
                      </p:stCondLst>
                      <p:childTnLst>
                        <p:par>
                          <p:cTn id="7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72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6" fill="hold">
                      <p:stCondLst>
                        <p:cond delay="0"/>
                      </p:stCondLst>
                      <p:childTnLst>
                        <p:par>
                          <p:cTn id="7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73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1" fill="hold">
                      <p:stCondLst>
                        <p:cond delay="0"/>
                      </p:stCondLst>
                      <p:childTnLst>
                        <p:par>
                          <p:cTn id="7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73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6" fill="hold">
                      <p:stCondLst>
                        <p:cond delay="0"/>
                      </p:stCondLst>
                      <p:childTnLst>
                        <p:par>
                          <p:cTn id="7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74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1" fill="hold">
                      <p:stCondLst>
                        <p:cond delay="0"/>
                      </p:stCondLst>
                      <p:childTnLst>
                        <p:par>
                          <p:cTn id="7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74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6" fill="hold">
                      <p:stCondLst>
                        <p:cond delay="0"/>
                      </p:stCondLst>
                      <p:childTnLst>
                        <p:par>
                          <p:cTn id="7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75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1" fill="hold">
                      <p:stCondLst>
                        <p:cond delay="0"/>
                      </p:stCondLst>
                      <p:childTnLst>
                        <p:par>
                          <p:cTn id="7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75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6" fill="hold">
                      <p:stCondLst>
                        <p:cond delay="0"/>
                      </p:stCondLst>
                      <p:childTnLst>
                        <p:par>
                          <p:cTn id="7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76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1" fill="hold">
                      <p:stCondLst>
                        <p:cond delay="0"/>
                      </p:stCondLst>
                      <p:childTnLst>
                        <p:par>
                          <p:cTn id="7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76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6" fill="hold">
                      <p:stCondLst>
                        <p:cond delay="0"/>
                      </p:stCondLst>
                      <p:childTnLst>
                        <p:par>
                          <p:cTn id="7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77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6" fill="hold">
                      <p:stCondLst>
                        <p:cond delay="0"/>
                      </p:stCondLst>
                      <p:childTnLst>
                        <p:par>
                          <p:cTn id="7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78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1" fill="hold">
                      <p:stCondLst>
                        <p:cond delay="0"/>
                      </p:stCondLst>
                      <p:childTnLst>
                        <p:par>
                          <p:cTn id="7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78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6" fill="hold">
                      <p:stCondLst>
                        <p:cond delay="0"/>
                      </p:stCondLst>
                      <p:childTnLst>
                        <p:par>
                          <p:cTn id="7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79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1" fill="hold">
                      <p:stCondLst>
                        <p:cond delay="0"/>
                      </p:stCondLst>
                      <p:childTnLst>
                        <p:par>
                          <p:cTn id="7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79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6" fill="hold">
                      <p:stCondLst>
                        <p:cond delay="0"/>
                      </p:stCondLst>
                      <p:childTnLst>
                        <p:par>
                          <p:cTn id="7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80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1" fill="hold">
                      <p:stCondLst>
                        <p:cond delay="0"/>
                      </p:stCondLst>
                      <p:childTnLst>
                        <p:par>
                          <p:cTn id="8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80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6" fill="hold">
                      <p:stCondLst>
                        <p:cond delay="0"/>
                      </p:stCondLst>
                      <p:childTnLst>
                        <p:par>
                          <p:cTn id="8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81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1" fill="hold">
                      <p:stCondLst>
                        <p:cond delay="0"/>
                      </p:stCondLst>
                      <p:childTnLst>
                        <p:par>
                          <p:cTn id="8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81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6" fill="hold">
                      <p:stCondLst>
                        <p:cond delay="0"/>
                      </p:stCondLst>
                      <p:childTnLst>
                        <p:par>
                          <p:cTn id="8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82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1" fill="hold">
                      <p:stCondLst>
                        <p:cond delay="0"/>
                      </p:stCondLst>
                      <p:childTnLst>
                        <p:par>
                          <p:cTn id="8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82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6" fill="hold">
                      <p:stCondLst>
                        <p:cond delay="0"/>
                      </p:stCondLst>
                      <p:childTnLst>
                        <p:par>
                          <p:cTn id="8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83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6" fill="hold">
                      <p:stCondLst>
                        <p:cond delay="0"/>
                      </p:stCondLst>
                      <p:childTnLst>
                        <p:par>
                          <p:cTn id="8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84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1" fill="hold">
                      <p:stCondLst>
                        <p:cond delay="0"/>
                      </p:stCondLst>
                      <p:childTnLst>
                        <p:par>
                          <p:cTn id="8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84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6" fill="hold">
                      <p:stCondLst>
                        <p:cond delay="0"/>
                      </p:stCondLst>
                      <p:childTnLst>
                        <p:par>
                          <p:cTn id="8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85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1" fill="hold">
                      <p:stCondLst>
                        <p:cond delay="0"/>
                      </p:stCondLst>
                      <p:childTnLst>
                        <p:par>
                          <p:cTn id="8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85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6" fill="hold">
                      <p:stCondLst>
                        <p:cond delay="0"/>
                      </p:stCondLst>
                      <p:childTnLst>
                        <p:par>
                          <p:cTn id="8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>
                      <p:stCondLst>
                        <p:cond delay="0"/>
                      </p:stCondLst>
                      <p:childTnLst>
                        <p:par>
                          <p:cTn id="8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86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6" fill="hold">
                      <p:stCondLst>
                        <p:cond delay="0"/>
                      </p:stCondLst>
                      <p:childTnLst>
                        <p:par>
                          <p:cTn id="8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87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1" fill="hold">
                      <p:stCondLst>
                        <p:cond delay="0"/>
                      </p:stCondLst>
                      <p:childTnLst>
                        <p:par>
                          <p:cTn id="8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87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6" fill="hold">
                      <p:stCondLst>
                        <p:cond delay="0"/>
                      </p:stCondLst>
                      <p:childTnLst>
                        <p:par>
                          <p:cTn id="8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88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1" fill="hold">
                      <p:stCondLst>
                        <p:cond delay="0"/>
                      </p:stCondLst>
                      <p:childTnLst>
                        <p:par>
                          <p:cTn id="8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88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6" fill="hold">
                      <p:stCondLst>
                        <p:cond delay="0"/>
                      </p:stCondLst>
                      <p:childTnLst>
                        <p:par>
                          <p:cTn id="8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>
                      <p:stCondLst>
                        <p:cond delay="0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89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6" fill="hold">
                      <p:stCondLst>
                        <p:cond delay="0"/>
                      </p:stCondLst>
                      <p:childTnLst>
                        <p:par>
                          <p:cTn id="8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90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1" fill="hold">
                      <p:stCondLst>
                        <p:cond delay="0"/>
                      </p:stCondLst>
                      <p:childTnLst>
                        <p:par>
                          <p:cTn id="9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90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6" fill="hold">
                      <p:stCondLst>
                        <p:cond delay="0"/>
                      </p:stCondLst>
                      <p:childTnLst>
                        <p:par>
                          <p:cTn id="9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91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1" fill="hold">
                      <p:stCondLst>
                        <p:cond delay="0"/>
                      </p:stCondLst>
                      <p:childTnLst>
                        <p:par>
                          <p:cTn id="9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91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6" fill="hold">
                      <p:stCondLst>
                        <p:cond delay="0"/>
                      </p:stCondLst>
                      <p:childTnLst>
                        <p:par>
                          <p:cTn id="9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92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1" fill="hold">
                      <p:stCondLst>
                        <p:cond delay="0"/>
                      </p:stCondLst>
                      <p:childTnLst>
                        <p:par>
                          <p:cTn id="9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92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6" fill="hold">
                      <p:stCondLst>
                        <p:cond delay="0"/>
                      </p:stCondLst>
                      <p:childTnLst>
                        <p:par>
                          <p:cTn id="9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93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1" fill="hold">
                      <p:stCondLst>
                        <p:cond delay="0"/>
                      </p:stCondLst>
                      <p:childTnLst>
                        <p:par>
                          <p:cTn id="9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33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93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6" fill="hold">
                      <p:stCondLst>
                        <p:cond delay="0"/>
                      </p:stCondLst>
                      <p:childTnLst>
                        <p:par>
                          <p:cTn id="9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38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94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1" fill="hold">
                      <p:stCondLst>
                        <p:cond delay="0"/>
                      </p:stCondLst>
                      <p:childTnLst>
                        <p:par>
                          <p:cTn id="9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43" presetID="1" presetClass="entr" presetSubtype="0" fill="hold" grpId="0" nodeType="clickEffect" restart="always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94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6" fill="hold">
                      <p:stCondLst>
                        <p:cond delay="0"/>
                      </p:stCondLst>
                      <p:childTnLst>
                        <p:par>
                          <p:cTn id="9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48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95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1" fill="hold">
                      <p:stCondLst>
                        <p:cond delay="0"/>
                      </p:stCondLst>
                      <p:childTnLst>
                        <p:par>
                          <p:cTn id="9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53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95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6" fill="hold">
                      <p:stCondLst>
                        <p:cond delay="0"/>
                      </p:stCondLst>
                      <p:childTnLst>
                        <p:par>
                          <p:cTn id="9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58" presetID="1" presetClass="entr" presetSubtype="0" fill="hold" grpId="0" nodeType="click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96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1" fill="hold">
                      <p:stCondLst>
                        <p:cond delay="0"/>
                      </p:stCondLst>
                      <p:childTnLst>
                        <p:par>
                          <p:cTn id="96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63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96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6" fill="hold">
                      <p:stCondLst>
                        <p:cond delay="0"/>
                      </p:stCondLst>
                      <p:childTnLst>
                        <p:par>
                          <p:cTn id="96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68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97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1" fill="hold">
                      <p:stCondLst>
                        <p:cond delay="0"/>
                      </p:stCondLst>
                      <p:childTnLst>
                        <p:par>
                          <p:cTn id="9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73" presetID="1" presetClass="entr" presetSubtype="0" fill="hold" grpId="0" nodeType="clickEffect" restart="always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97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6" fill="hold">
                      <p:stCondLst>
                        <p:cond delay="0"/>
                      </p:stCondLst>
                      <p:childTnLst>
                        <p:par>
                          <p:cTn id="97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78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98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1" fill="hold">
                      <p:stCondLst>
                        <p:cond delay="0"/>
                      </p:stCondLst>
                      <p:childTnLst>
                        <p:par>
                          <p:cTn id="9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83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98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6" fill="hold">
                      <p:stCondLst>
                        <p:cond delay="0"/>
                      </p:stCondLst>
                      <p:childTnLst>
                        <p:par>
                          <p:cTn id="9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88" presetID="1" presetClass="entr" presetSubtype="0" fill="hold" grpId="0" nodeType="clickEffect" restart="always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99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1" fill="hold">
                      <p:stCondLst>
                        <p:cond delay="0"/>
                      </p:stCondLst>
                      <p:childTnLst>
                        <p:par>
                          <p:cTn id="99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93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99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6" fill="hold">
                      <p:stCondLst>
                        <p:cond delay="0"/>
                      </p:stCondLst>
                      <p:childTnLst>
                        <p:par>
                          <p:cTn id="9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98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100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1" fill="hold">
                      <p:stCondLst>
                        <p:cond delay="0"/>
                      </p:stCondLst>
                      <p:childTnLst>
                        <p:par>
                          <p:cTn id="10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03" presetID="1" presetClass="entr" presetSubtype="0" fill="hold" grpId="0" nodeType="clickEffect" restart="always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00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6" fill="hold">
                      <p:stCondLst>
                        <p:cond delay="0"/>
                      </p:stCondLst>
                      <p:childTnLst>
                        <p:par>
                          <p:cTn id="100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08" presetID="1" presetClass="entr" presetSubtype="0" fill="hold" grpId="0" nodeType="click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101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1" fill="hold">
                      <p:stCondLst>
                        <p:cond delay="0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13" presetID="1" presetClass="entr" presetSubtype="0" fill="hold" grpId="0" nodeType="click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101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6" fill="hold">
                      <p:stCondLst>
                        <p:cond delay="0"/>
                      </p:stCondLst>
                      <p:childTnLst>
                        <p:par>
                          <p:cTn id="10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18" presetID="1" presetClass="entr" presetSubtype="0" fill="hold" grpId="0" nodeType="click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020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1" fill="hold">
                      <p:stCondLst>
                        <p:cond delay="0"/>
                      </p:stCondLst>
                      <p:childTnLst>
                        <p:par>
                          <p:cTn id="10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1025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6" fill="hold">
                      <p:stCondLst>
                        <p:cond delay="0"/>
                      </p:stCondLst>
                      <p:childTnLst>
                        <p:par>
                          <p:cTn id="10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103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1" fill="hold">
                      <p:stCondLst>
                        <p:cond delay="0"/>
                      </p:stCondLst>
                      <p:childTnLst>
                        <p:par>
                          <p:cTn id="103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035" restart="whenNotActive" fill="hold" evtFilter="cancelBubble" nodeType="interactiveSeq">
                <p:stCondLst>
                  <p:cond evt="onClick" delay="0">
                    <p:tgtEl>
                      <p:spTgt spid="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6" fill="hold">
                      <p:stCondLst>
                        <p:cond delay="0"/>
                      </p:stCondLst>
                      <p:childTnLst>
                        <p:par>
                          <p:cTn id="103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38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8"/>
                  </p:tgtEl>
                </p:cond>
              </p:nextCondLst>
            </p:seq>
            <p:seq concurrent="1" nextAc="seek">
              <p:cTn id="1040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1" fill="hold">
                      <p:stCondLst>
                        <p:cond delay="0"/>
                      </p:stCondLst>
                      <p:childTnLst>
                        <p:par>
                          <p:cTn id="104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43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1045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6" fill="hold">
                      <p:stCondLst>
                        <p:cond delay="0"/>
                      </p:stCondLst>
                      <p:childTnLst>
                        <p:par>
                          <p:cTn id="104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48" presetID="1" presetClass="entr" presetSubtype="0" fill="hold" grpId="0" nodeType="clickEffect" restart="always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0690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从基础版走到个人作品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4592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每一步完成后再走下一步；不要一次改很多处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项目实施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P33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52550"/>
            <a:ext cx="11277600" cy="428625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144000" y="2000250"/>
            <a:ext cx="2857500" cy="28575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9773603" y="2372678"/>
            <a:ext cx="1598294" cy="2454116"/>
            <a:chOff x="9773603" y="2372678"/>
            <a:chExt cx="1598294" cy="2454116"/>
          </a:xfrm>
        </p:grpSpPr>
        <p:sp>
          <p:nvSpPr>
            <p:cNvPr id="13" name="Ellipse 13"/>
            <p:cNvSpPr/>
            <p:nvPr/>
          </p:nvSpPr>
          <p:spPr>
            <a:xfrm>
              <a:off x="10200322" y="2372678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0627042" y="2619375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0627042" y="3112770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200322" y="3359468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773603" y="3112770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9773603" y="2619375"/>
              <a:ext cx="744855" cy="74485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0353675" y="3019425"/>
              <a:ext cx="438150" cy="438150"/>
            </a:xfrm>
            <a:prstGeom prst="ellipse">
              <a:avLst/>
            </a:prstGeom>
            <a:solidFill>
              <a:srgbClr val="FFE26A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572750" y="3457575"/>
              <a:ext cx="9525" cy="1369219"/>
            </a:xfrm>
            <a:custGeom>
              <a:avLst/>
              <a:gdLst/>
              <a:ahLst/>
              <a:cxnLst/>
              <a:rect l="l" t="t" r="r" b="b"/>
              <a:pathLst>
                <a:path w="9525" h="1369219">
                  <a:moveTo>
                    <a:pt x="0" y="0"/>
                  </a:moveTo>
                  <a:lnTo>
                    <a:pt x="0" y="1369219"/>
                  </a:lnTo>
                </a:path>
              </a:pathLst>
            </a:custGeom>
            <a:noFill/>
            <a:ln w="87630" cap="rnd">
              <a:solidFill>
                <a:srgbClr val="22C55E"/>
              </a:solidFill>
            </a:ln>
          </p:spPr>
        </p:sp>
      </p:grpSp>
      <p:sp>
        <p:nvSpPr>
          <p:cNvPr id="22" name="Ellipse 22"/>
          <p:cNvSpPr/>
          <p:nvPr/>
        </p:nvSpPr>
        <p:spPr>
          <a:xfrm>
            <a:off x="790575" y="16573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43892" y="18054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62075" y="1759744"/>
            <a:ext cx="305607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用命令分类卡完成单元复习</a:t>
            </a:r>
          </a:p>
        </p:txBody>
      </p:sp>
      <p:sp>
        <p:nvSpPr>
          <p:cNvPr id="25" name="Ellipse 25"/>
          <p:cNvSpPr/>
          <p:nvPr/>
        </p:nvSpPr>
        <p:spPr>
          <a:xfrm>
            <a:off x="790575" y="24955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43892" y="26436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62075" y="2597944"/>
            <a:ext cx="406842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分别运行花瓣、花心花茎两个小程序</a:t>
            </a:r>
          </a:p>
        </p:txBody>
      </p:sp>
      <p:sp>
        <p:nvSpPr>
          <p:cNvPr id="28" name="Ellipse 28"/>
          <p:cNvSpPr/>
          <p:nvPr/>
        </p:nvSpPr>
        <p:spPr>
          <a:xfrm>
            <a:off x="790575" y="3333750"/>
            <a:ext cx="419100" cy="419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43892" y="34818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62075" y="3436144"/>
            <a:ext cx="3309163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组合基础版并完成第一次测试</a:t>
            </a:r>
          </a:p>
        </p:txBody>
      </p:sp>
      <p:sp>
        <p:nvSpPr>
          <p:cNvPr id="31" name="Ellipse 31"/>
          <p:cNvSpPr/>
          <p:nvPr/>
        </p:nvSpPr>
        <p:spPr>
          <a:xfrm>
            <a:off x="790575" y="4171950"/>
            <a:ext cx="419100" cy="419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43892" y="43200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2075" y="4274344"/>
            <a:ext cx="3119349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只修改 1–2 项形成个人作品</a:t>
            </a:r>
          </a:p>
        </p:txBody>
      </p:sp>
      <p:sp>
        <p:nvSpPr>
          <p:cNvPr id="34" name="Ellipse 34"/>
          <p:cNvSpPr/>
          <p:nvPr/>
        </p:nvSpPr>
        <p:spPr>
          <a:xfrm>
            <a:off x="790575" y="50101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43892" y="5158264"/>
            <a:ext cx="1124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62075" y="5112544"/>
            <a:ext cx="411903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举行桌面画展：说出“我用了……命令”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44729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画展开始：检查，再分享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1145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每人只提一条具体、友善、能行动的建议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作品验收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447800"/>
            <a:ext cx="5143500" cy="876300"/>
          </a:xfrm>
          <a:prstGeom prst="roundRect">
            <a:avLst>
              <a:gd name="adj" fmla="val 26087"/>
            </a:avLst>
          </a:prstGeom>
          <a:solidFill>
            <a:schemeClr val="lt2"/>
          </a:solidFill>
          <a:ln w="19050">
            <a:solidFill>
              <a:schemeClr val="accent1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685800" y="1695450"/>
            <a:ext cx="381000" cy="38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4030" y="1806892"/>
            <a:ext cx="2045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1199" y="1792129"/>
            <a:ext cx="193029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基础版能够完整运行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57200" y="2571750"/>
            <a:ext cx="5143500" cy="876300"/>
          </a:xfrm>
          <a:prstGeom prst="roundRect">
            <a:avLst>
              <a:gd name="adj" fmla="val 26087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685800" y="2819400"/>
            <a:ext cx="381000" cy="38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4030" y="1806892"/>
            <a:ext cx="2045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✓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1199" y="2916079"/>
            <a:ext cx="223126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花瓣 / 花心 / 花茎齐全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57200" y="3695700"/>
            <a:ext cx="5143500" cy="876300"/>
          </a:xfrm>
          <a:prstGeom prst="roundRect">
            <a:avLst>
              <a:gd name="adj" fmla="val 26087"/>
            </a:avLst>
          </a:prstGeom>
          <a:solidFill>
            <a:srgbClr val="E9FBEF"/>
          </a:solidFill>
          <a:ln w="19050">
            <a:solidFill>
              <a:srgbClr val="22C55E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685800" y="3943350"/>
            <a:ext cx="381000" cy="3810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4030" y="1806892"/>
            <a:ext cx="2045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✓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11199" y="4040029"/>
            <a:ext cx="214299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能指出自己修改的一处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019800" y="1447800"/>
            <a:ext cx="5715000" cy="3124200"/>
          </a:xfrm>
          <a:prstGeom prst="roundRect">
            <a:avLst>
              <a:gd name="adj" fmla="val 9146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372606" y="172974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展示句式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30518" y="2241232"/>
            <a:ext cx="137171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我的作品是……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30518" y="2755582"/>
            <a:ext cx="159383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我使用了……命令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30518" y="3269932"/>
            <a:ext cx="114959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我修改了……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30518" y="3784282"/>
            <a:ext cx="137171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下一次我想……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610350" y="4895850"/>
            <a:ext cx="447675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516757" y="5033010"/>
            <a:ext cx="26639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建议只说一条：具体 + 友善 + 能行动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卡住时，先查这三处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31145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先检查最可能的原因，不要删掉全部重来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5169" y="461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海龟修理站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P35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314450"/>
            <a:ext cx="3524250" cy="459105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57200" y="1314450"/>
            <a:ext cx="3524250" cy="952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685800" y="1581150"/>
            <a:ext cx="11430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17571" y="1718310"/>
            <a:ext cx="4794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问题 1</a:t>
            </a:r>
          </a:p>
        </p:txBody>
      </p:sp>
      <p:sp>
        <p:nvSpPr>
          <p:cNvPr id="15" name="Ellipse 15"/>
          <p:cNvSpPr/>
          <p:nvPr/>
        </p:nvSpPr>
        <p:spPr>
          <a:xfrm>
            <a:off x="1533525" y="2095500"/>
            <a:ext cx="1371600" cy="1371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1819275" y="2693305"/>
            <a:ext cx="800100" cy="259445"/>
          </a:xfrm>
          <a:custGeom>
            <a:avLst/>
            <a:gdLst/>
            <a:ahLst/>
            <a:cxnLst/>
            <a:rect l="l" t="t" r="r" b="b"/>
            <a:pathLst>
              <a:path w="800100" h="259445">
                <a:moveTo>
                  <a:pt x="0" y="259445"/>
                </a:moveTo>
                <a:cubicBezTo>
                  <a:pt x="70500" y="101624"/>
                  <a:pt x="227198" y="0"/>
                  <a:pt x="400050" y="0"/>
                </a:cubicBezTo>
                <a:cubicBezTo>
                  <a:pt x="572902" y="0"/>
                  <a:pt x="729600" y="101624"/>
                  <a:pt x="800100" y="259445"/>
                </a:cubicBezTo>
              </a:path>
            </a:pathLst>
          </a:custGeom>
          <a:noFill/>
          <a:ln w="76200" cap="rnd">
            <a:solidFill>
              <a:schemeClr val="accent1"/>
            </a:solidFill>
          </a:ln>
        </p:spPr>
      </p:sp>
      <p:sp>
        <p:nvSpPr>
          <p:cNvPr id="17" name="Line 17"/>
          <p:cNvSpPr/>
          <p:nvPr/>
        </p:nvSpPr>
        <p:spPr>
          <a:xfrm>
            <a:off x="2219325" y="2647950"/>
            <a:ext cx="285750" cy="304800"/>
          </a:xfrm>
          <a:custGeom>
            <a:avLst/>
            <a:gdLst/>
            <a:ahLst/>
            <a:cxnLst/>
            <a:rect l="l" t="t" r="r" b="b"/>
            <a:pathLst>
              <a:path w="285750" h="304800">
                <a:moveTo>
                  <a:pt x="0" y="304800"/>
                </a:moveTo>
                <a:lnTo>
                  <a:pt x="285750" y="0"/>
                </a:lnTo>
              </a:path>
            </a:pathLst>
          </a:custGeom>
          <a:noFill/>
          <a:ln w="66675" cap="rnd">
            <a:solidFill>
              <a:schemeClr val="accent1"/>
            </a:solidFill>
          </a:ln>
        </p:spPr>
      </p:sp>
      <p:sp>
        <p:nvSpPr>
          <p:cNvPr id="18" name="Ellipse 18"/>
          <p:cNvSpPr/>
          <p:nvPr/>
        </p:nvSpPr>
        <p:spPr>
          <a:xfrm>
            <a:off x="2143125" y="2876550"/>
            <a:ext cx="152400" cy="152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240917" y="3520440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花瓣重复填充很慢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85800" y="4076700"/>
            <a:ext cx="1466850" cy="41910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09269" y="42233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点击看修复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85800" y="4076700"/>
            <a:ext cx="1466850" cy="419100"/>
            <a:chOff x="685800" y="4076700"/>
            <a:chExt cx="1466850" cy="419100"/>
          </a:xfrm>
        </p:grpSpPr>
        <p:sp>
          <p:nvSpPr>
            <p:cNvPr id="22" name="Rectangle 22"/>
            <p:cNvSpPr/>
            <p:nvPr/>
          </p:nvSpPr>
          <p:spPr>
            <a:xfrm>
              <a:off x="685800" y="4076700"/>
              <a:ext cx="146685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85800" y="4686300"/>
            <a:ext cx="3067050" cy="914400"/>
            <a:chOff x="685800" y="4686300"/>
            <a:chExt cx="3067050" cy="914400"/>
          </a:xfrm>
        </p:grpSpPr>
        <p:sp>
          <p:nvSpPr>
            <p:cNvPr id="24" name="Rectangle 24"/>
            <p:cNvSpPr/>
            <p:nvPr/>
          </p:nvSpPr>
          <p:spPr>
            <a:xfrm>
              <a:off x="685800" y="4686300"/>
              <a:ext cx="3067050" cy="914400"/>
            </a:xfrm>
            <a:prstGeom prst="roundRect">
              <a:avLst>
                <a:gd name="adj" fmla="val 2083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912061" y="49363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修复建议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15351" y="5253514"/>
              <a:ext cx="120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使用 speed(0)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4210050" y="1314450"/>
            <a:ext cx="3524250" cy="459105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4210050" y="1314450"/>
            <a:ext cx="3524250" cy="952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4438650" y="1581150"/>
            <a:ext cx="11430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770421" y="1718310"/>
            <a:ext cx="4794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问题 2</a:t>
            </a:r>
          </a:p>
        </p:txBody>
      </p:sp>
      <p:sp>
        <p:nvSpPr>
          <p:cNvPr id="32" name="Ellipse 32"/>
          <p:cNvSpPr/>
          <p:nvPr/>
        </p:nvSpPr>
        <p:spPr>
          <a:xfrm>
            <a:off x="5286375" y="2095500"/>
            <a:ext cx="1371600" cy="1371600"/>
          </a:xfrm>
          <a:prstGeom prst="ellipse">
            <a:avLst/>
          </a:prstGeom>
          <a:solidFill>
            <a:srgbClr val="FFF2DC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5572125" y="2381250"/>
            <a:ext cx="800100" cy="800100"/>
          </a:xfrm>
          <a:prstGeom prst="ellipse">
            <a:avLst/>
          </a:prstGeom>
          <a:solidFill>
            <a:srgbClr val="FFFFFF"/>
          </a:solidFill>
          <a:ln w="38100">
            <a:solidFill>
              <a:schemeClr val="accent2"/>
            </a:solidFill>
          </a:ln>
        </p:spPr>
      </p:sp>
      <p:sp>
        <p:nvSpPr>
          <p:cNvPr id="34" name="Line 34"/>
          <p:cNvSpPr/>
          <p:nvPr/>
        </p:nvSpPr>
        <p:spPr>
          <a:xfrm>
            <a:off x="5972175" y="2476500"/>
            <a:ext cx="9525" cy="523875"/>
          </a:xfrm>
          <a:custGeom>
            <a:avLst/>
            <a:gdLst/>
            <a:ahLst/>
            <a:cxnLst/>
            <a:rect l="l" t="t" r="r" b="b"/>
            <a:pathLst>
              <a:path w="9525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noFill/>
          <a:ln w="66675" cap="rnd">
            <a:solidFill>
              <a:schemeClr val="accent2"/>
            </a:solidFill>
          </a:ln>
        </p:spPr>
      </p:sp>
      <p:sp>
        <p:nvSpPr>
          <p:cNvPr id="35" name="Polygon 35"/>
          <p:cNvSpPr/>
          <p:nvPr/>
        </p:nvSpPr>
        <p:spPr>
          <a:xfrm>
            <a:off x="5838825" y="2924175"/>
            <a:ext cx="266700" cy="180975"/>
          </a:xfrm>
          <a:custGeom>
            <a:avLst/>
            <a:gdLst/>
            <a:ahLst/>
            <a:cxnLst/>
            <a:rect l="l" t="t" r="r" b="b"/>
            <a:pathLst>
              <a:path w="266700" h="180975">
                <a:moveTo>
                  <a:pt x="0" y="0"/>
                </a:moveTo>
                <a:lnTo>
                  <a:pt x="266700" y="0"/>
                </a:lnTo>
                <a:lnTo>
                  <a:pt x="133350" y="180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236083" y="3520440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花茎方向错误</a:t>
            </a:r>
          </a:p>
        </p:txBody>
      </p:sp>
      <p:sp>
        <p:nvSpPr>
          <p:cNvPr id="37" name="Rectangle 37"/>
          <p:cNvSpPr/>
          <p:nvPr/>
        </p:nvSpPr>
        <p:spPr>
          <a:xfrm>
            <a:off x="4438650" y="4076700"/>
            <a:ext cx="1466850" cy="41910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4762119" y="42233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点击看修复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4438650" y="4076700"/>
            <a:ext cx="1466850" cy="419100"/>
            <a:chOff x="4438650" y="4076700"/>
            <a:chExt cx="1466850" cy="419100"/>
          </a:xfrm>
        </p:grpSpPr>
        <p:sp>
          <p:nvSpPr>
            <p:cNvPr id="39" name="Rectangle 39"/>
            <p:cNvSpPr/>
            <p:nvPr/>
          </p:nvSpPr>
          <p:spPr>
            <a:xfrm>
              <a:off x="4438650" y="4076700"/>
              <a:ext cx="146685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4438650" y="4686300"/>
            <a:ext cx="3067050" cy="914400"/>
            <a:chOff x="4438650" y="4686300"/>
            <a:chExt cx="3067050" cy="914400"/>
          </a:xfrm>
        </p:grpSpPr>
        <p:sp>
          <p:nvSpPr>
            <p:cNvPr id="41" name="Rectangle 41"/>
            <p:cNvSpPr/>
            <p:nvPr/>
          </p:nvSpPr>
          <p:spPr>
            <a:xfrm>
              <a:off x="4438650" y="4686300"/>
              <a:ext cx="3067050" cy="914400"/>
            </a:xfrm>
            <a:prstGeom prst="roundRect">
              <a:avLst>
                <a:gd name="adj" fmla="val 2083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64911" y="49363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修复建议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042528" y="5253514"/>
              <a:ext cx="185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检查 setheading(270)</a:t>
              </a:r>
            </a:p>
          </p:txBody>
        </p:sp>
      </p:grpSp>
      <p:sp>
        <p:nvSpPr>
          <p:cNvPr id="45" name="Rectangle 45"/>
          <p:cNvSpPr/>
          <p:nvPr/>
        </p:nvSpPr>
        <p:spPr>
          <a:xfrm>
            <a:off x="7962900" y="1314450"/>
            <a:ext cx="3524250" cy="459105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7962900" y="1314450"/>
            <a:ext cx="3524250" cy="9525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8191500" y="1581150"/>
            <a:ext cx="1143000" cy="400050"/>
          </a:xfrm>
          <a:prstGeom prst="roundRect">
            <a:avLst>
              <a:gd name="adj" fmla="val 50000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523271" y="1718310"/>
            <a:ext cx="4794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问题 3</a:t>
            </a:r>
          </a:p>
        </p:txBody>
      </p:sp>
      <p:sp>
        <p:nvSpPr>
          <p:cNvPr id="49" name="Ellipse 49"/>
          <p:cNvSpPr/>
          <p:nvPr/>
        </p:nvSpPr>
        <p:spPr>
          <a:xfrm>
            <a:off x="9039225" y="2095500"/>
            <a:ext cx="1371600" cy="1371600"/>
          </a:xfrm>
          <a:prstGeom prst="ellipse">
            <a:avLst/>
          </a:prstGeom>
          <a:solidFill>
            <a:srgbClr val="FFE2ED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9305925" y="2533650"/>
            <a:ext cx="838200" cy="1143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9201150" y="2762250"/>
            <a:ext cx="1047750" cy="1143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9382125" y="2990850"/>
            <a:ext cx="685800" cy="1143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8988933" y="3520440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作品代码较长</a:t>
            </a:r>
          </a:p>
        </p:txBody>
      </p:sp>
      <p:sp>
        <p:nvSpPr>
          <p:cNvPr id="54" name="Rectangle 54"/>
          <p:cNvSpPr/>
          <p:nvPr/>
        </p:nvSpPr>
        <p:spPr>
          <a:xfrm>
            <a:off x="8191500" y="4076700"/>
            <a:ext cx="1466850" cy="41910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8514969" y="42233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点击看修复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8191500" y="4076700"/>
            <a:ext cx="1466850" cy="419100"/>
            <a:chOff x="8191500" y="4076700"/>
            <a:chExt cx="1466850" cy="419100"/>
          </a:xfrm>
        </p:grpSpPr>
        <p:sp>
          <p:nvSpPr>
            <p:cNvPr id="56" name="Rectangle 56"/>
            <p:cNvSpPr/>
            <p:nvPr/>
          </p:nvSpPr>
          <p:spPr>
            <a:xfrm>
              <a:off x="8191500" y="4076700"/>
              <a:ext cx="146685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8191500" y="4686300"/>
            <a:ext cx="3067050" cy="914400"/>
            <a:chOff x="8191500" y="4686300"/>
            <a:chExt cx="3067050" cy="914400"/>
          </a:xfrm>
        </p:grpSpPr>
        <p:sp>
          <p:nvSpPr>
            <p:cNvPr id="58" name="Rectangle 58"/>
            <p:cNvSpPr/>
            <p:nvPr/>
          </p:nvSpPr>
          <p:spPr>
            <a:xfrm>
              <a:off x="8191500" y="4686300"/>
              <a:ext cx="3067050" cy="914400"/>
            </a:xfrm>
            <a:prstGeom prst="roundRect">
              <a:avLst>
                <a:gd name="adj" fmla="val 20833"/>
              </a:avLst>
            </a:prstGeom>
            <a:solidFill>
              <a:srgbClr val="E9FBEF"/>
            </a:solidFill>
            <a:ln w="19050">
              <a:solidFill>
                <a:srgbClr val="22C55E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417761" y="49363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修复建议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856980" y="52535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回到半成品，逐段运行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" presetClass="entr" presetSubtype="0" fill="hold" grpId="0" nodeType="clickEffect" restart="always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896600" y="-295275"/>
            <a:ext cx="1257300" cy="1257300"/>
          </a:xfrm>
          <a:prstGeom prst="ellipse">
            <a:avLst/>
          </a:prstGeom>
          <a:solidFill>
            <a:schemeClr val="lt2">
              <a:alpha val="9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658600" y="657225"/>
            <a:ext cx="495300" cy="495300"/>
          </a:xfrm>
          <a:prstGeom prst="ellipse">
            <a:avLst/>
          </a:prstGeom>
          <a:solidFill>
            <a:srgbClr val="FFE2ED">
              <a:alpha val="9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23850" y="266700"/>
            <a:ext cx="152400" cy="514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4360" y="342900"/>
            <a:ext cx="56845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今天，我把旧积木拼成了新作品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173" y="814864"/>
            <a:ext cx="193425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用 3 句话收好今天的学习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0" y="32385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95941" y="4610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离堂小结</a:t>
            </a:r>
          </a:p>
        </p:txBody>
      </p:sp>
      <p:sp>
        <p:nvSpPr>
          <p:cNvPr id="9" name="Rectangle 9"/>
          <p:cNvSpPr/>
          <p:nvPr/>
        </p:nvSpPr>
        <p:spPr>
          <a:xfrm>
            <a:off x="457200" y="6238875"/>
            <a:ext cx="1219200" cy="400050"/>
          </a:xfrm>
          <a:prstGeom prst="roundRect">
            <a:avLst>
              <a:gd name="adj" fmla="val 50000"/>
            </a:avLst>
          </a:prstGeom>
          <a:solidFill>
            <a:srgbClr val="FFF2D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84" y="6384131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P36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428750"/>
            <a:ext cx="6953250" cy="409575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9050">
            <a:solidFill>
              <a:schemeClr val="accent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685800" y="1828800"/>
            <a:ext cx="533400" cy="533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86573" y="200977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19225" y="1969294"/>
            <a:ext cx="264165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我会用的 1 个命令是……</a:t>
            </a:r>
          </a:p>
        </p:txBody>
      </p:sp>
      <p:sp>
        <p:nvSpPr>
          <p:cNvPr id="15" name="Ellipse 15"/>
          <p:cNvSpPr/>
          <p:nvPr/>
        </p:nvSpPr>
        <p:spPr>
          <a:xfrm>
            <a:off x="685800" y="2876550"/>
            <a:ext cx="533400" cy="533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86573" y="305752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19225" y="3017044"/>
            <a:ext cx="264165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我完成的 1 个作品是……</a:t>
            </a:r>
          </a:p>
        </p:txBody>
      </p:sp>
      <p:sp>
        <p:nvSpPr>
          <p:cNvPr id="18" name="Ellipse 18"/>
          <p:cNvSpPr/>
          <p:nvPr/>
        </p:nvSpPr>
        <p:spPr>
          <a:xfrm>
            <a:off x="685800" y="3924300"/>
            <a:ext cx="533400" cy="533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6573" y="410527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19225" y="4064794"/>
            <a:ext cx="284222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我下次遇到报错先检查……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810500" y="1428750"/>
            <a:ext cx="3924300" cy="4095750"/>
          </a:xfrm>
          <a:prstGeom prst="roundRect">
            <a:avLst>
              <a:gd name="adj" fmla="val 8252"/>
            </a:avLst>
          </a:prstGeom>
          <a:solidFill>
            <a:srgbClr val="FFE2ED"/>
          </a:solidFill>
          <a:ln w="19050">
            <a:solidFill>
              <a:schemeClr val="accent3"/>
            </a:solidFill>
          </a:ln>
        </p:spPr>
      </p:sp>
      <p:grpSp>
        <p:nvGrpSpPr>
          <p:cNvPr id="30" name="Group 30"/>
          <p:cNvGrpSpPr/>
          <p:nvPr/>
        </p:nvGrpSpPr>
        <p:grpSpPr>
          <a:xfrm>
            <a:off x="8903970" y="2107882"/>
            <a:ext cx="1737360" cy="2666524"/>
            <a:chOff x="8903970" y="2107882"/>
            <a:chExt cx="1737360" cy="2666524"/>
          </a:xfrm>
        </p:grpSpPr>
        <p:sp>
          <p:nvSpPr>
            <p:cNvPr id="22" name="Ellipse 22"/>
            <p:cNvSpPr/>
            <p:nvPr/>
          </p:nvSpPr>
          <p:spPr>
            <a:xfrm>
              <a:off x="9367838" y="2107882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9831705" y="2375535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9831705" y="2910840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9367838" y="3178492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903970" y="2910840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903970" y="2375535"/>
              <a:ext cx="809625" cy="809625"/>
            </a:xfrm>
            <a:prstGeom prst="ellipse">
              <a:avLst/>
            </a:prstGeom>
            <a:solidFill>
              <a:srgbClr val="FF9AC4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534525" y="2809875"/>
              <a:ext cx="476250" cy="476250"/>
            </a:xfrm>
            <a:prstGeom prst="ellipse">
              <a:avLst/>
            </a:prstGeom>
            <a:solidFill>
              <a:srgbClr val="FFE26A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772650" y="3286125"/>
              <a:ext cx="9525" cy="1488281"/>
            </a:xfrm>
            <a:custGeom>
              <a:avLst/>
              <a:gdLst/>
              <a:ahLst/>
              <a:cxnLst/>
              <a:rect l="l" t="t" r="r" b="b"/>
              <a:pathLst>
                <a:path w="9525" h="1488281">
                  <a:moveTo>
                    <a:pt x="0" y="0"/>
                  </a:moveTo>
                  <a:lnTo>
                    <a:pt x="0" y="1488281"/>
                  </a:lnTo>
                </a:path>
              </a:pathLst>
            </a:custGeom>
            <a:noFill/>
            <a:ln w="95250" cap="rnd">
              <a:solidFill>
                <a:srgbClr val="22C55E"/>
              </a:solidFill>
            </a:ln>
          </p:spPr>
        </p:sp>
      </p:grpSp>
      <p:sp>
        <p:nvSpPr>
          <p:cNvPr id="31" name="Rectangle 31"/>
          <p:cNvSpPr/>
          <p:nvPr/>
        </p:nvSpPr>
        <p:spPr>
          <a:xfrm>
            <a:off x="8382000" y="4810125"/>
            <a:ext cx="2781300" cy="400050"/>
          </a:xfrm>
          <a:prstGeom prst="roundRect">
            <a:avLst>
              <a:gd name="adj" fmla="val 50000"/>
            </a:avLst>
          </a:prstGeom>
          <a:solidFill>
            <a:srgbClr val="17243A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658366" y="4955381"/>
            <a:ext cx="22285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保存 lesson06_red_flower.py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90996" y="64017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阳光积木实验室 · 一次只做清楚一件事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ython应用课_第06课_阶段测评与复盘_阳光积木实验室_20260905">
  <a:themeElements>
    <a:clrScheme name="Python应用课_第06课_阶段测评与复盘_阳光积木实验室_20260905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60758A"/>
      </a:accent5>
      <a:accent6>
        <a:srgbClr val="CFE5F8"/>
      </a:accent6>
      <a:hlink>
        <a:srgbClr val="FF9F1C"/>
      </a:hlink>
      <a:folHlink>
        <a:srgbClr val="FF6FA5"/>
      </a:folHlink>
    </a:clrScheme>
    <a:fontScheme name="Python应用课_第06课_阶段测评与复盘_阳光积木实验室_20260905">
      <a:majorFont>
        <a:latin typeface="YouYuan"/>
        <a:ea typeface="YouYuan"/>
        <a:cs typeface="YouYuan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ython应用课_第06课_阶段测评与复盘_阳光积木实验室_2026090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ython应用课_第06课_阶段测评与复盘_阳光积木实验室_20260905">
  <a:themeElements>
    <a:clrScheme name="Python应用课_第06课_阶段测评与复盘_阳光积木实验室_20260905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60758A"/>
      </a:accent5>
      <a:accent6>
        <a:srgbClr val="CFE5F8"/>
      </a:accent6>
      <a:hlink>
        <a:srgbClr val="FF9F1C"/>
      </a:hlink>
      <a:folHlink>
        <a:srgbClr val="FF6FA5"/>
      </a:folHlink>
    </a:clrScheme>
    <a:fontScheme name="Python应用课_第06课_阶段测评与复盘_阳光积木实验室_20260905">
      <a:majorFont>
        <a:latin typeface="YouYuan"/>
        <a:ea typeface="YouYuan"/>
        <a:cs typeface="YouYuan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ython应用课_第06课_阶段测评与复盘_阳光积木实验室_2026090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2026-09-05T19:06:20Z</dcterms:created>
  <dcterms:modified xsi:type="dcterms:W3CDTF">2026-09-05T19:06:20Z</dcterms:modified>
  <cp:category/>
  <cp:contentStatus/>
</cp:coreProperties>
</file>