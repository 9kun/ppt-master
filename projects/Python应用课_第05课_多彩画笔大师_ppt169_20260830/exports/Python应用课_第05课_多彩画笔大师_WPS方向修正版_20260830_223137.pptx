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来到第五课“多彩画笔大师”。今天我们不只画出轮廓，还要让海龟同时管理边框色、填充色、背景和线宽，最后完成一枚可以展示的双层彩色徽章。请孩子先观察右侧徽章，说一说它和普通黑线相比多了哪些视觉变化，再带出本课的三个目标：会配色、会填充、会改参数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两小时分成四关：十五分钟知识抢答、四十五分钟知识讲解、二十分钟选择题练习和四十分钟拓展编程，合计一百二十分钟。第六十五到第七十五分钟安排十分钟休息。请家长或助教记住一句陪练话术：每运行一次，都请孩子说出改了什么、结果为什么变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先只看题目，不急着点击答案。第一题请孩子说出屏幕中心是零逗号零；第二、三题分别复习 x 正数向右、y 正数向上；第四题强调 goto 需要 x 和 y 两个数字；第五题回忆 penup 能让海龟移动时不留线。每次点击只揭晓一题，答案出现后都要追问“为什么”，让孩子用坐标方向或画笔状态解释。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继续复习上节课的移动和图形命令。home 让海龟回到中心原点，setheading 九十让海龟朝上，dot 适合画实心圆点或地点标记，circle 可以画圆或圆弧，上节课的微项目是海龟岛藏宝图。五题全部揭晓后，请孩子选一道用“答案加为什么”的完整句式回答，再送出抢答小冠军鼓励。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今天的驱动问题是：怎样给海龟岛的徽章加上颜色、粗线和填充？请先比较普通空心轮廓和彩色双层徽章，引导孩子发现作品需要边框、填充、背景和层次。接下来会用到 color、pencolor、fillcolor、begin_fill、end_fill、bgcolor、pensize、width 和 circle，项目文件名是 lesson05_color_badge.py。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pencolor 是线条管理员，只改变画笔画出的边框；fillcolor 是填充管理员，设置封闭图形内部的颜色；color 是颜色双管家，可以一次设置两者。读 color 的两个颜色时要按顺序说：第一个管边框，第二个管填充。课堂先使用 red、blue、green、yellow、pink 和 orange 这些颜色词，避免因为拼写带来额外错误。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把填充顺序记成三明治：begin_fill 是开始，完整封闭图形代码是夹心，end_fill 是结束。比喻帮助记忆，但技术事实是，填充区域来自这两条命令之间绘制并闭合的路径。请孩子指出正方形代码中的开始、循环四边和结束；如果少了 end_fill，或图形没有回到起点，填充就可能不完整。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screen.bgcolor 改的是画布背景，先创建 Screen，再给背景设置颜色。t.width 和 t.pensize 都能改变画笔粗细，括号里的数字越大，线条越粗。请孩子比较六和三对应的线条，强调这里的数字不表示次数、距离或角度。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t.circle 六十画一个半径为六十的圆；再加上第二个数字一百八十，就只画同半径的半圆。这里不做几何推导，只让孩子会读参数、会改数字、会观察结果。请先让孩子预测 circle 六十逗号一百八十会出现完整圆还是半圆，再揭示右侧结果。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这段程序先导入 turtle，创建画布和海龟，再把背景设为 lightyellow，把画笔设为 blue、线宽设为六，最后画半径七十的圆。请孩子按逻辑分组读代码，不要求一次背完。动手时把 width 六换成 pensize 三，再运行比较粗细，并说出“我只改了线宽，所以圆的大小没有变化”。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点击顶部任务按钮选择蓝色粗线圆或粉色细线圆，确认左侧代码已经切换，而且旧画布和旧输出被清空。再点击对应运行按钮，观察状态变为绘制中，圆按四段依次出现，终端逐字打印完成信息，最后状态显示作品完成。请反复切换两次，让孩子解释：半径没变，变化来自颜色和线宽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第一题判断设置画笔线条颜色的命令，正确答案是 pencolor，因为它专门管理边框线条。第二题判断设置填充颜色的命令，正确答案是 fillcolor，因为它管理封闭图形内部。每题先让孩子独立选择，再点击题卡，让绿色正确项和判断依据同时出现。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第三题问填充开始前用什么，正确答案是 begin_fill，它标记填充路径开始。第四题问封闭图形完成后用什么，正确答案是 end_fill，它结束路径并显示填充。两题揭晓后，请全班齐说口诀：开始、画完整图形、结束。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第五题的正确答案是 screen.bgcolor，因为背景颜色属于画布 Screen。第六题中 pensize 六表示线宽为六，不表示画六次、走六步或转六度。点击揭晓后，用底部细线和粗线再做一次视觉确认。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第七题中 circle 五十的五十主要表示半径。第八题的正确顺序是开始、画图、结束，因为两条填充命令必须包住完整封闭图形。完成八道选择题后，请孩子用自己的话说出一条判断依据，而不是只报答案字母。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休息前先保存当前 Python 文件，再活动眼睛和手指。回到座位后不要马上改代码，先运行一次已有程序，确认它仍然能工作。十分钟后用“保存、休息、运行”的顺序收心进入拓展编程。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先用 color 同时设置红色边框和粉色填充，再在循环前调用 begin_fill，循环四次画边并右转九十度，最后调用 end_fill。请孩子注意两行循环体必须缩进，而且四条边闭合后才出现填充。完成标准版后，只修改边框色、填充色和边长，填充三明治顺序保持不变。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顶部可以切换红边粉心、边长一百，或蓝边黄心、边长八十。点击运行后先按顺序出现四条边，闭合后填充色才出现，终端逐字打印“填充正方形完成”。请孩子解释为什么第二个正方形更小，并指出 color 的两个参数各自控制什么。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项目分为背景、外圈、移动和内圈四步。输入是颜色、半径和 goto 的 y，处理是让外圈和内圈各自完成“设置颜色、开始填充、画圆、结束填充”，输出是双层彩色徽章。半成品代码留下了颜色和半径的决定点；如果位置不好，只改 goto 的 y，不要同时改很多参数。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选择经典徽章或内圈半径更小的“我的徽章”，确认代码切换并清空旧结果。点击运行后，外圈先按四段绘制并填充，随后内圈按四段绘制并填充；终端先逐字输出“外圈完成”，再逐行进入“内圈完成”，最后显示作品完成。请反复切换经典版和个性版，让孩子指出只有内圈半径从六十五变为五十，外圈保持不变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现在不能只看标准答案，要补全背景色、外圈 begin_fill、外圈 end_fill、内圈颜色和内圈半径五个空位。基础版先保证命令正确，进阶版修改两组颜色，创意版把内圈半径改为五十或七十五，并只在需要时调整 goto 的 y。完成后按“补代码、保存、运行、看图形、按清单修正”的路径自查。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遇错先根据现象排查。颜色不出现时检查颜色名称拼写；填充不出现时检查 begin 和 end 的顺序；填充缺一块时检查循环次数、转角和图形是否闭合；内圈位置不理想时只改 goto 的 y。每次点击揭晓一张修理卡，最后一起读自救口诀：拼写对、顺序对、图形闭合、一次只改一个参数。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作品达标要满足三项：至少两种颜色，填充完整且没有漏掉 end_fill，并且包含背景或不同线宽中的至少一项。展示时请孩子说：“我的作品是……，我使用了……命令，我修改了……，下一次我想……”，同伴只提一条关注颜色清楚或图形完整的友善建议。回家把内圈半径换一个数字，做第二枚徽章，并向家人解释为什么它变了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ython应用课_第05课_多彩画笔大师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ython应用课_第05课_多彩画笔大师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171450"/>
          </a:xfrm>
          <a:custGeom>
            <a:avLst/>
            <a:gdLst/>
            <a:ahLst/>
            <a:cxnLst/>
            <a:rect l="l" t="t" r="r" b="b"/>
            <a:pathLst>
              <a:path w="12192000" h="171450">
                <a:moveTo>
                  <a:pt x="0" y="0"/>
                </a:moveTo>
                <a:lnTo>
                  <a:pt x="12192000" y="0"/>
                </a:lnTo>
                <a:lnTo>
                  <a:pt x="12192000" y="171450"/>
                </a:lnTo>
                <a:lnTo>
                  <a:pt x="0" y="17145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52000">
                <a:schemeClr val="accent3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</p:spPr>
      </p:sp>
      <p:grpSp>
        <p:nvGrpSpPr>
          <p:cNvPr id="23" name="Group 23"/>
          <p:cNvGrpSpPr/>
          <p:nvPr/>
        </p:nvGrpSpPr>
        <p:grpSpPr>
          <a:xfrm>
            <a:off x="571500" y="552450"/>
            <a:ext cx="5676900" cy="4343400"/>
            <a:chOff x="571500" y="552450"/>
            <a:chExt cx="5676900" cy="4343400"/>
          </a:xfrm>
        </p:grpSpPr>
        <p:sp>
          <p:nvSpPr>
            <p:cNvPr id="3" name="Rectangle 3"/>
            <p:cNvSpPr/>
            <p:nvPr/>
          </p:nvSpPr>
          <p:spPr>
            <a:xfrm>
              <a:off x="571500" y="552450"/>
              <a:ext cx="23812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657225"/>
              <a:ext cx="190500" cy="190695"/>
            </a:xfrm>
            <a:custGeom>
              <a:avLst/>
              <a:gdLst/>
              <a:ahLst/>
              <a:cxnLst/>
              <a:rect l="l" t="t" r="r" b="b"/>
              <a:pathLst>
                <a:path w="190500" h="190695">
                  <a:moveTo>
                    <a:pt x="95250" y="0"/>
                  </a:moveTo>
                  <a:cubicBezTo>
                    <a:pt x="147618" y="0"/>
                    <a:pt x="190500" y="38119"/>
                    <a:pt x="190500" y="85725"/>
                  </a:cubicBezTo>
                  <a:cubicBezTo>
                    <a:pt x="190500" y="98593"/>
                    <a:pt x="184785" y="110871"/>
                    <a:pt x="174746" y="119786"/>
                  </a:cubicBezTo>
                  <a:cubicBezTo>
                    <a:pt x="164935" y="128492"/>
                    <a:pt x="151771" y="133350"/>
                    <a:pt x="138112" y="133350"/>
                  </a:cubicBezTo>
                  <a:lnTo>
                    <a:pt x="114148" y="133350"/>
                  </a:lnTo>
                  <a:cubicBezTo>
                    <a:pt x="109776" y="133280"/>
                    <a:pt x="105917" y="136195"/>
                    <a:pt x="104791" y="140420"/>
                  </a:cubicBezTo>
                  <a:cubicBezTo>
                    <a:pt x="103664" y="144644"/>
                    <a:pt x="105559" y="149094"/>
                    <a:pt x="109385" y="151209"/>
                  </a:cubicBezTo>
                  <a:cubicBezTo>
                    <a:pt x="110052" y="151578"/>
                    <a:pt x="110673" y="152026"/>
                    <a:pt x="111233" y="152543"/>
                  </a:cubicBezTo>
                  <a:cubicBezTo>
                    <a:pt x="117910" y="158705"/>
                    <a:pt x="120091" y="168348"/>
                    <a:pt x="116715" y="176784"/>
                  </a:cubicBezTo>
                  <a:cubicBezTo>
                    <a:pt x="113339" y="185219"/>
                    <a:pt x="105106" y="190695"/>
                    <a:pt x="96022" y="190548"/>
                  </a:cubicBezTo>
                  <a:lnTo>
                    <a:pt x="94536" y="190462"/>
                  </a:lnTo>
                  <a:lnTo>
                    <a:pt x="95183" y="190500"/>
                  </a:lnTo>
                  <a:lnTo>
                    <a:pt x="92583" y="190462"/>
                  </a:lnTo>
                  <a:cubicBezTo>
                    <a:pt x="42101" y="189071"/>
                    <a:pt x="1429" y="148399"/>
                    <a:pt x="38" y="97917"/>
                  </a:cubicBezTo>
                  <a:lnTo>
                    <a:pt x="0" y="95250"/>
                  </a:lnTo>
                  <a:cubicBezTo>
                    <a:pt x="0" y="42643"/>
                    <a:pt x="42643" y="0"/>
                    <a:pt x="95250" y="0"/>
                  </a:cubicBezTo>
                  <a:moveTo>
                    <a:pt x="61912" y="61912"/>
                  </a:moveTo>
                  <a:cubicBezTo>
                    <a:pt x="51943" y="61909"/>
                    <a:pt x="43658" y="69593"/>
                    <a:pt x="42910" y="79534"/>
                  </a:cubicBezTo>
                  <a:lnTo>
                    <a:pt x="42862" y="80962"/>
                  </a:lnTo>
                  <a:cubicBezTo>
                    <a:pt x="42862" y="91484"/>
                    <a:pt x="51391" y="100012"/>
                    <a:pt x="61912" y="100012"/>
                  </a:cubicBezTo>
                  <a:cubicBezTo>
                    <a:pt x="72434" y="100012"/>
                    <a:pt x="80962" y="91484"/>
                    <a:pt x="80962" y="80962"/>
                  </a:cubicBezTo>
                  <a:cubicBezTo>
                    <a:pt x="80962" y="70441"/>
                    <a:pt x="72434" y="61912"/>
                    <a:pt x="61912" y="61912"/>
                  </a:cubicBezTo>
                  <a:moveTo>
                    <a:pt x="138112" y="61912"/>
                  </a:moveTo>
                  <a:cubicBezTo>
                    <a:pt x="128143" y="61909"/>
                    <a:pt x="119858" y="69593"/>
                    <a:pt x="119110" y="79534"/>
                  </a:cubicBezTo>
                  <a:lnTo>
                    <a:pt x="119062" y="80962"/>
                  </a:lnTo>
                  <a:cubicBezTo>
                    <a:pt x="119062" y="91484"/>
                    <a:pt x="127591" y="100012"/>
                    <a:pt x="138112" y="100012"/>
                  </a:cubicBezTo>
                  <a:cubicBezTo>
                    <a:pt x="148634" y="100012"/>
                    <a:pt x="157162" y="91484"/>
                    <a:pt x="157162" y="80962"/>
                  </a:cubicBezTo>
                  <a:cubicBezTo>
                    <a:pt x="157162" y="70441"/>
                    <a:pt x="148634" y="61912"/>
                    <a:pt x="138112" y="61912"/>
                  </a:cubicBezTo>
                  <a:moveTo>
                    <a:pt x="100012" y="33338"/>
                  </a:moveTo>
                  <a:cubicBezTo>
                    <a:pt x="90043" y="33334"/>
                    <a:pt x="81758" y="41018"/>
                    <a:pt x="81010" y="50959"/>
                  </a:cubicBezTo>
                  <a:lnTo>
                    <a:pt x="80962" y="52388"/>
                  </a:lnTo>
                  <a:cubicBezTo>
                    <a:pt x="80962" y="62909"/>
                    <a:pt x="89491" y="71438"/>
                    <a:pt x="100012" y="71438"/>
                  </a:cubicBezTo>
                  <a:cubicBezTo>
                    <a:pt x="110534" y="71438"/>
                    <a:pt x="119062" y="62909"/>
                    <a:pt x="119062" y="52388"/>
                  </a:cubicBezTo>
                  <a:cubicBezTo>
                    <a:pt x="119062" y="41866"/>
                    <a:pt x="110534" y="33338"/>
                    <a:pt x="100012" y="33338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59942" y="673418"/>
              <a:ext cx="217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Python 应用课 · 第 05 课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71500" y="1225868"/>
              <a:ext cx="3551682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多彩画笔大师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8932" y="1983105"/>
              <a:ext cx="40378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神奇海龟小画家 · 彩色徽章工坊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0456" y="25298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给海龟岛的徽章加上颜色、粗线和填充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90550" y="3105150"/>
              <a:ext cx="5657850" cy="10287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90550" y="3105150"/>
              <a:ext cx="114300" cy="10287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87730" y="33337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今天的升级挑战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6206" y="36537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把普通黑线，变成有边框、有填充的彩色徽章！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590550" y="4438650"/>
              <a:ext cx="4876800" cy="457200"/>
              <a:chOff x="590550" y="4438650"/>
              <a:chExt cx="4876800" cy="4572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90550" y="44386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771525" y="4581525"/>
                <a:ext cx="171450" cy="1714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49655" y="4591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会配色</a:t>
                </a: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2190750" y="4438650"/>
                <a:ext cx="14478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E2ED"/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2371725" y="4581525"/>
                <a:ext cx="171450" cy="17145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2649855" y="45910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会填充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3790950" y="4438650"/>
                <a:ext cx="1676400" cy="457200"/>
              </a:xfrm>
              <a:prstGeom prst="roundRect">
                <a:avLst>
                  <a:gd name="adj" fmla="val 50000"/>
                </a:avLst>
              </a:prstGeom>
              <a:solidFill>
                <a:srgbClr val="FFF2DC"/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3971925" y="4581525"/>
                <a:ext cx="171450" cy="1714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250055" y="459105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会改参数</a:t>
                </a: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7239000" y="857250"/>
            <a:ext cx="4095750" cy="4895850"/>
            <a:chOff x="7239000" y="857250"/>
            <a:chExt cx="4095750" cy="4895850"/>
          </a:xfrm>
        </p:grpSpPr>
        <p:sp>
          <p:nvSpPr>
            <p:cNvPr id="24" name="Rectangle 24"/>
            <p:cNvSpPr/>
            <p:nvPr/>
          </p:nvSpPr>
          <p:spPr>
            <a:xfrm>
              <a:off x="7239000" y="857250"/>
              <a:ext cx="4095750" cy="4895850"/>
            </a:xfrm>
            <a:prstGeom prst="roundRect">
              <a:avLst>
                <a:gd name="adj" fmla="val 130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410450" y="1028700"/>
              <a:ext cx="3752850" cy="4552950"/>
            </a:xfrm>
            <a:prstGeom prst="roundRect">
              <a:avLst>
                <a:gd name="adj" fmla="val 116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7724775" y="1695450"/>
              <a:ext cx="3124200" cy="31242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6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029575" y="2000250"/>
              <a:ext cx="2514600" cy="2514600"/>
              <a:chOff x="8029575" y="2000250"/>
              <a:chExt cx="2514600" cy="25146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8029575" y="2000250"/>
                <a:ext cx="2514600" cy="2514600"/>
              </a:xfrm>
              <a:prstGeom prst="ellipse">
                <a:avLst/>
              </a:prstGeom>
              <a:solidFill>
                <a:srgbClr val="FFE26A"/>
              </a:solidFill>
              <a:ln w="133350">
                <a:solidFill>
                  <a:srgbClr val="2E5EA8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8420100" y="2390775"/>
                <a:ext cx="1733550" cy="1733550"/>
              </a:xfrm>
              <a:prstGeom prst="ellipse">
                <a:avLst/>
              </a:prstGeom>
              <a:solidFill>
                <a:schemeClr val="accent2"/>
              </a:solidFill>
              <a:ln w="95250">
                <a:solidFill>
                  <a:srgbClr val="E34F67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858250" y="2828925"/>
                <a:ext cx="857250" cy="85725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014926" y="2986931"/>
                <a:ext cx="543627" cy="518117"/>
              </a:xfrm>
              <a:custGeom>
                <a:avLst/>
                <a:gdLst/>
                <a:ahLst/>
                <a:cxnLst/>
                <a:rect l="l" t="t" r="r" b="b"/>
                <a:pathLst>
                  <a:path w="543627" h="518117">
                    <a:moveTo>
                      <a:pt x="179503" y="155953"/>
                    </a:moveTo>
                    <a:lnTo>
                      <a:pt x="22515" y="178714"/>
                    </a:lnTo>
                    <a:lnTo>
                      <a:pt x="19735" y="179280"/>
                    </a:lnTo>
                    <a:cubicBezTo>
                      <a:pt x="11166" y="181555"/>
                      <a:pt x="4483" y="188264"/>
                      <a:pt x="2241" y="196842"/>
                    </a:cubicBezTo>
                    <a:cubicBezTo>
                      <a:pt x="0" y="205420"/>
                      <a:pt x="2547" y="214541"/>
                      <a:pt x="8908" y="220717"/>
                    </a:cubicBezTo>
                    <a:lnTo>
                      <a:pt x="122638" y="331420"/>
                    </a:lnTo>
                    <a:lnTo>
                      <a:pt x="95817" y="487793"/>
                    </a:lnTo>
                    <a:lnTo>
                      <a:pt x="95497" y="490500"/>
                    </a:lnTo>
                    <a:cubicBezTo>
                      <a:pt x="94973" y="499363"/>
                      <a:pt x="99264" y="507822"/>
                      <a:pt x="106726" y="512633"/>
                    </a:cubicBezTo>
                    <a:cubicBezTo>
                      <a:pt x="114188" y="517445"/>
                      <a:pt x="123664" y="517863"/>
                      <a:pt x="131521" y="513728"/>
                    </a:cubicBezTo>
                    <a:lnTo>
                      <a:pt x="271924" y="439909"/>
                    </a:lnTo>
                    <a:lnTo>
                      <a:pt x="412007" y="513728"/>
                    </a:lnTo>
                    <a:lnTo>
                      <a:pt x="414468" y="514860"/>
                    </a:lnTo>
                    <a:cubicBezTo>
                      <a:pt x="422737" y="518117"/>
                      <a:pt x="432121" y="516662"/>
                      <a:pt x="439015" y="511052"/>
                    </a:cubicBezTo>
                    <a:cubicBezTo>
                      <a:pt x="445909" y="505443"/>
                      <a:pt x="449243" y="496552"/>
                      <a:pt x="447735" y="487793"/>
                    </a:cubicBezTo>
                    <a:lnTo>
                      <a:pt x="420890" y="331420"/>
                    </a:lnTo>
                    <a:lnTo>
                      <a:pt x="534669" y="220692"/>
                    </a:lnTo>
                    <a:lnTo>
                      <a:pt x="536588" y="218601"/>
                    </a:lnTo>
                    <a:cubicBezTo>
                      <a:pt x="542170" y="211727"/>
                      <a:pt x="543627" y="202383"/>
                      <a:pt x="540405" y="194136"/>
                    </a:cubicBezTo>
                    <a:cubicBezTo>
                      <a:pt x="537182" y="185888"/>
                      <a:pt x="529776" y="180008"/>
                      <a:pt x="521013" y="178739"/>
                    </a:cubicBezTo>
                    <a:lnTo>
                      <a:pt x="364025" y="155953"/>
                    </a:lnTo>
                    <a:lnTo>
                      <a:pt x="293848" y="13730"/>
                    </a:lnTo>
                    <a:cubicBezTo>
                      <a:pt x="289706" y="5323"/>
                      <a:pt x="281148" y="0"/>
                      <a:pt x="271776" y="0"/>
                    </a:cubicBezTo>
                    <a:cubicBezTo>
                      <a:pt x="262405" y="0"/>
                      <a:pt x="253847" y="5323"/>
                      <a:pt x="249705" y="13730"/>
                    </a:cubicBezTo>
                    <a:lnTo>
                      <a:pt x="179503" y="15595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7791450" y="1438275"/>
              <a:ext cx="3133725" cy="3638550"/>
              <a:chOff x="7791450" y="1438275"/>
              <a:chExt cx="3133725" cy="363855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7810500" y="1438275"/>
                <a:ext cx="342900" cy="342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487025" y="1628775"/>
                <a:ext cx="266700" cy="26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4" name="Ellipse 34"/>
              <p:cNvSpPr/>
              <p:nvPr/>
            </p:nvSpPr>
            <p:spPr>
              <a:xfrm>
                <a:off x="10544175" y="45339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7791450" y="4829175"/>
                <a:ext cx="247650" cy="24765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37" name="Rectangle 37"/>
            <p:cNvSpPr/>
            <p:nvPr/>
          </p:nvSpPr>
          <p:spPr>
            <a:xfrm>
              <a:off x="8020050" y="5105400"/>
              <a:ext cx="2533650" cy="40005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421310" y="522636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color → fill → badge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1355298" y="3144787"/>
            <a:ext cx="8899098" cy="2817863"/>
            <a:chOff x="-1355298" y="3144787"/>
            <a:chExt cx="8899098" cy="2817863"/>
          </a:xfrm>
        </p:grpSpPr>
        <p:sp>
          <p:nvSpPr>
            <p:cNvPr id="40" name="Freeform 40"/>
            <p:cNvSpPr/>
            <p:nvPr/>
          </p:nvSpPr>
          <p:spPr>
            <a:xfrm>
              <a:off x="5657850" y="5219700"/>
              <a:ext cx="1885950" cy="742950"/>
            </a:xfrm>
            <a:custGeom>
              <a:avLst/>
              <a:gdLst/>
              <a:ahLst/>
              <a:cxnLst/>
              <a:rect l="l" t="t" r="r" b="b"/>
              <a:pathLst>
                <a:path w="1885950" h="742950">
                  <a:moveTo>
                    <a:pt x="0" y="590550"/>
                  </a:moveTo>
                  <a:cubicBezTo>
                    <a:pt x="590550" y="38100"/>
                    <a:pt x="1162050" y="742950"/>
                    <a:pt x="1885950" y="0"/>
                  </a:cubicBezTo>
                </a:path>
              </a:pathLst>
            </a:custGeom>
            <a:noFill/>
            <a:ln w="171450" cap="rnd">
              <a:gradFill>
                <a:gsLst>
                  <a:gs pos="0">
                    <a:schemeClr val="accent1"/>
                  </a:gs>
                  <a:gs pos="52000">
                    <a:schemeClr val="accent3"/>
                  </a:gs>
                  <a:gs pos="100000">
                    <a:schemeClr val="accent2"/>
                  </a:gs>
                </a:gsLst>
                <a:lin ang="0" scaled="1"/>
              </a:gra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-1355298" y="3144787"/>
              <a:ext cx="128499" cy="203580"/>
            </a:xfrm>
            <a:custGeom>
              <a:avLst/>
              <a:gdLst/>
              <a:ahLst/>
              <a:cxnLst/>
              <a:rect l="l" t="t" r="r" b="b"/>
              <a:pathLst>
                <a:path w="128499" h="203580">
                  <a:moveTo>
                    <a:pt x="47282" y="44706"/>
                  </a:moveTo>
                  <a:lnTo>
                    <a:pt x="114426" y="73207"/>
                  </a:lnTo>
                  <a:lnTo>
                    <a:pt x="68142" y="182227"/>
                  </a:lnTo>
                  <a:cubicBezTo>
                    <a:pt x="67155" y="184552"/>
                    <a:pt x="65285" y="186391"/>
                    <a:pt x="62944" y="187337"/>
                  </a:cubicBezTo>
                  <a:lnTo>
                    <a:pt x="27618" y="201610"/>
                  </a:lnTo>
                  <a:cubicBezTo>
                    <a:pt x="22740" y="203580"/>
                    <a:pt x="17189" y="201224"/>
                    <a:pt x="15218" y="196347"/>
                  </a:cubicBezTo>
                  <a:lnTo>
                    <a:pt x="946" y="161021"/>
                  </a:lnTo>
                  <a:cubicBezTo>
                    <a:pt x="0" y="158679"/>
                    <a:pt x="23" y="156057"/>
                    <a:pt x="1011" y="153732"/>
                  </a:cubicBezTo>
                  <a:close/>
                  <a:moveTo>
                    <a:pt x="85398" y="1589"/>
                  </a:moveTo>
                  <a:cubicBezTo>
                    <a:pt x="98329" y="0"/>
                    <a:pt x="111126" y="5431"/>
                    <a:pt x="118966" y="15836"/>
                  </a:cubicBezTo>
                  <a:cubicBezTo>
                    <a:pt x="126807" y="26242"/>
                    <a:pt x="128499" y="40040"/>
                    <a:pt x="123407" y="52032"/>
                  </a:cubicBezTo>
                  <a:lnTo>
                    <a:pt x="121873" y="55661"/>
                  </a:lnTo>
                  <a:lnTo>
                    <a:pt x="54730" y="27161"/>
                  </a:lnTo>
                  <a:lnTo>
                    <a:pt x="56275" y="23536"/>
                  </a:lnTo>
                  <a:cubicBezTo>
                    <a:pt x="61368" y="11546"/>
                    <a:pt x="72468" y="3180"/>
                    <a:pt x="85398" y="1589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585216" y="6335078"/>
            <a:ext cx="11021568" cy="205359"/>
            <a:chOff x="585216" y="6335078"/>
            <a:chExt cx="11021568" cy="205359"/>
          </a:xfrm>
        </p:grpSpPr>
        <p:sp>
          <p:nvSpPr>
            <p:cNvPr id="43" name="TextBox 43"/>
            <p:cNvSpPr txBox="1"/>
            <p:nvPr/>
          </p:nvSpPr>
          <p:spPr>
            <a:xfrm>
              <a:off x="585216" y="6335078"/>
              <a:ext cx="26327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120 分钟 · 复习 × 讲解 × 练习 × 编程作品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9970" y="6335078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05 / 彩色徽章工坊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478536" y="419100"/>
            <a:ext cx="11141964" cy="1013079"/>
            <a:chOff x="478536" y="419100"/>
            <a:chExt cx="11141964" cy="1013079"/>
          </a:xfrm>
        </p:grpSpPr>
        <p:sp>
          <p:nvSpPr>
            <p:cNvPr id="2" name="Rectangle 2"/>
            <p:cNvSpPr/>
            <p:nvPr/>
          </p:nvSpPr>
          <p:spPr>
            <a:xfrm>
              <a:off x="495300" y="419100"/>
              <a:ext cx="17907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38581" y="5210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课堂探险航线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78536" y="78676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两小时彩色探险航线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9582150" y="514350"/>
              <a:ext cx="2038350" cy="4953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86314" y="660082"/>
              <a:ext cx="1430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 120 分钟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4450" y="1981200"/>
            <a:ext cx="9429750" cy="9525"/>
            <a:chOff x="1314450" y="1981200"/>
            <a:chExt cx="9429750" cy="9525"/>
          </a:xfrm>
        </p:grpSpPr>
        <p:sp>
          <p:nvSpPr>
            <p:cNvPr id="8" name="Line 8"/>
            <p:cNvSpPr/>
            <p:nvPr/>
          </p:nvSpPr>
          <p:spPr>
            <a:xfrm>
              <a:off x="1314450" y="1981200"/>
              <a:ext cx="9429750" cy="9525"/>
            </a:xfrm>
            <a:custGeom>
              <a:avLst/>
              <a:gdLst/>
              <a:ahLst/>
              <a:cxnLst/>
              <a:rect l="l" t="t" r="r" b="b"/>
              <a:pathLst>
                <a:path w="9429750" h="9525">
                  <a:moveTo>
                    <a:pt x="0" y="0"/>
                  </a:moveTo>
                  <a:lnTo>
                    <a:pt x="9429750" y="0"/>
                  </a:lnTo>
                </a:path>
              </a:pathLst>
            </a:custGeom>
            <a:noFill/>
            <a:ln w="171450" cap="rnd">
              <a:solidFill>
                <a:schemeClr val="accent6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314450" y="1981200"/>
              <a:ext cx="2781300" cy="9525"/>
            </a:xfrm>
            <a:custGeom>
              <a:avLst/>
              <a:gdLst/>
              <a:ahLst/>
              <a:cxnLst/>
              <a:rect l="l" t="t" r="r" b="b"/>
              <a:pathLst>
                <a:path w="2781300" h="9525">
                  <a:moveTo>
                    <a:pt x="0" y="0"/>
                  </a:moveTo>
                  <a:lnTo>
                    <a:pt x="2781300" y="0"/>
                  </a:lnTo>
                </a:path>
              </a:pathLst>
            </a:custGeom>
            <a:noFill/>
            <a:ln w="171450" cap="rnd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095750" y="1981200"/>
              <a:ext cx="2552700" cy="9525"/>
            </a:xfrm>
            <a:custGeom>
              <a:avLst/>
              <a:gdLst/>
              <a:ahLst/>
              <a:cxnLst/>
              <a:rect l="l" t="t" r="r" b="b"/>
              <a:pathLst>
                <a:path w="2552700" h="9525">
                  <a:moveTo>
                    <a:pt x="0" y="0"/>
                  </a:moveTo>
                  <a:lnTo>
                    <a:pt x="2552700" y="0"/>
                  </a:lnTo>
                </a:path>
              </a:pathLst>
            </a:custGeom>
            <a:noFill/>
            <a:ln w="171450">
              <a:solidFill>
                <a:schemeClr val="accent2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648450" y="198120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171450">
              <a:solidFill>
                <a:schemeClr val="accent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858250" y="1981200"/>
              <a:ext cx="1885950" cy="9525"/>
            </a:xfrm>
            <a:custGeom>
              <a:avLst/>
              <a:gdLst/>
              <a:ahLst/>
              <a:cxnLst/>
              <a:rect l="l" t="t" r="r" b="b"/>
              <a:pathLst>
                <a:path w="1885950" h="9525">
                  <a:moveTo>
                    <a:pt x="0" y="0"/>
                  </a:moveTo>
                  <a:lnTo>
                    <a:pt x="1885950" y="0"/>
                  </a:lnTo>
                </a:path>
              </a:pathLst>
            </a:custGeom>
            <a:noFill/>
            <a:ln w="171450" cap="rnd">
              <a:solidFill>
                <a:srgbClr val="22C55E"/>
              </a:solidFill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609600" y="2514600"/>
            <a:ext cx="2381250" cy="2133600"/>
            <a:chOff x="609600" y="2514600"/>
            <a:chExt cx="2381250" cy="2133600"/>
          </a:xfrm>
        </p:grpSpPr>
        <p:sp>
          <p:nvSpPr>
            <p:cNvPr id="14" name="Rectangle 14"/>
            <p:cNvSpPr/>
            <p:nvPr/>
          </p:nvSpPr>
          <p:spPr>
            <a:xfrm>
              <a:off x="6096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81050" y="26479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561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15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课前复习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0580" y="3267075"/>
              <a:ext cx="1565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知识抢答 · 10 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342" y="36547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坐标、移动、方向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382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494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 分钟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238500" y="2514600"/>
            <a:ext cx="2381250" cy="2133600"/>
            <a:chOff x="3238500" y="2514600"/>
            <a:chExt cx="2381250" cy="2133600"/>
          </a:xfrm>
        </p:grpSpPr>
        <p:sp>
          <p:nvSpPr>
            <p:cNvPr id="23" name="Rectangle 23"/>
            <p:cNvSpPr/>
            <p:nvPr/>
          </p:nvSpPr>
          <p:spPr>
            <a:xfrm>
              <a:off x="32385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3409950" y="26479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5850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104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知识讲解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59480" y="3267075"/>
              <a:ext cx="1714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颜色 × 填充 × 参数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60242" y="36547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先观察，再运行验证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4671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6783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45 分钟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867400" y="2514600"/>
            <a:ext cx="2381250" cy="2133600"/>
            <a:chOff x="5867400" y="2514600"/>
            <a:chExt cx="2381250" cy="2133600"/>
          </a:xfrm>
        </p:grpSpPr>
        <p:sp>
          <p:nvSpPr>
            <p:cNvPr id="32" name="Rectangle 32"/>
            <p:cNvSpPr/>
            <p:nvPr/>
          </p:nvSpPr>
          <p:spPr>
            <a:xfrm>
              <a:off x="5867400" y="2514600"/>
              <a:ext cx="2381250" cy="2133600"/>
            </a:xfrm>
            <a:prstGeom prst="roundRect">
              <a:avLst>
                <a:gd name="adj" fmla="val 1339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038850" y="26479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139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393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选择练习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088380" y="3267075"/>
              <a:ext cx="1650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本课选择题 · 8 题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089142" y="36547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判断命令、参数与结果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0960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072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20 分钟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496300" y="2514600"/>
            <a:ext cx="3067050" cy="2133600"/>
            <a:chOff x="8496300" y="2514600"/>
            <a:chExt cx="3067050" cy="2133600"/>
          </a:xfrm>
        </p:grpSpPr>
        <p:sp>
          <p:nvSpPr>
            <p:cNvPr id="41" name="Rectangle 41"/>
            <p:cNvSpPr/>
            <p:nvPr/>
          </p:nvSpPr>
          <p:spPr>
            <a:xfrm>
              <a:off x="8496300" y="2514600"/>
              <a:ext cx="3067050" cy="2133600"/>
            </a:xfrm>
            <a:prstGeom prst="roundRect">
              <a:avLst>
                <a:gd name="adj" fmla="val 1339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667750" y="26479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842880" y="28032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6820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拓展编程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717280" y="32670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双层彩色徽章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718042" y="365474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补代码、运行、检查、展示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724900" y="4095750"/>
              <a:ext cx="1066800" cy="36195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36128" y="4197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40 分钟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09600" y="5105400"/>
            <a:ext cx="10953750" cy="971550"/>
            <a:chOff x="609600" y="5105400"/>
            <a:chExt cx="10953750" cy="971550"/>
          </a:xfrm>
        </p:grpSpPr>
        <p:sp>
          <p:nvSpPr>
            <p:cNvPr id="50" name="Rectangle 50"/>
            <p:cNvSpPr/>
            <p:nvPr/>
          </p:nvSpPr>
          <p:spPr>
            <a:xfrm>
              <a:off x="609600" y="5105400"/>
              <a:ext cx="10953750" cy="971550"/>
            </a:xfrm>
            <a:prstGeom prst="roundRect">
              <a:avLst>
                <a:gd name="adj" fmla="val 2549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880459" y="5357812"/>
              <a:ext cx="429833" cy="428625"/>
              <a:chOff x="880459" y="5357812"/>
              <a:chExt cx="429833" cy="4286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80459" y="5550694"/>
                <a:ext cx="6550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42862">
                    <a:moveTo>
                      <a:pt x="43466" y="0"/>
                    </a:moveTo>
                    <a:cubicBezTo>
                      <a:pt x="54806" y="13"/>
                      <a:pt x="64173" y="8856"/>
                      <a:pt x="64837" y="20175"/>
                    </a:cubicBezTo>
                    <a:cubicBezTo>
                      <a:pt x="65502" y="31495"/>
                      <a:pt x="57234" y="41373"/>
                      <a:pt x="45974" y="42712"/>
                    </a:cubicBezTo>
                    <a:lnTo>
                      <a:pt x="43466" y="42862"/>
                    </a:lnTo>
                    <a:lnTo>
                      <a:pt x="22035" y="42862"/>
                    </a:lnTo>
                    <a:cubicBezTo>
                      <a:pt x="10696" y="42850"/>
                      <a:pt x="1329" y="34007"/>
                      <a:pt x="665" y="22687"/>
                    </a:cubicBezTo>
                    <a:cubicBezTo>
                      <a:pt x="0" y="11368"/>
                      <a:pt x="8268" y="1489"/>
                      <a:pt x="19528" y="150"/>
                    </a:cubicBezTo>
                    <a:lnTo>
                      <a:pt x="22035" y="0"/>
                    </a:lnTo>
                    <a:lnTo>
                      <a:pt x="43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1073944" y="5357812"/>
                <a:ext cx="42862" cy="64898"/>
              </a:xfrm>
              <a:custGeom>
                <a:avLst/>
                <a:gdLst/>
                <a:ahLst/>
                <a:cxnLst/>
                <a:rect l="l" t="t" r="r" b="b"/>
                <a:pathLst>
                  <a:path w="42862" h="64898">
                    <a:moveTo>
                      <a:pt x="21431" y="0"/>
                    </a:moveTo>
                    <a:cubicBezTo>
                      <a:pt x="32296" y="1"/>
                      <a:pt x="41441" y="8133"/>
                      <a:pt x="42712" y="18924"/>
                    </a:cubicBezTo>
                    <a:lnTo>
                      <a:pt x="42862" y="21431"/>
                    </a:lnTo>
                    <a:lnTo>
                      <a:pt x="42862" y="42862"/>
                    </a:lnTo>
                    <a:cubicBezTo>
                      <a:pt x="42850" y="54202"/>
                      <a:pt x="34007" y="63569"/>
                      <a:pt x="22687" y="64233"/>
                    </a:cubicBezTo>
                    <a:cubicBezTo>
                      <a:pt x="11368" y="64898"/>
                      <a:pt x="1489" y="56630"/>
                      <a:pt x="150" y="45370"/>
                    </a:cubicBezTo>
                    <a:lnTo>
                      <a:pt x="0" y="42862"/>
                    </a:ln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1244790" y="5550694"/>
                <a:ext cx="65502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65502" h="42862">
                    <a:moveTo>
                      <a:pt x="43466" y="0"/>
                    </a:moveTo>
                    <a:cubicBezTo>
                      <a:pt x="54806" y="13"/>
                      <a:pt x="64173" y="8856"/>
                      <a:pt x="64837" y="20175"/>
                    </a:cubicBezTo>
                    <a:cubicBezTo>
                      <a:pt x="65502" y="31495"/>
                      <a:pt x="57234" y="41373"/>
                      <a:pt x="45974" y="42712"/>
                    </a:cubicBezTo>
                    <a:lnTo>
                      <a:pt x="43466" y="42862"/>
                    </a:lnTo>
                    <a:lnTo>
                      <a:pt x="22035" y="42862"/>
                    </a:lnTo>
                    <a:cubicBezTo>
                      <a:pt x="10696" y="42850"/>
                      <a:pt x="1329" y="34007"/>
                      <a:pt x="665" y="22687"/>
                    </a:cubicBezTo>
                    <a:cubicBezTo>
                      <a:pt x="0" y="11368"/>
                      <a:pt x="8268" y="1489"/>
                      <a:pt x="19528" y="150"/>
                    </a:cubicBezTo>
                    <a:lnTo>
                      <a:pt x="22035" y="0"/>
                    </a:lnTo>
                    <a:lnTo>
                      <a:pt x="4346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934697" y="5411416"/>
                <a:ext cx="62041" cy="62394"/>
              </a:xfrm>
              <a:custGeom>
                <a:avLst/>
                <a:gdLst/>
                <a:ahLst/>
                <a:cxnLst/>
                <a:rect l="l" t="t" r="r" b="b"/>
                <a:pathLst>
                  <a:path w="62041" h="62394">
                    <a:moveTo>
                      <a:pt x="8366" y="8397"/>
                    </a:moveTo>
                    <a:cubicBezTo>
                      <a:pt x="16002" y="762"/>
                      <a:pt x="28124" y="0"/>
                      <a:pt x="36656" y="6618"/>
                    </a:cubicBezTo>
                    <a:lnTo>
                      <a:pt x="38670" y="8397"/>
                    </a:lnTo>
                    <a:lnTo>
                      <a:pt x="53672" y="23399"/>
                    </a:lnTo>
                    <a:cubicBezTo>
                      <a:pt x="61649" y="31403"/>
                      <a:pt x="62041" y="44225"/>
                      <a:pt x="54567" y="52701"/>
                    </a:cubicBezTo>
                    <a:cubicBezTo>
                      <a:pt x="47093" y="61177"/>
                      <a:pt x="34322" y="62394"/>
                      <a:pt x="25383" y="55481"/>
                    </a:cubicBezTo>
                    <a:lnTo>
                      <a:pt x="23368" y="53702"/>
                    </a:lnTo>
                    <a:lnTo>
                      <a:pt x="8366" y="38701"/>
                    </a:lnTo>
                    <a:cubicBezTo>
                      <a:pt x="0" y="30332"/>
                      <a:pt x="0" y="16766"/>
                      <a:pt x="8366" y="839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93690" y="5411445"/>
                <a:ext cx="62688" cy="62043"/>
              </a:xfrm>
              <a:custGeom>
                <a:avLst/>
                <a:gdLst/>
                <a:ahLst/>
                <a:cxnLst/>
                <a:rect l="l" t="t" r="r" b="b"/>
                <a:pathLst>
                  <a:path w="62688" h="62043">
                    <a:moveTo>
                      <a:pt x="23693" y="8368"/>
                    </a:moveTo>
                    <a:cubicBezTo>
                      <a:pt x="31697" y="392"/>
                      <a:pt x="44520" y="0"/>
                      <a:pt x="52995" y="7474"/>
                    </a:cubicBezTo>
                    <a:cubicBezTo>
                      <a:pt x="61471" y="14947"/>
                      <a:pt x="62688" y="27718"/>
                      <a:pt x="55776" y="36658"/>
                    </a:cubicBezTo>
                    <a:lnTo>
                      <a:pt x="53997" y="38672"/>
                    </a:lnTo>
                    <a:lnTo>
                      <a:pt x="38995" y="53674"/>
                    </a:lnTo>
                    <a:cubicBezTo>
                      <a:pt x="30991" y="61651"/>
                      <a:pt x="18168" y="62043"/>
                      <a:pt x="9692" y="54569"/>
                    </a:cubicBezTo>
                    <a:cubicBezTo>
                      <a:pt x="1217" y="47095"/>
                      <a:pt x="0" y="34325"/>
                      <a:pt x="6912" y="25385"/>
                    </a:cubicBezTo>
                    <a:lnTo>
                      <a:pt x="8691" y="23370"/>
                    </a:lnTo>
                    <a:lnTo>
                      <a:pt x="23693" y="83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31081" y="5700712"/>
                <a:ext cx="128588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85725">
                    <a:moveTo>
                      <a:pt x="107156" y="0"/>
                    </a:moveTo>
                    <a:cubicBezTo>
                      <a:pt x="118992" y="0"/>
                      <a:pt x="128588" y="9595"/>
                      <a:pt x="128588" y="21431"/>
                    </a:cubicBezTo>
                    <a:cubicBezTo>
                      <a:pt x="128588" y="56940"/>
                      <a:pt x="99802" y="85725"/>
                      <a:pt x="64294" y="85725"/>
                    </a:cubicBezTo>
                    <a:cubicBezTo>
                      <a:pt x="28785" y="85725"/>
                      <a:pt x="0" y="56940"/>
                      <a:pt x="0" y="21431"/>
                    </a:cubicBezTo>
                    <a:cubicBezTo>
                      <a:pt x="1" y="10566"/>
                      <a:pt x="8133" y="1421"/>
                      <a:pt x="18924" y="150"/>
                    </a:cubicBezTo>
                    <a:lnTo>
                      <a:pt x="21431" y="0"/>
                    </a:lnTo>
                    <a:lnTo>
                      <a:pt x="10715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955884" y="5443538"/>
                <a:ext cx="278983" cy="235744"/>
              </a:xfrm>
              <a:custGeom>
                <a:avLst/>
                <a:gdLst/>
                <a:ahLst/>
                <a:cxnLst/>
                <a:rect l="l" t="t" r="r" b="b"/>
                <a:pathLst>
                  <a:path w="278983" h="235744">
                    <a:moveTo>
                      <a:pt x="139491" y="0"/>
                    </a:moveTo>
                    <a:cubicBezTo>
                      <a:pt x="194839" y="0"/>
                      <a:pt x="243978" y="35417"/>
                      <a:pt x="261480" y="87925"/>
                    </a:cubicBezTo>
                    <a:cubicBezTo>
                      <a:pt x="278983" y="140432"/>
                      <a:pt x="260922" y="198249"/>
                      <a:pt x="216644" y="231457"/>
                    </a:cubicBezTo>
                    <a:cubicBezTo>
                      <a:pt x="213690" y="233676"/>
                      <a:pt x="210213" y="235094"/>
                      <a:pt x="206550" y="235572"/>
                    </a:cubicBezTo>
                    <a:lnTo>
                      <a:pt x="203785" y="235744"/>
                    </a:lnTo>
                    <a:lnTo>
                      <a:pt x="75198" y="235744"/>
                    </a:lnTo>
                    <a:cubicBezTo>
                      <a:pt x="70561" y="235744"/>
                      <a:pt x="66049" y="234240"/>
                      <a:pt x="62339" y="231457"/>
                    </a:cubicBezTo>
                    <a:cubicBezTo>
                      <a:pt x="18061" y="198249"/>
                      <a:pt x="0" y="140432"/>
                      <a:pt x="17503" y="87925"/>
                    </a:cubicBezTo>
                    <a:cubicBezTo>
                      <a:pt x="35005" y="35417"/>
                      <a:pt x="84143" y="0"/>
                      <a:pt x="1394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1517142" y="53406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家长陪练句式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14856" y="5625465"/>
              <a:ext cx="61137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“每运行一次，都请孩子说出改了什么、结果为什么变。”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9296400" y="5257800"/>
              <a:ext cx="2000250" cy="647700"/>
            </a:xfrm>
            <a:prstGeom prst="roundRect">
              <a:avLst>
                <a:gd name="adj" fmla="val 29412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967341" y="5385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课间休息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830781" y="5635942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65–75 分钟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2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2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6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457200"/>
            <a:ext cx="11027664" cy="670179"/>
            <a:chOff x="478536" y="457200"/>
            <a:chExt cx="1102766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81965"/>
              <a:ext cx="426163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第4课知识抢答 · 1–5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39300" y="457200"/>
              <a:ext cx="18669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29220" y="587692"/>
              <a:ext cx="16870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点击一次 · 揭晓一题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257300"/>
            <a:ext cx="11087100" cy="819150"/>
            <a:chOff x="552450" y="1257300"/>
            <a:chExt cx="11087100" cy="819150"/>
          </a:xfrm>
        </p:grpSpPr>
        <p:sp>
          <p:nvSpPr>
            <p:cNvPr id="6" name="Rectangle 6"/>
            <p:cNvSpPr/>
            <p:nvPr/>
          </p:nvSpPr>
          <p:spPr>
            <a:xfrm>
              <a:off x="552450" y="12573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33425" y="14287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99030" y="15744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506" y="1548765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屏幕中心坐标是什么？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29700" y="14382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9275" y="15716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想一想，再点击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1150" y="1371600"/>
            <a:ext cx="5886450" cy="607028"/>
            <a:chOff x="5391150" y="1371600"/>
            <a:chExt cx="5886450" cy="607028"/>
          </a:xfrm>
        </p:grpSpPr>
        <p:sp>
          <p:nvSpPr>
            <p:cNvPr id="13" name="Rectangle 13"/>
            <p:cNvSpPr/>
            <p:nvPr/>
          </p:nvSpPr>
          <p:spPr>
            <a:xfrm>
              <a:off x="5391150" y="13716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12130" y="1466850"/>
              <a:ext cx="1204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答案：(0,0)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3273" y="1729264"/>
              <a:ext cx="26235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为什么：中心点的 x 和 y 都是 0。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228850"/>
            <a:ext cx="11087100" cy="819150"/>
            <a:chOff x="552450" y="2228850"/>
            <a:chExt cx="11087100" cy="819150"/>
          </a:xfrm>
        </p:grpSpPr>
        <p:sp>
          <p:nvSpPr>
            <p:cNvPr id="17" name="Rectangle 17"/>
            <p:cNvSpPr/>
            <p:nvPr/>
          </p:nvSpPr>
          <p:spPr>
            <a:xfrm>
              <a:off x="552450" y="222885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33425" y="2400300"/>
              <a:ext cx="476250" cy="476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9030" y="2546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1506" y="2520315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x 是正数，海龟通常向哪边？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29700" y="240982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41205" y="25431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方向小侦探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91150" y="2343150"/>
            <a:ext cx="5886450" cy="607028"/>
            <a:chOff x="5391150" y="2343150"/>
            <a:chExt cx="5886450" cy="607028"/>
          </a:xfrm>
        </p:grpSpPr>
        <p:sp>
          <p:nvSpPr>
            <p:cNvPr id="24" name="Rectangle 24"/>
            <p:cNvSpPr/>
            <p:nvPr/>
          </p:nvSpPr>
          <p:spPr>
            <a:xfrm>
              <a:off x="5391150" y="234315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12130" y="24384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答案：向右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273" y="270081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为什么：x 轴从中心向右增大。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200400"/>
            <a:ext cx="11087100" cy="819150"/>
            <a:chOff x="552450" y="3200400"/>
            <a:chExt cx="11087100" cy="819150"/>
          </a:xfrm>
        </p:grpSpPr>
        <p:sp>
          <p:nvSpPr>
            <p:cNvPr id="28" name="Rectangle 28"/>
            <p:cNvSpPr/>
            <p:nvPr/>
          </p:nvSpPr>
          <p:spPr>
            <a:xfrm>
              <a:off x="552450" y="32004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33425" y="3371850"/>
              <a:ext cx="476250" cy="476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9030" y="3517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3491865"/>
              <a:ext cx="3142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y 是正数，海龟通常向哪边？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33813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641205" y="3514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方向小侦探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91150" y="3314700"/>
            <a:ext cx="5886450" cy="607028"/>
            <a:chOff x="5391150" y="3314700"/>
            <a:chExt cx="5886450" cy="607028"/>
          </a:xfrm>
        </p:grpSpPr>
        <p:sp>
          <p:nvSpPr>
            <p:cNvPr id="35" name="Rectangle 35"/>
            <p:cNvSpPr/>
            <p:nvPr/>
          </p:nvSpPr>
          <p:spPr>
            <a:xfrm>
              <a:off x="5391150" y="33147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2130" y="34099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答案：向上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3273" y="367236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为什么：y 轴从中心向上增大。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4171950"/>
            <a:ext cx="11087100" cy="819150"/>
            <a:chOff x="552450" y="4171950"/>
            <a:chExt cx="11087100" cy="819150"/>
          </a:xfrm>
        </p:grpSpPr>
        <p:sp>
          <p:nvSpPr>
            <p:cNvPr id="39" name="Rectangle 39"/>
            <p:cNvSpPr/>
            <p:nvPr/>
          </p:nvSpPr>
          <p:spPr>
            <a:xfrm>
              <a:off x="552450" y="417195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33425" y="4343400"/>
              <a:ext cx="476250" cy="4762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99030" y="4489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1506" y="4463415"/>
              <a:ext cx="2835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goto 需要几个坐标数字？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29700" y="435292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2170" y="44862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先横后竖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1150" y="4286250"/>
            <a:ext cx="5886450" cy="607028"/>
            <a:chOff x="5391150" y="4286250"/>
            <a:chExt cx="5886450" cy="607028"/>
          </a:xfrm>
        </p:grpSpPr>
        <p:sp>
          <p:nvSpPr>
            <p:cNvPr id="46" name="Rectangle 46"/>
            <p:cNvSpPr/>
            <p:nvPr/>
          </p:nvSpPr>
          <p:spPr>
            <a:xfrm>
              <a:off x="5391150" y="428625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2130" y="4381500"/>
              <a:ext cx="1789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答案：两个，x 和 y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3273" y="46439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为什么：先写横向位置，再写纵向位置。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5143500"/>
            <a:ext cx="11087100" cy="819150"/>
            <a:chOff x="552450" y="5143500"/>
            <a:chExt cx="11087100" cy="819150"/>
          </a:xfrm>
        </p:grpSpPr>
        <p:sp>
          <p:nvSpPr>
            <p:cNvPr id="50" name="Rectangle 50"/>
            <p:cNvSpPr/>
            <p:nvPr/>
          </p:nvSpPr>
          <p:spPr>
            <a:xfrm>
              <a:off x="552450" y="5143500"/>
              <a:ext cx="1108710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33425" y="5314950"/>
              <a:ext cx="476250" cy="4762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99030" y="54606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1506" y="5434965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移动时不想留下线，要先做什么？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29700" y="5324475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2170" y="545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抬起画笔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91150" y="5257800"/>
            <a:ext cx="5886450" cy="607028"/>
            <a:chOff x="5391150" y="5257800"/>
            <a:chExt cx="5886450" cy="607028"/>
          </a:xfrm>
        </p:grpSpPr>
        <p:sp>
          <p:nvSpPr>
            <p:cNvPr id="57" name="Rectangle 57"/>
            <p:cNvSpPr/>
            <p:nvPr/>
          </p:nvSpPr>
          <p:spPr>
            <a:xfrm>
              <a:off x="5391150" y="5257800"/>
              <a:ext cx="5886450" cy="590550"/>
            </a:xfrm>
            <a:prstGeom prst="roundRect">
              <a:avLst>
                <a:gd name="adj" fmla="val 32258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2130" y="5353050"/>
              <a:ext cx="1437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Consolas"/>
                  <a:ea typeface="Microsoft YaHei"/>
                  <a:cs typeface="Consolas"/>
                </a:rPr>
                <a:t>答案：penup()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3273" y="561546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为什么：抬起画笔后移动不会留下轨迹。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09016" y="6325552"/>
            <a:ext cx="11021568" cy="205359"/>
            <a:chOff x="509016" y="6325552"/>
            <a:chExt cx="11021568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509016" y="63255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课前复习 · 坐标与移动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0463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457200"/>
            <a:ext cx="11027664" cy="670179"/>
            <a:chOff x="478536" y="457200"/>
            <a:chExt cx="1102766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81965"/>
              <a:ext cx="451819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第4课知识抢答 · 6–10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753600" y="457200"/>
              <a:ext cx="17526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68700" y="587692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接着挑战！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52450" y="1257300"/>
            <a:ext cx="11087100" cy="762000"/>
            <a:chOff x="552450" y="1257300"/>
            <a:chExt cx="11087100" cy="762000"/>
          </a:xfrm>
        </p:grpSpPr>
        <p:sp>
          <p:nvSpPr>
            <p:cNvPr id="6" name="Rectangle 6"/>
            <p:cNvSpPr/>
            <p:nvPr/>
          </p:nvSpPr>
          <p:spPr>
            <a:xfrm>
              <a:off x="552450" y="12573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4097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132" y="15540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81506" y="1520190"/>
              <a:ext cx="24390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home() 有什么作用？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029700" y="14097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641205" y="154305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回到哪里？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91150" y="1352550"/>
            <a:ext cx="5886450" cy="587978"/>
            <a:chOff x="5391150" y="1352550"/>
            <a:chExt cx="5886450" cy="587978"/>
          </a:xfrm>
        </p:grpSpPr>
        <p:sp>
          <p:nvSpPr>
            <p:cNvPr id="13" name="Rectangle 13"/>
            <p:cNvSpPr/>
            <p:nvPr/>
          </p:nvSpPr>
          <p:spPr>
            <a:xfrm>
              <a:off x="5391150" y="13525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12511" y="14463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答案：回到中心原点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13273" y="1691164"/>
              <a:ext cx="2261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为什么：让海龟回到 (0,0)。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52450" y="2171700"/>
            <a:ext cx="11087100" cy="762000"/>
            <a:chOff x="552450" y="2171700"/>
            <a:chExt cx="11087100" cy="762000"/>
          </a:xfrm>
        </p:grpSpPr>
        <p:sp>
          <p:nvSpPr>
            <p:cNvPr id="17" name="Rectangle 17"/>
            <p:cNvSpPr/>
            <p:nvPr/>
          </p:nvSpPr>
          <p:spPr>
            <a:xfrm>
              <a:off x="552450" y="21717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42950" y="23241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02132" y="24684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1506" y="2434590"/>
              <a:ext cx="3686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setheading(90) 让海龟朝哪边？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029700" y="23241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43135" y="24574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看角度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91150" y="2266950"/>
            <a:ext cx="5886450" cy="587978"/>
            <a:chOff x="5391150" y="2266950"/>
            <a:chExt cx="5886450" cy="587978"/>
          </a:xfrm>
        </p:grpSpPr>
        <p:sp>
          <p:nvSpPr>
            <p:cNvPr id="24" name="Rectangle 24"/>
            <p:cNvSpPr/>
            <p:nvPr/>
          </p:nvSpPr>
          <p:spPr>
            <a:xfrm>
              <a:off x="5391150" y="22669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12511" y="23607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答案：向上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13273" y="2605564"/>
              <a:ext cx="23219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为什么：90 度对应屏幕上方。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52450" y="3086100"/>
            <a:ext cx="11087100" cy="762000"/>
            <a:chOff x="552450" y="3086100"/>
            <a:chExt cx="11087100" cy="762000"/>
          </a:xfrm>
        </p:grpSpPr>
        <p:sp>
          <p:nvSpPr>
            <p:cNvPr id="28" name="Rectangle 28"/>
            <p:cNvSpPr/>
            <p:nvPr/>
          </p:nvSpPr>
          <p:spPr>
            <a:xfrm>
              <a:off x="552450" y="30861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742950" y="32385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02132" y="33828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81506" y="3348990"/>
              <a:ext cx="224820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dot() 适合画什么？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029700" y="32385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42170" y="33718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快速标记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391150" y="3181350"/>
            <a:ext cx="5886450" cy="587978"/>
            <a:chOff x="5391150" y="3181350"/>
            <a:chExt cx="5886450" cy="587978"/>
          </a:xfrm>
        </p:grpSpPr>
        <p:sp>
          <p:nvSpPr>
            <p:cNvPr id="35" name="Rectangle 35"/>
            <p:cNvSpPr/>
            <p:nvPr/>
          </p:nvSpPr>
          <p:spPr>
            <a:xfrm>
              <a:off x="5391150" y="31813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612511" y="327517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答案：实心圆点或地点标记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13273" y="35199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为什么：它能快速画出一个实心标记。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52450" y="4000500"/>
            <a:ext cx="11087100" cy="762000"/>
            <a:chOff x="552450" y="4000500"/>
            <a:chExt cx="11087100" cy="762000"/>
          </a:xfrm>
        </p:grpSpPr>
        <p:sp>
          <p:nvSpPr>
            <p:cNvPr id="39" name="Rectangle 39"/>
            <p:cNvSpPr/>
            <p:nvPr/>
          </p:nvSpPr>
          <p:spPr>
            <a:xfrm>
              <a:off x="552450" y="40005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742950" y="4152900"/>
              <a:ext cx="457200" cy="4572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02132" y="42972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81506" y="4263390"/>
              <a:ext cx="254079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circle() 适合画什么？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9029700" y="41529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742170" y="42862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圆形本领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91150" y="4095750"/>
            <a:ext cx="5886450" cy="587978"/>
            <a:chOff x="5391150" y="4095750"/>
            <a:chExt cx="5886450" cy="587978"/>
          </a:xfrm>
        </p:grpSpPr>
        <p:sp>
          <p:nvSpPr>
            <p:cNvPr id="46" name="Rectangle 46"/>
            <p:cNvSpPr/>
            <p:nvPr/>
          </p:nvSpPr>
          <p:spPr>
            <a:xfrm>
              <a:off x="5391150" y="40957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612511" y="4189571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答案：圆或圆弧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13273" y="44343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为什么：本课还会给圆加粗线和填充。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52450" y="4914900"/>
            <a:ext cx="11087100" cy="762000"/>
            <a:chOff x="552450" y="4914900"/>
            <a:chExt cx="11087100" cy="762000"/>
          </a:xfrm>
        </p:grpSpPr>
        <p:sp>
          <p:nvSpPr>
            <p:cNvPr id="50" name="Rectangle 50"/>
            <p:cNvSpPr/>
            <p:nvPr/>
          </p:nvSpPr>
          <p:spPr>
            <a:xfrm>
              <a:off x="552450" y="4914900"/>
              <a:ext cx="11087100" cy="762000"/>
            </a:xfrm>
            <a:prstGeom prst="roundRect">
              <a:avLst>
                <a:gd name="adj" fmla="val 275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742950" y="50673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0715" y="5211604"/>
              <a:ext cx="26167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1506" y="51777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上节课的微项目是什么？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9029700" y="5067300"/>
              <a:ext cx="2247900" cy="457200"/>
            </a:xfrm>
            <a:prstGeom prst="roundRect">
              <a:avLst>
                <a:gd name="adj" fmla="val 500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742170" y="52006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回忆作品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391150" y="5010150"/>
            <a:ext cx="5886450" cy="587978"/>
            <a:chOff x="5391150" y="5010150"/>
            <a:chExt cx="5886450" cy="587978"/>
          </a:xfrm>
        </p:grpSpPr>
        <p:sp>
          <p:nvSpPr>
            <p:cNvPr id="57" name="Rectangle 57"/>
            <p:cNvSpPr/>
            <p:nvPr/>
          </p:nvSpPr>
          <p:spPr>
            <a:xfrm>
              <a:off x="5391150" y="5010150"/>
              <a:ext cx="5886450" cy="571500"/>
            </a:xfrm>
            <a:prstGeom prst="roundRect">
              <a:avLst>
                <a:gd name="adj" fmla="val 33333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612511" y="51039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答案：海龟岛藏宝图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13273" y="5348764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为什么：坐标和标记帮助我们完成了藏宝图。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467100" y="5810250"/>
            <a:ext cx="5257800" cy="476250"/>
            <a:chOff x="3467100" y="5810250"/>
            <a:chExt cx="5257800" cy="476250"/>
          </a:xfrm>
        </p:grpSpPr>
        <p:sp>
          <p:nvSpPr>
            <p:cNvPr id="61" name="Rectangle 61"/>
            <p:cNvSpPr/>
            <p:nvPr/>
          </p:nvSpPr>
          <p:spPr>
            <a:xfrm>
              <a:off x="3467100" y="5810250"/>
              <a:ext cx="5257800" cy="4762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62" name="Freeform 62"/>
            <p:cNvSpPr/>
            <p:nvPr/>
          </p:nvSpPr>
          <p:spPr>
            <a:xfrm>
              <a:off x="3700474" y="5941219"/>
              <a:ext cx="240409" cy="226219"/>
            </a:xfrm>
            <a:custGeom>
              <a:avLst/>
              <a:gdLst/>
              <a:ahLst/>
              <a:cxnLst/>
              <a:rect l="l" t="t" r="r" b="b"/>
              <a:pathLst>
                <a:path w="240409" h="226219">
                  <a:moveTo>
                    <a:pt x="178582" y="0"/>
                  </a:moveTo>
                  <a:cubicBezTo>
                    <a:pt x="184618" y="1"/>
                    <a:pt x="189699" y="4519"/>
                    <a:pt x="190405" y="10513"/>
                  </a:cubicBezTo>
                  <a:lnTo>
                    <a:pt x="190488" y="11906"/>
                  </a:lnTo>
                  <a:lnTo>
                    <a:pt x="190488" y="37743"/>
                  </a:lnTo>
                  <a:cubicBezTo>
                    <a:pt x="205287" y="32529"/>
                    <a:pt x="221756" y="37582"/>
                    <a:pt x="231082" y="50200"/>
                  </a:cubicBezTo>
                  <a:cubicBezTo>
                    <a:pt x="240409" y="62818"/>
                    <a:pt x="240409" y="80045"/>
                    <a:pt x="231082" y="92663"/>
                  </a:cubicBezTo>
                  <a:cubicBezTo>
                    <a:pt x="221756" y="105281"/>
                    <a:pt x="205287" y="110335"/>
                    <a:pt x="190488" y="105120"/>
                  </a:cubicBezTo>
                  <a:lnTo>
                    <a:pt x="190488" y="107156"/>
                  </a:lnTo>
                  <a:cubicBezTo>
                    <a:pt x="190484" y="142016"/>
                    <a:pt x="165328" y="171786"/>
                    <a:pt x="130957" y="177606"/>
                  </a:cubicBezTo>
                  <a:lnTo>
                    <a:pt x="130957" y="202406"/>
                  </a:lnTo>
                  <a:lnTo>
                    <a:pt x="166676" y="202406"/>
                  </a:lnTo>
                  <a:cubicBezTo>
                    <a:pt x="172975" y="202413"/>
                    <a:pt x="178179" y="207326"/>
                    <a:pt x="178548" y="213615"/>
                  </a:cubicBezTo>
                  <a:cubicBezTo>
                    <a:pt x="178917" y="219903"/>
                    <a:pt x="174324" y="225391"/>
                    <a:pt x="168069" y="226135"/>
                  </a:cubicBezTo>
                  <a:lnTo>
                    <a:pt x="166676" y="226219"/>
                  </a:lnTo>
                  <a:lnTo>
                    <a:pt x="71426" y="226219"/>
                  </a:lnTo>
                  <a:cubicBezTo>
                    <a:pt x="65126" y="226212"/>
                    <a:pt x="59922" y="221299"/>
                    <a:pt x="59553" y="215010"/>
                  </a:cubicBezTo>
                  <a:cubicBezTo>
                    <a:pt x="59184" y="208722"/>
                    <a:pt x="63777" y="203234"/>
                    <a:pt x="70033" y="202490"/>
                  </a:cubicBezTo>
                  <a:lnTo>
                    <a:pt x="71426" y="202406"/>
                  </a:lnTo>
                  <a:lnTo>
                    <a:pt x="107144" y="202406"/>
                  </a:lnTo>
                  <a:lnTo>
                    <a:pt x="107144" y="177606"/>
                  </a:lnTo>
                  <a:cubicBezTo>
                    <a:pt x="73768" y="171956"/>
                    <a:pt x="48934" y="143663"/>
                    <a:pt x="47661" y="109835"/>
                  </a:cubicBezTo>
                  <a:lnTo>
                    <a:pt x="47613" y="107156"/>
                  </a:lnTo>
                  <a:lnTo>
                    <a:pt x="47613" y="105120"/>
                  </a:lnTo>
                  <a:cubicBezTo>
                    <a:pt x="37026" y="108868"/>
                    <a:pt x="25293" y="107418"/>
                    <a:pt x="15937" y="101207"/>
                  </a:cubicBezTo>
                  <a:cubicBezTo>
                    <a:pt x="6581" y="94995"/>
                    <a:pt x="691" y="84744"/>
                    <a:pt x="36" y="73533"/>
                  </a:cubicBezTo>
                  <a:lnTo>
                    <a:pt x="0" y="71438"/>
                  </a:lnTo>
                  <a:lnTo>
                    <a:pt x="60" y="69342"/>
                  </a:lnTo>
                  <a:cubicBezTo>
                    <a:pt x="712" y="58131"/>
                    <a:pt x="6599" y="47881"/>
                    <a:pt x="15953" y="41667"/>
                  </a:cubicBezTo>
                  <a:cubicBezTo>
                    <a:pt x="25306" y="35453"/>
                    <a:pt x="37038" y="33999"/>
                    <a:pt x="47625" y="37743"/>
                  </a:cubicBezTo>
                  <a:lnTo>
                    <a:pt x="47613" y="11906"/>
                  </a:lnTo>
                  <a:cubicBezTo>
                    <a:pt x="47613" y="5331"/>
                    <a:pt x="52944" y="0"/>
                    <a:pt x="59519" y="0"/>
                  </a:cubicBezTo>
                  <a:lnTo>
                    <a:pt x="178582" y="0"/>
                  </a:lnTo>
                  <a:close/>
                  <a:moveTo>
                    <a:pt x="35707" y="59531"/>
                  </a:moveTo>
                  <a:cubicBezTo>
                    <a:pt x="29131" y="59531"/>
                    <a:pt x="23801" y="64862"/>
                    <a:pt x="23801" y="71438"/>
                  </a:cubicBezTo>
                  <a:cubicBezTo>
                    <a:pt x="23801" y="78013"/>
                    <a:pt x="29131" y="83344"/>
                    <a:pt x="35707" y="83344"/>
                  </a:cubicBezTo>
                  <a:cubicBezTo>
                    <a:pt x="42282" y="83344"/>
                    <a:pt x="47613" y="78013"/>
                    <a:pt x="47613" y="71438"/>
                  </a:cubicBezTo>
                  <a:cubicBezTo>
                    <a:pt x="47613" y="64862"/>
                    <a:pt x="42282" y="59531"/>
                    <a:pt x="35707" y="59531"/>
                  </a:cubicBezTo>
                  <a:moveTo>
                    <a:pt x="202394" y="59531"/>
                  </a:moveTo>
                  <a:cubicBezTo>
                    <a:pt x="195819" y="59531"/>
                    <a:pt x="190488" y="64862"/>
                    <a:pt x="190488" y="71438"/>
                  </a:cubicBezTo>
                  <a:cubicBezTo>
                    <a:pt x="190488" y="78013"/>
                    <a:pt x="195819" y="83344"/>
                    <a:pt x="202394" y="83344"/>
                  </a:cubicBezTo>
                  <a:cubicBezTo>
                    <a:pt x="208970" y="83344"/>
                    <a:pt x="214301" y="78013"/>
                    <a:pt x="214301" y="71438"/>
                  </a:cubicBezTo>
                  <a:cubicBezTo>
                    <a:pt x="214301" y="64862"/>
                    <a:pt x="208970" y="59531"/>
                    <a:pt x="202394" y="5953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088130" y="5962650"/>
              <a:ext cx="39251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能说出“答案 + 为什么”，就是抢答小冠军！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09016" y="6439852"/>
            <a:ext cx="11021568" cy="205359"/>
            <a:chOff x="509016" y="6439852"/>
            <a:chExt cx="11021568" cy="205359"/>
          </a:xfrm>
        </p:grpSpPr>
        <p:sp>
          <p:nvSpPr>
            <p:cNvPr id="65" name="TextBox 65"/>
            <p:cNvSpPr txBox="1"/>
            <p:nvPr/>
          </p:nvSpPr>
          <p:spPr>
            <a:xfrm>
              <a:off x="509016" y="643985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课前复习 · 方向与图形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0463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5456661" cy="1032129"/>
            <a:chOff x="497586" y="438150"/>
            <a:chExt cx="5456661" cy="1032129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1676400" cy="36195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00481" y="5400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本课知识讲解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7586" y="82486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项目启动 · 海龟岛彩色徽章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1500" y="1543050"/>
            <a:ext cx="4914900" cy="1581150"/>
            <a:chOff x="571500" y="1543050"/>
            <a:chExt cx="4914900" cy="1581150"/>
          </a:xfrm>
        </p:grpSpPr>
        <p:sp>
          <p:nvSpPr>
            <p:cNvPr id="6" name="Rectangle 6"/>
            <p:cNvSpPr/>
            <p:nvPr/>
          </p:nvSpPr>
          <p:spPr>
            <a:xfrm>
              <a:off x="571500" y="1543050"/>
              <a:ext cx="4914900" cy="1581150"/>
            </a:xfrm>
            <a:prstGeom prst="roundRect">
              <a:avLst>
                <a:gd name="adj" fmla="val 18072"/>
              </a:avLst>
            </a:prstGeom>
            <a:solidFill>
              <a:schemeClr val="accent5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72633" y="1844675"/>
              <a:ext cx="350234" cy="349249"/>
              <a:chOff x="872633" y="1844675"/>
              <a:chExt cx="350234" cy="34924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872633" y="2001837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2"/>
                      <a:pt x="46635" y="33711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30287" y="1844675"/>
                <a:ext cx="34925" cy="52879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52879">
                    <a:moveTo>
                      <a:pt x="17462" y="0"/>
                    </a:moveTo>
                    <a:cubicBezTo>
                      <a:pt x="26316" y="1"/>
                      <a:pt x="33767" y="6627"/>
                      <a:pt x="34803" y="15419"/>
                    </a:cubicBezTo>
                    <a:lnTo>
                      <a:pt x="34925" y="17462"/>
                    </a:lnTo>
                    <a:lnTo>
                      <a:pt x="34925" y="34925"/>
                    </a:lnTo>
                    <a:cubicBezTo>
                      <a:pt x="34915" y="44164"/>
                      <a:pt x="27709" y="51797"/>
                      <a:pt x="18486" y="52338"/>
                    </a:cubicBezTo>
                    <a:cubicBezTo>
                      <a:pt x="9262" y="52879"/>
                      <a:pt x="1213" y="46143"/>
                      <a:pt x="122" y="36968"/>
                    </a:cubicBezTo>
                    <a:lnTo>
                      <a:pt x="0" y="34925"/>
                    </a:lnTo>
                    <a:lnTo>
                      <a:pt x="0" y="17462"/>
                    </a:lnTo>
                    <a:cubicBezTo>
                      <a:pt x="0" y="7818"/>
                      <a:pt x="7818" y="0"/>
                      <a:pt x="17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69495" y="2001837"/>
                <a:ext cx="5337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53372" h="34925">
                    <a:moveTo>
                      <a:pt x="35417" y="0"/>
                    </a:moveTo>
                    <a:cubicBezTo>
                      <a:pt x="44656" y="10"/>
                      <a:pt x="52289" y="7216"/>
                      <a:pt x="52830" y="16439"/>
                    </a:cubicBezTo>
                    <a:cubicBezTo>
                      <a:pt x="53372" y="25662"/>
                      <a:pt x="46635" y="33711"/>
                      <a:pt x="37460" y="34803"/>
                    </a:cubicBezTo>
                    <a:lnTo>
                      <a:pt x="35417" y="34925"/>
                    </a:lnTo>
                    <a:lnTo>
                      <a:pt x="17955" y="34925"/>
                    </a:lnTo>
                    <a:cubicBezTo>
                      <a:pt x="8715" y="34915"/>
                      <a:pt x="1083" y="27709"/>
                      <a:pt x="541" y="18486"/>
                    </a:cubicBezTo>
                    <a:cubicBezTo>
                      <a:pt x="0" y="9262"/>
                      <a:pt x="6737" y="1213"/>
                      <a:pt x="15911" y="122"/>
                    </a:cubicBezTo>
                    <a:lnTo>
                      <a:pt x="17955" y="0"/>
                    </a:lnTo>
                    <a:lnTo>
                      <a:pt x="3541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16827" y="1888352"/>
                <a:ext cx="50551" cy="50839"/>
              </a:xfrm>
              <a:custGeom>
                <a:avLst/>
                <a:gdLst/>
                <a:ahLst/>
                <a:cxnLst/>
                <a:rect l="l" t="t" r="r" b="b"/>
                <a:pathLst>
                  <a:path w="50551" h="50839">
                    <a:moveTo>
                      <a:pt x="6817" y="6842"/>
                    </a:moveTo>
                    <a:cubicBezTo>
                      <a:pt x="13038" y="621"/>
                      <a:pt x="22916" y="0"/>
                      <a:pt x="29867" y="5392"/>
                    </a:cubicBezTo>
                    <a:lnTo>
                      <a:pt x="31509" y="6842"/>
                    </a:lnTo>
                    <a:lnTo>
                      <a:pt x="43733" y="19066"/>
                    </a:lnTo>
                    <a:cubicBezTo>
                      <a:pt x="50232" y="25587"/>
                      <a:pt x="50551" y="36035"/>
                      <a:pt x="44462" y="42942"/>
                    </a:cubicBezTo>
                    <a:cubicBezTo>
                      <a:pt x="38372" y="49848"/>
                      <a:pt x="27966" y="50839"/>
                      <a:pt x="20682" y="45207"/>
                    </a:cubicBezTo>
                    <a:lnTo>
                      <a:pt x="19041" y="43757"/>
                    </a:lnTo>
                    <a:lnTo>
                      <a:pt x="6817" y="31534"/>
                    </a:lnTo>
                    <a:cubicBezTo>
                      <a:pt x="0" y="24715"/>
                      <a:pt x="0" y="13661"/>
                      <a:pt x="6817" y="68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27858" y="1888375"/>
                <a:ext cx="51079" cy="50553"/>
              </a:xfrm>
              <a:custGeom>
                <a:avLst/>
                <a:gdLst/>
                <a:ahLst/>
                <a:cxnLst/>
                <a:rect l="l" t="t" r="r" b="b"/>
                <a:pathLst>
                  <a:path w="51079" h="50553">
                    <a:moveTo>
                      <a:pt x="19305" y="6819"/>
                    </a:moveTo>
                    <a:cubicBezTo>
                      <a:pt x="25827" y="319"/>
                      <a:pt x="36275" y="0"/>
                      <a:pt x="43181" y="6090"/>
                    </a:cubicBezTo>
                    <a:cubicBezTo>
                      <a:pt x="50088" y="12179"/>
                      <a:pt x="51079" y="22585"/>
                      <a:pt x="45447" y="29869"/>
                    </a:cubicBezTo>
                    <a:lnTo>
                      <a:pt x="43997" y="31511"/>
                    </a:lnTo>
                    <a:lnTo>
                      <a:pt x="31774" y="43734"/>
                    </a:lnTo>
                    <a:cubicBezTo>
                      <a:pt x="25252" y="50234"/>
                      <a:pt x="14804" y="50553"/>
                      <a:pt x="7898" y="44463"/>
                    </a:cubicBezTo>
                    <a:cubicBezTo>
                      <a:pt x="991" y="38374"/>
                      <a:pt x="0" y="27968"/>
                      <a:pt x="5632" y="20684"/>
                    </a:cubicBezTo>
                    <a:lnTo>
                      <a:pt x="7082" y="19042"/>
                    </a:lnTo>
                    <a:lnTo>
                      <a:pt x="19305" y="681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95362" y="2124074"/>
                <a:ext cx="10477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69850">
                    <a:moveTo>
                      <a:pt x="87312" y="0"/>
                    </a:moveTo>
                    <a:cubicBezTo>
                      <a:pt x="96957" y="0"/>
                      <a:pt x="104775" y="7818"/>
                      <a:pt x="104775" y="17462"/>
                    </a:cubicBezTo>
                    <a:cubicBezTo>
                      <a:pt x="104775" y="46395"/>
                      <a:pt x="81320" y="69850"/>
                      <a:pt x="52387" y="69850"/>
                    </a:cubicBezTo>
                    <a:cubicBezTo>
                      <a:pt x="23455" y="69850"/>
                      <a:pt x="0" y="46395"/>
                      <a:pt x="0" y="17462"/>
                    </a:cubicBezTo>
                    <a:cubicBezTo>
                      <a:pt x="1" y="8609"/>
                      <a:pt x="6627" y="1158"/>
                      <a:pt x="15419" y="122"/>
                    </a:cubicBezTo>
                    <a:lnTo>
                      <a:pt x="17462" y="0"/>
                    </a:lnTo>
                    <a:lnTo>
                      <a:pt x="8731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34090" y="1914525"/>
                <a:ext cx="227319" cy="192087"/>
              </a:xfrm>
              <a:custGeom>
                <a:avLst/>
                <a:gdLst/>
                <a:ahLst/>
                <a:cxnLst/>
                <a:rect l="l" t="t" r="r" b="b"/>
                <a:pathLst>
                  <a:path w="227319" h="192087">
                    <a:moveTo>
                      <a:pt x="113659" y="0"/>
                    </a:moveTo>
                    <a:cubicBezTo>
                      <a:pt x="158758" y="0"/>
                      <a:pt x="198796" y="28858"/>
                      <a:pt x="213058" y="71642"/>
                    </a:cubicBezTo>
                    <a:cubicBezTo>
                      <a:pt x="227319" y="114426"/>
                      <a:pt x="212603" y="161536"/>
                      <a:pt x="176524" y="188595"/>
                    </a:cubicBezTo>
                    <a:cubicBezTo>
                      <a:pt x="174118" y="190402"/>
                      <a:pt x="171284" y="191557"/>
                      <a:pt x="168299" y="191947"/>
                    </a:cubicBezTo>
                    <a:lnTo>
                      <a:pt x="166047" y="192087"/>
                    </a:lnTo>
                    <a:lnTo>
                      <a:pt x="61272" y="192087"/>
                    </a:lnTo>
                    <a:cubicBezTo>
                      <a:pt x="57494" y="192087"/>
                      <a:pt x="53817" y="190862"/>
                      <a:pt x="50795" y="188595"/>
                    </a:cubicBezTo>
                    <a:cubicBezTo>
                      <a:pt x="14716" y="161536"/>
                      <a:pt x="0" y="114426"/>
                      <a:pt x="14261" y="71642"/>
                    </a:cubicBezTo>
                    <a:cubicBezTo>
                      <a:pt x="28523" y="28858"/>
                      <a:pt x="68561" y="0"/>
                      <a:pt x="1136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21892" y="18926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驱动问题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7532" y="230695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怎样给海龟岛的徽章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7532" y="2668905"/>
              <a:ext cx="31310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加上颜色、粗线和填充？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905500" y="1504950"/>
            <a:ext cx="5524500" cy="2209800"/>
            <a:chOff x="5905500" y="1504950"/>
            <a:chExt cx="5524500" cy="2209800"/>
          </a:xfrm>
        </p:grpSpPr>
        <p:sp>
          <p:nvSpPr>
            <p:cNvPr id="19" name="Rectangle 19"/>
            <p:cNvSpPr/>
            <p:nvPr/>
          </p:nvSpPr>
          <p:spPr>
            <a:xfrm>
              <a:off x="5905500" y="1504950"/>
              <a:ext cx="5524500" cy="2209800"/>
            </a:xfrm>
            <a:prstGeom prst="roundRect">
              <a:avLst>
                <a:gd name="adj" fmla="val 1293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392418" y="1702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普通轮廓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153150" y="2076450"/>
              <a:ext cx="1219200" cy="1219200"/>
            </a:xfrm>
            <a:prstGeom prst="ellipse">
              <a:avLst/>
            </a:prstGeom>
            <a:noFill/>
            <a:ln w="38100">
              <a:solidFill>
                <a:schemeClr val="dk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510981" y="2451735"/>
              <a:ext cx="2373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→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1918" y="1702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彩色徽章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9696450" y="2000250"/>
              <a:ext cx="1371600" cy="1371600"/>
            </a:xfrm>
            <a:prstGeom prst="ellipse">
              <a:avLst/>
            </a:prstGeom>
            <a:solidFill>
              <a:srgbClr val="FFE26A"/>
            </a:solidFill>
            <a:ln w="95250">
              <a:solidFill>
                <a:srgbClr val="2E5EA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9982200" y="2286000"/>
              <a:ext cx="800100" cy="800100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rgbClr val="E34F67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71500" y="3524250"/>
            <a:ext cx="4914900" cy="2019300"/>
            <a:chOff x="571500" y="3524250"/>
            <a:chExt cx="4914900" cy="2019300"/>
          </a:xfrm>
        </p:grpSpPr>
        <p:sp>
          <p:nvSpPr>
            <p:cNvPr id="27" name="Rectangle 27"/>
            <p:cNvSpPr/>
            <p:nvPr/>
          </p:nvSpPr>
          <p:spPr>
            <a:xfrm>
              <a:off x="571500" y="3524250"/>
              <a:ext cx="4914900" cy="2019300"/>
            </a:xfrm>
            <a:prstGeom prst="roundRect">
              <a:avLst>
                <a:gd name="adj" fmla="val 1415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30580" y="37814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最终成果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28294" y="4113848"/>
              <a:ext cx="290741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一枚有边框、有填充色的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28294" y="4456748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双层彩色徽章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" y="4991100"/>
              <a:ext cx="3276600" cy="3810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365590" y="5102542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lesson05_color_badge.py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05500" y="4057650"/>
            <a:ext cx="5524500" cy="1790700"/>
            <a:chOff x="5905500" y="4057650"/>
            <a:chExt cx="5524500" cy="1790700"/>
          </a:xfrm>
        </p:grpSpPr>
        <p:sp>
          <p:nvSpPr>
            <p:cNvPr id="34" name="Rectangle 34"/>
            <p:cNvSpPr/>
            <p:nvPr/>
          </p:nvSpPr>
          <p:spPr>
            <a:xfrm>
              <a:off x="5905500" y="4057650"/>
              <a:ext cx="5524500" cy="1790700"/>
            </a:xfrm>
            <a:prstGeom prst="roundRect">
              <a:avLst>
                <a:gd name="adj" fmla="val 15957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164580" y="42957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今天的命令工具箱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64580" y="4714875"/>
              <a:ext cx="30896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color() pencolor() fillcolor()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64580" y="5057775"/>
              <a:ext cx="3333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begin_fill() end_fill() bgcolor()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64580" y="54006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pensize() width() circle()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09016" y="633507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2 关 · 本课知识讲解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95300"/>
            <a:ext cx="11008614" cy="670179"/>
            <a:chOff x="497586" y="495300"/>
            <a:chExt cx="110086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20065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三位颜色管理员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96400" y="495300"/>
              <a:ext cx="22098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76626" y="6353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边框在前，填充在后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71500" y="1543050"/>
            <a:ext cx="3295650" cy="3238500"/>
            <a:chOff x="571500" y="1543050"/>
            <a:chExt cx="3295650" cy="3238500"/>
          </a:xfrm>
        </p:grpSpPr>
        <p:sp>
          <p:nvSpPr>
            <p:cNvPr id="6" name="Rectangle 6"/>
            <p:cNvSpPr/>
            <p:nvPr/>
          </p:nvSpPr>
          <p:spPr>
            <a:xfrm>
              <a:off x="57150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628775" y="1809750"/>
              <a:ext cx="1181100" cy="1181100"/>
            </a:xfrm>
            <a:prstGeom prst="ellipse">
              <a:avLst/>
            </a:prstGeom>
            <a:solidFill>
              <a:srgbClr val="FFFFFF"/>
            </a:solidFill>
            <a:ln w="114300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753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线条管理员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0580" y="3533775"/>
              <a:ext cx="20082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0580" y="3933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只改变画笔画出的边框颜色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38200" y="43243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92378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管边框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438650" y="1543050"/>
            <a:ext cx="3295650" cy="3238500"/>
            <a:chOff x="4438650" y="1543050"/>
            <a:chExt cx="3295650" cy="3238500"/>
          </a:xfrm>
        </p:grpSpPr>
        <p:sp>
          <p:nvSpPr>
            <p:cNvPr id="14" name="Rectangle 14"/>
            <p:cNvSpPr/>
            <p:nvPr/>
          </p:nvSpPr>
          <p:spPr>
            <a:xfrm>
              <a:off x="443865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5495925" y="1809750"/>
              <a:ext cx="1181100" cy="1181100"/>
            </a:xfrm>
            <a:prstGeom prst="ellipse">
              <a:avLst/>
            </a:prstGeom>
            <a:solidFill>
              <a:srgbClr val="FFB5CF"/>
            </a:solidFill>
            <a:ln w="38100">
              <a:solidFill>
                <a:schemeClr val="dk1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9468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填充管理员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97730" y="3533775"/>
              <a:ext cx="1965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t.fillcolor("pink")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97730" y="393382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只设置封闭图形内部的颜色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05350" y="4324350"/>
              <a:ext cx="1238250" cy="3238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059528" y="441531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管里面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05800" y="1543050"/>
            <a:ext cx="3295650" cy="3238500"/>
            <a:chOff x="8305800" y="1543050"/>
            <a:chExt cx="3295650" cy="3238500"/>
          </a:xfrm>
        </p:grpSpPr>
        <p:sp>
          <p:nvSpPr>
            <p:cNvPr id="22" name="Rectangle 22"/>
            <p:cNvSpPr/>
            <p:nvPr/>
          </p:nvSpPr>
          <p:spPr>
            <a:xfrm>
              <a:off x="8305800" y="1543050"/>
              <a:ext cx="3295650" cy="3238500"/>
            </a:xfrm>
            <a:prstGeom prst="roundRect">
              <a:avLst>
                <a:gd name="adj" fmla="val 9412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363075" y="1809750"/>
              <a:ext cx="1181100" cy="1181100"/>
            </a:xfrm>
            <a:prstGeom prst="ellipse">
              <a:avLst/>
            </a:prstGeom>
            <a:solidFill>
              <a:srgbClr val="FFB5CF"/>
            </a:solidFill>
            <a:ln w="114300">
              <a:solidFill>
                <a:srgbClr val="E34F67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561832" y="31070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颜色双管家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64880" y="3533775"/>
              <a:ext cx="24217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64880" y="39338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第一个管边框，第二个管填充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572500" y="4324350"/>
              <a:ext cx="1581150" cy="3238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839657" y="44153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一次设置两者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76300" y="5276850"/>
            <a:ext cx="10439400" cy="742950"/>
            <a:chOff x="876300" y="5276850"/>
            <a:chExt cx="10439400" cy="742950"/>
          </a:xfrm>
        </p:grpSpPr>
        <p:sp>
          <p:nvSpPr>
            <p:cNvPr id="30" name="Rectangle 30"/>
            <p:cNvSpPr/>
            <p:nvPr/>
          </p:nvSpPr>
          <p:spPr>
            <a:xfrm>
              <a:off x="876300" y="5276850"/>
              <a:ext cx="10439400" cy="742950"/>
            </a:xfrm>
            <a:prstGeom prst="roundRect">
              <a:avLst>
                <a:gd name="adj" fmla="val 3076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135380" y="5581650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课堂颜色卡：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716530" y="5581650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34F67"/>
                  </a:solidFill>
                  <a:latin typeface="Consolas"/>
                  <a:ea typeface="Consolas"/>
                  <a:cs typeface="Consolas"/>
                </a:rPr>
                <a:t>red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78530" y="5581650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blue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35780" y="5581650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green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383530" y="55816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69A00"/>
                  </a:solidFill>
                  <a:latin typeface="Consolas"/>
                  <a:ea typeface="Consolas"/>
                  <a:cs typeface="Consolas"/>
                </a:rPr>
                <a:t>yellow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26530" y="5581650"/>
              <a:ext cx="409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pink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40930" y="5581650"/>
              <a:ext cx="6816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orange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509016" y="6335078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颜色命令 · 线条与填充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22547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填充三明治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457200"/>
              <a:ext cx="280035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099614" y="59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顺序不能乱，图形要闭合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1504950"/>
            <a:ext cx="5029200" cy="4095750"/>
            <a:chOff x="666750" y="1504950"/>
            <a:chExt cx="5029200" cy="4095750"/>
          </a:xfrm>
        </p:grpSpPr>
        <p:sp>
          <p:nvSpPr>
            <p:cNvPr id="6" name="Rectangle 6"/>
            <p:cNvSpPr/>
            <p:nvPr/>
          </p:nvSpPr>
          <p:spPr>
            <a:xfrm>
              <a:off x="666750" y="1504950"/>
              <a:ext cx="5029200" cy="4095750"/>
            </a:xfrm>
            <a:prstGeom prst="roundRect">
              <a:avLst>
                <a:gd name="adj" fmla="val 97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769870" y="17621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记忆比喻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00150" y="2209800"/>
              <a:ext cx="3962400" cy="819150"/>
            </a:xfrm>
            <a:prstGeom prst="roundRect">
              <a:avLst>
                <a:gd name="adj" fmla="val 34884"/>
              </a:avLst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399668" y="2494598"/>
              <a:ext cx="156336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begin_fill()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90600" y="3162300"/>
              <a:ext cx="4381500" cy="1104900"/>
            </a:xfrm>
            <a:prstGeom prst="roundRect">
              <a:avLst>
                <a:gd name="adj" fmla="val 25862"/>
              </a:avLst>
            </a:prstGeom>
            <a:solidFill>
              <a:srgbClr val="FFB5C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121408" y="3428048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完整封闭图形代码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174938" y="38357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画完所有边，并回到起点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200150" y="4400550"/>
              <a:ext cx="3962400" cy="819150"/>
            </a:xfrm>
            <a:prstGeom prst="roundRect">
              <a:avLst>
                <a:gd name="adj" fmla="val 34884"/>
              </a:avLst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516812" y="4685348"/>
              <a:ext cx="132907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end_fill()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229350" y="1504950"/>
            <a:ext cx="5238750" cy="2305050"/>
            <a:chOff x="6229350" y="1504950"/>
            <a:chExt cx="5238750" cy="2305050"/>
          </a:xfrm>
        </p:grpSpPr>
        <p:sp>
          <p:nvSpPr>
            <p:cNvPr id="16" name="Rectangle 16"/>
            <p:cNvSpPr/>
            <p:nvPr/>
          </p:nvSpPr>
          <p:spPr>
            <a:xfrm>
              <a:off x="6229350" y="1504950"/>
              <a:ext cx="5238750" cy="2305050"/>
            </a:xfrm>
            <a:prstGeom prst="roundRect">
              <a:avLst>
                <a:gd name="adj" fmla="val 1322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07480" y="1781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准确的技术解释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05956" y="2186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填充区域来自这两条命令之间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05956" y="2529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绘制并闭合的路径。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515100" y="3067050"/>
              <a:ext cx="4533900" cy="495300"/>
            </a:xfrm>
            <a:prstGeom prst="roundRect">
              <a:avLst>
                <a:gd name="adj" fmla="val 38462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722880" y="3228975"/>
              <a:ext cx="21183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开始 → 完整图形 → 结束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29350" y="4114800"/>
            <a:ext cx="5238750" cy="1752600"/>
            <a:chOff x="6229350" y="4114800"/>
            <a:chExt cx="5238750" cy="1752600"/>
          </a:xfrm>
        </p:grpSpPr>
        <p:sp>
          <p:nvSpPr>
            <p:cNvPr id="23" name="Rectangle 23"/>
            <p:cNvSpPr/>
            <p:nvPr/>
          </p:nvSpPr>
          <p:spPr>
            <a:xfrm>
              <a:off x="6229350" y="4114800"/>
              <a:ext cx="5238750" cy="1752600"/>
            </a:xfrm>
            <a:prstGeom prst="roundRect">
              <a:avLst>
                <a:gd name="adj" fmla="val 1521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6457950" y="43053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6648450" y="43053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838950" y="43053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9380" y="4581525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69380" y="488632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717030" y="5172075"/>
              <a:ext cx="29533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t.forward(100); t.right(90)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9380" y="5476875"/>
              <a:ext cx="11965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95350" y="5829300"/>
            <a:ext cx="10306050" cy="457200"/>
            <a:chOff x="895350" y="5829300"/>
            <a:chExt cx="10306050" cy="457200"/>
          </a:xfrm>
        </p:grpSpPr>
        <p:sp>
          <p:nvSpPr>
            <p:cNvPr id="32" name="Rectangle 32"/>
            <p:cNvSpPr/>
            <p:nvPr/>
          </p:nvSpPr>
          <p:spPr>
            <a:xfrm>
              <a:off x="895350" y="5829300"/>
              <a:ext cx="10306050" cy="4572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1076338" y="5943108"/>
              <a:ext cx="247496" cy="214761"/>
            </a:xfrm>
            <a:custGeom>
              <a:avLst/>
              <a:gdLst/>
              <a:ahLst/>
              <a:cxnLst/>
              <a:rect l="l" t="t" r="r" b="b"/>
              <a:pathLst>
                <a:path w="247496" h="214761">
                  <a:moveTo>
                    <a:pt x="123812" y="0"/>
                  </a:moveTo>
                  <a:cubicBezTo>
                    <a:pt x="134425" y="0"/>
                    <a:pt x="144315" y="5190"/>
                    <a:pt x="150371" y="13857"/>
                  </a:cubicBezTo>
                  <a:lnTo>
                    <a:pt x="151538" y="15635"/>
                  </a:lnTo>
                  <a:lnTo>
                    <a:pt x="241705" y="166188"/>
                  </a:lnTo>
                  <a:cubicBezTo>
                    <a:pt x="247275" y="175835"/>
                    <a:pt x="247496" y="187668"/>
                    <a:pt x="242289" y="197516"/>
                  </a:cubicBezTo>
                  <a:cubicBezTo>
                    <a:pt x="237081" y="207364"/>
                    <a:pt x="227178" y="213844"/>
                    <a:pt x="216069" y="214672"/>
                  </a:cubicBezTo>
                  <a:lnTo>
                    <a:pt x="213902" y="214761"/>
                  </a:lnTo>
                  <a:lnTo>
                    <a:pt x="33601" y="214761"/>
                  </a:lnTo>
                  <a:cubicBezTo>
                    <a:pt x="22481" y="214636"/>
                    <a:pt x="12203" y="208813"/>
                    <a:pt x="6379" y="199340"/>
                  </a:cubicBezTo>
                  <a:cubicBezTo>
                    <a:pt x="555" y="189866"/>
                    <a:pt x="0" y="178067"/>
                    <a:pt x="4908" y="168088"/>
                  </a:cubicBezTo>
                  <a:lnTo>
                    <a:pt x="6009" y="166032"/>
                  </a:lnTo>
                  <a:lnTo>
                    <a:pt x="96131" y="15591"/>
                  </a:lnTo>
                  <a:cubicBezTo>
                    <a:pt x="102000" y="5914"/>
                    <a:pt x="112495" y="2"/>
                    <a:pt x="123812" y="0"/>
                  </a:cubicBezTo>
                  <a:close/>
                  <a:moveTo>
                    <a:pt x="123924" y="148130"/>
                  </a:moveTo>
                  <a:lnTo>
                    <a:pt x="122512" y="148208"/>
                  </a:lnTo>
                  <a:cubicBezTo>
                    <a:pt x="116922" y="148873"/>
                    <a:pt x="112712" y="153613"/>
                    <a:pt x="112712" y="159243"/>
                  </a:cubicBezTo>
                  <a:cubicBezTo>
                    <a:pt x="112712" y="164872"/>
                    <a:pt x="116922" y="169612"/>
                    <a:pt x="122512" y="170277"/>
                  </a:cubicBezTo>
                  <a:lnTo>
                    <a:pt x="123812" y="170355"/>
                  </a:lnTo>
                  <a:lnTo>
                    <a:pt x="125224" y="170277"/>
                  </a:lnTo>
                  <a:cubicBezTo>
                    <a:pt x="130814" y="169612"/>
                    <a:pt x="135024" y="164872"/>
                    <a:pt x="135024" y="159243"/>
                  </a:cubicBezTo>
                  <a:cubicBezTo>
                    <a:pt x="135024" y="153613"/>
                    <a:pt x="130814" y="148873"/>
                    <a:pt x="125224" y="148208"/>
                  </a:cubicBezTo>
                  <a:lnTo>
                    <a:pt x="123924" y="148130"/>
                  </a:lnTo>
                  <a:close/>
                  <a:moveTo>
                    <a:pt x="123812" y="70342"/>
                  </a:moveTo>
                  <a:cubicBezTo>
                    <a:pt x="118179" y="70343"/>
                    <a:pt x="113437" y="74560"/>
                    <a:pt x="112778" y="80155"/>
                  </a:cubicBezTo>
                  <a:lnTo>
                    <a:pt x="112700" y="81455"/>
                  </a:lnTo>
                  <a:lnTo>
                    <a:pt x="112700" y="125905"/>
                  </a:lnTo>
                  <a:lnTo>
                    <a:pt x="112778" y="127205"/>
                  </a:lnTo>
                  <a:cubicBezTo>
                    <a:pt x="113443" y="132795"/>
                    <a:pt x="118183" y="137005"/>
                    <a:pt x="123812" y="137005"/>
                  </a:cubicBezTo>
                  <a:cubicBezTo>
                    <a:pt x="129442" y="137005"/>
                    <a:pt x="134182" y="132795"/>
                    <a:pt x="134847" y="127205"/>
                  </a:cubicBezTo>
                  <a:lnTo>
                    <a:pt x="134925" y="125905"/>
                  </a:lnTo>
                  <a:lnTo>
                    <a:pt x="134925" y="81455"/>
                  </a:lnTo>
                  <a:lnTo>
                    <a:pt x="134847" y="80155"/>
                  </a:lnTo>
                  <a:cubicBezTo>
                    <a:pt x="134188" y="74560"/>
                    <a:pt x="129446" y="70343"/>
                    <a:pt x="123812" y="703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59992" y="5988368"/>
              <a:ext cx="46121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少了 end_fill()，或图形没有闭合，填充就可能不完整。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9016" y="6439852"/>
            <a:ext cx="11021568" cy="205359"/>
            <a:chOff x="509016" y="6439852"/>
            <a:chExt cx="11021568" cy="205359"/>
          </a:xfrm>
        </p:grpSpPr>
        <p:sp>
          <p:nvSpPr>
            <p:cNvPr id="36" name="TextBox 36"/>
            <p:cNvSpPr txBox="1"/>
            <p:nvPr/>
          </p:nvSpPr>
          <p:spPr>
            <a:xfrm>
              <a:off x="509016" y="6439852"/>
              <a:ext cx="20107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填充顺序 · 比喻旁保留技术事实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0463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314325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背景和画笔粗细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934450" y="457200"/>
              <a:ext cx="2571750" cy="4191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3914" y="5972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先布置舞台，再选择画笔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9600" y="1524000"/>
            <a:ext cx="5086350" cy="3714750"/>
            <a:chOff x="609600" y="1524000"/>
            <a:chExt cx="5086350" cy="3714750"/>
          </a:xfrm>
        </p:grpSpPr>
        <p:sp>
          <p:nvSpPr>
            <p:cNvPr id="6" name="Rectangle 6"/>
            <p:cNvSpPr/>
            <p:nvPr/>
          </p:nvSpPr>
          <p:spPr>
            <a:xfrm>
              <a:off x="609600" y="1524000"/>
              <a:ext cx="5086350" cy="3714750"/>
            </a:xfrm>
            <a:prstGeom prst="roundRect">
              <a:avLst>
                <a:gd name="adj" fmla="val 871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6206" y="1748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· 改画布背景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895350" y="2209800"/>
              <a:ext cx="4514850" cy="1771650"/>
            </a:xfrm>
            <a:prstGeom prst="roundRect">
              <a:avLst>
                <a:gd name="adj" fmla="val 15054"/>
              </a:avLst>
            </a:prstGeom>
            <a:solidFill>
              <a:srgbClr val="FFF4B8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524125" y="2457450"/>
              <a:ext cx="1257300" cy="1257300"/>
            </a:xfrm>
            <a:prstGeom prst="ellipse">
              <a:avLst/>
            </a:prstGeom>
            <a:noFill/>
            <a:ln w="57150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7730" y="4238625"/>
              <a:ext cx="26632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7730" y="4600575"/>
              <a:ext cx="3174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screen.bgcolor("lightyellow")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53150" y="1524000"/>
            <a:ext cx="5410200" cy="3714750"/>
            <a:chOff x="6153150" y="1524000"/>
            <a:chExt cx="5410200" cy="3714750"/>
          </a:xfrm>
        </p:grpSpPr>
        <p:sp>
          <p:nvSpPr>
            <p:cNvPr id="13" name="Rectangle 13"/>
            <p:cNvSpPr/>
            <p:nvPr/>
          </p:nvSpPr>
          <p:spPr>
            <a:xfrm>
              <a:off x="6153150" y="1524000"/>
              <a:ext cx="5410200" cy="3714750"/>
            </a:xfrm>
            <a:prstGeom prst="roundRect">
              <a:avLst>
                <a:gd name="adj" fmla="val 871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29756" y="1748790"/>
              <a:ext cx="16624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· 改画笔粗细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30518" y="2298382"/>
              <a:ext cx="12878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8115300" y="240030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0518" y="3003232"/>
              <a:ext cx="149776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t.pensize(3)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8115300" y="3105150"/>
              <a:ext cx="2971800" cy="9525"/>
            </a:xfrm>
            <a:custGeom>
              <a:avLst/>
              <a:gdLst/>
              <a:ahLst/>
              <a:cxnLst/>
              <a:rect l="l" t="t" r="r" b="b"/>
              <a:pathLst>
                <a:path w="2971800" h="9525">
                  <a:moveTo>
                    <a:pt x="0" y="0"/>
                  </a:moveTo>
                  <a:lnTo>
                    <a:pt x="2971800" y="0"/>
                  </a:ln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6438900" y="3695700"/>
              <a:ext cx="472440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7980" y="3933825"/>
              <a:ext cx="301793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width() 和 pensize() 作用相同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7980" y="42767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括号里的数字越大，线条越粗。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95400" y="5619750"/>
            <a:ext cx="9601200" cy="571500"/>
            <a:chOff x="1295400" y="5619750"/>
            <a:chExt cx="9601200" cy="571500"/>
          </a:xfrm>
        </p:grpSpPr>
        <p:sp>
          <p:nvSpPr>
            <p:cNvPr id="23" name="Rectangle 23"/>
            <p:cNvSpPr/>
            <p:nvPr/>
          </p:nvSpPr>
          <p:spPr>
            <a:xfrm>
              <a:off x="1295400" y="5619750"/>
              <a:ext cx="9601200" cy="571500"/>
            </a:xfrm>
            <a:prstGeom prst="roundRect">
              <a:avLst>
                <a:gd name="adj" fmla="val 4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93211" y="5796915"/>
              <a:ext cx="5405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口诀：bgcolor 改舞台，width / pensize 改画笔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9016" y="6401752"/>
            <a:ext cx="11021568" cy="205359"/>
            <a:chOff x="509016" y="6401752"/>
            <a:chExt cx="110215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09016" y="64017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背景色与线宽参数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4639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57200"/>
            <a:ext cx="11008614" cy="698754"/>
            <a:chOff x="497586" y="457200"/>
            <a:chExt cx="11008614" cy="698754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510540"/>
              <a:ext cx="370077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circle 的两个数字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82100" y="457200"/>
              <a:ext cx="23241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28607" y="5972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只观察参数，不做推导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9150" y="1504950"/>
            <a:ext cx="4648200" cy="3962400"/>
            <a:chOff x="819150" y="1504950"/>
            <a:chExt cx="4648200" cy="3962400"/>
          </a:xfrm>
        </p:grpSpPr>
        <p:sp>
          <p:nvSpPr>
            <p:cNvPr id="6" name="Rectangle 6"/>
            <p:cNvSpPr/>
            <p:nvPr/>
          </p:nvSpPr>
          <p:spPr>
            <a:xfrm>
              <a:off x="819150" y="1504950"/>
              <a:ext cx="4648200" cy="3962400"/>
            </a:xfrm>
            <a:prstGeom prst="roundRect">
              <a:avLst>
                <a:gd name="adj" fmla="val 86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608326" y="1770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完整的圆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2114550" y="2286000"/>
              <a:ext cx="2057400" cy="2057400"/>
            </a:xfrm>
            <a:prstGeom prst="ellipse">
              <a:avLst/>
            </a:prstGeom>
            <a:solidFill>
              <a:srgbClr val="FFFFFF"/>
            </a:solidFill>
            <a:ln w="95250">
              <a:solidFill>
                <a:schemeClr val="accent1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3143250" y="3314700"/>
              <a:ext cx="1028700" cy="9525"/>
            </a:xfrm>
            <a:custGeom>
              <a:avLst/>
              <a:gdLst/>
              <a:ahLst/>
              <a:cxnLst/>
              <a:rect l="l" t="t" r="r" b="b"/>
              <a:pathLst>
                <a:path w="1028700" h="9525">
                  <a:moveTo>
                    <a:pt x="0" y="0"/>
                  </a:moveTo>
                  <a:lnTo>
                    <a:pt x="1028700" y="0"/>
                  </a:lnTo>
                </a:path>
              </a:pathLst>
            </a:custGeom>
            <a:noFill/>
            <a:ln w="47625">
              <a:solidFill>
                <a:schemeClr val="accent2"/>
              </a:solidFill>
              <a:prstDash val="lgDash"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354478" y="3054668"/>
              <a:ext cx="644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半径 60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790700" y="4705350"/>
              <a:ext cx="2705100" cy="514350"/>
            </a:xfrm>
            <a:prstGeom prst="roundRect">
              <a:avLst>
                <a:gd name="adj" fmla="val 370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57393" y="4860608"/>
              <a:ext cx="13717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t.circle(60)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724650" y="1504950"/>
            <a:ext cx="4648200" cy="3962400"/>
            <a:chOff x="6724650" y="1504950"/>
            <a:chExt cx="4648200" cy="3962400"/>
          </a:xfrm>
        </p:grpSpPr>
        <p:sp>
          <p:nvSpPr>
            <p:cNvPr id="14" name="Rectangle 14"/>
            <p:cNvSpPr/>
            <p:nvPr/>
          </p:nvSpPr>
          <p:spPr>
            <a:xfrm>
              <a:off x="6724650" y="1504950"/>
              <a:ext cx="4648200" cy="3962400"/>
            </a:xfrm>
            <a:prstGeom prst="roundRect">
              <a:avLst>
                <a:gd name="adj" fmla="val 865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13826" y="177069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只画半圆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8020050" y="2286000"/>
              <a:ext cx="2057400" cy="1028700"/>
            </a:xfrm>
            <a:custGeom>
              <a:avLst/>
              <a:gdLst/>
              <a:ahLst/>
              <a:cxnLst/>
              <a:rect l="l" t="t" r="r" b="b"/>
              <a:pathLst>
                <a:path w="2057400" h="1028700">
                  <a:moveTo>
                    <a:pt x="0" y="1028700"/>
                  </a:moveTo>
                  <a:cubicBezTo>
                    <a:pt x="0" y="460565"/>
                    <a:pt x="460565" y="0"/>
                    <a:pt x="1028700" y="0"/>
                  </a:cubicBezTo>
                  <a:cubicBezTo>
                    <a:pt x="1596835" y="0"/>
                    <a:pt x="2057400" y="460565"/>
                    <a:pt x="2057400" y="1028700"/>
                  </a:cubicBezTo>
                </a:path>
              </a:pathLst>
            </a:custGeom>
            <a:noFill/>
            <a:ln w="95250" cap="rnd">
              <a:solidFill>
                <a:schemeClr val="accent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8020050" y="331470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28575">
              <a:solidFill>
                <a:srgbClr val="C98CA4"/>
              </a:solidFill>
              <a:prstDash val="dash"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46601" y="3708082"/>
              <a:ext cx="18042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180 表示只画半圆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0" y="4705350"/>
              <a:ext cx="2857500" cy="514350"/>
            </a:xfrm>
            <a:prstGeom prst="roundRect">
              <a:avLst>
                <a:gd name="adj" fmla="val 370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85239" y="4860608"/>
              <a:ext cx="19270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t.circle(60, 180)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362200" y="5829300"/>
            <a:ext cx="7467600" cy="533400"/>
            <a:chOff x="2362200" y="5829300"/>
            <a:chExt cx="7467600" cy="533400"/>
          </a:xfrm>
        </p:grpSpPr>
        <p:sp>
          <p:nvSpPr>
            <p:cNvPr id="22" name="Rectangle 22"/>
            <p:cNvSpPr/>
            <p:nvPr/>
          </p:nvSpPr>
          <p:spPr>
            <a:xfrm>
              <a:off x="2362200" y="5829300"/>
              <a:ext cx="7467600" cy="5334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159759" y="5994082"/>
              <a:ext cx="587248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第一个数字主要是半径；第二个数字 180 让海龟只画半圆。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09016" y="6497002"/>
            <a:ext cx="11021568" cy="205359"/>
            <a:chOff x="509016" y="6497002"/>
            <a:chExt cx="11021568" cy="205359"/>
          </a:xfrm>
        </p:grpSpPr>
        <p:sp>
          <p:nvSpPr>
            <p:cNvPr id="25" name="TextBox 25"/>
            <p:cNvSpPr txBox="1"/>
            <p:nvPr/>
          </p:nvSpPr>
          <p:spPr>
            <a:xfrm>
              <a:off x="509016" y="6497002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circle 参数 · 半径与 extent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463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09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08614" cy="689229"/>
            <a:chOff x="497586" y="438150"/>
            <a:chExt cx="1100861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33662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A · 彩色圆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91650" y="438150"/>
              <a:ext cx="211455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33382" y="578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先读代码，再动手输入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71500" y="1371600"/>
            <a:ext cx="3505200" cy="857250"/>
            <a:chOff x="571500" y="1371600"/>
            <a:chExt cx="3505200" cy="857250"/>
          </a:xfrm>
        </p:grpSpPr>
        <p:sp>
          <p:nvSpPr>
            <p:cNvPr id="6" name="Rectangle 6"/>
            <p:cNvSpPr/>
            <p:nvPr/>
          </p:nvSpPr>
          <p:spPr>
            <a:xfrm>
              <a:off x="571500" y="1371600"/>
              <a:ext cx="3505200" cy="857250"/>
            </a:xfrm>
            <a:prstGeom prst="roundRect">
              <a:avLst>
                <a:gd name="adj" fmla="val 26667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31056" y="1619580"/>
              <a:ext cx="292575" cy="292564"/>
            </a:xfrm>
            <a:custGeom>
              <a:avLst/>
              <a:gdLst/>
              <a:ahLst/>
              <a:cxnLst/>
              <a:rect l="l" t="t" r="r" b="b"/>
              <a:pathLst>
                <a:path w="292575" h="292564">
                  <a:moveTo>
                    <a:pt x="151436" y="50867"/>
                  </a:moveTo>
                  <a:lnTo>
                    <a:pt x="241697" y="141128"/>
                  </a:lnTo>
                  <a:lnTo>
                    <a:pt x="95129" y="287680"/>
                  </a:lnTo>
                  <a:cubicBezTo>
                    <a:pt x="92003" y="290806"/>
                    <a:pt x="87764" y="292563"/>
                    <a:pt x="83344" y="292564"/>
                  </a:cubicBezTo>
                  <a:lnTo>
                    <a:pt x="16669" y="292564"/>
                  </a:lnTo>
                  <a:cubicBezTo>
                    <a:pt x="7463" y="292564"/>
                    <a:pt x="0" y="285101"/>
                    <a:pt x="0" y="275895"/>
                  </a:cubicBezTo>
                  <a:lnTo>
                    <a:pt x="0" y="209220"/>
                  </a:lnTo>
                  <a:cubicBezTo>
                    <a:pt x="1" y="204800"/>
                    <a:pt x="1758" y="200561"/>
                    <a:pt x="4884" y="197435"/>
                  </a:cubicBezTo>
                  <a:close/>
                  <a:moveTo>
                    <a:pt x="241547" y="5895"/>
                  </a:moveTo>
                  <a:cubicBezTo>
                    <a:pt x="263571" y="11793"/>
                    <a:pt x="280774" y="28995"/>
                    <a:pt x="286674" y="51018"/>
                  </a:cubicBezTo>
                  <a:cubicBezTo>
                    <a:pt x="292575" y="73041"/>
                    <a:pt x="286275" y="96539"/>
                    <a:pt x="270150" y="112658"/>
                  </a:cubicBezTo>
                  <a:lnTo>
                    <a:pt x="265283" y="117542"/>
                  </a:lnTo>
                  <a:lnTo>
                    <a:pt x="175022" y="27281"/>
                  </a:lnTo>
                  <a:lnTo>
                    <a:pt x="179906" y="22414"/>
                  </a:lnTo>
                  <a:cubicBezTo>
                    <a:pt x="196030" y="6296"/>
                    <a:pt x="219524" y="0"/>
                    <a:pt x="241547" y="5895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5692" y="15306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任务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4168" y="1812608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画一个蓝色粗线圆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2457450"/>
            <a:ext cx="6000750" cy="3390900"/>
            <a:chOff x="571500" y="2457450"/>
            <a:chExt cx="6000750" cy="3390900"/>
          </a:xfrm>
        </p:grpSpPr>
        <p:sp>
          <p:nvSpPr>
            <p:cNvPr id="11" name="Rectangle 11"/>
            <p:cNvSpPr/>
            <p:nvPr/>
          </p:nvSpPr>
          <p:spPr>
            <a:xfrm>
              <a:off x="571500" y="2457450"/>
              <a:ext cx="6000750" cy="3390900"/>
            </a:xfrm>
            <a:prstGeom prst="roundRect">
              <a:avLst>
                <a:gd name="adj" fmla="val 786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81050" y="26479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71550" y="264795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162050" y="264795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1530" y="294322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1530" y="3286125"/>
              <a:ext cx="25371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1530" y="3629025"/>
              <a:ext cx="30239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screen.bgcolor("lightyellow")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1530" y="397192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1530" y="4314825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1530" y="4657725"/>
              <a:ext cx="1115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1530" y="5000625"/>
              <a:ext cx="12470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1530" y="53435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010400" y="1371600"/>
            <a:ext cx="4552950" cy="3486150"/>
            <a:chOff x="7010400" y="1371600"/>
            <a:chExt cx="4552950" cy="3486150"/>
          </a:xfrm>
        </p:grpSpPr>
        <p:sp>
          <p:nvSpPr>
            <p:cNvPr id="24" name="Rectangle 24"/>
            <p:cNvSpPr/>
            <p:nvPr/>
          </p:nvSpPr>
          <p:spPr>
            <a:xfrm>
              <a:off x="7010400" y="1371600"/>
              <a:ext cx="4552950" cy="3486150"/>
            </a:xfrm>
            <a:prstGeom prst="roundRect">
              <a:avLst>
                <a:gd name="adj" fmla="val 819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69480" y="1590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运行观察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96150" y="1962150"/>
              <a:ext cx="3981450" cy="2571750"/>
            </a:xfrm>
            <a:prstGeom prst="roundRect">
              <a:avLst>
                <a:gd name="adj" fmla="val 8148"/>
              </a:avLst>
            </a:prstGeom>
            <a:solidFill>
              <a:srgbClr val="FFF4B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277225" y="2247900"/>
              <a:ext cx="2019300" cy="2019300"/>
            </a:xfrm>
            <a:prstGeom prst="ellipse">
              <a:avLst/>
            </a:prstGeom>
            <a:noFill/>
            <a:ln w="114300">
              <a:solidFill>
                <a:schemeClr val="accent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980350" y="4213860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背景 lightyellow · 线宽 6 · 半径 70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010400" y="5124450"/>
            <a:ext cx="4552950" cy="876300"/>
            <a:chOff x="7010400" y="5124450"/>
            <a:chExt cx="4552950" cy="876300"/>
          </a:xfrm>
        </p:grpSpPr>
        <p:sp>
          <p:nvSpPr>
            <p:cNvPr id="30" name="Rectangle 30"/>
            <p:cNvSpPr/>
            <p:nvPr/>
          </p:nvSpPr>
          <p:spPr>
            <a:xfrm>
              <a:off x="7010400" y="5124450"/>
              <a:ext cx="4552950" cy="876300"/>
            </a:xfrm>
            <a:prstGeom prst="roundRect">
              <a:avLst>
                <a:gd name="adj" fmla="val 2608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70242" y="53216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改一改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69480" y="5629275"/>
              <a:ext cx="40588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 width(6) 换成 pensize(3)，比较粗细。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09016" y="6335078"/>
              <a:ext cx="19522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练习 A · 代码阅读与运行预告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彩色圆实验站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209800" cy="457200"/>
            <a:chOff x="495300" y="1028700"/>
            <a:chExt cx="22098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5060" y="1179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蓝色粗线圆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895600" y="1028700"/>
            <a:ext cx="2209800" cy="457200"/>
            <a:chOff x="2895600" y="1028700"/>
            <a:chExt cx="2209800" cy="457200"/>
          </a:xfrm>
        </p:grpSpPr>
        <p:sp>
          <p:nvSpPr>
            <p:cNvPr id="9" name="Rectangle 9"/>
            <p:cNvSpPr/>
            <p:nvPr/>
          </p:nvSpPr>
          <p:spPr>
            <a:xfrm>
              <a:off x="28956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E2ED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515360" y="1179671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粉色细线圆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209800" cy="457200"/>
            <a:chOff x="495300" y="1028700"/>
            <a:chExt cx="22098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2895600" y="1028700"/>
            <a:ext cx="2209800" cy="457200"/>
            <a:chOff x="2895600" y="1028700"/>
            <a:chExt cx="2209800" cy="457200"/>
          </a:xfrm>
        </p:grpSpPr>
        <p:sp>
          <p:nvSpPr>
            <p:cNvPr id="14" name="Rectangle 14"/>
            <p:cNvSpPr/>
            <p:nvPr/>
          </p:nvSpPr>
          <p:spPr>
            <a:xfrm>
              <a:off x="2895600" y="1028700"/>
              <a:ext cx="22098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92839" y="1897856"/>
              <a:ext cx="16850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lesson05_circle_lab.py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5711" y="2246471"/>
            <a:ext cx="2862768" cy="2221802"/>
            <a:chOff x="735711" y="2246471"/>
            <a:chExt cx="2862768" cy="2221802"/>
          </a:xfrm>
        </p:grpSpPr>
        <p:sp>
          <p:nvSpPr>
            <p:cNvPr id="22" name="TextBox 22"/>
            <p:cNvSpPr txBox="1"/>
            <p:nvPr/>
          </p:nvSpPr>
          <p:spPr>
            <a:xfrm>
              <a:off x="735711" y="2246471"/>
              <a:ext cx="127613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711" y="2570321"/>
              <a:ext cx="24019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 = turtle.Screen()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5711" y="2894171"/>
              <a:ext cx="28627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screen.bgcolor("lightyellow")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711" y="3218021"/>
              <a:ext cx="182880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5711" y="35418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711" y="3865721"/>
              <a:ext cx="1056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711" y="4189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800" y="2190750"/>
            <a:ext cx="5219700" cy="2400300"/>
            <a:chOff x="685800" y="2190750"/>
            <a:chExt cx="5219700" cy="2400300"/>
          </a:xfrm>
        </p:grpSpPr>
        <p:sp>
          <p:nvSpPr>
            <p:cNvPr id="30" name="Rectangle 30"/>
            <p:cNvSpPr/>
            <p:nvPr/>
          </p:nvSpPr>
          <p:spPr>
            <a:xfrm>
              <a:off x="685800" y="2190750"/>
              <a:ext cx="5219700" cy="24003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5711" y="23417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任务1：蓝色粗线圆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5711" y="27417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t.pencolor("blue")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711" y="3084671"/>
              <a:ext cx="10563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t.width(6)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711" y="3427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85800" y="2190750"/>
            <a:ext cx="5219700" cy="2400300"/>
            <a:chOff x="685800" y="2190750"/>
            <a:chExt cx="5219700" cy="2400300"/>
          </a:xfrm>
        </p:grpSpPr>
        <p:sp>
          <p:nvSpPr>
            <p:cNvPr id="36" name="Rectangle 36"/>
            <p:cNvSpPr/>
            <p:nvPr/>
          </p:nvSpPr>
          <p:spPr>
            <a:xfrm>
              <a:off x="685800" y="2190750"/>
              <a:ext cx="5219700" cy="2400300"/>
            </a:xfrm>
            <a:prstGeom prst="roundRect">
              <a:avLst>
                <a:gd name="adj" fmla="val 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5711" y="234172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任务2：粉色细线圆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35711" y="2741771"/>
              <a:ext cx="18113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t.pencolor("pink")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711" y="3084671"/>
              <a:ext cx="12283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t.pensize(3)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711" y="3427571"/>
              <a:ext cx="11805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t.circle(70)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2" name="Rectangle 42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3" name="Freeform 43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6" name="Rectangle 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0" name="Rectangle 50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0894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2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4" name="Rectangle 54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6" name="Rectangle 56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58" name="Rectangle 58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rgbClr val="FFF4B8"/>
            </a:solidFill>
            <a:ln>
              <a:noFill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9715500" y="2000250"/>
            <a:ext cx="762000" cy="762000"/>
            <a:chOff x="9715500" y="2000250"/>
            <a:chExt cx="762000" cy="762000"/>
          </a:xfrm>
        </p:grpSpPr>
        <p:sp>
          <p:nvSpPr>
            <p:cNvPr id="62" name="Freeform 62"/>
            <p:cNvSpPr/>
            <p:nvPr/>
          </p:nvSpPr>
          <p:spPr>
            <a:xfrm>
              <a:off x="9715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cubicBezTo>
                    <a:pt x="420841" y="0"/>
                    <a:pt x="762000" y="341159"/>
                    <a:pt x="762000" y="7620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9715500" y="2762250"/>
            <a:ext cx="762000" cy="762000"/>
            <a:chOff x="9715500" y="2762250"/>
            <a:chExt cx="762000" cy="762000"/>
          </a:xfrm>
        </p:grpSpPr>
        <p:sp>
          <p:nvSpPr>
            <p:cNvPr id="64" name="Freeform 64"/>
            <p:cNvSpPr/>
            <p:nvPr/>
          </p:nvSpPr>
          <p:spPr>
            <a:xfrm>
              <a:off x="9715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762000" y="420841"/>
                    <a:pt x="420841" y="762000"/>
                    <a:pt x="0" y="76200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8953500" y="2762250"/>
            <a:ext cx="762000" cy="762000"/>
            <a:chOff x="8953500" y="2762250"/>
            <a:chExt cx="762000" cy="762000"/>
          </a:xfrm>
        </p:grpSpPr>
        <p:sp>
          <p:nvSpPr>
            <p:cNvPr id="66" name="Freeform 66"/>
            <p:cNvSpPr/>
            <p:nvPr/>
          </p:nvSpPr>
          <p:spPr>
            <a:xfrm>
              <a:off x="8953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cubicBezTo>
                    <a:pt x="341159" y="762000"/>
                    <a:pt x="0" y="420841"/>
                    <a:pt x="0" y="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8953500" y="2000250"/>
            <a:ext cx="762000" cy="762000"/>
            <a:chOff x="8953500" y="2000250"/>
            <a:chExt cx="762000" cy="762000"/>
          </a:xfrm>
        </p:grpSpPr>
        <p:sp>
          <p:nvSpPr>
            <p:cNvPr id="68" name="Freeform 68"/>
            <p:cNvSpPr/>
            <p:nvPr/>
          </p:nvSpPr>
          <p:spPr>
            <a:xfrm>
              <a:off x="8953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</a:path>
              </a:pathLst>
            </a:custGeom>
            <a:noFill/>
            <a:ln w="114300" cap="rnd">
              <a:solidFill>
                <a:schemeClr val="accent1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9715500" y="2000250"/>
            <a:ext cx="762000" cy="762000"/>
            <a:chOff x="9715500" y="2000250"/>
            <a:chExt cx="762000" cy="762000"/>
          </a:xfrm>
        </p:grpSpPr>
        <p:sp>
          <p:nvSpPr>
            <p:cNvPr id="70" name="Freeform 70"/>
            <p:cNvSpPr/>
            <p:nvPr/>
          </p:nvSpPr>
          <p:spPr>
            <a:xfrm>
              <a:off x="9715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cubicBezTo>
                    <a:pt x="420841" y="0"/>
                    <a:pt x="762000" y="341159"/>
                    <a:pt x="762000" y="7620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9715500" y="2762250"/>
            <a:ext cx="762000" cy="762000"/>
            <a:chOff x="9715500" y="2762250"/>
            <a:chExt cx="762000" cy="762000"/>
          </a:xfrm>
        </p:grpSpPr>
        <p:sp>
          <p:nvSpPr>
            <p:cNvPr id="72" name="Freeform 72"/>
            <p:cNvSpPr/>
            <p:nvPr/>
          </p:nvSpPr>
          <p:spPr>
            <a:xfrm>
              <a:off x="9715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0"/>
                  </a:moveTo>
                  <a:cubicBezTo>
                    <a:pt x="762000" y="420841"/>
                    <a:pt x="420841" y="762000"/>
                    <a:pt x="0" y="76200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953500" y="2762250"/>
            <a:ext cx="762000" cy="762000"/>
            <a:chOff x="8953500" y="2762250"/>
            <a:chExt cx="762000" cy="762000"/>
          </a:xfrm>
        </p:grpSpPr>
        <p:sp>
          <p:nvSpPr>
            <p:cNvPr id="74" name="Freeform 74"/>
            <p:cNvSpPr/>
            <p:nvPr/>
          </p:nvSpPr>
          <p:spPr>
            <a:xfrm>
              <a:off x="8953500" y="2762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762000" y="762000"/>
                  </a:moveTo>
                  <a:cubicBezTo>
                    <a:pt x="341159" y="762000"/>
                    <a:pt x="0" y="420841"/>
                    <a:pt x="0" y="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8953500" y="2000250"/>
            <a:ext cx="762000" cy="762000"/>
            <a:chOff x="8953500" y="2000250"/>
            <a:chExt cx="762000" cy="762000"/>
          </a:xfrm>
        </p:grpSpPr>
        <p:sp>
          <p:nvSpPr>
            <p:cNvPr id="76" name="Freeform 76"/>
            <p:cNvSpPr/>
            <p:nvPr/>
          </p:nvSpPr>
          <p:spPr>
            <a:xfrm>
              <a:off x="8953500" y="200025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762000"/>
                  </a:moveTo>
                  <a:cubicBezTo>
                    <a:pt x="0" y="341159"/>
                    <a:pt x="341159" y="0"/>
                    <a:pt x="762000" y="0"/>
                  </a:cubicBezTo>
                </a:path>
              </a:pathLst>
            </a:custGeom>
            <a:noFill/>
            <a:ln w="57150" cap="rnd">
              <a:solidFill>
                <a:schemeClr val="accent3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78" name="Rectangle 78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1" name="TextBox 81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3" name="TextBox 83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代码已切换，等待运行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6660642" y="5112068"/>
            <a:ext cx="758838" cy="264033"/>
            <a:chOff x="6660642" y="5112068"/>
            <a:chExt cx="758838" cy="264033"/>
          </a:xfrm>
        </p:grpSpPr>
        <p:sp>
          <p:nvSpPr>
            <p:cNvPr id="85" name="TextBox 85"/>
            <p:cNvSpPr txBox="1"/>
            <p:nvPr/>
          </p:nvSpPr>
          <p:spPr>
            <a:xfrm>
              <a:off x="6660642" y="5112068"/>
              <a:ext cx="75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绘制中……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87" name="TextBox 87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蓝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89" name="TextBox 89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色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91" name="TextBox 91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粗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93" name="TextBox 93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线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95" name="TextBox 95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圆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97" name="TextBox 97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99" name="TextBox 99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01" name="TextBox 101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103" name="TextBox 103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粉</a:t>
              </a:r>
            </a:p>
          </p:txBody>
        </p:sp>
      </p:grpSp>
      <p:grpSp>
        <p:nvGrpSpPr>
          <p:cNvPr id="106" name="Group 106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105" name="TextBox 105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色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107" name="TextBox 107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细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09" name="TextBox 109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线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11" name="TextBox 111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圆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13" name="TextBox 113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15" name="TextBox 115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17" name="TextBox 117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9391650" y="5086350"/>
            <a:ext cx="1847850" cy="476250"/>
            <a:chOff x="9391650" y="5086350"/>
            <a:chExt cx="1847850" cy="476250"/>
          </a:xfrm>
        </p:grpSpPr>
        <p:sp>
          <p:nvSpPr>
            <p:cNvPr id="119" name="Rectangle 119"/>
            <p:cNvSpPr/>
            <p:nvPr/>
          </p:nvSpPr>
          <p:spPr>
            <a:xfrm>
              <a:off x="9391650" y="5086350"/>
              <a:ext cx="184785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672638" y="5254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蓝色粗线圆完成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9391650" y="5086350"/>
            <a:ext cx="1847850" cy="476250"/>
            <a:chOff x="9391650" y="5086350"/>
            <a:chExt cx="1847850" cy="476250"/>
          </a:xfrm>
        </p:grpSpPr>
        <p:sp>
          <p:nvSpPr>
            <p:cNvPr id="122" name="Rectangle 122"/>
            <p:cNvSpPr/>
            <p:nvPr/>
          </p:nvSpPr>
          <p:spPr>
            <a:xfrm>
              <a:off x="9391650" y="5086350"/>
              <a:ext cx="184785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672638" y="52549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粉色细线圆完成</a:t>
              </a:r>
            </a:p>
          </p:txBody>
        </p:sp>
      </p:grpSp>
      <p:grpSp>
        <p:nvGrpSpPr>
          <p:cNvPr id="127" name="Group 127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25" name="TextBox 125"/>
            <p:cNvSpPr txBox="1"/>
            <p:nvPr/>
          </p:nvSpPr>
          <p:spPr>
            <a:xfrm>
              <a:off x="509016" y="6325552"/>
              <a:ext cx="2743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可反复选择任务并运行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22" presetClass="entr" presetSubtype="8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6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" presetID="22" presetClass="entr" presetSubtype="1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6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22" presetClass="entr" presetSubtype="2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" presetID="22" presetClass="entr" presetSubtype="4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22" presetClass="entr" presetSubtype="8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8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" presetID="22" presetClass="entr" presetSubtype="8" fill="hold" grpId="0" nodeType="withEffect" restart="always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8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22" presetClass="entr" presetSubtype="8" fill="hold" grpId="0" nodeType="withEffect" restart="always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8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" presetID="22" presetClass="entr" presetSubtype="8" fill="hold" grpId="0" nodeType="withEffect" restart="always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22" presetClass="entr" presetSubtype="8" fill="hold" grpId="0" nodeType="withEffect" restart="always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8" presetID="22" presetClass="entr" presetSubtype="8" fill="hold" grpId="0" nodeType="withEffect" restart="always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1" presetID="22" presetClass="entr" presetSubtype="8" fill="hold" grpId="0" nodeType="withEffect" restart="always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4" presetID="22" presetClass="entr" presetSubtype="8" fill="hold" grpId="0" nodeType="withEffect" restart="always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7" presetID="1" presetClass="entr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xit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4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" presetID="22" presetClass="entr" presetSubtype="8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22" presetClass="entr" presetSubtype="1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3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6" presetID="22" presetClass="entr" presetSubtype="2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36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9" presetID="22" presetClass="entr" presetSubtype="4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3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22" presetClass="entr" presetSubtype="8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5" presetID="22" presetClass="entr" presetSubtype="8" fill="hold" grpId="0" nodeType="withEffect" restart="always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8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8" presetID="22" presetClass="entr" presetSubtype="8" fill="hold" grpId="0" nodeType="withEffect" restart="always">
                                  <p:stCondLst>
                                    <p:cond delay="20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8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1" presetID="22" presetClass="entr" presetSubtype="8" fill="hold" grpId="0" nodeType="withEffect" restart="always">
                                  <p:stCondLst>
                                    <p:cond delay="216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8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4" presetID="22" presetClass="entr" presetSubtype="8" fill="hold" grpId="0" nodeType="withEffect" restart="always">
                                  <p:stCondLst>
                                    <p:cond delay="226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8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7" presetID="22" presetClass="entr" presetSubtype="8" fill="hold" grpId="0" nodeType="withEffect" restart="always">
                                  <p:stCondLst>
                                    <p:cond delay="236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8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0" presetID="22" presetClass="entr" presetSubtype="8" fill="hold" grpId="0" nodeType="withEffect" restart="always">
                                  <p:stCondLst>
                                    <p:cond delay="246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3" presetID="22" presetClass="entr" presetSubtype="8" fill="hold" grpId="0" nodeType="withEffect" restart="always">
                                  <p:stCondLst>
                                    <p:cond delay="256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6" presetID="1" presetClass="entr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8" presetID="1" presetClass="exit" presetSubtype="0" fill="hold" grpId="0" nodeType="withEffect" restart="always">
                                  <p:stCondLst>
                                    <p:cond delay="28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3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49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0" fill="hold">
                      <p:stCondLst>
                        <p:cond delay="0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2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1–2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10369" y="568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点击题卡揭晓答案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8029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设置画笔线条颜色可用？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699" y="2373154"/>
              <a:ext cx="13216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pencolor()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699" y="3020854"/>
              <a:ext cx="10251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range()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699" y="3668554"/>
              <a:ext cx="9714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input()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69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type()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699" y="2373154"/>
              <a:ext cx="167907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A pencolor()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pencolor 专门设置线条颜色。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设置填充颜色可用？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749" y="2373154"/>
              <a:ext cx="130122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forward()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749" y="3020854"/>
              <a:ext cx="127803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fillcolor()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49" y="3668554"/>
              <a:ext cx="95172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home()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49" y="4316254"/>
              <a:ext cx="97144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print()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749" y="3020854"/>
              <a:ext cx="163311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B fillcolor()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278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fillcolor 设置封闭图形内部颜色。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621161" y="6035992"/>
              <a:ext cx="2949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先说答案，再说“这个命令管哪里”。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607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3 关 · 本课选择题练习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3–4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92106" y="5686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填充顺序挑战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04373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开始填充前使用？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0699" y="2373154"/>
              <a:ext cx="12155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end_fill()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0699" y="3020854"/>
              <a:ext cx="13956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begin_fill()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0699" y="3668554"/>
              <a:ext cx="10251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penup()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069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done()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857500"/>
            <a:ext cx="4819650" cy="514350"/>
            <a:chOff x="819150" y="28575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0699" y="3020854"/>
              <a:ext cx="17566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B begin_fill()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begin_fill 标记填充路径开始。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完成封闭图形后使用？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4749" y="2373154"/>
              <a:ext cx="121554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end_fill()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4749" y="3020854"/>
              <a:ext cx="139568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begin_fill()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4749" y="3668554"/>
              <a:ext cx="85492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left()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4749" y="4316254"/>
              <a:ext cx="90869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setx()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209800"/>
            <a:ext cx="4819650" cy="514350"/>
            <a:chOff x="6553200" y="22098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4749" y="2373154"/>
              <a:ext cx="15679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A end_fill()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25489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end_fill 结束路径并显示填充。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415799" y="6035992"/>
              <a:ext cx="3360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填充三明治：开始 → 画完整图形 → 结束。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begin_fill 与 end_fill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5–6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901238" y="568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背景与线宽挑战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22968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设置背景颜色可用？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2381250"/>
              <a:ext cx="19210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A screen.bgcolor()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3028950"/>
              <a:ext cx="1457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B t.forward()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676650"/>
              <a:ext cx="11959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C t.range()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4324350"/>
              <a:ext cx="9223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D print()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1080" y="2381250"/>
              <a:ext cx="2293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Consolas"/>
                  <a:ea typeface="Consolas"/>
                  <a:cs typeface="Consolas"/>
                </a:rPr>
                <a:t>A screen.bgcolor()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2953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bgcolor 属于画布 Screen。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547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t.pensize(6) 表示？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5130" y="23812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画 6 次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5130" y="3028950"/>
              <a:ext cx="10180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线宽为 6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5130" y="36766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走 6 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130" y="4324350"/>
              <a:ext cx="868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转 6 度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5130" y="3028950"/>
              <a:ext cx="13274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B 线宽为 6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34485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pensize 管粗细，不管次数、距离或角度。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Line 47"/>
            <p:cNvSpPr/>
            <p:nvPr/>
          </p:nvSpPr>
          <p:spPr>
            <a:xfrm>
              <a:off x="2381250" y="6115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858250" y="61150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114300">
              <a:solidFill>
                <a:schemeClr val="accent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180457" y="603599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数字越大，画笔越粗。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09016" y="647795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bgcolor 与 pensize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14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38150"/>
            <a:ext cx="11027664" cy="689229"/>
            <a:chOff x="497586" y="438150"/>
            <a:chExt cx="110276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428496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选择闯关 · 第 7–8 题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63100" y="438150"/>
              <a:ext cx="1962150" cy="40005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810369" y="568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参数与顺序终极题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52450" y="1371600"/>
            <a:ext cx="5353050" cy="4305300"/>
            <a:chOff x="552450" y="1371600"/>
            <a:chExt cx="535305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23900" y="15240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308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343025" y="1635919"/>
              <a:ext cx="3690057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t.circle(50) 的 50 主要表示？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21080" y="23812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半径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915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21080" y="30289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颜色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1915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21080" y="36766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速度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1915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1080" y="4324350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名字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19150" y="2209800"/>
            <a:ext cx="4819650" cy="514350"/>
            <a:chOff x="819150" y="2209800"/>
            <a:chExt cx="4819650" cy="514350"/>
          </a:xfrm>
        </p:grpSpPr>
        <p:sp>
          <p:nvSpPr>
            <p:cNvPr id="19" name="Rectangle 19"/>
            <p:cNvSpPr/>
            <p:nvPr/>
          </p:nvSpPr>
          <p:spPr>
            <a:xfrm>
              <a:off x="81915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21080" y="2381250"/>
              <a:ext cx="9236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A 半径 ✓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9150" y="4819650"/>
            <a:ext cx="4819650" cy="609600"/>
            <a:chOff x="819150" y="4819650"/>
            <a:chExt cx="4819650" cy="609600"/>
          </a:xfrm>
        </p:grpSpPr>
        <p:sp>
          <p:nvSpPr>
            <p:cNvPr id="22" name="Rectangle 22"/>
            <p:cNvSpPr/>
            <p:nvPr/>
          </p:nvSpPr>
          <p:spPr>
            <a:xfrm>
              <a:off x="81915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2222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1842" y="5159692"/>
              <a:ext cx="27579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circle 第一个参数控制圆的半径。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1371600"/>
            <a:ext cx="5353050" cy="4305300"/>
            <a:chOff x="6286500" y="1371600"/>
            <a:chExt cx="5353050" cy="4305300"/>
          </a:xfrm>
        </p:grpSpPr>
        <p:sp>
          <p:nvSpPr>
            <p:cNvPr id="26" name="Rectangle 26"/>
            <p:cNvSpPr/>
            <p:nvPr/>
          </p:nvSpPr>
          <p:spPr>
            <a:xfrm>
              <a:off x="6286500" y="1371600"/>
              <a:ext cx="5353050" cy="4305300"/>
            </a:xfrm>
            <a:prstGeom prst="roundRect">
              <a:avLst>
                <a:gd name="adj" fmla="val 708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6457950" y="15240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617132" y="1668304"/>
              <a:ext cx="13883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77075" y="1635919"/>
              <a:ext cx="254990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填充代码正确顺序是？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553200" y="22098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755892" y="23974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画图—开始—结束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755892" y="30451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 开始—画图—结束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53200" y="35052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55892" y="36928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 结束—画图—开始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553200" y="41529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892" y="434054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 开始—结束—画图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553200" y="2857500"/>
            <a:ext cx="4819650" cy="514350"/>
            <a:chOff x="6553200" y="2857500"/>
            <a:chExt cx="4819650" cy="514350"/>
          </a:xfrm>
        </p:grpSpPr>
        <p:sp>
          <p:nvSpPr>
            <p:cNvPr id="39" name="Rectangle 39"/>
            <p:cNvSpPr/>
            <p:nvPr/>
          </p:nvSpPr>
          <p:spPr>
            <a:xfrm>
              <a:off x="6553200" y="2857500"/>
              <a:ext cx="4819650" cy="514350"/>
            </a:xfrm>
            <a:prstGeom prst="roundRect">
              <a:avLst>
                <a:gd name="adj" fmla="val 37037"/>
              </a:avLst>
            </a:prstGeom>
            <a:solidFill>
              <a:srgbClr val="E9FBEF"/>
            </a:solidFill>
            <a:ln w="28575">
              <a:solidFill>
                <a:srgbClr val="22C55E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55892" y="3045142"/>
              <a:ext cx="18211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B 开始—画图—结束 ✓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553200" y="4819650"/>
            <a:ext cx="4819650" cy="609600"/>
            <a:chOff x="6553200" y="4819650"/>
            <a:chExt cx="4819650" cy="609600"/>
          </a:xfrm>
        </p:grpSpPr>
        <p:sp>
          <p:nvSpPr>
            <p:cNvPr id="42" name="Rectangle 42"/>
            <p:cNvSpPr/>
            <p:nvPr/>
          </p:nvSpPr>
          <p:spPr>
            <a:xfrm>
              <a:off x="6553200" y="4819650"/>
              <a:ext cx="4819650" cy="609600"/>
            </a:xfrm>
            <a:prstGeom prst="roundRect">
              <a:avLst>
                <a:gd name="adj" fmla="val 3125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756273" y="492966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5892" y="5159692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两条填充命令必须包住完整封闭图形。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05000" y="5924550"/>
            <a:ext cx="8382000" cy="381000"/>
            <a:chOff x="1905000" y="5924550"/>
            <a:chExt cx="8382000" cy="381000"/>
          </a:xfrm>
        </p:grpSpPr>
        <p:sp>
          <p:nvSpPr>
            <p:cNvPr id="46" name="Rectangle 46"/>
            <p:cNvSpPr/>
            <p:nvPr/>
          </p:nvSpPr>
          <p:spPr>
            <a:xfrm>
              <a:off x="1905000" y="5924550"/>
              <a:ext cx="8382000" cy="3810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4190672" y="6035992"/>
              <a:ext cx="38106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道题完成：会认命令，也要能说出判断依据。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09016" y="6477952"/>
              <a:ext cx="17422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选择题 · circle 与填充顺序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15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3536191" y="685800"/>
            <a:ext cx="5119618" cy="1368743"/>
            <a:chOff x="3536191" y="685800"/>
            <a:chExt cx="5119618" cy="1368743"/>
          </a:xfrm>
        </p:grpSpPr>
        <p:sp>
          <p:nvSpPr>
            <p:cNvPr id="2" name="Rectangle 2"/>
            <p:cNvSpPr/>
            <p:nvPr/>
          </p:nvSpPr>
          <p:spPr>
            <a:xfrm>
              <a:off x="4457700" y="685800"/>
              <a:ext cx="327660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4684888" y="811816"/>
              <a:ext cx="231125" cy="203686"/>
            </a:xfrm>
            <a:custGeom>
              <a:avLst/>
              <a:gdLst/>
              <a:ahLst/>
              <a:cxnLst/>
              <a:rect l="l" t="t" r="r" b="b"/>
              <a:pathLst>
                <a:path w="231125" h="203686">
                  <a:moveTo>
                    <a:pt x="59916" y="3394"/>
                  </a:moveTo>
                  <a:cubicBezTo>
                    <a:pt x="79838" y="0"/>
                    <a:pt x="100224" y="5824"/>
                    <a:pt x="115345" y="19230"/>
                  </a:cubicBezTo>
                  <a:lnTo>
                    <a:pt x="115757" y="19596"/>
                  </a:lnTo>
                  <a:lnTo>
                    <a:pt x="116134" y="19263"/>
                  </a:lnTo>
                  <a:cubicBezTo>
                    <a:pt x="130549" y="6613"/>
                    <a:pt x="149713" y="783"/>
                    <a:pt x="168730" y="3261"/>
                  </a:cubicBezTo>
                  <a:lnTo>
                    <a:pt x="171464" y="3661"/>
                  </a:lnTo>
                  <a:cubicBezTo>
                    <a:pt x="195604" y="7829"/>
                    <a:pt x="215515" y="24900"/>
                    <a:pt x="223320" y="48120"/>
                  </a:cubicBezTo>
                  <a:cubicBezTo>
                    <a:pt x="231125" y="71341"/>
                    <a:pt x="225568" y="96972"/>
                    <a:pt x="208846" y="114875"/>
                  </a:cubicBezTo>
                  <a:lnTo>
                    <a:pt x="206846" y="116931"/>
                  </a:lnTo>
                  <a:lnTo>
                    <a:pt x="206313" y="117387"/>
                  </a:lnTo>
                  <a:lnTo>
                    <a:pt x="123524" y="199386"/>
                  </a:lnTo>
                  <a:cubicBezTo>
                    <a:pt x="119573" y="203297"/>
                    <a:pt x="113340" y="203686"/>
                    <a:pt x="108934" y="200297"/>
                  </a:cubicBezTo>
                  <a:lnTo>
                    <a:pt x="107889" y="199386"/>
                  </a:lnTo>
                  <a:lnTo>
                    <a:pt x="24623" y="116909"/>
                  </a:lnTo>
                  <a:cubicBezTo>
                    <a:pt x="6636" y="99408"/>
                    <a:pt x="0" y="73290"/>
                    <a:pt x="7451" y="49326"/>
                  </a:cubicBezTo>
                  <a:cubicBezTo>
                    <a:pt x="14902" y="25362"/>
                    <a:pt x="35177" y="7611"/>
                    <a:pt x="59916" y="339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5098542" y="844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给眼睛和手指充充电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3536191" y="1206818"/>
              <a:ext cx="5119618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课间休息 · 10 分钟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3950" y="2381250"/>
            <a:ext cx="2914650" cy="2038350"/>
            <a:chOff x="1123950" y="2381250"/>
            <a:chExt cx="2914650" cy="2038350"/>
          </a:xfrm>
        </p:grpSpPr>
        <p:sp>
          <p:nvSpPr>
            <p:cNvPr id="7" name="Rectangle 7"/>
            <p:cNvSpPr/>
            <p:nvPr/>
          </p:nvSpPr>
          <p:spPr>
            <a:xfrm>
              <a:off x="11239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238375" y="264795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823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46554" y="34499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先保存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824752" y="3892868"/>
              <a:ext cx="15130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保存当前 .py 文件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629150" y="2381250"/>
            <a:ext cx="2914650" cy="2038350"/>
            <a:chOff x="4629150" y="2381250"/>
            <a:chExt cx="2914650" cy="2038350"/>
          </a:xfrm>
        </p:grpSpPr>
        <p:sp>
          <p:nvSpPr>
            <p:cNvPr id="13" name="Rectangle 13"/>
            <p:cNvSpPr/>
            <p:nvPr/>
          </p:nvSpPr>
          <p:spPr>
            <a:xfrm>
              <a:off x="46291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5743575" y="264795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9875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51754" y="3449955"/>
              <a:ext cx="86944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再休息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43538" y="38928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活动眼睛和手指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134350" y="2381250"/>
            <a:ext cx="2914650" cy="2038350"/>
            <a:chOff x="8134350" y="2381250"/>
            <a:chExt cx="2914650" cy="2038350"/>
          </a:xfrm>
        </p:grpSpPr>
        <p:sp>
          <p:nvSpPr>
            <p:cNvPr id="19" name="Rectangle 19"/>
            <p:cNvSpPr/>
            <p:nvPr/>
          </p:nvSpPr>
          <p:spPr>
            <a:xfrm>
              <a:off x="8134350" y="2381250"/>
              <a:ext cx="2914650" cy="2038350"/>
            </a:xfrm>
            <a:prstGeom prst="roundRect">
              <a:avLst>
                <a:gd name="adj" fmla="val 1588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248775" y="2647950"/>
              <a:ext cx="685800" cy="6858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92784" y="28717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4252" y="34499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回来先运行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6132" y="38928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确认已有代码还能工作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676650" y="5010150"/>
            <a:ext cx="4838700" cy="800100"/>
            <a:chOff x="3676650" y="5010150"/>
            <a:chExt cx="4838700" cy="800100"/>
          </a:xfrm>
        </p:grpSpPr>
        <p:sp>
          <p:nvSpPr>
            <p:cNvPr id="25" name="Rectangle 25"/>
            <p:cNvSpPr/>
            <p:nvPr/>
          </p:nvSpPr>
          <p:spPr>
            <a:xfrm>
              <a:off x="3676650" y="5010150"/>
              <a:ext cx="4838700" cy="8001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493007" y="5249228"/>
              <a:ext cx="32059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SAVE → REST → RUN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09016" y="6420802"/>
            <a:ext cx="11097768" cy="205359"/>
            <a:chOff x="509016" y="6420802"/>
            <a:chExt cx="110977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09016" y="6420802"/>
              <a:ext cx="14524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65–75 分钟 · 有序休息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122590" y="64208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16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6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8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xmlns:p="http://schemas.openxmlformats.org/presentationml/2006/main" id="17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6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2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6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19100"/>
            <a:ext cx="11008614" cy="689229"/>
            <a:chOff x="497586" y="419100"/>
            <a:chExt cx="1100861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62915"/>
              <a:ext cx="430499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练习 B · 填充正方形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086850" y="419100"/>
              <a:ext cx="241935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471850" y="5591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四条边闭合后再填充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550" y="1409700"/>
            <a:ext cx="6172200" cy="4572000"/>
            <a:chOff x="590550" y="1409700"/>
            <a:chExt cx="6172200" cy="4572000"/>
          </a:xfrm>
        </p:grpSpPr>
        <p:sp>
          <p:nvSpPr>
            <p:cNvPr id="6" name="Rectangle 6"/>
            <p:cNvSpPr/>
            <p:nvPr/>
          </p:nvSpPr>
          <p:spPr>
            <a:xfrm>
              <a:off x="590550" y="1409700"/>
              <a:ext cx="6172200" cy="4572000"/>
            </a:xfrm>
            <a:prstGeom prst="roundRect">
              <a:avLst>
                <a:gd name="adj" fmla="val 58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00100" y="16002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6002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81100" y="16002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0580" y="1895475"/>
              <a:ext cx="13479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import turtle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0580" y="2238375"/>
              <a:ext cx="19317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 = turtle.Turtle()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25812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42950" y="2895600"/>
              <a:ext cx="5772150" cy="457200"/>
            </a:xfrm>
            <a:prstGeom prst="roundRect">
              <a:avLst>
                <a:gd name="adj" fmla="val 2500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0580" y="3048000"/>
              <a:ext cx="14358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0580" y="3476625"/>
              <a:ext cx="17619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280" y="3819525"/>
              <a:ext cx="16104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7280" y="4162425"/>
              <a:ext cx="11864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t.right(90)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42950" y="4476750"/>
              <a:ext cx="5772150" cy="457200"/>
            </a:xfrm>
            <a:prstGeom prst="roundRect">
              <a:avLst>
                <a:gd name="adj" fmla="val 2500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0580" y="4629150"/>
              <a:ext cx="1255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0580" y="5114925"/>
              <a:ext cx="14085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turtle.done()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200900" y="1409700"/>
            <a:ext cx="4362450" cy="2933700"/>
            <a:chOff x="7200900" y="1409700"/>
            <a:chExt cx="4362450" cy="2933700"/>
          </a:xfrm>
        </p:grpSpPr>
        <p:sp>
          <p:nvSpPr>
            <p:cNvPr id="22" name="Rectangle 22"/>
            <p:cNvSpPr/>
            <p:nvPr/>
          </p:nvSpPr>
          <p:spPr>
            <a:xfrm>
              <a:off x="7200900" y="1409700"/>
              <a:ext cx="4362450" cy="2933700"/>
            </a:xfrm>
            <a:prstGeom prst="roundRect">
              <a:avLst>
                <a:gd name="adj" fmla="val 974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79030" y="1647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运行结果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305800" y="2114550"/>
              <a:ext cx="2095500" cy="1714500"/>
            </a:xfrm>
            <a:prstGeom prst="rect">
              <a:avLst/>
            </a:prstGeom>
            <a:solidFill>
              <a:srgbClr val="FFB5CF"/>
            </a:solidFill>
            <a:ln w="95250">
              <a:solidFill>
                <a:srgbClr val="E34F6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558738" y="3958114"/>
              <a:ext cx="15896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红色边框 + 粉色填充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200900" y="4686300"/>
            <a:ext cx="4362450" cy="1295400"/>
            <a:chOff x="7200900" y="4686300"/>
            <a:chExt cx="4362450" cy="1295400"/>
          </a:xfrm>
        </p:grpSpPr>
        <p:sp>
          <p:nvSpPr>
            <p:cNvPr id="27" name="Rectangle 27"/>
            <p:cNvSpPr/>
            <p:nvPr/>
          </p:nvSpPr>
          <p:spPr>
            <a:xfrm>
              <a:off x="7200900" y="4686300"/>
              <a:ext cx="4362450" cy="1295400"/>
            </a:xfrm>
            <a:prstGeom prst="roundRect">
              <a:avLst>
                <a:gd name="adj" fmla="val 19118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479792" y="490251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改一改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78649" y="5221129"/>
              <a:ext cx="278109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修改边框色、填充色和边长。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79792" y="5569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顺序不变：开始 → 循环四边 → 结束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9016" y="6335078"/>
            <a:ext cx="11021568" cy="205359"/>
            <a:chOff x="509016" y="6335078"/>
            <a:chExt cx="110215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09016" y="6335078"/>
              <a:ext cx="14665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第 4 关 · 拓展应用编程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046390" y="633507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17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326136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填充正方形实验站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400300" cy="457200"/>
            <a:chOff x="495300" y="1028700"/>
            <a:chExt cx="24003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57965" y="1187768"/>
              <a:ext cx="1274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红边粉心 · 100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86100" y="1028700"/>
            <a:ext cx="2400300" cy="457200"/>
            <a:chOff x="3086100" y="1028700"/>
            <a:chExt cx="2400300" cy="457200"/>
          </a:xfrm>
        </p:grpSpPr>
        <p:sp>
          <p:nvSpPr>
            <p:cNvPr id="9" name="Rectangle 9"/>
            <p:cNvSpPr/>
            <p:nvPr/>
          </p:nvSpPr>
          <p:spPr>
            <a:xfrm>
              <a:off x="30861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1241" y="1187768"/>
              <a:ext cx="1170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蓝边黄心 · 80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400300" cy="457200"/>
            <a:chOff x="495300" y="1028700"/>
            <a:chExt cx="24003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086100" y="1028700"/>
            <a:ext cx="2400300" cy="457200"/>
            <a:chOff x="3086100" y="1028700"/>
            <a:chExt cx="2400300" cy="457200"/>
          </a:xfrm>
        </p:grpSpPr>
        <p:sp>
          <p:nvSpPr>
            <p:cNvPr id="14" name="Rectangle 14"/>
            <p:cNvSpPr/>
            <p:nvPr/>
          </p:nvSpPr>
          <p:spPr>
            <a:xfrm>
              <a:off x="3086100" y="1028700"/>
              <a:ext cx="24003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017452" y="1897856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lesson05_square_lab.py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36092" y="2254568"/>
            <a:ext cx="2076431" cy="1883283"/>
            <a:chOff x="736092" y="2254568"/>
            <a:chExt cx="2076431" cy="1883283"/>
          </a:xfrm>
        </p:grpSpPr>
        <p:sp>
          <p:nvSpPr>
            <p:cNvPr id="22" name="TextBox 22"/>
            <p:cNvSpPr txBox="1"/>
            <p:nvPr/>
          </p:nvSpPr>
          <p:spPr>
            <a:xfrm>
              <a:off x="736092" y="225456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092" y="25784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092" y="290226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83742" y="3226118"/>
              <a:ext cx="14494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3742" y="3549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t.right(90)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092" y="38738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2190750"/>
            <a:ext cx="5219700" cy="2743200"/>
            <a:chOff x="685800" y="2190750"/>
            <a:chExt cx="5219700" cy="2743200"/>
          </a:xfrm>
        </p:grpSpPr>
        <p:sp>
          <p:nvSpPr>
            <p:cNvPr id="29" name="Rectangle 29"/>
            <p:cNvSpPr/>
            <p:nvPr/>
          </p:nvSpPr>
          <p:spPr>
            <a:xfrm>
              <a:off x="685800" y="2190750"/>
              <a:ext cx="5219700" cy="27432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36092" y="23498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任务1：红边粉心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6092" y="2730818"/>
              <a:ext cx="20764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"pink")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092" y="3073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092" y="34166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3742" y="3759518"/>
              <a:ext cx="265798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t.forward(100); t.right(90)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092" y="41024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85800" y="2190750"/>
            <a:ext cx="5219700" cy="2743200"/>
            <a:chOff x="685800" y="2190750"/>
            <a:chExt cx="5219700" cy="2743200"/>
          </a:xfrm>
        </p:grpSpPr>
        <p:sp>
          <p:nvSpPr>
            <p:cNvPr id="37" name="Rectangle 37"/>
            <p:cNvSpPr/>
            <p:nvPr/>
          </p:nvSpPr>
          <p:spPr>
            <a:xfrm>
              <a:off x="685800" y="2190750"/>
              <a:ext cx="5219700" cy="2743200"/>
            </a:xfrm>
            <a:prstGeom prst="roundRect">
              <a:avLst>
                <a:gd name="adj" fmla="val 62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36092" y="23498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任务2：蓝边黄心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6092" y="2730818"/>
              <a:ext cx="23217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t.color("blue", "yellow")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092" y="3073718"/>
              <a:ext cx="12313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092" y="34166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for i in range(4):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3742" y="37595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t.forward(80); t.right(90)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092" y="4102418"/>
              <a:ext cx="10768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5" name="Rectangle 45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Freeform 46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9" name="Rectangle 49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5367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1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3" name="Rectangle 53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4089459" y="5410200"/>
              <a:ext cx="1003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运行任务 2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7" name="Rectangle 57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9" name="Rectangle 59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61" name="Rectangle 61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8858250" y="2095500"/>
            <a:ext cx="1524000" cy="9525"/>
            <a:chOff x="8858250" y="2095500"/>
            <a:chExt cx="1524000" cy="9525"/>
          </a:xfrm>
        </p:grpSpPr>
        <p:sp>
          <p:nvSpPr>
            <p:cNvPr id="65" name="Line 65"/>
            <p:cNvSpPr/>
            <p:nvPr/>
          </p:nvSpPr>
          <p:spPr>
            <a:xfrm>
              <a:off x="8858250" y="2095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68" name="Group 68"/>
          <p:cNvGrpSpPr/>
          <p:nvPr/>
        </p:nvGrpSpPr>
        <p:grpSpPr>
          <a:xfrm>
            <a:off x="10382250" y="2095500"/>
            <a:ext cx="9525" cy="1524000"/>
            <a:chOff x="10382250" y="2095500"/>
            <a:chExt cx="9525" cy="1524000"/>
          </a:xfrm>
        </p:grpSpPr>
        <p:sp>
          <p:nvSpPr>
            <p:cNvPr id="67" name="Line 67"/>
            <p:cNvSpPr/>
            <p:nvPr/>
          </p:nvSpPr>
          <p:spPr>
            <a:xfrm>
              <a:off x="10382250" y="2095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8858250" y="3619500"/>
            <a:ext cx="1524000" cy="9525"/>
            <a:chOff x="8858250" y="3619500"/>
            <a:chExt cx="1524000" cy="9525"/>
          </a:xfrm>
        </p:grpSpPr>
        <p:sp>
          <p:nvSpPr>
            <p:cNvPr id="69" name="Line 69"/>
            <p:cNvSpPr/>
            <p:nvPr/>
          </p:nvSpPr>
          <p:spPr>
            <a:xfrm>
              <a:off x="8858250" y="3619500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1524000" y="0"/>
                  </a:moveTo>
                  <a:lnTo>
                    <a:pt x="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8858250" y="2095500"/>
            <a:ext cx="9525" cy="1524000"/>
            <a:chOff x="8858250" y="2095500"/>
            <a:chExt cx="9525" cy="1524000"/>
          </a:xfrm>
        </p:grpSpPr>
        <p:sp>
          <p:nvSpPr>
            <p:cNvPr id="71" name="Line 71"/>
            <p:cNvSpPr/>
            <p:nvPr/>
          </p:nvSpPr>
          <p:spPr>
            <a:xfrm>
              <a:off x="8858250" y="20955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1524000"/>
                  </a:moveTo>
                  <a:lnTo>
                    <a:pt x="0" y="0"/>
                  </a:lnTo>
                </a:path>
              </a:pathLst>
            </a:custGeom>
            <a:noFill/>
            <a:ln w="95250" cap="rnd">
              <a:solidFill>
                <a:srgbClr val="E34F67"/>
              </a:solidFill>
            </a:ln>
          </p:spPr>
        </p:sp>
      </p:grpSp>
      <p:grpSp>
        <p:nvGrpSpPr>
          <p:cNvPr id="74" name="Group 74"/>
          <p:cNvGrpSpPr/>
          <p:nvPr/>
        </p:nvGrpSpPr>
        <p:grpSpPr>
          <a:xfrm>
            <a:off x="8896350" y="2133600"/>
            <a:ext cx="1447800" cy="1447800"/>
            <a:chOff x="8896350" y="2133600"/>
            <a:chExt cx="1447800" cy="1447800"/>
          </a:xfrm>
        </p:grpSpPr>
        <p:sp>
          <p:nvSpPr>
            <p:cNvPr id="73" name="Rectangle 73"/>
            <p:cNvSpPr/>
            <p:nvPr/>
          </p:nvSpPr>
          <p:spPr>
            <a:xfrm>
              <a:off x="8896350" y="2133600"/>
              <a:ext cx="1447800" cy="1447800"/>
            </a:xfrm>
            <a:prstGeom prst="rect">
              <a:avLst/>
            </a:prstGeom>
            <a:solidFill>
              <a:srgbClr val="FFB5CF"/>
            </a:solidFill>
            <a:ln>
              <a:noFill/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9048750" y="2286000"/>
            <a:ext cx="1143000" cy="9525"/>
            <a:chOff x="9048750" y="2286000"/>
            <a:chExt cx="1143000" cy="9525"/>
          </a:xfrm>
        </p:grpSpPr>
        <p:sp>
          <p:nvSpPr>
            <p:cNvPr id="75" name="Line 75"/>
            <p:cNvSpPr/>
            <p:nvPr/>
          </p:nvSpPr>
          <p:spPr>
            <a:xfrm>
              <a:off x="9048750" y="2286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0191750" y="2286000"/>
            <a:ext cx="9525" cy="1143000"/>
            <a:chOff x="10191750" y="2286000"/>
            <a:chExt cx="9525" cy="1143000"/>
          </a:xfrm>
        </p:grpSpPr>
        <p:sp>
          <p:nvSpPr>
            <p:cNvPr id="77" name="Line 77"/>
            <p:cNvSpPr/>
            <p:nvPr/>
          </p:nvSpPr>
          <p:spPr>
            <a:xfrm>
              <a:off x="10191750" y="2286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9048750" y="3429000"/>
            <a:ext cx="1143000" cy="9525"/>
            <a:chOff x="9048750" y="3429000"/>
            <a:chExt cx="1143000" cy="9525"/>
          </a:xfrm>
        </p:grpSpPr>
        <p:sp>
          <p:nvSpPr>
            <p:cNvPr id="79" name="Line 79"/>
            <p:cNvSpPr/>
            <p:nvPr/>
          </p:nvSpPr>
          <p:spPr>
            <a:xfrm>
              <a:off x="9048750" y="3429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9048750" y="2286000"/>
            <a:ext cx="9525" cy="1143000"/>
            <a:chOff x="9048750" y="2286000"/>
            <a:chExt cx="9525" cy="1143000"/>
          </a:xfrm>
        </p:grpSpPr>
        <p:sp>
          <p:nvSpPr>
            <p:cNvPr id="81" name="Line 81"/>
            <p:cNvSpPr/>
            <p:nvPr/>
          </p:nvSpPr>
          <p:spPr>
            <a:xfrm>
              <a:off x="9048750" y="228600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1143000"/>
                  </a:moveTo>
                  <a:lnTo>
                    <a:pt x="0" y="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9086850" y="2324100"/>
            <a:ext cx="1066800" cy="1066800"/>
            <a:chOff x="9086850" y="2324100"/>
            <a:chExt cx="1066800" cy="1066800"/>
          </a:xfrm>
        </p:grpSpPr>
        <p:sp>
          <p:nvSpPr>
            <p:cNvPr id="83" name="Rectangle 83"/>
            <p:cNvSpPr/>
            <p:nvPr/>
          </p:nvSpPr>
          <p:spPr>
            <a:xfrm>
              <a:off x="9086850" y="2324100"/>
              <a:ext cx="1066800" cy="1066800"/>
            </a:xfrm>
            <a:prstGeom prst="rect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85" name="Rectangle 85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88" name="TextBox 88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90" name="TextBox 90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代码已切换，等待运行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6660642" y="5112068"/>
            <a:ext cx="1903781" cy="264033"/>
            <a:chOff x="6660642" y="5112068"/>
            <a:chExt cx="1903781" cy="264033"/>
          </a:xfrm>
        </p:grpSpPr>
        <p:sp>
          <p:nvSpPr>
            <p:cNvPr id="92" name="TextBox 92"/>
            <p:cNvSpPr txBox="1"/>
            <p:nvPr/>
          </p:nvSpPr>
          <p:spPr>
            <a:xfrm>
              <a:off x="6660642" y="5112068"/>
              <a:ext cx="1903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画边 → 闭合 → 填充中……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94" name="TextBox 94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填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96" name="TextBox 96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充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98" name="TextBox 98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正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00" name="TextBox 100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</a:t>
              </a:r>
            </a:p>
          </p:txBody>
        </p:sp>
      </p:grpSp>
      <p:grpSp>
        <p:nvGrpSpPr>
          <p:cNvPr id="103" name="Group 103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02" name="TextBox 102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形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04" name="TextBox 104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06" name="TextBox 106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08" name="TextBox 108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659880" y="5419725"/>
            <a:ext cx="217170" cy="293370"/>
            <a:chOff x="6659880" y="5419725"/>
            <a:chExt cx="217170" cy="293370"/>
          </a:xfrm>
        </p:grpSpPr>
        <p:sp>
          <p:nvSpPr>
            <p:cNvPr id="110" name="TextBox 110"/>
            <p:cNvSpPr txBox="1"/>
            <p:nvPr/>
          </p:nvSpPr>
          <p:spPr>
            <a:xfrm>
              <a:off x="6659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填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6888480" y="5419725"/>
            <a:ext cx="217170" cy="293370"/>
            <a:chOff x="6888480" y="5419725"/>
            <a:chExt cx="217170" cy="293370"/>
          </a:xfrm>
        </p:grpSpPr>
        <p:sp>
          <p:nvSpPr>
            <p:cNvPr id="112" name="TextBox 112"/>
            <p:cNvSpPr txBox="1"/>
            <p:nvPr/>
          </p:nvSpPr>
          <p:spPr>
            <a:xfrm>
              <a:off x="6888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充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7117080" y="5419725"/>
            <a:ext cx="217170" cy="293370"/>
            <a:chOff x="7117080" y="5419725"/>
            <a:chExt cx="217170" cy="293370"/>
          </a:xfrm>
        </p:grpSpPr>
        <p:sp>
          <p:nvSpPr>
            <p:cNvPr id="114" name="TextBox 114"/>
            <p:cNvSpPr txBox="1"/>
            <p:nvPr/>
          </p:nvSpPr>
          <p:spPr>
            <a:xfrm>
              <a:off x="7117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正</a:t>
              </a:r>
            </a:p>
          </p:txBody>
        </p:sp>
      </p:grpSp>
      <p:grpSp>
        <p:nvGrpSpPr>
          <p:cNvPr id="117" name="Group 117"/>
          <p:cNvGrpSpPr/>
          <p:nvPr/>
        </p:nvGrpSpPr>
        <p:grpSpPr>
          <a:xfrm>
            <a:off x="7345680" y="5419725"/>
            <a:ext cx="217170" cy="293370"/>
            <a:chOff x="7345680" y="5419725"/>
            <a:chExt cx="217170" cy="293370"/>
          </a:xfrm>
        </p:grpSpPr>
        <p:sp>
          <p:nvSpPr>
            <p:cNvPr id="116" name="TextBox 116"/>
            <p:cNvSpPr txBox="1"/>
            <p:nvPr/>
          </p:nvSpPr>
          <p:spPr>
            <a:xfrm>
              <a:off x="73456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方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7574280" y="5419725"/>
            <a:ext cx="217170" cy="293370"/>
            <a:chOff x="7574280" y="5419725"/>
            <a:chExt cx="217170" cy="293370"/>
          </a:xfrm>
        </p:grpSpPr>
        <p:sp>
          <p:nvSpPr>
            <p:cNvPr id="118" name="TextBox 118"/>
            <p:cNvSpPr txBox="1"/>
            <p:nvPr/>
          </p:nvSpPr>
          <p:spPr>
            <a:xfrm>
              <a:off x="75742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形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7802880" y="5419725"/>
            <a:ext cx="217170" cy="293370"/>
            <a:chOff x="7802880" y="5419725"/>
            <a:chExt cx="217170" cy="293370"/>
          </a:xfrm>
        </p:grpSpPr>
        <p:sp>
          <p:nvSpPr>
            <p:cNvPr id="120" name="TextBox 120"/>
            <p:cNvSpPr txBox="1"/>
            <p:nvPr/>
          </p:nvSpPr>
          <p:spPr>
            <a:xfrm>
              <a:off x="78028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23" name="Group 123"/>
          <p:cNvGrpSpPr/>
          <p:nvPr/>
        </p:nvGrpSpPr>
        <p:grpSpPr>
          <a:xfrm>
            <a:off x="8031480" y="5419725"/>
            <a:ext cx="217170" cy="293370"/>
            <a:chOff x="8031480" y="5419725"/>
            <a:chExt cx="217170" cy="293370"/>
          </a:xfrm>
        </p:grpSpPr>
        <p:sp>
          <p:nvSpPr>
            <p:cNvPr id="122" name="TextBox 122"/>
            <p:cNvSpPr txBox="1"/>
            <p:nvPr/>
          </p:nvSpPr>
          <p:spPr>
            <a:xfrm>
              <a:off x="80314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8260080" y="5419725"/>
            <a:ext cx="217170" cy="293370"/>
            <a:chOff x="8260080" y="5419725"/>
            <a:chExt cx="217170" cy="293370"/>
          </a:xfrm>
        </p:grpSpPr>
        <p:sp>
          <p:nvSpPr>
            <p:cNvPr id="124" name="TextBox 124"/>
            <p:cNvSpPr txBox="1"/>
            <p:nvPr/>
          </p:nvSpPr>
          <p:spPr>
            <a:xfrm>
              <a:off x="8260080" y="541972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！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9429750" y="5086350"/>
            <a:ext cx="1790700" cy="476250"/>
            <a:chOff x="9429750" y="5086350"/>
            <a:chExt cx="1790700" cy="476250"/>
          </a:xfrm>
        </p:grpSpPr>
        <p:sp>
          <p:nvSpPr>
            <p:cNvPr id="126" name="Rectangle 126"/>
            <p:cNvSpPr/>
            <p:nvPr/>
          </p:nvSpPr>
          <p:spPr>
            <a:xfrm>
              <a:off x="9429750" y="5086350"/>
              <a:ext cx="179070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9773031" y="52549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红边粉心完成</a:t>
              </a:r>
            </a:p>
          </p:txBody>
        </p:sp>
      </p:grpSp>
      <p:grpSp>
        <p:nvGrpSpPr>
          <p:cNvPr id="131" name="Group 131"/>
          <p:cNvGrpSpPr/>
          <p:nvPr/>
        </p:nvGrpSpPr>
        <p:grpSpPr>
          <a:xfrm>
            <a:off x="9429750" y="5086350"/>
            <a:ext cx="1790700" cy="476250"/>
            <a:chOff x="9429750" y="5086350"/>
            <a:chExt cx="1790700" cy="476250"/>
          </a:xfrm>
        </p:grpSpPr>
        <p:sp>
          <p:nvSpPr>
            <p:cNvPr id="129" name="Rectangle 129"/>
            <p:cNvSpPr/>
            <p:nvPr/>
          </p:nvSpPr>
          <p:spPr>
            <a:xfrm>
              <a:off x="9429750" y="5086350"/>
              <a:ext cx="1790700" cy="476250"/>
            </a:xfrm>
            <a:prstGeom prst="roundRect">
              <a:avLst>
                <a:gd name="adj" fmla="val 44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9773031" y="52549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蓝边黄心完成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32" name="TextBox 132"/>
            <p:cNvSpPr txBox="1"/>
            <p:nvPr/>
          </p:nvSpPr>
          <p:spPr>
            <a:xfrm>
              <a:off x="509016" y="6325552"/>
              <a:ext cx="24451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闭合后才出现填充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18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22" presetClass="entr" presetSubtype="8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6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" presetID="22" presetClass="entr" presetSubtype="1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6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22" presetClass="entr" presetSubtype="2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6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" presetID="22" presetClass="entr" presetSubtype="4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6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1" presetClass="entr" presetSubtype="0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" presetID="22" presetClass="entr" presetSubtype="8" fill="hold" grpId="0" nodeType="withEffect" restart="always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8" presetID="22" presetClass="entr" presetSubtype="8" fill="hold" grpId="0" nodeType="withEffect" restart="always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8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1" presetID="22" presetClass="entr" presetSubtype="8" fill="hold" grpId="0" nodeType="withEffect" restart="always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4" presetID="22" presetClass="entr" presetSubtype="8" fill="hold" grpId="0" nodeType="withEffect" restart="always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22" presetClass="entr" presetSubtype="8" fill="hold" grpId="0" nodeType="withEffect" restart="always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8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0" presetID="22" presetClass="entr" presetSubtype="8" fill="hold" grpId="0" nodeType="withEffect" restart="always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3" presetID="22" presetClass="entr" presetSubtype="8" fill="hold" grpId="0" nodeType="withEffect" restart="always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6" presetID="22" presetClass="entr" presetSubtype="8" fill="hold" grpId="0" nodeType="withEffect" restart="always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8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9" presetID="1" presetClass="entr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1" presetClass="exit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2" presetID="22" presetClass="entr" presetSubtype="8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6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22" presetClass="entr" presetSubtype="1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36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8" presetID="22" presetClass="entr" presetSubtype="2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36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1" presetID="22" presetClass="entr" presetSubtype="4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36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ntr" presetSubtype="0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22" presetClass="entr" presetSubtype="8" fill="hold" grpId="0" nodeType="withEffect" restart="always">
                                  <p:stCondLst>
                                    <p:cond delay="20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8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22" presetClass="entr" presetSubtype="8" fill="hold" grpId="0" nodeType="withEffect" restart="always">
                                  <p:stCondLst>
                                    <p:cond delay="214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8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22" presetClass="entr" presetSubtype="8" fill="hold" grpId="0" nodeType="withEffect" restart="always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22" presetClass="entr" presetSubtype="8" fill="hold" grpId="0" nodeType="withEffect" restart="always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22" presetClass="entr" presetSubtype="8" fill="hold" grpId="0" nodeType="withEffect" restart="always">
                                  <p:stCondLst>
                                    <p:cond delay="24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22" presetClass="entr" presetSubtype="8" fill="hold" grpId="0" nodeType="withEffect" restart="always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8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22" presetClass="entr" presetSubtype="8" fill="hold" grpId="0" nodeType="withEffect" restart="always">
                                  <p:stCondLst>
                                    <p:cond delay="26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8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22" presetClass="entr" presetSubtype="8" fill="hold" grpId="0" nodeType="withEffect" restart="always">
                                  <p:stCondLst>
                                    <p:cond delay="274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8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ntr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xit" presetSubtype="0" fill="hold" grpId="0" nodeType="withEffect" restart="always">
                                  <p:stCondLst>
                                    <p:cond delay="30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7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1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8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6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8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0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01241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微项目 · 海龟岛彩色徽章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58300" y="381000"/>
              <a:ext cx="22860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76626" y="521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做一件能展示的作品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1314450"/>
            <a:ext cx="11163300" cy="876300"/>
            <a:chOff x="514350" y="1314450"/>
            <a:chExt cx="11163300" cy="876300"/>
          </a:xfrm>
        </p:grpSpPr>
        <p:sp>
          <p:nvSpPr>
            <p:cNvPr id="6" name="Rectangle 6"/>
            <p:cNvSpPr/>
            <p:nvPr/>
          </p:nvSpPr>
          <p:spPr>
            <a:xfrm>
              <a:off x="514350" y="1314450"/>
              <a:ext cx="11163300" cy="876300"/>
            </a:xfrm>
            <a:prstGeom prst="roundRect">
              <a:avLst>
                <a:gd name="adj" fmla="val 2826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38200" y="15049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99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401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背景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1717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3314700" y="150495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4964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166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外圈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46482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5791200" y="150495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9729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31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移动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124700" y="1752600"/>
              <a:ext cx="895350" cy="9525"/>
            </a:xfrm>
            <a:custGeom>
              <a:avLst/>
              <a:gdLst/>
              <a:ahLst/>
              <a:cxnLst/>
              <a:rect l="l" t="t" r="r" b="b"/>
              <a:pathLst>
                <a:path w="895350" h="9525">
                  <a:moveTo>
                    <a:pt x="0" y="0"/>
                  </a:moveTo>
                  <a:lnTo>
                    <a:pt x="895350" y="0"/>
                  </a:lnTo>
                </a:path>
              </a:pathLst>
            </a:custGeom>
            <a:noFill/>
            <a:ln w="76200" cap="rnd">
              <a:solidFill>
                <a:schemeClr val="accent6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8267700" y="1504950"/>
              <a:ext cx="495300" cy="495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449423" y="16764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869680" y="16668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46261" y="16830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每一层都有自己的填充三明治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14350" y="2438400"/>
            <a:ext cx="2800350" cy="3200400"/>
            <a:chOff x="514350" y="2438400"/>
            <a:chExt cx="2800350" cy="3200400"/>
          </a:xfrm>
        </p:grpSpPr>
        <p:sp>
          <p:nvSpPr>
            <p:cNvPr id="24" name="Rectangle 24"/>
            <p:cNvSpPr/>
            <p:nvPr/>
          </p:nvSpPr>
          <p:spPr>
            <a:xfrm>
              <a:off x="514350" y="2438400"/>
              <a:ext cx="2800350" cy="32004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4380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作品要求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54761" y="3103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淡蓝背景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4761" y="3484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黄色外圈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4761" y="3865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橙色内圈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4761" y="4246721"/>
              <a:ext cx="9497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清楚边框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762500"/>
              <a:ext cx="2305050" cy="628650"/>
            </a:xfrm>
            <a:prstGeom prst="roundRect">
              <a:avLst>
                <a:gd name="adj" fmla="val 30303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46885" y="48901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04321" y="5110639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颜色卡 · 半径 · goto 的 y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3600450" y="2438400"/>
            <a:ext cx="4972050" cy="3216878"/>
            <a:chOff x="3600450" y="2438400"/>
            <a:chExt cx="4972050" cy="3216878"/>
          </a:xfrm>
        </p:grpSpPr>
        <p:sp>
          <p:nvSpPr>
            <p:cNvPr id="34" name="Rectangle 34"/>
            <p:cNvSpPr/>
            <p:nvPr/>
          </p:nvSpPr>
          <p:spPr>
            <a:xfrm>
              <a:off x="3600450" y="2438400"/>
              <a:ext cx="4972050" cy="32004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3810000" y="26289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4000500" y="26289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4191000" y="26289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60673" y="2967514"/>
              <a:ext cx="2399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60673" y="3272314"/>
              <a:ext cx="11071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t.pensize(4)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860673" y="3577114"/>
              <a:ext cx="2832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Microsoft YaHei"/>
                  <a:cs typeface="Consolas"/>
                </a:rPr>
                <a:t>t.color(TODO_外边, TODO_外填)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60673" y="3881914"/>
              <a:ext cx="3614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60673" y="4186714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860673" y="4491514"/>
              <a:ext cx="28324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8DB8"/>
                  </a:solidFill>
                  <a:latin typeface="Consolas"/>
                  <a:ea typeface="Microsoft YaHei"/>
                  <a:cs typeface="Consolas"/>
                </a:rPr>
                <a:t>t.color(TODO_内边, TODO_内填)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860673" y="4796314"/>
              <a:ext cx="1167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860673" y="5101114"/>
              <a:ext cx="23782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t.circle(TODO_50或65或75)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860673" y="5405914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t.end_fill()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858250" y="2438400"/>
            <a:ext cx="2800350" cy="3200400"/>
            <a:chOff x="8858250" y="2438400"/>
            <a:chExt cx="2800350" cy="3200400"/>
          </a:xfrm>
        </p:grpSpPr>
        <p:sp>
          <p:nvSpPr>
            <p:cNvPr id="48" name="Rectangle 48"/>
            <p:cNvSpPr/>
            <p:nvPr/>
          </p:nvSpPr>
          <p:spPr>
            <a:xfrm>
              <a:off x="8858250" y="2438400"/>
              <a:ext cx="2800350" cy="32004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846945" y="26765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输出预览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9191625" y="2971800"/>
              <a:ext cx="2133600" cy="2133600"/>
            </a:xfrm>
            <a:prstGeom prst="ellipse">
              <a:avLst/>
            </a:prstGeom>
            <a:solidFill>
              <a:srgbClr val="FFE26A"/>
            </a:solidFill>
            <a:ln w="95250">
              <a:solidFill>
                <a:srgbClr val="2E5EA8"/>
              </a:solidFill>
            </a:ln>
          </p:spPr>
        </p:sp>
        <p:sp>
          <p:nvSpPr>
            <p:cNvPr id="51" name="Ellipse 51"/>
            <p:cNvSpPr/>
            <p:nvPr/>
          </p:nvSpPr>
          <p:spPr>
            <a:xfrm>
              <a:off x="9610725" y="3390900"/>
              <a:ext cx="1295400" cy="1295400"/>
            </a:xfrm>
            <a:prstGeom prst="ellipse">
              <a:avLst/>
            </a:prstGeom>
            <a:solidFill>
              <a:schemeClr val="accent2"/>
            </a:solidFill>
            <a:ln w="76200">
              <a:solidFill>
                <a:srgbClr val="E34F67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735007" y="525351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双层彩色徽章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38250" y="5886450"/>
            <a:ext cx="9715500" cy="419100"/>
            <a:chOff x="1238250" y="5886450"/>
            <a:chExt cx="9715500" cy="419100"/>
          </a:xfrm>
        </p:grpSpPr>
        <p:sp>
          <p:nvSpPr>
            <p:cNvPr id="54" name="Rectangle 54"/>
            <p:cNvSpPr/>
            <p:nvPr/>
          </p:nvSpPr>
          <p:spPr>
            <a:xfrm>
              <a:off x="1238250" y="5886450"/>
              <a:ext cx="971550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632512" y="6026468"/>
              <a:ext cx="49269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位置不理想时，只改 goto(0, y) 的 y；一次只改一个参数。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09016" y="6497002"/>
            <a:ext cx="11097768" cy="205359"/>
            <a:chOff x="509016" y="6497002"/>
            <a:chExt cx="110977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09016" y="6497002"/>
              <a:ext cx="2011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输入 → 处理 → 输出 · 微型 PBL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1225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19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61010" y="323850"/>
            <a:ext cx="11235690" cy="662940"/>
            <a:chOff x="461010" y="323850"/>
            <a:chExt cx="11235690" cy="662940"/>
          </a:xfrm>
        </p:grpSpPr>
        <p:sp>
          <p:nvSpPr>
            <p:cNvPr id="2" name="TextBox 2"/>
            <p:cNvSpPr txBox="1"/>
            <p:nvPr/>
          </p:nvSpPr>
          <p:spPr>
            <a:xfrm>
              <a:off x="461010" y="400050"/>
              <a:ext cx="285750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海龟岛徽章工坊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8705850" y="323850"/>
              <a:ext cx="29908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735948" y="462439"/>
              <a:ext cx="29306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①选任务 → ②看代码 → ③运行 → ④看结果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5300" y="1028700"/>
            <a:ext cx="2628900" cy="457200"/>
            <a:chOff x="495300" y="1028700"/>
            <a:chExt cx="2628900" cy="457200"/>
          </a:xfrm>
        </p:grpSpPr>
        <p:sp>
          <p:nvSpPr>
            <p:cNvPr id="6" name="Rectangle 6"/>
            <p:cNvSpPr/>
            <p:nvPr/>
          </p:nvSpPr>
          <p:spPr>
            <a:xfrm>
              <a:off x="4953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57588" y="1187768"/>
              <a:ext cx="1704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经典徽章 · 100 / 65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314700" y="1028700"/>
            <a:ext cx="2628900" cy="457200"/>
            <a:chOff x="3314700" y="1028700"/>
            <a:chExt cx="2628900" cy="457200"/>
          </a:xfrm>
        </p:grpSpPr>
        <p:sp>
          <p:nvSpPr>
            <p:cNvPr id="9" name="Rectangle 9"/>
            <p:cNvSpPr/>
            <p:nvPr/>
          </p:nvSpPr>
          <p:spPr>
            <a:xfrm>
              <a:off x="33147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2DC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76988" y="1187768"/>
              <a:ext cx="17043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我的徽章 · 100 / 50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028700"/>
            <a:ext cx="2628900" cy="457200"/>
            <a:chOff x="495300" y="1028700"/>
            <a:chExt cx="2628900" cy="457200"/>
          </a:xfrm>
        </p:grpSpPr>
        <p:sp>
          <p:nvSpPr>
            <p:cNvPr id="12" name="Rectangle 12"/>
            <p:cNvSpPr/>
            <p:nvPr/>
          </p:nvSpPr>
          <p:spPr>
            <a:xfrm>
              <a:off x="4953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3314700" y="1028700"/>
            <a:ext cx="2628900" cy="457200"/>
            <a:chOff x="3314700" y="1028700"/>
            <a:chExt cx="2628900" cy="457200"/>
          </a:xfrm>
        </p:grpSpPr>
        <p:sp>
          <p:nvSpPr>
            <p:cNvPr id="14" name="Rectangle 14"/>
            <p:cNvSpPr/>
            <p:nvPr/>
          </p:nvSpPr>
          <p:spPr>
            <a:xfrm>
              <a:off x="3314700" y="1028700"/>
              <a:ext cx="2628900" cy="457200"/>
            </a:xfrm>
            <a:prstGeom prst="roundRect">
              <a:avLst>
                <a:gd name="adj" fmla="val 45833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495300" y="1714500"/>
            <a:ext cx="5600700" cy="4286250"/>
            <a:chOff x="495300" y="1714500"/>
            <a:chExt cx="5600700" cy="4286250"/>
          </a:xfrm>
        </p:grpSpPr>
        <p:sp>
          <p:nvSpPr>
            <p:cNvPr id="16" name="Rectangle 16"/>
            <p:cNvSpPr/>
            <p:nvPr/>
          </p:nvSpPr>
          <p:spPr>
            <a:xfrm>
              <a:off x="495300" y="1714500"/>
              <a:ext cx="5600700" cy="4286250"/>
            </a:xfrm>
            <a:prstGeom prst="roundRect">
              <a:avLst>
                <a:gd name="adj" fmla="val 6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704850" y="19050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95350" y="19050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85850" y="19050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34526" y="189785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lesson05_color_badge.py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36854" y="2251710"/>
            <a:ext cx="3388462" cy="1949196"/>
            <a:chOff x="736854" y="2251710"/>
            <a:chExt cx="3388462" cy="1949196"/>
          </a:xfrm>
        </p:grpSpPr>
        <p:sp>
          <p:nvSpPr>
            <p:cNvPr id="22" name="TextBox 22"/>
            <p:cNvSpPr txBox="1"/>
            <p:nvPr/>
          </p:nvSpPr>
          <p:spPr>
            <a:xfrm>
              <a:off x="736854" y="2251710"/>
              <a:ext cx="2249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screen.bgcolor("lightblue")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6854" y="2537460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t.pensize(4)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6854" y="282321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6854" y="310896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36854" y="339471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6854" y="368046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6854" y="396621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t.circle(65); t.end_fill()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85800" y="2190750"/>
            <a:ext cx="5219700" cy="2914650"/>
            <a:chOff x="685800" y="2190750"/>
            <a:chExt cx="5219700" cy="2914650"/>
          </a:xfrm>
        </p:grpSpPr>
        <p:sp>
          <p:nvSpPr>
            <p:cNvPr id="30" name="Rectangle 30"/>
            <p:cNvSpPr/>
            <p:nvPr/>
          </p:nvSpPr>
          <p:spPr>
            <a:xfrm>
              <a:off x="685800" y="2190750"/>
              <a:ext cx="5219700" cy="29146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6854" y="2327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任务1：经典徽章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6854" y="26517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6854" y="29756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6854" y="32994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6854" y="36233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36854" y="394716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t.circle(65); t.end_fill()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85800" y="2190750"/>
            <a:ext cx="5219700" cy="2914650"/>
            <a:chOff x="685800" y="2190750"/>
            <a:chExt cx="5219700" cy="2914650"/>
          </a:xfrm>
        </p:grpSpPr>
        <p:sp>
          <p:nvSpPr>
            <p:cNvPr id="38" name="Rectangle 38"/>
            <p:cNvSpPr/>
            <p:nvPr/>
          </p:nvSpPr>
          <p:spPr>
            <a:xfrm>
              <a:off x="685800" y="2190750"/>
              <a:ext cx="5219700" cy="2914650"/>
            </a:xfrm>
            <a:prstGeom prst="roundRect">
              <a:avLst>
                <a:gd name="adj" fmla="val 588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6854" y="23279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# 任务2：我的徽章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854" y="2651760"/>
              <a:ext cx="21041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6854" y="2975610"/>
              <a:ext cx="3388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t.circle(100); t.end_fill()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6854" y="3299460"/>
              <a:ext cx="32107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t.penup(); t.goto(0, 35); t.pendown()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6854" y="3623310"/>
              <a:ext cx="20638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8DB8"/>
                  </a:solidFill>
                  <a:latin typeface="Consolas"/>
                  <a:ea typeface="Consolas"/>
                  <a:cs typeface="Consolas"/>
                </a:rPr>
                <a:t>t.color("red", "orange")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36854" y="394716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CC71"/>
                  </a:solidFill>
                  <a:latin typeface="Consolas"/>
                  <a:ea typeface="Consolas"/>
                  <a:cs typeface="Consolas"/>
                </a:rPr>
                <a:t>t.begin_fill(); t.circle(50); t.end_fill()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46" name="Rectangle 46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Freeform 47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259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运行经典版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0" name="Rectangle 50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10477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5259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运行经典版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54" name="Rectangle 54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5" name="Freeform 55"/>
            <p:cNvSpPr/>
            <p:nvPr/>
          </p:nvSpPr>
          <p:spPr>
            <a:xfrm>
              <a:off x="3600449" y="5419249"/>
              <a:ext cx="142880" cy="172401"/>
            </a:xfrm>
            <a:custGeom>
              <a:avLst/>
              <a:gdLst/>
              <a:ahLst/>
              <a:cxnLst/>
              <a:rect l="l" t="t" r="r" b="b"/>
              <a:pathLst>
                <a:path w="142880" h="172401">
                  <a:moveTo>
                    <a:pt x="1" y="10001"/>
                  </a:moveTo>
                  <a:lnTo>
                    <a:pt x="1" y="162401"/>
                  </a:lnTo>
                  <a:cubicBezTo>
                    <a:pt x="0" y="165852"/>
                    <a:pt x="1866" y="169033"/>
                    <a:pt x="4878" y="170717"/>
                  </a:cubicBezTo>
                  <a:cubicBezTo>
                    <a:pt x="7890" y="172401"/>
                    <a:pt x="11578" y="172324"/>
                    <a:pt x="14517" y="170516"/>
                  </a:cubicBezTo>
                  <a:lnTo>
                    <a:pt x="138342" y="94316"/>
                  </a:lnTo>
                  <a:cubicBezTo>
                    <a:pt x="141162" y="92583"/>
                    <a:pt x="142880" y="89511"/>
                    <a:pt x="142880" y="86201"/>
                  </a:cubicBezTo>
                  <a:cubicBezTo>
                    <a:pt x="142880" y="82891"/>
                    <a:pt x="141162" y="79818"/>
                    <a:pt x="138342" y="78085"/>
                  </a:cubicBezTo>
                  <a:lnTo>
                    <a:pt x="14517" y="1885"/>
                  </a:lnTo>
                  <a:cubicBezTo>
                    <a:pt x="11578" y="77"/>
                    <a:pt x="7890" y="0"/>
                    <a:pt x="4878" y="1684"/>
                  </a:cubicBezTo>
                  <a:cubicBezTo>
                    <a:pt x="1866" y="3368"/>
                    <a:pt x="0" y="6550"/>
                    <a:pt x="1" y="1000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078605" y="541020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运行我的版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81050" y="5257800"/>
            <a:ext cx="2381250" cy="495300"/>
            <a:chOff x="781050" y="5257800"/>
            <a:chExt cx="2381250" cy="495300"/>
          </a:xfrm>
        </p:grpSpPr>
        <p:sp>
          <p:nvSpPr>
            <p:cNvPr id="58" name="Rectangle 58"/>
            <p:cNvSpPr/>
            <p:nvPr/>
          </p:nvSpPr>
          <p:spPr>
            <a:xfrm>
              <a:off x="7810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3333750" y="5257800"/>
            <a:ext cx="2381250" cy="495300"/>
            <a:chOff x="3333750" y="5257800"/>
            <a:chExt cx="2381250" cy="495300"/>
          </a:xfrm>
        </p:grpSpPr>
        <p:sp>
          <p:nvSpPr>
            <p:cNvPr id="60" name="Rectangle 60"/>
            <p:cNvSpPr/>
            <p:nvPr/>
          </p:nvSpPr>
          <p:spPr>
            <a:xfrm>
              <a:off x="3333750" y="5257800"/>
              <a:ext cx="2381250" cy="495300"/>
            </a:xfrm>
            <a:prstGeom prst="roundRect">
              <a:avLst>
                <a:gd name="adj" fmla="val 46154"/>
              </a:avLst>
            </a:prstGeom>
            <a:solidFill>
              <a:srgbClr val="FFFFFF">
                <a:alpha val="100"/>
              </a:srgbClr>
            </a:solidFill>
            <a:ln>
              <a:noFill/>
            </a:ln>
          </p:spPr>
        </p:sp>
      </p:grpSp>
      <p:grpSp>
        <p:nvGrpSpPr>
          <p:cNvPr id="65" name="Group 65"/>
          <p:cNvGrpSpPr/>
          <p:nvPr/>
        </p:nvGrpSpPr>
        <p:grpSpPr>
          <a:xfrm>
            <a:off x="6400800" y="1028700"/>
            <a:ext cx="5257800" cy="3314700"/>
            <a:chOff x="6400800" y="1028700"/>
            <a:chExt cx="5257800" cy="3314700"/>
          </a:xfrm>
        </p:grpSpPr>
        <p:sp>
          <p:nvSpPr>
            <p:cNvPr id="62" name="Rectangle 62"/>
            <p:cNvSpPr/>
            <p:nvPr/>
          </p:nvSpPr>
          <p:spPr>
            <a:xfrm>
              <a:off x="6400800" y="1028700"/>
              <a:ext cx="5257800" cy="3314700"/>
            </a:xfrm>
            <a:prstGeom prst="roundRect">
              <a:avLst>
                <a:gd name="adj" fmla="val 80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660642" y="1244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图形画布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667500" y="1581150"/>
              <a:ext cx="4724400" cy="2476500"/>
            </a:xfrm>
            <a:prstGeom prst="roundRect">
              <a:avLst>
                <a:gd name="adj" fmla="val 7692"/>
              </a:avLst>
            </a:prstGeom>
            <a:solidFill>
              <a:srgbClr val="CFEFFF"/>
            </a:solidFill>
            <a:ln>
              <a:noFill/>
            </a:ln>
          </p:spPr>
        </p:sp>
      </p:grpSp>
      <p:grpSp>
        <p:nvGrpSpPr>
          <p:cNvPr id="67" name="Group 67"/>
          <p:cNvGrpSpPr/>
          <p:nvPr/>
        </p:nvGrpSpPr>
        <p:grpSpPr>
          <a:xfrm>
            <a:off x="9696450" y="1885950"/>
            <a:ext cx="904875" cy="904875"/>
            <a:chOff x="9696450" y="1885950"/>
            <a:chExt cx="904875" cy="904875"/>
          </a:xfrm>
        </p:grpSpPr>
        <p:sp>
          <p:nvSpPr>
            <p:cNvPr id="66" name="Freeform 66"/>
            <p:cNvSpPr/>
            <p:nvPr/>
          </p:nvSpPr>
          <p:spPr>
            <a:xfrm>
              <a:off x="9696450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0"/>
                  </a:moveTo>
                  <a:cubicBezTo>
                    <a:pt x="499749" y="0"/>
                    <a:pt x="904875" y="405126"/>
                    <a:pt x="904875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9696450" y="2790825"/>
            <a:ext cx="904875" cy="904875"/>
            <a:chOff x="9696450" y="2790825"/>
            <a:chExt cx="904875" cy="904875"/>
          </a:xfrm>
        </p:grpSpPr>
        <p:sp>
          <p:nvSpPr>
            <p:cNvPr id="68" name="Freeform 68"/>
            <p:cNvSpPr/>
            <p:nvPr/>
          </p:nvSpPr>
          <p:spPr>
            <a:xfrm>
              <a:off x="9696450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0"/>
                  </a:moveTo>
                  <a:cubicBezTo>
                    <a:pt x="904875" y="499749"/>
                    <a:pt x="499749" y="904875"/>
                    <a:pt x="0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8791575" y="2790825"/>
            <a:ext cx="904875" cy="904875"/>
            <a:chOff x="8791575" y="2790825"/>
            <a:chExt cx="904875" cy="904875"/>
          </a:xfrm>
        </p:grpSpPr>
        <p:sp>
          <p:nvSpPr>
            <p:cNvPr id="70" name="Freeform 70"/>
            <p:cNvSpPr/>
            <p:nvPr/>
          </p:nvSpPr>
          <p:spPr>
            <a:xfrm>
              <a:off x="8791575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904875"/>
                  </a:moveTo>
                  <a:cubicBezTo>
                    <a:pt x="405126" y="904875"/>
                    <a:pt x="0" y="499749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8791575" y="1885950"/>
            <a:ext cx="904875" cy="904875"/>
            <a:chOff x="8791575" y="1885950"/>
            <a:chExt cx="904875" cy="904875"/>
          </a:xfrm>
        </p:grpSpPr>
        <p:sp>
          <p:nvSpPr>
            <p:cNvPr id="72" name="Freeform 72"/>
            <p:cNvSpPr/>
            <p:nvPr/>
          </p:nvSpPr>
          <p:spPr>
            <a:xfrm>
              <a:off x="8791575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904875"/>
                  </a:moveTo>
                  <a:cubicBezTo>
                    <a:pt x="0" y="405126"/>
                    <a:pt x="405126" y="0"/>
                    <a:pt x="904875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8858250" y="1952625"/>
            <a:ext cx="1676400" cy="1676400"/>
            <a:chOff x="8858250" y="1952625"/>
            <a:chExt cx="1676400" cy="1676400"/>
          </a:xfrm>
        </p:grpSpPr>
        <p:sp>
          <p:nvSpPr>
            <p:cNvPr id="74" name="Ellipse 74"/>
            <p:cNvSpPr/>
            <p:nvPr/>
          </p:nvSpPr>
          <p:spPr>
            <a:xfrm>
              <a:off x="8858250" y="1952625"/>
              <a:ext cx="1676400" cy="1676400"/>
            </a:xfrm>
            <a:prstGeom prst="ellipse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77" name="Group 77"/>
          <p:cNvGrpSpPr/>
          <p:nvPr/>
        </p:nvGrpSpPr>
        <p:grpSpPr>
          <a:xfrm>
            <a:off x="9696450" y="2200275"/>
            <a:ext cx="590550" cy="590550"/>
            <a:chOff x="9696450" y="2200275"/>
            <a:chExt cx="590550" cy="590550"/>
          </a:xfrm>
        </p:grpSpPr>
        <p:sp>
          <p:nvSpPr>
            <p:cNvPr id="76" name="Freeform 76"/>
            <p:cNvSpPr/>
            <p:nvPr/>
          </p:nvSpPr>
          <p:spPr>
            <a:xfrm>
              <a:off x="9696450" y="2200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0" y="0"/>
                  </a:moveTo>
                  <a:cubicBezTo>
                    <a:pt x="326152" y="0"/>
                    <a:pt x="590550" y="264398"/>
                    <a:pt x="590550" y="59055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9696450" y="2790825"/>
            <a:ext cx="590550" cy="590550"/>
            <a:chOff x="9696450" y="2790825"/>
            <a:chExt cx="590550" cy="590550"/>
          </a:xfrm>
        </p:grpSpPr>
        <p:sp>
          <p:nvSpPr>
            <p:cNvPr id="78" name="Freeform 78"/>
            <p:cNvSpPr/>
            <p:nvPr/>
          </p:nvSpPr>
          <p:spPr>
            <a:xfrm>
              <a:off x="9696450" y="279082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0"/>
                  </a:moveTo>
                  <a:cubicBezTo>
                    <a:pt x="590550" y="326152"/>
                    <a:pt x="326152" y="590550"/>
                    <a:pt x="0" y="59055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1" name="Group 81"/>
          <p:cNvGrpSpPr/>
          <p:nvPr/>
        </p:nvGrpSpPr>
        <p:grpSpPr>
          <a:xfrm>
            <a:off x="9105900" y="2790825"/>
            <a:ext cx="590550" cy="590550"/>
            <a:chOff x="9105900" y="2790825"/>
            <a:chExt cx="590550" cy="590550"/>
          </a:xfrm>
        </p:grpSpPr>
        <p:sp>
          <p:nvSpPr>
            <p:cNvPr id="80" name="Freeform 80"/>
            <p:cNvSpPr/>
            <p:nvPr/>
          </p:nvSpPr>
          <p:spPr>
            <a:xfrm>
              <a:off x="9105900" y="279082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590550" y="590550"/>
                  </a:moveTo>
                  <a:cubicBezTo>
                    <a:pt x="264398" y="590550"/>
                    <a:pt x="0" y="326152"/>
                    <a:pt x="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9105900" y="2200275"/>
            <a:ext cx="590550" cy="590550"/>
            <a:chOff x="9105900" y="2200275"/>
            <a:chExt cx="590550" cy="590550"/>
          </a:xfrm>
        </p:grpSpPr>
        <p:sp>
          <p:nvSpPr>
            <p:cNvPr id="82" name="Freeform 82"/>
            <p:cNvSpPr/>
            <p:nvPr/>
          </p:nvSpPr>
          <p:spPr>
            <a:xfrm>
              <a:off x="9105900" y="2200275"/>
              <a:ext cx="590550" cy="590550"/>
            </a:xfrm>
            <a:custGeom>
              <a:avLst/>
              <a:gdLst/>
              <a:ahLst/>
              <a:cxnLst/>
              <a:rect l="l" t="t" r="r" b="b"/>
              <a:pathLst>
                <a:path w="590550" h="590550">
                  <a:moveTo>
                    <a:pt x="0" y="590550"/>
                  </a:moveTo>
                  <a:cubicBezTo>
                    <a:pt x="0" y="264398"/>
                    <a:pt x="264398" y="0"/>
                    <a:pt x="59055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9163050" y="2257425"/>
            <a:ext cx="1066800" cy="1066800"/>
            <a:chOff x="9163050" y="2257425"/>
            <a:chExt cx="1066800" cy="1066800"/>
          </a:xfrm>
        </p:grpSpPr>
        <p:sp>
          <p:nvSpPr>
            <p:cNvPr id="84" name="Ellipse 84"/>
            <p:cNvSpPr/>
            <p:nvPr/>
          </p:nvSpPr>
          <p:spPr>
            <a:xfrm>
              <a:off x="9163050" y="2257425"/>
              <a:ext cx="1066800" cy="1066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7" name="Group 87"/>
          <p:cNvGrpSpPr/>
          <p:nvPr/>
        </p:nvGrpSpPr>
        <p:grpSpPr>
          <a:xfrm>
            <a:off x="9696450" y="1885950"/>
            <a:ext cx="904875" cy="904875"/>
            <a:chOff x="9696450" y="1885950"/>
            <a:chExt cx="904875" cy="904875"/>
          </a:xfrm>
        </p:grpSpPr>
        <p:sp>
          <p:nvSpPr>
            <p:cNvPr id="86" name="Freeform 86"/>
            <p:cNvSpPr/>
            <p:nvPr/>
          </p:nvSpPr>
          <p:spPr>
            <a:xfrm>
              <a:off x="9696450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0"/>
                  </a:moveTo>
                  <a:cubicBezTo>
                    <a:pt x="499749" y="0"/>
                    <a:pt x="904875" y="405126"/>
                    <a:pt x="904875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89" name="Group 89"/>
          <p:cNvGrpSpPr/>
          <p:nvPr/>
        </p:nvGrpSpPr>
        <p:grpSpPr>
          <a:xfrm>
            <a:off x="9696450" y="2790825"/>
            <a:ext cx="904875" cy="904875"/>
            <a:chOff x="9696450" y="2790825"/>
            <a:chExt cx="904875" cy="904875"/>
          </a:xfrm>
        </p:grpSpPr>
        <p:sp>
          <p:nvSpPr>
            <p:cNvPr id="88" name="Freeform 88"/>
            <p:cNvSpPr/>
            <p:nvPr/>
          </p:nvSpPr>
          <p:spPr>
            <a:xfrm>
              <a:off x="9696450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0"/>
                  </a:moveTo>
                  <a:cubicBezTo>
                    <a:pt x="904875" y="499749"/>
                    <a:pt x="499749" y="904875"/>
                    <a:pt x="0" y="904875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8791575" y="2790825"/>
            <a:ext cx="904875" cy="904875"/>
            <a:chOff x="8791575" y="2790825"/>
            <a:chExt cx="904875" cy="904875"/>
          </a:xfrm>
        </p:grpSpPr>
        <p:sp>
          <p:nvSpPr>
            <p:cNvPr id="90" name="Freeform 90"/>
            <p:cNvSpPr/>
            <p:nvPr/>
          </p:nvSpPr>
          <p:spPr>
            <a:xfrm>
              <a:off x="8791575" y="2790825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904875" y="904875"/>
                  </a:moveTo>
                  <a:cubicBezTo>
                    <a:pt x="405126" y="904875"/>
                    <a:pt x="0" y="499749"/>
                    <a:pt x="0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3" name="Group 93"/>
          <p:cNvGrpSpPr/>
          <p:nvPr/>
        </p:nvGrpSpPr>
        <p:grpSpPr>
          <a:xfrm>
            <a:off x="8791575" y="1885950"/>
            <a:ext cx="904875" cy="904875"/>
            <a:chOff x="8791575" y="1885950"/>
            <a:chExt cx="904875" cy="904875"/>
          </a:xfrm>
        </p:grpSpPr>
        <p:sp>
          <p:nvSpPr>
            <p:cNvPr id="92" name="Freeform 92"/>
            <p:cNvSpPr/>
            <p:nvPr/>
          </p:nvSpPr>
          <p:spPr>
            <a:xfrm>
              <a:off x="8791575" y="1885950"/>
              <a:ext cx="904875" cy="904875"/>
            </a:xfrm>
            <a:custGeom>
              <a:avLst/>
              <a:gdLst/>
              <a:ahLst/>
              <a:cxnLst/>
              <a:rect l="l" t="t" r="r" b="b"/>
              <a:pathLst>
                <a:path w="904875" h="904875">
                  <a:moveTo>
                    <a:pt x="0" y="904875"/>
                  </a:moveTo>
                  <a:cubicBezTo>
                    <a:pt x="0" y="405126"/>
                    <a:pt x="405126" y="0"/>
                    <a:pt x="904875" y="0"/>
                  </a:cubicBezTo>
                </a:path>
              </a:pathLst>
            </a:custGeom>
            <a:noFill/>
            <a:ln w="95250" cap="rnd">
              <a:solidFill>
                <a:srgbClr val="2E5EA8"/>
              </a:solidFill>
            </a:ln>
          </p:spPr>
        </p:sp>
      </p:grpSp>
      <p:grpSp>
        <p:nvGrpSpPr>
          <p:cNvPr id="95" name="Group 95"/>
          <p:cNvGrpSpPr/>
          <p:nvPr/>
        </p:nvGrpSpPr>
        <p:grpSpPr>
          <a:xfrm>
            <a:off x="8858250" y="1952625"/>
            <a:ext cx="1676400" cy="1676400"/>
            <a:chOff x="8858250" y="1952625"/>
            <a:chExt cx="1676400" cy="1676400"/>
          </a:xfrm>
        </p:grpSpPr>
        <p:sp>
          <p:nvSpPr>
            <p:cNvPr id="94" name="Ellipse 94"/>
            <p:cNvSpPr/>
            <p:nvPr/>
          </p:nvSpPr>
          <p:spPr>
            <a:xfrm>
              <a:off x="8858250" y="1952625"/>
              <a:ext cx="1676400" cy="1676400"/>
            </a:xfrm>
            <a:prstGeom prst="ellipse">
              <a:avLst/>
            </a:prstGeom>
            <a:solidFill>
              <a:srgbClr val="FFE26A"/>
            </a:solidFill>
            <a:ln>
              <a:noFill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9696450" y="2333625"/>
            <a:ext cx="457200" cy="457200"/>
            <a:chOff x="9696450" y="2333625"/>
            <a:chExt cx="457200" cy="457200"/>
          </a:xfrm>
        </p:grpSpPr>
        <p:sp>
          <p:nvSpPr>
            <p:cNvPr id="96" name="Freeform 96"/>
            <p:cNvSpPr/>
            <p:nvPr/>
          </p:nvSpPr>
          <p:spPr>
            <a:xfrm>
              <a:off x="9696450" y="2333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cubicBezTo>
                    <a:pt x="252505" y="0"/>
                    <a:pt x="457200" y="204695"/>
                    <a:pt x="457200" y="45720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9696450" y="2790825"/>
            <a:ext cx="457200" cy="457200"/>
            <a:chOff x="9696450" y="2790825"/>
            <a:chExt cx="457200" cy="457200"/>
          </a:xfrm>
        </p:grpSpPr>
        <p:sp>
          <p:nvSpPr>
            <p:cNvPr id="98" name="Freeform 98"/>
            <p:cNvSpPr/>
            <p:nvPr/>
          </p:nvSpPr>
          <p:spPr>
            <a:xfrm>
              <a:off x="9696450" y="2790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cubicBezTo>
                    <a:pt x="457200" y="252505"/>
                    <a:pt x="252505" y="457200"/>
                    <a:pt x="0" y="45720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9239250" y="2790825"/>
            <a:ext cx="457200" cy="457200"/>
            <a:chOff x="9239250" y="2790825"/>
            <a:chExt cx="457200" cy="457200"/>
          </a:xfrm>
        </p:grpSpPr>
        <p:sp>
          <p:nvSpPr>
            <p:cNvPr id="100" name="Freeform 100"/>
            <p:cNvSpPr/>
            <p:nvPr/>
          </p:nvSpPr>
          <p:spPr>
            <a:xfrm>
              <a:off x="9239250" y="27908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457200"/>
                  </a:moveTo>
                  <a:cubicBezTo>
                    <a:pt x="204695" y="457200"/>
                    <a:pt x="0" y="252505"/>
                    <a:pt x="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3" name="Group 103"/>
          <p:cNvGrpSpPr/>
          <p:nvPr/>
        </p:nvGrpSpPr>
        <p:grpSpPr>
          <a:xfrm>
            <a:off x="9239250" y="2333625"/>
            <a:ext cx="457200" cy="457200"/>
            <a:chOff x="9239250" y="2333625"/>
            <a:chExt cx="457200" cy="457200"/>
          </a:xfrm>
        </p:grpSpPr>
        <p:sp>
          <p:nvSpPr>
            <p:cNvPr id="102" name="Freeform 102"/>
            <p:cNvSpPr/>
            <p:nvPr/>
          </p:nvSpPr>
          <p:spPr>
            <a:xfrm>
              <a:off x="9239250" y="233362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457200"/>
                  </a:moveTo>
                  <a:cubicBezTo>
                    <a:pt x="0" y="204695"/>
                    <a:pt x="204695" y="0"/>
                    <a:pt x="457200" y="0"/>
                  </a:cubicBezTo>
                </a:path>
              </a:pathLst>
            </a:custGeom>
            <a:noFill/>
            <a:ln w="76200" cap="rnd">
              <a:solidFill>
                <a:srgbClr val="E34F67"/>
              </a:solidFill>
            </a:ln>
          </p:spPr>
        </p:sp>
      </p:grpSp>
      <p:grpSp>
        <p:nvGrpSpPr>
          <p:cNvPr id="105" name="Group 105"/>
          <p:cNvGrpSpPr/>
          <p:nvPr/>
        </p:nvGrpSpPr>
        <p:grpSpPr>
          <a:xfrm>
            <a:off x="9315450" y="2409825"/>
            <a:ext cx="762000" cy="762000"/>
            <a:chOff x="9315450" y="2409825"/>
            <a:chExt cx="762000" cy="762000"/>
          </a:xfrm>
        </p:grpSpPr>
        <p:sp>
          <p:nvSpPr>
            <p:cNvPr id="104" name="Ellipse 104"/>
            <p:cNvSpPr/>
            <p:nvPr/>
          </p:nvSpPr>
          <p:spPr>
            <a:xfrm>
              <a:off x="9315450" y="2409825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08" name="Group 108"/>
          <p:cNvGrpSpPr/>
          <p:nvPr/>
        </p:nvGrpSpPr>
        <p:grpSpPr>
          <a:xfrm>
            <a:off x="6400800" y="4572000"/>
            <a:ext cx="5257800" cy="1428750"/>
            <a:chOff x="6400800" y="4572000"/>
            <a:chExt cx="5257800" cy="1428750"/>
          </a:xfrm>
        </p:grpSpPr>
        <p:sp>
          <p:nvSpPr>
            <p:cNvPr id="106" name="Rectangle 106"/>
            <p:cNvSpPr/>
            <p:nvPr/>
          </p:nvSpPr>
          <p:spPr>
            <a:xfrm>
              <a:off x="6400800" y="4572000"/>
              <a:ext cx="5257800" cy="1428750"/>
            </a:xfrm>
            <a:prstGeom prst="roundRect">
              <a:avLst>
                <a:gd name="adj" fmla="val 16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661404" y="47472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终端输出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109" name="TextBox 109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请选择任务并点击运行</a:t>
              </a:r>
            </a:p>
          </p:txBody>
        </p:sp>
      </p:grpSp>
      <p:grpSp>
        <p:nvGrpSpPr>
          <p:cNvPr id="112" name="Group 112"/>
          <p:cNvGrpSpPr/>
          <p:nvPr/>
        </p:nvGrpSpPr>
        <p:grpSpPr>
          <a:xfrm>
            <a:off x="6660642" y="5112068"/>
            <a:ext cx="1831086" cy="264033"/>
            <a:chOff x="6660642" y="5112068"/>
            <a:chExt cx="1831086" cy="264033"/>
          </a:xfrm>
        </p:grpSpPr>
        <p:sp>
          <p:nvSpPr>
            <p:cNvPr id="111" name="TextBox 111"/>
            <p:cNvSpPr txBox="1"/>
            <p:nvPr/>
          </p:nvSpPr>
          <p:spPr>
            <a:xfrm>
              <a:off x="6660642" y="51120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AFC3D9"/>
                  </a:solidFill>
                  <a:latin typeface="Consolas"/>
                  <a:ea typeface="Microsoft YaHei"/>
                  <a:cs typeface="Consolas"/>
                </a:rPr>
                <a:t>代码已切换，等待运行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6660642" y="5112068"/>
            <a:ext cx="1876520" cy="264033"/>
            <a:chOff x="6660642" y="5112068"/>
            <a:chExt cx="1876520" cy="264033"/>
          </a:xfrm>
        </p:grpSpPr>
        <p:sp>
          <p:nvSpPr>
            <p:cNvPr id="113" name="TextBox 113"/>
            <p:cNvSpPr txBox="1"/>
            <p:nvPr/>
          </p:nvSpPr>
          <p:spPr>
            <a:xfrm>
              <a:off x="6660642" y="51120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绘制中：外圈 → 内圈……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6660261" y="5313521"/>
            <a:ext cx="205638" cy="278702"/>
            <a:chOff x="6660261" y="5313521"/>
            <a:chExt cx="205638" cy="278702"/>
          </a:xfrm>
        </p:grpSpPr>
        <p:sp>
          <p:nvSpPr>
            <p:cNvPr id="115" name="TextBox 115"/>
            <p:cNvSpPr txBox="1"/>
            <p:nvPr/>
          </p:nvSpPr>
          <p:spPr>
            <a:xfrm>
              <a:off x="66602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外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6888861" y="5313521"/>
            <a:ext cx="205638" cy="278702"/>
            <a:chOff x="6888861" y="5313521"/>
            <a:chExt cx="205638" cy="278702"/>
          </a:xfrm>
        </p:grpSpPr>
        <p:sp>
          <p:nvSpPr>
            <p:cNvPr id="117" name="TextBox 117"/>
            <p:cNvSpPr txBox="1"/>
            <p:nvPr/>
          </p:nvSpPr>
          <p:spPr>
            <a:xfrm>
              <a:off x="68888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20" name="Group 120"/>
          <p:cNvGrpSpPr/>
          <p:nvPr/>
        </p:nvGrpSpPr>
        <p:grpSpPr>
          <a:xfrm>
            <a:off x="7117461" y="5313521"/>
            <a:ext cx="205638" cy="278702"/>
            <a:chOff x="7117461" y="5313521"/>
            <a:chExt cx="205638" cy="278702"/>
          </a:xfrm>
        </p:grpSpPr>
        <p:sp>
          <p:nvSpPr>
            <p:cNvPr id="119" name="TextBox 119"/>
            <p:cNvSpPr txBox="1"/>
            <p:nvPr/>
          </p:nvSpPr>
          <p:spPr>
            <a:xfrm>
              <a:off x="71174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7346061" y="5313521"/>
            <a:ext cx="205638" cy="278702"/>
            <a:chOff x="7346061" y="5313521"/>
            <a:chExt cx="205638" cy="278702"/>
          </a:xfrm>
        </p:grpSpPr>
        <p:sp>
          <p:nvSpPr>
            <p:cNvPr id="121" name="TextBox 121"/>
            <p:cNvSpPr txBox="1"/>
            <p:nvPr/>
          </p:nvSpPr>
          <p:spPr>
            <a:xfrm>
              <a:off x="73460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24" name="Group 124"/>
          <p:cNvGrpSpPr/>
          <p:nvPr/>
        </p:nvGrpSpPr>
        <p:grpSpPr>
          <a:xfrm>
            <a:off x="6660261" y="5618321"/>
            <a:ext cx="205638" cy="278702"/>
            <a:chOff x="6660261" y="5618321"/>
            <a:chExt cx="205638" cy="278702"/>
          </a:xfrm>
        </p:grpSpPr>
        <p:sp>
          <p:nvSpPr>
            <p:cNvPr id="123" name="TextBox 123"/>
            <p:cNvSpPr txBox="1"/>
            <p:nvPr/>
          </p:nvSpPr>
          <p:spPr>
            <a:xfrm>
              <a:off x="66602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内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6888861" y="5618321"/>
            <a:ext cx="205638" cy="278702"/>
            <a:chOff x="6888861" y="5618321"/>
            <a:chExt cx="205638" cy="278702"/>
          </a:xfrm>
        </p:grpSpPr>
        <p:sp>
          <p:nvSpPr>
            <p:cNvPr id="125" name="TextBox 125"/>
            <p:cNvSpPr txBox="1"/>
            <p:nvPr/>
          </p:nvSpPr>
          <p:spPr>
            <a:xfrm>
              <a:off x="68888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7117461" y="5618321"/>
            <a:ext cx="205638" cy="278702"/>
            <a:chOff x="7117461" y="5618321"/>
            <a:chExt cx="205638" cy="278702"/>
          </a:xfrm>
        </p:grpSpPr>
        <p:sp>
          <p:nvSpPr>
            <p:cNvPr id="127" name="TextBox 127"/>
            <p:cNvSpPr txBox="1"/>
            <p:nvPr/>
          </p:nvSpPr>
          <p:spPr>
            <a:xfrm>
              <a:off x="71174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7346061" y="5618321"/>
            <a:ext cx="205638" cy="278702"/>
            <a:chOff x="7346061" y="5618321"/>
            <a:chExt cx="205638" cy="278702"/>
          </a:xfrm>
        </p:grpSpPr>
        <p:sp>
          <p:nvSpPr>
            <p:cNvPr id="129" name="TextBox 129"/>
            <p:cNvSpPr txBox="1"/>
            <p:nvPr/>
          </p:nvSpPr>
          <p:spPr>
            <a:xfrm>
              <a:off x="73460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32" name="Group 132"/>
          <p:cNvGrpSpPr/>
          <p:nvPr/>
        </p:nvGrpSpPr>
        <p:grpSpPr>
          <a:xfrm>
            <a:off x="6660261" y="5313521"/>
            <a:ext cx="205638" cy="278702"/>
            <a:chOff x="6660261" y="5313521"/>
            <a:chExt cx="205638" cy="278702"/>
          </a:xfrm>
        </p:grpSpPr>
        <p:sp>
          <p:nvSpPr>
            <p:cNvPr id="131" name="TextBox 131"/>
            <p:cNvSpPr txBox="1"/>
            <p:nvPr/>
          </p:nvSpPr>
          <p:spPr>
            <a:xfrm>
              <a:off x="66602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外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6888861" y="5313521"/>
            <a:ext cx="205638" cy="278702"/>
            <a:chOff x="6888861" y="5313521"/>
            <a:chExt cx="205638" cy="278702"/>
          </a:xfrm>
        </p:grpSpPr>
        <p:sp>
          <p:nvSpPr>
            <p:cNvPr id="133" name="TextBox 133"/>
            <p:cNvSpPr txBox="1"/>
            <p:nvPr/>
          </p:nvSpPr>
          <p:spPr>
            <a:xfrm>
              <a:off x="68888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36" name="Group 136"/>
          <p:cNvGrpSpPr/>
          <p:nvPr/>
        </p:nvGrpSpPr>
        <p:grpSpPr>
          <a:xfrm>
            <a:off x="7117461" y="5313521"/>
            <a:ext cx="205638" cy="278702"/>
            <a:chOff x="7117461" y="5313521"/>
            <a:chExt cx="205638" cy="278702"/>
          </a:xfrm>
        </p:grpSpPr>
        <p:sp>
          <p:nvSpPr>
            <p:cNvPr id="135" name="TextBox 135"/>
            <p:cNvSpPr txBox="1"/>
            <p:nvPr/>
          </p:nvSpPr>
          <p:spPr>
            <a:xfrm>
              <a:off x="71174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7346061" y="5313521"/>
            <a:ext cx="205638" cy="278702"/>
            <a:chOff x="7346061" y="5313521"/>
            <a:chExt cx="205638" cy="278702"/>
          </a:xfrm>
        </p:grpSpPr>
        <p:sp>
          <p:nvSpPr>
            <p:cNvPr id="137" name="TextBox 137"/>
            <p:cNvSpPr txBox="1"/>
            <p:nvPr/>
          </p:nvSpPr>
          <p:spPr>
            <a:xfrm>
              <a:off x="7346061" y="53135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40" name="Group 140"/>
          <p:cNvGrpSpPr/>
          <p:nvPr/>
        </p:nvGrpSpPr>
        <p:grpSpPr>
          <a:xfrm>
            <a:off x="6660261" y="5618321"/>
            <a:ext cx="205638" cy="278702"/>
            <a:chOff x="6660261" y="5618321"/>
            <a:chExt cx="205638" cy="278702"/>
          </a:xfrm>
        </p:grpSpPr>
        <p:sp>
          <p:nvSpPr>
            <p:cNvPr id="139" name="TextBox 139"/>
            <p:cNvSpPr txBox="1"/>
            <p:nvPr/>
          </p:nvSpPr>
          <p:spPr>
            <a:xfrm>
              <a:off x="66602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内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6888861" y="5618321"/>
            <a:ext cx="205638" cy="278702"/>
            <a:chOff x="6888861" y="5618321"/>
            <a:chExt cx="205638" cy="278702"/>
          </a:xfrm>
        </p:grpSpPr>
        <p:sp>
          <p:nvSpPr>
            <p:cNvPr id="141" name="TextBox 141"/>
            <p:cNvSpPr txBox="1"/>
            <p:nvPr/>
          </p:nvSpPr>
          <p:spPr>
            <a:xfrm>
              <a:off x="68888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圈</a:t>
              </a:r>
            </a:p>
          </p:txBody>
        </p:sp>
      </p:grpSp>
      <p:grpSp>
        <p:nvGrpSpPr>
          <p:cNvPr id="144" name="Group 144"/>
          <p:cNvGrpSpPr/>
          <p:nvPr/>
        </p:nvGrpSpPr>
        <p:grpSpPr>
          <a:xfrm>
            <a:off x="7117461" y="5618321"/>
            <a:ext cx="205638" cy="278702"/>
            <a:chOff x="7117461" y="5618321"/>
            <a:chExt cx="205638" cy="278702"/>
          </a:xfrm>
        </p:grpSpPr>
        <p:sp>
          <p:nvSpPr>
            <p:cNvPr id="143" name="TextBox 143"/>
            <p:cNvSpPr txBox="1"/>
            <p:nvPr/>
          </p:nvSpPr>
          <p:spPr>
            <a:xfrm>
              <a:off x="71174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完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7346061" y="5618321"/>
            <a:ext cx="205638" cy="278702"/>
            <a:chOff x="7346061" y="5618321"/>
            <a:chExt cx="205638" cy="278702"/>
          </a:xfrm>
        </p:grpSpPr>
        <p:sp>
          <p:nvSpPr>
            <p:cNvPr id="145" name="TextBox 145"/>
            <p:cNvSpPr txBox="1"/>
            <p:nvPr/>
          </p:nvSpPr>
          <p:spPr>
            <a:xfrm>
              <a:off x="7346061" y="5618321"/>
              <a:ext cx="2056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成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9429750" y="5162550"/>
            <a:ext cx="1790700" cy="438150"/>
            <a:chOff x="9429750" y="5162550"/>
            <a:chExt cx="1790700" cy="438150"/>
          </a:xfrm>
        </p:grpSpPr>
        <p:sp>
          <p:nvSpPr>
            <p:cNvPr id="147" name="Rectangle 147"/>
            <p:cNvSpPr/>
            <p:nvPr/>
          </p:nvSpPr>
          <p:spPr>
            <a:xfrm>
              <a:off x="9429750" y="5162550"/>
              <a:ext cx="1790700" cy="438150"/>
            </a:xfrm>
            <a:prstGeom prst="roundRect">
              <a:avLst>
                <a:gd name="adj" fmla="val 4782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9773031" y="530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经典徽章完成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9429750" y="5162550"/>
            <a:ext cx="1790700" cy="438150"/>
            <a:chOff x="9429750" y="5162550"/>
            <a:chExt cx="1790700" cy="438150"/>
          </a:xfrm>
        </p:grpSpPr>
        <p:sp>
          <p:nvSpPr>
            <p:cNvPr id="150" name="Rectangle 150"/>
            <p:cNvSpPr/>
            <p:nvPr/>
          </p:nvSpPr>
          <p:spPr>
            <a:xfrm>
              <a:off x="9429750" y="5162550"/>
              <a:ext cx="1790700" cy="438150"/>
            </a:xfrm>
            <a:prstGeom prst="roundRect">
              <a:avLst>
                <a:gd name="adj" fmla="val 4782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51" name="TextBox 151"/>
            <p:cNvSpPr txBox="1"/>
            <p:nvPr/>
          </p:nvSpPr>
          <p:spPr>
            <a:xfrm>
              <a:off x="9773031" y="5302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我的徽章完成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509016" y="6325552"/>
            <a:ext cx="11097768" cy="205359"/>
            <a:chOff x="509016" y="6325552"/>
            <a:chExt cx="11097768" cy="205359"/>
          </a:xfrm>
        </p:grpSpPr>
        <p:sp>
          <p:nvSpPr>
            <p:cNvPr id="153" name="TextBox 153"/>
            <p:cNvSpPr txBox="1"/>
            <p:nvPr/>
          </p:nvSpPr>
          <p:spPr>
            <a:xfrm>
              <a:off x="509016" y="6325552"/>
              <a:ext cx="304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WPS 交互控制台 · 外圈与内圈按代码顺序完成</a:t>
              </a:r>
            </a:p>
          </p:txBody>
        </p:sp>
        <p:sp>
          <p:nvSpPr>
            <p:cNvPr id="154" name="TextBox 154"/>
            <p:cNvSpPr txBox="1"/>
            <p:nvPr/>
          </p:nvSpPr>
          <p:spPr>
            <a:xfrm>
              <a:off x="11122590" y="63255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20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" presetID="22" presetClass="entr" presetSubtype="8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6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" presetID="22" presetClass="entr" presetSubtype="1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36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" presetID="22" presetClass="entr" presetSubtype="2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6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" presetID="22" presetClass="entr" presetSubtype="4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36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" presetID="22" presetClass="entr" presetSubtype="8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36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6" presetID="22" presetClass="entr" presetSubtype="1" fill="hold" grpId="0" nodeType="withEffect" restart="always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6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9" presetID="22" presetClass="entr" presetSubtype="2" fill="hold" grpId="0" nodeType="withEffect" restart="always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36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2" presetID="22" presetClass="entr" presetSubtype="4" fill="hold" grpId="0" nodeType="withEffect" restart="always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36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5" presetID="1" presetClass="entr" presetSubtype="0" fill="hold" grpId="0" nodeType="withEffect" restart="always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7" presetID="1" presetClass="entr" presetSubtype="0" fill="hold" grpId="0" nodeType="withEffect" restart="always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39" presetID="22" presetClass="entr" presetSubtype="8" fill="hold" grpId="0" nodeType="withEffect" restart="always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2" presetID="22" presetClass="entr" presetSubtype="8" fill="hold" grpId="0" nodeType="withEffect" restart="always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5" presetID="22" presetClass="entr" presetSubtype="8" fill="hold" grpId="0" nodeType="withEffect" restart="always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8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48" presetID="22" presetClass="entr" presetSubtype="8" fill="hold" grpId="0" nodeType="withEffect" restart="always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1" presetID="22" presetClass="entr" presetSubtype="8" fill="hold" grpId="0" nodeType="withEffect" restart="always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8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4" presetID="22" presetClass="entr" presetSubtype="8" fill="hold" grpId="0" nodeType="withEffect" restart="always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8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57" presetID="22" presetClass="entr" presetSubtype="8" fill="hold" grpId="0" nodeType="withEffect" restart="always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8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0" presetID="22" presetClass="entr" presetSubtype="8" fill="hold" grpId="0" nodeType="withEffect" restart="always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8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3" presetID="1" presetClass="entr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65" presetID="1" presetClass="exit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70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4" presetID="1" presetClass="entr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6" presetID="22" presetClass="entr" presetSubtype="8" fill="hold" grpId="0" nodeType="withEffect" restart="always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36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79" presetID="22" presetClass="entr" presetSubtype="1" fill="hold" grpId="0" nodeType="withEffect" restart="always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36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2" presetID="22" presetClass="entr" presetSubtype="2" fill="hold" grpId="0" nodeType="withEffect" restart="always">
                                  <p:stCondLst>
                                    <p:cond delay="10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36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5" presetID="22" presetClass="entr" presetSubtype="4" fill="hold" grpId="0" nodeType="withEffect" restart="always">
                                  <p:stCondLst>
                                    <p:cond delay="14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36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8" presetID="22" presetClass="entr" presetSubtype="8" fill="hold" grpId="0" nodeType="withEffect" restart="always">
                                  <p:stCondLst>
                                    <p:cond delay="18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36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1" presetID="22" presetClass="entr" presetSubtype="1" fill="hold" grpId="0" nodeType="withEffect" restart="always">
                                  <p:stCondLst>
                                    <p:cond delay="22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36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4" presetID="22" presetClass="entr" presetSubtype="2" fill="hold" grpId="0" nodeType="withEffect" restart="always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36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7" presetID="22" presetClass="entr" presetSubtype="4" fill="hold" grpId="0" nodeType="withEffect" restart="always">
                                  <p:stCondLst>
                                    <p:cond delay="312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36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0" presetID="1" presetClass="entr" presetSubtype="0" fill="hold" grpId="0" nodeType="withEffect" restart="always">
                                  <p:stCondLst>
                                    <p:cond delay="354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2" presetID="1" presetClass="entr" presetSubtype="0" fill="hold" grpId="0" nodeType="withEffect" restart="always">
                                  <p:stCondLst>
                                    <p:cond delay="372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4" presetID="22" presetClass="entr" presetSubtype="8" fill="hold" grpId="0" nodeType="withEffect" restart="always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8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07" presetID="22" presetClass="entr" presetSubtype="8" fill="hold" grpId="0" nodeType="withEffect" restart="always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8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0" presetID="22" presetClass="entr" presetSubtype="8" fill="hold" grpId="0" nodeType="withEffect" restart="always">
                                  <p:stCondLst>
                                    <p:cond delay="4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8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3" presetID="22" presetClass="entr" presetSubtype="8" fill="hold" grpId="0" nodeType="withEffect" restart="always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8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6" presetID="22" presetClass="entr" presetSubtype="8" fill="hold" grpId="0" nodeType="withEffect" restart="always">
                                  <p:stCondLst>
                                    <p:cond delay="43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8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19" presetID="22" presetClass="entr" presetSubtype="8" fill="hold" grpId="0" nodeType="withEffect" restart="always">
                                  <p:stCondLst>
                                    <p:cond delay="44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8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2" presetID="22" presetClass="entr" presetSubtype="8" fill="hold" grpId="0" nodeType="withEffect" restart="always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8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5" presetID="22" presetClass="entr" presetSubtype="8" fill="hold" grpId="0" nodeType="withEffect" restart="always">
                                  <p:stCondLst>
                                    <p:cond delay="46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8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28" presetID="1" presetClass="entr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0" presetID="1" presetClass="exit" presetSubtype="0" fill="hold" grpId="0" nodeType="withEffect" restart="always">
                                  <p:stCondLst>
                                    <p:cond delay="488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5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3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5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7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49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5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7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3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5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7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9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1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19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4" fill="hold">
                      <p:stCondLst>
                        <p:cond delay="0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96" presetID="1" presetClass="exit" presetSubtype="0" fill="hold" grpId="0" nodeType="click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2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4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6" presetID="1" presetClass="entr" presetSubtype="0" fill="hold" grpId="0" nodeType="withEffect" restart="always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08" presetID="1" presetClass="entr" presetSubtype="0" fill="hold" grpId="0" nodeType="withEffect" restart="always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1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2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3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4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6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8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0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52" presetID="1" presetClass="exit" presetSubtype="0" fill="hold" grpId="0" nodeType="withEffect" restart="always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代码挑战 · 补一补，再创造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334500" y="381000"/>
              <a:ext cx="2209800" cy="419100"/>
            </a:xfrm>
            <a:prstGeom prst="roundRect">
              <a:avLst>
                <a:gd name="adj" fmla="val 50000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23857" y="52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不是抄代码，是做决定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2450" y="1371600"/>
            <a:ext cx="6286500" cy="4305300"/>
            <a:chOff x="552450" y="1371600"/>
            <a:chExt cx="6286500" cy="4305300"/>
          </a:xfrm>
        </p:grpSpPr>
        <p:sp>
          <p:nvSpPr>
            <p:cNvPr id="6" name="Rectangle 6"/>
            <p:cNvSpPr/>
            <p:nvPr/>
          </p:nvSpPr>
          <p:spPr>
            <a:xfrm>
              <a:off x="552450" y="1371600"/>
              <a:ext cx="6286500" cy="4305300"/>
            </a:xfrm>
            <a:prstGeom prst="roundRect">
              <a:avLst>
                <a:gd name="adj" fmla="val 619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62000" y="156210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2500" y="1562100"/>
              <a:ext cx="114300" cy="114300"/>
            </a:xfrm>
            <a:prstGeom prst="ellipse">
              <a:avLst/>
            </a:prstGeom>
            <a:solidFill>
              <a:srgbClr val="FFCC7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43000" y="15621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3623" y="19007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screen.bgcolor(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667000" y="1809750"/>
              <a:ext cx="188595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39171" y="1900714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空位1：背景色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22673" y="19007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3623" y="2319814"/>
              <a:ext cx="22444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79C7FF"/>
                  </a:solidFill>
                  <a:latin typeface="Consolas"/>
                  <a:ea typeface="Consolas"/>
                  <a:cs typeface="Consolas"/>
                </a:rPr>
                <a:t>t.color("navy", "yellow")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" y="2609850"/>
              <a:ext cx="2667000" cy="323850"/>
            </a:xfrm>
            <a:prstGeom prst="roundRect">
              <a:avLst>
                <a:gd name="adj" fmla="val 29412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40628" y="2700814"/>
              <a:ext cx="19859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空位2：外圈 begin_fill()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623" y="3119914"/>
              <a:ext cx="11588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t.circle(100)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3409950"/>
              <a:ext cx="2667000" cy="323850"/>
            </a:xfrm>
            <a:prstGeom prst="roundRect">
              <a:avLst>
                <a:gd name="adj" fmla="val 29412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13861" y="3500914"/>
              <a:ext cx="18394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空位3：外圈 end_fill()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3623" y="3920014"/>
              <a:ext cx="12019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t.goto(0, 35)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3623" y="433911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t.color(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733550" y="4248150"/>
              <a:ext cx="228600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219589" y="4339114"/>
              <a:ext cx="13139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空位4：内圈颜色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273" y="43391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3623" y="47582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t.begin_fill(); t.circle(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276600" y="4667250"/>
              <a:ext cx="2038350" cy="304800"/>
            </a:xfrm>
            <a:prstGeom prst="roundRect">
              <a:avLst>
                <a:gd name="adj" fmla="val 31250"/>
              </a:avLst>
            </a:prstGeom>
            <a:solidFill>
              <a:srgbClr val="5B3D2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04351" y="4758214"/>
              <a:ext cx="13828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CC71"/>
                  </a:solidFill>
                  <a:latin typeface="Consolas"/>
                  <a:ea typeface="Microsoft YaHei"/>
                  <a:cs typeface="Consolas"/>
                </a:rPr>
                <a:t>空位5：50/65/75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03723" y="4758214"/>
              <a:ext cx="12622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); t.end_fill()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58050" y="1371600"/>
            <a:ext cx="4324350" cy="1104900"/>
            <a:chOff x="7258050" y="1371600"/>
            <a:chExt cx="4324350" cy="1104900"/>
          </a:xfrm>
        </p:grpSpPr>
        <p:sp>
          <p:nvSpPr>
            <p:cNvPr id="30" name="Rectangle 30"/>
            <p:cNvSpPr/>
            <p:nvPr/>
          </p:nvSpPr>
          <p:spPr>
            <a:xfrm>
              <a:off x="7258050" y="13716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7448550" y="154305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11223" y="16954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030718" y="1612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基础版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1861" y="1998821"/>
              <a:ext cx="233707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补对 5 个关键命令或参数。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258050" y="2743200"/>
            <a:ext cx="4324350" cy="1104900"/>
            <a:chOff x="7258050" y="2743200"/>
            <a:chExt cx="4324350" cy="1104900"/>
          </a:xfrm>
        </p:grpSpPr>
        <p:sp>
          <p:nvSpPr>
            <p:cNvPr id="36" name="Rectangle 36"/>
            <p:cNvSpPr/>
            <p:nvPr/>
          </p:nvSpPr>
          <p:spPr>
            <a:xfrm>
              <a:off x="7258050" y="27432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7448550" y="291465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11223" y="30670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30718" y="29841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进阶版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31861" y="3370421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修改外圈和内圈两组颜色。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258050" y="4114800"/>
            <a:ext cx="4372547" cy="1104900"/>
            <a:chOff x="7258050" y="4114800"/>
            <a:chExt cx="4372547" cy="1104900"/>
          </a:xfrm>
        </p:grpSpPr>
        <p:sp>
          <p:nvSpPr>
            <p:cNvPr id="42" name="Rectangle 42"/>
            <p:cNvSpPr/>
            <p:nvPr/>
          </p:nvSpPr>
          <p:spPr>
            <a:xfrm>
              <a:off x="7258050" y="4114800"/>
              <a:ext cx="4324350" cy="1104900"/>
            </a:xfrm>
            <a:prstGeom prst="roundRect">
              <a:avLst>
                <a:gd name="adj" fmla="val 2241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7448550" y="428625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11223" y="44386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030718" y="43557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创意版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031861" y="4742021"/>
              <a:ext cx="35987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改半径 50 或 75，必要时只调 goto 的 y。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62100" y="5924550"/>
            <a:ext cx="9067800" cy="419100"/>
            <a:chOff x="1562100" y="5924550"/>
            <a:chExt cx="9067800" cy="419100"/>
          </a:xfrm>
        </p:grpSpPr>
        <p:sp>
          <p:nvSpPr>
            <p:cNvPr id="48" name="Rectangle 48"/>
            <p:cNvSpPr/>
            <p:nvPr/>
          </p:nvSpPr>
          <p:spPr>
            <a:xfrm>
              <a:off x="1562100" y="5924550"/>
              <a:ext cx="90678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287220" y="6055042"/>
              <a:ext cx="36175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补代码 → 保存 → 运行 → 看图形 → 按清单修正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09016" y="6497002"/>
            <a:ext cx="11097768" cy="205359"/>
            <a:chOff x="509016" y="6497002"/>
            <a:chExt cx="110977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09016" y="6497002"/>
              <a:ext cx="14453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代码挑战 · 学生决策点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122590" y="64970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21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56816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易错警示 · 海龟修理站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296400" y="381000"/>
              <a:ext cx="2247900" cy="4191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504807" y="521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看到现象，先自己排查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409700"/>
            <a:ext cx="5276850" cy="1866900"/>
            <a:chOff x="571500" y="1409700"/>
            <a:chExt cx="5276850" cy="1866900"/>
          </a:xfrm>
        </p:grpSpPr>
        <p:sp>
          <p:nvSpPr>
            <p:cNvPr id="6" name="Rectangle 6"/>
            <p:cNvSpPr/>
            <p:nvPr/>
          </p:nvSpPr>
          <p:spPr>
            <a:xfrm>
              <a:off x="571500" y="14097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811682" y="16608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7968" y="16983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颜色名称拼错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861" y="2189321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现象：程序报错或颜色没有出现。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00100" y="26289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56676" y="2778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" y="2190750"/>
            <a:ext cx="4762500" cy="895350"/>
            <a:chOff x="800100" y="2190750"/>
            <a:chExt cx="4762500" cy="895350"/>
          </a:xfrm>
        </p:grpSpPr>
        <p:sp>
          <p:nvSpPr>
            <p:cNvPr id="13" name="Rectangle 13"/>
            <p:cNvSpPr/>
            <p:nvPr/>
          </p:nvSpPr>
          <p:spPr>
            <a:xfrm>
              <a:off x="800100" y="21907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84123" y="2338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原因：颜色单词拼写不正确。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3742" y="2673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修复：只从课堂颜色卡复制。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343650" y="1409700"/>
            <a:ext cx="5276850" cy="1866900"/>
            <a:chOff x="6343650" y="1409700"/>
            <a:chExt cx="5276850" cy="1866900"/>
          </a:xfrm>
        </p:grpSpPr>
        <p:sp>
          <p:nvSpPr>
            <p:cNvPr id="17" name="Rectangle 17"/>
            <p:cNvSpPr/>
            <p:nvPr/>
          </p:nvSpPr>
          <p:spPr>
            <a:xfrm>
              <a:off x="6343650" y="14097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583832" y="16608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0118" y="1698308"/>
              <a:ext cx="22113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begin / end 位置颠倒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011" y="218932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现象：填充不出现，或代码顺序混乱。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72250" y="26289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28826" y="2778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72250" y="2190750"/>
            <a:ext cx="4762500" cy="895350"/>
            <a:chOff x="6572250" y="2190750"/>
            <a:chExt cx="4762500" cy="895350"/>
          </a:xfrm>
        </p:grpSpPr>
        <p:sp>
          <p:nvSpPr>
            <p:cNvPr id="24" name="Rectangle 24"/>
            <p:cNvSpPr/>
            <p:nvPr/>
          </p:nvSpPr>
          <p:spPr>
            <a:xfrm>
              <a:off x="6572250" y="21907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756273" y="233886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原因：填充三明治顺序颠倒。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55892" y="2673668"/>
              <a:ext cx="2404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修复：开始—完整图形—结束。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581400"/>
            <a:ext cx="5276850" cy="1866900"/>
            <a:chOff x="571500" y="3581400"/>
            <a:chExt cx="5276850" cy="1866900"/>
          </a:xfrm>
        </p:grpSpPr>
        <p:sp>
          <p:nvSpPr>
            <p:cNvPr id="28" name="Rectangle 28"/>
            <p:cNvSpPr/>
            <p:nvPr/>
          </p:nvSpPr>
          <p:spPr>
            <a:xfrm>
              <a:off x="571500" y="35814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11682" y="38325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267968" y="387000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图形没有闭合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92861" y="436102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现象：填充区域缺一块或形状奇怪。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0100" y="48006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56676" y="4950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0100" y="4362450"/>
            <a:ext cx="4762500" cy="895350"/>
            <a:chOff x="800100" y="4362450"/>
            <a:chExt cx="4762500" cy="895350"/>
          </a:xfrm>
        </p:grpSpPr>
        <p:sp>
          <p:nvSpPr>
            <p:cNvPr id="35" name="Rectangle 35"/>
            <p:cNvSpPr/>
            <p:nvPr/>
          </p:nvSpPr>
          <p:spPr>
            <a:xfrm>
              <a:off x="800100" y="43624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4123" y="451056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原因：边数或转角不对，没回到起点。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3742" y="48453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修复：检查循环次数和转角。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43650" y="3581400"/>
            <a:ext cx="5276850" cy="1866900"/>
            <a:chOff x="6343650" y="3581400"/>
            <a:chExt cx="5276850" cy="1866900"/>
          </a:xfrm>
        </p:grpSpPr>
        <p:sp>
          <p:nvSpPr>
            <p:cNvPr id="39" name="Rectangle 39"/>
            <p:cNvSpPr/>
            <p:nvPr/>
          </p:nvSpPr>
          <p:spPr>
            <a:xfrm>
              <a:off x="6343650" y="3581400"/>
              <a:ext cx="5276850" cy="186690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583832" y="3832535"/>
              <a:ext cx="300530" cy="260781"/>
            </a:xfrm>
            <a:custGeom>
              <a:avLst/>
              <a:gdLst/>
              <a:ahLst/>
              <a:cxnLst/>
              <a:rect l="l" t="t" r="r" b="b"/>
              <a:pathLst>
                <a:path w="300530" h="260781">
                  <a:moveTo>
                    <a:pt x="150344" y="0"/>
                  </a:moveTo>
                  <a:cubicBezTo>
                    <a:pt x="163230" y="0"/>
                    <a:pt x="175240" y="6302"/>
                    <a:pt x="182594" y="16827"/>
                  </a:cubicBezTo>
                  <a:lnTo>
                    <a:pt x="184011" y="18986"/>
                  </a:lnTo>
                  <a:lnTo>
                    <a:pt x="293499" y="201800"/>
                  </a:lnTo>
                  <a:cubicBezTo>
                    <a:pt x="300263" y="213514"/>
                    <a:pt x="300530" y="227883"/>
                    <a:pt x="294207" y="239841"/>
                  </a:cubicBezTo>
                  <a:cubicBezTo>
                    <a:pt x="287884" y="251799"/>
                    <a:pt x="275859" y="259668"/>
                    <a:pt x="262369" y="260673"/>
                  </a:cubicBezTo>
                  <a:lnTo>
                    <a:pt x="259738" y="260781"/>
                  </a:lnTo>
                  <a:lnTo>
                    <a:pt x="40801" y="260781"/>
                  </a:lnTo>
                  <a:cubicBezTo>
                    <a:pt x="27298" y="260629"/>
                    <a:pt x="14818" y="253559"/>
                    <a:pt x="7746" y="242055"/>
                  </a:cubicBezTo>
                  <a:cubicBezTo>
                    <a:pt x="674" y="230552"/>
                    <a:pt x="0" y="216224"/>
                    <a:pt x="5960" y="204107"/>
                  </a:cubicBezTo>
                  <a:lnTo>
                    <a:pt x="7296" y="201611"/>
                  </a:lnTo>
                  <a:lnTo>
                    <a:pt x="116731" y="18932"/>
                  </a:lnTo>
                  <a:cubicBezTo>
                    <a:pt x="123857" y="7181"/>
                    <a:pt x="136601" y="3"/>
                    <a:pt x="150344" y="0"/>
                  </a:cubicBezTo>
                  <a:close/>
                  <a:moveTo>
                    <a:pt x="150479" y="179872"/>
                  </a:moveTo>
                  <a:lnTo>
                    <a:pt x="148765" y="179967"/>
                  </a:lnTo>
                  <a:cubicBezTo>
                    <a:pt x="141977" y="180774"/>
                    <a:pt x="136865" y="186530"/>
                    <a:pt x="136865" y="193366"/>
                  </a:cubicBezTo>
                  <a:cubicBezTo>
                    <a:pt x="136865" y="200202"/>
                    <a:pt x="141977" y="205958"/>
                    <a:pt x="148765" y="206765"/>
                  </a:cubicBezTo>
                  <a:lnTo>
                    <a:pt x="150344" y="206860"/>
                  </a:lnTo>
                  <a:lnTo>
                    <a:pt x="152057" y="206765"/>
                  </a:lnTo>
                  <a:cubicBezTo>
                    <a:pt x="158845" y="205958"/>
                    <a:pt x="163957" y="200202"/>
                    <a:pt x="163957" y="193366"/>
                  </a:cubicBezTo>
                  <a:cubicBezTo>
                    <a:pt x="163957" y="186530"/>
                    <a:pt x="158845" y="180774"/>
                    <a:pt x="152057" y="179967"/>
                  </a:cubicBezTo>
                  <a:lnTo>
                    <a:pt x="150479" y="179872"/>
                  </a:lnTo>
                  <a:close/>
                  <a:moveTo>
                    <a:pt x="150344" y="85416"/>
                  </a:moveTo>
                  <a:cubicBezTo>
                    <a:pt x="143503" y="85417"/>
                    <a:pt x="137745" y="90537"/>
                    <a:pt x="136944" y="97331"/>
                  </a:cubicBezTo>
                  <a:lnTo>
                    <a:pt x="136850" y="98909"/>
                  </a:lnTo>
                  <a:lnTo>
                    <a:pt x="136850" y="152885"/>
                  </a:lnTo>
                  <a:lnTo>
                    <a:pt x="136944" y="154463"/>
                  </a:lnTo>
                  <a:cubicBezTo>
                    <a:pt x="137752" y="161251"/>
                    <a:pt x="143508" y="166363"/>
                    <a:pt x="150344" y="166363"/>
                  </a:cubicBezTo>
                  <a:cubicBezTo>
                    <a:pt x="157180" y="166363"/>
                    <a:pt x="162936" y="161251"/>
                    <a:pt x="163743" y="154463"/>
                  </a:cubicBezTo>
                  <a:lnTo>
                    <a:pt x="163837" y="152885"/>
                  </a:lnTo>
                  <a:lnTo>
                    <a:pt x="163837" y="98909"/>
                  </a:lnTo>
                  <a:lnTo>
                    <a:pt x="163743" y="97331"/>
                  </a:lnTo>
                  <a:cubicBezTo>
                    <a:pt x="162943" y="90537"/>
                    <a:pt x="157185" y="85417"/>
                    <a:pt x="150344" y="8541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40118" y="3870008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内圈位置不理想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65011" y="4361021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现象：内圈偏高、偏低或压住边框。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572250" y="4800600"/>
              <a:ext cx="4762500" cy="457200"/>
            </a:xfrm>
            <a:prstGeom prst="roundRect">
              <a:avLst>
                <a:gd name="adj" fmla="val 37500"/>
              </a:avLst>
            </a:prstGeom>
            <a:solidFill>
              <a:srgbClr val="F2F6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128826" y="49501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A8796"/>
                  </a:solidFill>
                  <a:latin typeface="+mn-lt"/>
                  <a:ea typeface="+mn-ea"/>
                  <a:cs typeface="+mn-cs"/>
                </a:rPr>
                <a:t>点击揭晓原因与修复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572250" y="4362450"/>
            <a:ext cx="4762500" cy="895350"/>
            <a:chOff x="6572250" y="4362450"/>
            <a:chExt cx="4762500" cy="895350"/>
          </a:xfrm>
        </p:grpSpPr>
        <p:sp>
          <p:nvSpPr>
            <p:cNvPr id="46" name="Rectangle 46"/>
            <p:cNvSpPr/>
            <p:nvPr/>
          </p:nvSpPr>
          <p:spPr>
            <a:xfrm>
              <a:off x="6572250" y="4362450"/>
              <a:ext cx="4762500" cy="895350"/>
            </a:xfrm>
            <a:prstGeom prst="roundRect">
              <a:avLst>
                <a:gd name="adj" fmla="val 212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56273" y="4510564"/>
              <a:ext cx="274110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原因：goto 的 y 不适合当前半径。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755892" y="4845368"/>
              <a:ext cx="29019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修复：只改 y，一次只改一个参数。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295400" y="5791200"/>
            <a:ext cx="9601200" cy="495300"/>
            <a:chOff x="1295400" y="5791200"/>
            <a:chExt cx="9601200" cy="495300"/>
          </a:xfrm>
        </p:grpSpPr>
        <p:sp>
          <p:nvSpPr>
            <p:cNvPr id="50" name="Rectangle 50"/>
            <p:cNvSpPr/>
            <p:nvPr/>
          </p:nvSpPr>
          <p:spPr>
            <a:xfrm>
              <a:off x="1295400" y="5791200"/>
              <a:ext cx="9601200" cy="4953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755326" y="5936932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拼写对、顺序对、图形闭合、一次只改一个参数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09016" y="6477952"/>
            <a:ext cx="11097768" cy="205359"/>
            <a:chOff x="509016" y="6477952"/>
            <a:chExt cx="110977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509016" y="64779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调试习惯 · 从现象找到原因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122590" y="6477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22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78536" y="381000"/>
            <a:ext cx="11065764" cy="689229"/>
            <a:chOff x="478536" y="381000"/>
            <a:chExt cx="11065764" cy="68922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54566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作品验收 · 彩色徽章发布会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9525000" y="381000"/>
              <a:ext cx="2019300" cy="419100"/>
            </a:xfrm>
            <a:prstGeom prst="roundRect">
              <a:avLst>
                <a:gd name="adj" fmla="val 50000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734560" y="504825"/>
              <a:ext cx="192327" cy="180975"/>
            </a:xfrm>
            <a:custGeom>
              <a:avLst/>
              <a:gdLst/>
              <a:ahLst/>
              <a:cxnLst/>
              <a:rect l="l" t="t" r="r" b="b"/>
              <a:pathLst>
                <a:path w="192327" h="180975">
                  <a:moveTo>
                    <a:pt x="142865" y="0"/>
                  </a:moveTo>
                  <a:cubicBezTo>
                    <a:pt x="147694" y="1"/>
                    <a:pt x="151759" y="3615"/>
                    <a:pt x="152324" y="8411"/>
                  </a:cubicBezTo>
                  <a:lnTo>
                    <a:pt x="152390" y="9525"/>
                  </a:lnTo>
                  <a:lnTo>
                    <a:pt x="152390" y="30194"/>
                  </a:lnTo>
                  <a:cubicBezTo>
                    <a:pt x="164229" y="26023"/>
                    <a:pt x="177405" y="30066"/>
                    <a:pt x="184866" y="40160"/>
                  </a:cubicBezTo>
                  <a:cubicBezTo>
                    <a:pt x="192327" y="50255"/>
                    <a:pt x="192327" y="64036"/>
                    <a:pt x="184866" y="74130"/>
                  </a:cubicBezTo>
                  <a:cubicBezTo>
                    <a:pt x="177405" y="84224"/>
                    <a:pt x="164229" y="88268"/>
                    <a:pt x="152390" y="84096"/>
                  </a:cubicBezTo>
                  <a:lnTo>
                    <a:pt x="152390" y="85725"/>
                  </a:lnTo>
                  <a:cubicBezTo>
                    <a:pt x="152387" y="113613"/>
                    <a:pt x="132262" y="137429"/>
                    <a:pt x="104765" y="142084"/>
                  </a:cubicBezTo>
                  <a:lnTo>
                    <a:pt x="104765" y="161925"/>
                  </a:lnTo>
                  <a:lnTo>
                    <a:pt x="133340" y="161925"/>
                  </a:lnTo>
                  <a:cubicBezTo>
                    <a:pt x="138380" y="161931"/>
                    <a:pt x="142543" y="165861"/>
                    <a:pt x="142839" y="170892"/>
                  </a:cubicBezTo>
                  <a:cubicBezTo>
                    <a:pt x="143134" y="175923"/>
                    <a:pt x="139459" y="180313"/>
                    <a:pt x="134455" y="180908"/>
                  </a:cubicBezTo>
                  <a:lnTo>
                    <a:pt x="133340" y="180975"/>
                  </a:lnTo>
                  <a:lnTo>
                    <a:pt x="57140" y="180975"/>
                  </a:lnTo>
                  <a:cubicBezTo>
                    <a:pt x="52101" y="180969"/>
                    <a:pt x="47938" y="177039"/>
                    <a:pt x="47642" y="172008"/>
                  </a:cubicBezTo>
                  <a:cubicBezTo>
                    <a:pt x="47347" y="166977"/>
                    <a:pt x="51022" y="162587"/>
                    <a:pt x="56026" y="161992"/>
                  </a:cubicBezTo>
                  <a:lnTo>
                    <a:pt x="57140" y="161925"/>
                  </a:lnTo>
                  <a:lnTo>
                    <a:pt x="85715" y="161925"/>
                  </a:lnTo>
                  <a:lnTo>
                    <a:pt x="85715" y="142084"/>
                  </a:lnTo>
                  <a:cubicBezTo>
                    <a:pt x="59014" y="137564"/>
                    <a:pt x="39147" y="114930"/>
                    <a:pt x="38129" y="87868"/>
                  </a:cubicBezTo>
                  <a:lnTo>
                    <a:pt x="38090" y="85725"/>
                  </a:lnTo>
                  <a:lnTo>
                    <a:pt x="38090" y="84096"/>
                  </a:lnTo>
                  <a:cubicBezTo>
                    <a:pt x="29621" y="87094"/>
                    <a:pt x="20235" y="85935"/>
                    <a:pt x="12750" y="80965"/>
                  </a:cubicBezTo>
                  <a:cubicBezTo>
                    <a:pt x="5265" y="75996"/>
                    <a:pt x="553" y="67796"/>
                    <a:pt x="29" y="58826"/>
                  </a:cubicBezTo>
                  <a:lnTo>
                    <a:pt x="0" y="57150"/>
                  </a:lnTo>
                  <a:lnTo>
                    <a:pt x="48" y="55474"/>
                  </a:lnTo>
                  <a:cubicBezTo>
                    <a:pt x="570" y="46505"/>
                    <a:pt x="5279" y="38304"/>
                    <a:pt x="12762" y="33333"/>
                  </a:cubicBezTo>
                  <a:cubicBezTo>
                    <a:pt x="20245" y="28362"/>
                    <a:pt x="29630" y="27199"/>
                    <a:pt x="38100" y="30194"/>
                  </a:cubicBezTo>
                  <a:lnTo>
                    <a:pt x="38090" y="9525"/>
                  </a:lnTo>
                  <a:cubicBezTo>
                    <a:pt x="38090" y="4264"/>
                    <a:pt x="42355" y="0"/>
                    <a:pt x="47615" y="0"/>
                  </a:cubicBezTo>
                  <a:lnTo>
                    <a:pt x="142865" y="0"/>
                  </a:lnTo>
                  <a:close/>
                  <a:moveTo>
                    <a:pt x="28565" y="47625"/>
                  </a:moveTo>
                  <a:cubicBezTo>
                    <a:pt x="23305" y="47625"/>
                    <a:pt x="19040" y="51889"/>
                    <a:pt x="19040" y="57150"/>
                  </a:cubicBezTo>
                  <a:cubicBezTo>
                    <a:pt x="19040" y="62411"/>
                    <a:pt x="23305" y="66675"/>
                    <a:pt x="28565" y="66675"/>
                  </a:cubicBezTo>
                  <a:cubicBezTo>
                    <a:pt x="33826" y="66675"/>
                    <a:pt x="38090" y="62411"/>
                    <a:pt x="38090" y="57150"/>
                  </a:cubicBezTo>
                  <a:cubicBezTo>
                    <a:pt x="38090" y="51889"/>
                    <a:pt x="33826" y="47625"/>
                    <a:pt x="28565" y="47625"/>
                  </a:cubicBezTo>
                  <a:moveTo>
                    <a:pt x="161915" y="47625"/>
                  </a:moveTo>
                  <a:cubicBezTo>
                    <a:pt x="156655" y="47625"/>
                    <a:pt x="152390" y="51889"/>
                    <a:pt x="152390" y="57150"/>
                  </a:cubicBezTo>
                  <a:cubicBezTo>
                    <a:pt x="152390" y="62411"/>
                    <a:pt x="156655" y="66675"/>
                    <a:pt x="161915" y="66675"/>
                  </a:cubicBezTo>
                  <a:cubicBezTo>
                    <a:pt x="167176" y="66675"/>
                    <a:pt x="171440" y="62411"/>
                    <a:pt x="171440" y="57150"/>
                  </a:cubicBezTo>
                  <a:cubicBezTo>
                    <a:pt x="171440" y="51889"/>
                    <a:pt x="167176" y="47625"/>
                    <a:pt x="161915" y="47625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089642" y="5210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达标就能发布！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409700"/>
            <a:ext cx="3524250" cy="3448050"/>
            <a:chOff x="533400" y="1409700"/>
            <a:chExt cx="3524250" cy="3448050"/>
          </a:xfrm>
        </p:grpSpPr>
        <p:sp>
          <p:nvSpPr>
            <p:cNvPr id="7" name="Rectangle 7"/>
            <p:cNvSpPr/>
            <p:nvPr/>
          </p:nvSpPr>
          <p:spPr>
            <a:xfrm>
              <a:off x="533400" y="1409700"/>
              <a:ext cx="3524250" cy="3448050"/>
            </a:xfrm>
            <a:prstGeom prst="roundRect">
              <a:avLst>
                <a:gd name="adj" fmla="val 828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0956" y="16344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68A42"/>
                  </a:solidFill>
                  <a:latin typeface="+mn-lt"/>
                  <a:ea typeface="+mn-ea"/>
                  <a:cs typeface="+mn-cs"/>
                </a:rPr>
                <a:t>三项验收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762000" y="2152650"/>
              <a:ext cx="2156460" cy="398145"/>
              <a:chOff x="762000" y="2152650"/>
              <a:chExt cx="2156460" cy="398145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762000" y="215265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75481" y="228507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87780" y="22574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至少使用两种颜色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2876550"/>
              <a:ext cx="2099315" cy="549878"/>
              <a:chOff x="762000" y="2876550"/>
              <a:chExt cx="2099315" cy="549878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762000" y="28956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75481" y="302802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287780" y="2876550"/>
                <a:ext cx="122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填充图形完整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288923" y="3177064"/>
                <a:ext cx="157239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17187"/>
                    </a:solidFill>
                    <a:latin typeface="+mn-lt"/>
                    <a:ea typeface="+mn-ea"/>
                    <a:cs typeface="+mn-cs"/>
                  </a:rPr>
                  <a:t>没有漏掉 end_fill()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62000" y="3752850"/>
              <a:ext cx="1954530" cy="549878"/>
              <a:chOff x="762000" y="3752850"/>
              <a:chExt cx="1954530" cy="549878"/>
            </a:xfrm>
          </p:grpSpPr>
          <p:sp>
            <p:nvSpPr>
              <p:cNvPr id="18" name="Ellipse 18"/>
              <p:cNvSpPr/>
              <p:nvPr/>
            </p:nvSpPr>
            <p:spPr>
              <a:xfrm>
                <a:off x="762000" y="3771900"/>
                <a:ext cx="381000" cy="381000"/>
              </a:xfrm>
              <a:prstGeom prst="ellipse">
                <a:avLst/>
              </a:pr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5481" y="3904322"/>
                <a:ext cx="163671" cy="116155"/>
              </a:xfrm>
              <a:custGeom>
                <a:avLst/>
                <a:gdLst/>
                <a:ahLst/>
                <a:cxnLst/>
                <a:rect l="l" t="t" r="r" b="b"/>
                <a:pathLst>
                  <a:path w="163671" h="116155">
                    <a:moveTo>
                      <a:pt x="159953" y="3718"/>
                    </a:moveTo>
                    <a:cubicBezTo>
                      <a:pt x="163671" y="7438"/>
                      <a:pt x="163671" y="13467"/>
                      <a:pt x="159953" y="17187"/>
                    </a:cubicBezTo>
                    <a:lnTo>
                      <a:pt x="64703" y="112437"/>
                    </a:lnTo>
                    <a:cubicBezTo>
                      <a:pt x="60984" y="116155"/>
                      <a:pt x="54954" y="116155"/>
                      <a:pt x="51235" y="112437"/>
                    </a:cubicBezTo>
                    <a:lnTo>
                      <a:pt x="3610" y="64812"/>
                    </a:lnTo>
                    <a:cubicBezTo>
                      <a:pt x="0" y="61074"/>
                      <a:pt x="52" y="55134"/>
                      <a:pt x="3726" y="51459"/>
                    </a:cubicBezTo>
                    <a:cubicBezTo>
                      <a:pt x="7400" y="47785"/>
                      <a:pt x="13341" y="47734"/>
                      <a:pt x="17078" y="51343"/>
                    </a:cubicBezTo>
                    <a:lnTo>
                      <a:pt x="57969" y="92234"/>
                    </a:lnTo>
                    <a:lnTo>
                      <a:pt x="146485" y="3718"/>
                    </a:lnTo>
                    <a:cubicBezTo>
                      <a:pt x="150204" y="0"/>
                      <a:pt x="156234" y="0"/>
                      <a:pt x="159953" y="37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287780" y="3752850"/>
                <a:ext cx="142875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背景或不同线宽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288923" y="4053364"/>
                <a:ext cx="139146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17187"/>
                    </a:solidFill>
                    <a:latin typeface="+mn-lt"/>
                    <a:ea typeface="+mn-ea"/>
                    <a:cs typeface="+mn-cs"/>
                  </a:rPr>
                  <a:t>至少包含其中一项</a:t>
                </a:r>
              </a:p>
            </p:txBody>
          </p:sp>
        </p:grpSp>
      </p:grpSp>
      <p:grpSp>
        <p:nvGrpSpPr>
          <p:cNvPr id="33" name="Group 33"/>
          <p:cNvGrpSpPr/>
          <p:nvPr/>
        </p:nvGrpSpPr>
        <p:grpSpPr>
          <a:xfrm>
            <a:off x="4400550" y="1409700"/>
            <a:ext cx="4057650" cy="3448050"/>
            <a:chOff x="4400550" y="1409700"/>
            <a:chExt cx="4057650" cy="3448050"/>
          </a:xfrm>
        </p:grpSpPr>
        <p:sp>
          <p:nvSpPr>
            <p:cNvPr id="24" name="Rectangle 24"/>
            <p:cNvSpPr/>
            <p:nvPr/>
          </p:nvSpPr>
          <p:spPr>
            <a:xfrm>
              <a:off x="4400550" y="1409700"/>
              <a:ext cx="4057650" cy="3448050"/>
            </a:xfrm>
            <a:prstGeom prst="roundRect">
              <a:avLst>
                <a:gd name="adj" fmla="val 82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Freeform 25"/>
            <p:cNvSpPr/>
            <p:nvPr/>
          </p:nvSpPr>
          <p:spPr>
            <a:xfrm>
              <a:off x="4699016" y="1704975"/>
              <a:ext cx="320545" cy="301626"/>
            </a:xfrm>
            <a:custGeom>
              <a:avLst/>
              <a:gdLst/>
              <a:ahLst/>
              <a:cxnLst/>
              <a:rect l="l" t="t" r="r" b="b"/>
              <a:pathLst>
                <a:path w="320545" h="301626">
                  <a:moveTo>
                    <a:pt x="238110" y="0"/>
                  </a:moveTo>
                  <a:cubicBezTo>
                    <a:pt x="246158" y="1"/>
                    <a:pt x="252932" y="6025"/>
                    <a:pt x="253874" y="14018"/>
                  </a:cubicBezTo>
                  <a:lnTo>
                    <a:pt x="253985" y="15875"/>
                  </a:lnTo>
                  <a:lnTo>
                    <a:pt x="253985" y="50324"/>
                  </a:lnTo>
                  <a:cubicBezTo>
                    <a:pt x="273716" y="43371"/>
                    <a:pt x="295675" y="50110"/>
                    <a:pt x="308110" y="66934"/>
                  </a:cubicBezTo>
                  <a:cubicBezTo>
                    <a:pt x="320545" y="83758"/>
                    <a:pt x="320545" y="106727"/>
                    <a:pt x="308110" y="123551"/>
                  </a:cubicBezTo>
                  <a:cubicBezTo>
                    <a:pt x="295675" y="140374"/>
                    <a:pt x="273716" y="147113"/>
                    <a:pt x="253985" y="140161"/>
                  </a:cubicBezTo>
                  <a:lnTo>
                    <a:pt x="253985" y="142875"/>
                  </a:lnTo>
                  <a:cubicBezTo>
                    <a:pt x="253979" y="189355"/>
                    <a:pt x="220437" y="229048"/>
                    <a:pt x="174609" y="236808"/>
                  </a:cubicBezTo>
                  <a:lnTo>
                    <a:pt x="174609" y="269876"/>
                  </a:lnTo>
                  <a:lnTo>
                    <a:pt x="222235" y="269876"/>
                  </a:lnTo>
                  <a:cubicBezTo>
                    <a:pt x="230634" y="269885"/>
                    <a:pt x="237572" y="276435"/>
                    <a:pt x="238065" y="284820"/>
                  </a:cubicBezTo>
                  <a:cubicBezTo>
                    <a:pt x="238557" y="293205"/>
                    <a:pt x="232433" y="300522"/>
                    <a:pt x="224092" y="301514"/>
                  </a:cubicBezTo>
                  <a:lnTo>
                    <a:pt x="222235" y="301626"/>
                  </a:lnTo>
                  <a:lnTo>
                    <a:pt x="95234" y="301626"/>
                  </a:lnTo>
                  <a:cubicBezTo>
                    <a:pt x="86835" y="301616"/>
                    <a:pt x="79896" y="295066"/>
                    <a:pt x="79404" y="286681"/>
                  </a:cubicBezTo>
                  <a:cubicBezTo>
                    <a:pt x="78912" y="278296"/>
                    <a:pt x="85036" y="270979"/>
                    <a:pt x="93377" y="269987"/>
                  </a:cubicBezTo>
                  <a:lnTo>
                    <a:pt x="95234" y="269876"/>
                  </a:lnTo>
                  <a:lnTo>
                    <a:pt x="142859" y="269876"/>
                  </a:lnTo>
                  <a:lnTo>
                    <a:pt x="142859" y="236808"/>
                  </a:lnTo>
                  <a:cubicBezTo>
                    <a:pt x="98357" y="229275"/>
                    <a:pt x="65246" y="191551"/>
                    <a:pt x="63548" y="146447"/>
                  </a:cubicBezTo>
                  <a:lnTo>
                    <a:pt x="63484" y="142875"/>
                  </a:lnTo>
                  <a:lnTo>
                    <a:pt x="63484" y="140161"/>
                  </a:lnTo>
                  <a:cubicBezTo>
                    <a:pt x="49369" y="145158"/>
                    <a:pt x="33725" y="143225"/>
                    <a:pt x="21250" y="134942"/>
                  </a:cubicBezTo>
                  <a:cubicBezTo>
                    <a:pt x="8775" y="126660"/>
                    <a:pt x="921" y="112993"/>
                    <a:pt x="48" y="98044"/>
                  </a:cubicBezTo>
                  <a:lnTo>
                    <a:pt x="0" y="95250"/>
                  </a:lnTo>
                  <a:lnTo>
                    <a:pt x="79" y="92456"/>
                  </a:lnTo>
                  <a:cubicBezTo>
                    <a:pt x="950" y="77509"/>
                    <a:pt x="8799" y="63841"/>
                    <a:pt x="21270" y="55556"/>
                  </a:cubicBezTo>
                  <a:cubicBezTo>
                    <a:pt x="33742" y="47270"/>
                    <a:pt x="49384" y="45333"/>
                    <a:pt x="63500" y="50324"/>
                  </a:cubicBezTo>
                  <a:lnTo>
                    <a:pt x="63484" y="15875"/>
                  </a:lnTo>
                  <a:cubicBezTo>
                    <a:pt x="63484" y="7107"/>
                    <a:pt x="70592" y="0"/>
                    <a:pt x="79359" y="0"/>
                  </a:cubicBezTo>
                  <a:lnTo>
                    <a:pt x="238110" y="0"/>
                  </a:lnTo>
                  <a:close/>
                  <a:moveTo>
                    <a:pt x="47609" y="79375"/>
                  </a:moveTo>
                  <a:cubicBezTo>
                    <a:pt x="38842" y="79375"/>
                    <a:pt x="31734" y="86483"/>
                    <a:pt x="31734" y="95250"/>
                  </a:cubicBezTo>
                  <a:cubicBezTo>
                    <a:pt x="31734" y="104018"/>
                    <a:pt x="38842" y="111125"/>
                    <a:pt x="47609" y="111125"/>
                  </a:cubicBezTo>
                  <a:cubicBezTo>
                    <a:pt x="56377" y="111125"/>
                    <a:pt x="63484" y="104018"/>
                    <a:pt x="63484" y="95250"/>
                  </a:cubicBezTo>
                  <a:cubicBezTo>
                    <a:pt x="63484" y="86483"/>
                    <a:pt x="56377" y="79375"/>
                    <a:pt x="47609" y="79375"/>
                  </a:cubicBezTo>
                  <a:moveTo>
                    <a:pt x="269860" y="79375"/>
                  </a:moveTo>
                  <a:cubicBezTo>
                    <a:pt x="261092" y="79375"/>
                    <a:pt x="253985" y="86483"/>
                    <a:pt x="253985" y="95250"/>
                  </a:cubicBezTo>
                  <a:cubicBezTo>
                    <a:pt x="253985" y="104018"/>
                    <a:pt x="261092" y="111125"/>
                    <a:pt x="269860" y="111125"/>
                  </a:cubicBezTo>
                  <a:cubicBezTo>
                    <a:pt x="278627" y="111125"/>
                    <a:pt x="285735" y="104018"/>
                    <a:pt x="285735" y="95250"/>
                  </a:cubicBezTo>
                  <a:cubicBezTo>
                    <a:pt x="285735" y="86483"/>
                    <a:pt x="278627" y="79375"/>
                    <a:pt x="269860" y="79375"/>
                  </a:cubicBezTo>
                </a:path>
              </a:pathLst>
            </a:custGeom>
            <a:solidFill>
              <a:srgbClr val="FFCC7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11318" y="17459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CC71"/>
                  </a:solidFill>
                  <a:latin typeface="+mn-lt"/>
                  <a:ea typeface="+mn-ea"/>
                  <a:cs typeface="+mn-cs"/>
                </a:rPr>
                <a:t>作品展示句式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77918" y="2279332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“我的作品是……”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77918" y="2736532"/>
              <a:ext cx="186260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“我使用了……命令”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77918" y="3193732"/>
              <a:ext cx="14183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“我修改了……”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77918" y="3650932"/>
              <a:ext cx="164048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“下一次我想……”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686300" y="4229100"/>
              <a:ext cx="3219450" cy="381000"/>
            </a:xfrm>
            <a:prstGeom prst="roundRect">
              <a:avLst>
                <a:gd name="adj" fmla="val 50000"/>
              </a:avLst>
            </a:prstGeom>
            <a:solidFill>
              <a:srgbClr val="2B3A5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27980" y="434863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AFC3D9"/>
                  </a:solidFill>
                  <a:latin typeface="+mn-lt"/>
                  <a:ea typeface="+mn-ea"/>
                  <a:cs typeface="+mn-cs"/>
                </a:rPr>
                <a:t>同伴只提一条友善建议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801100" y="1409700"/>
            <a:ext cx="2857500" cy="3448050"/>
            <a:chOff x="8801100" y="1409700"/>
            <a:chExt cx="2857500" cy="3448050"/>
          </a:xfrm>
        </p:grpSpPr>
        <p:sp>
          <p:nvSpPr>
            <p:cNvPr id="34" name="Rectangle 34"/>
            <p:cNvSpPr/>
            <p:nvPr/>
          </p:nvSpPr>
          <p:spPr>
            <a:xfrm>
              <a:off x="8801100" y="1409700"/>
              <a:ext cx="2857500" cy="34480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058656" y="16344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离堂三句话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60942" y="2197418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· 我学会了画笔颜色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060942" y="2730818"/>
              <a:ext cx="17920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 · 我完成了彩色徽章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60942" y="3264218"/>
              <a:ext cx="197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· 报错先查拼写、符号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327642" y="35499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和缩进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9829800" y="3905250"/>
              <a:ext cx="800100" cy="800100"/>
            </a:xfrm>
            <a:prstGeom prst="ellipse">
              <a:avLst/>
            </a:prstGeom>
            <a:solidFill>
              <a:srgbClr val="FFE26A"/>
            </a:solidFill>
            <a:ln w="57150">
              <a:solidFill>
                <a:srgbClr val="2E5EA8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10001250" y="4076700"/>
              <a:ext cx="457200" cy="457200"/>
            </a:xfrm>
            <a:prstGeom prst="ellipse">
              <a:avLst/>
            </a:prstGeom>
            <a:solidFill>
              <a:schemeClr val="accent2"/>
            </a:solidFill>
            <a:ln w="38100">
              <a:solidFill>
                <a:srgbClr val="E34F67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1104900" y="5314950"/>
            <a:ext cx="9982200" cy="819150"/>
            <a:chOff x="1104900" y="5314950"/>
            <a:chExt cx="9982200" cy="819150"/>
          </a:xfrm>
        </p:grpSpPr>
        <p:sp>
          <p:nvSpPr>
            <p:cNvPr id="43" name="Rectangle 43"/>
            <p:cNvSpPr/>
            <p:nvPr/>
          </p:nvSpPr>
          <p:spPr>
            <a:xfrm>
              <a:off x="1104900" y="5314950"/>
              <a:ext cx="9982200" cy="819150"/>
            </a:xfrm>
            <a:prstGeom prst="roundRect">
              <a:avLst>
                <a:gd name="adj" fmla="val 34884"/>
              </a:avLst>
            </a:prstGeom>
            <a:solidFill>
              <a:srgbClr val="FFF2DC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1381590" y="5538674"/>
              <a:ext cx="361019" cy="350950"/>
            </a:xfrm>
            <a:custGeom>
              <a:avLst/>
              <a:gdLst/>
              <a:ahLst/>
              <a:cxnLst/>
              <a:rect l="l" t="t" r="r" b="b"/>
              <a:pathLst>
                <a:path w="361019" h="350950">
                  <a:moveTo>
                    <a:pt x="192855" y="6817"/>
                  </a:moveTo>
                  <a:lnTo>
                    <a:pt x="350018" y="163979"/>
                  </a:lnTo>
                  <a:cubicBezTo>
                    <a:pt x="361019" y="174981"/>
                    <a:pt x="353231" y="193788"/>
                    <a:pt x="337672" y="193788"/>
                  </a:cubicBezTo>
                  <a:lnTo>
                    <a:pt x="320209" y="193788"/>
                  </a:lnTo>
                  <a:lnTo>
                    <a:pt x="320209" y="298562"/>
                  </a:lnTo>
                  <a:cubicBezTo>
                    <a:pt x="320209" y="327495"/>
                    <a:pt x="296755" y="350950"/>
                    <a:pt x="267822" y="350950"/>
                  </a:cubicBezTo>
                  <a:lnTo>
                    <a:pt x="250359" y="350950"/>
                  </a:lnTo>
                  <a:lnTo>
                    <a:pt x="250359" y="228713"/>
                  </a:lnTo>
                  <a:cubicBezTo>
                    <a:pt x="250361" y="200972"/>
                    <a:pt x="228738" y="178040"/>
                    <a:pt x="201045" y="176413"/>
                  </a:cubicBezTo>
                  <a:lnTo>
                    <a:pt x="197972" y="176325"/>
                  </a:lnTo>
                  <a:lnTo>
                    <a:pt x="163047" y="176325"/>
                  </a:lnTo>
                  <a:cubicBezTo>
                    <a:pt x="134114" y="176325"/>
                    <a:pt x="110660" y="199780"/>
                    <a:pt x="110660" y="228713"/>
                  </a:cubicBezTo>
                  <a:lnTo>
                    <a:pt x="110660" y="350950"/>
                  </a:lnTo>
                  <a:lnTo>
                    <a:pt x="93197" y="350950"/>
                  </a:lnTo>
                  <a:cubicBezTo>
                    <a:pt x="64264" y="350950"/>
                    <a:pt x="40810" y="327495"/>
                    <a:pt x="40810" y="298562"/>
                  </a:cubicBezTo>
                  <a:lnTo>
                    <a:pt x="40810" y="193788"/>
                  </a:lnTo>
                  <a:lnTo>
                    <a:pt x="23347" y="193788"/>
                  </a:lnTo>
                  <a:cubicBezTo>
                    <a:pt x="7806" y="193788"/>
                    <a:pt x="0" y="174981"/>
                    <a:pt x="11001" y="163979"/>
                  </a:cubicBezTo>
                  <a:lnTo>
                    <a:pt x="168164" y="6817"/>
                  </a:lnTo>
                  <a:cubicBezTo>
                    <a:pt x="174983" y="0"/>
                    <a:pt x="186036" y="0"/>
                    <a:pt x="192855" y="6817"/>
                  </a:cubicBezTo>
                  <a:moveTo>
                    <a:pt x="197972" y="211250"/>
                  </a:moveTo>
                  <a:cubicBezTo>
                    <a:pt x="207616" y="211250"/>
                    <a:pt x="215434" y="219068"/>
                    <a:pt x="215434" y="228713"/>
                  </a:cubicBezTo>
                  <a:lnTo>
                    <a:pt x="215434" y="350950"/>
                  </a:lnTo>
                  <a:lnTo>
                    <a:pt x="145585" y="350950"/>
                  </a:lnTo>
                  <a:lnTo>
                    <a:pt x="145585" y="228713"/>
                  </a:lnTo>
                  <a:cubicBezTo>
                    <a:pt x="145586" y="219860"/>
                    <a:pt x="152212" y="212408"/>
                    <a:pt x="161004" y="211372"/>
                  </a:cubicBezTo>
                  <a:lnTo>
                    <a:pt x="163047" y="2112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974342" y="54549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回家再创造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972818" y="5736908"/>
              <a:ext cx="66804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把内圈半径换一个数字，做第二枚徽章，并讲给家人听为什么变了。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09016" y="6439852"/>
            <a:ext cx="11097768" cy="205359"/>
            <a:chOff x="509016" y="6439852"/>
            <a:chExt cx="110977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509016" y="64398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发布作品 · 说出命令、修改与下一步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122590" y="64398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617187"/>
                  </a:solidFill>
                  <a:latin typeface="+mn-lt"/>
                  <a:ea typeface="+mn-ea"/>
                  <a:cs typeface="+mn-cs"/>
                </a:rPr>
                <a:t>23 / 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xmlns:p="http://schemas.openxmlformats.org/presentationml/2006/main" id="9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6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xmlns:p="http://schemas.openxmlformats.org/presentationml/2006/main" id="13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6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ython应用课_第05课_多彩画笔大师">
  <a:themeElements>
    <a:clrScheme name="Python应用课_第05课_多彩画笔大师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5课_多彩画笔大师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5课_多彩画笔大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ython应用课_第05课_多彩画笔大师">
  <a:themeElements>
    <a:clrScheme name="Python应用课_第05课_多彩画笔大师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Python应用课_第05课_多彩画笔大师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ython应用课_第05课_多彩画笔大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2026-08-30T14:31:39Z</dcterms:created>
  <dcterms:modified xsi:type="dcterms:W3CDTF">2026-08-30T14:31:39Z</dcterms:modified>
  <cp:category/>
  <cp:contentStatus/>
</cp:coreProperties>
</file>