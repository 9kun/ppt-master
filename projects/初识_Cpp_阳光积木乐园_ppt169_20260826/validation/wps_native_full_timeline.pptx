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先从文件菜单新建源代码，得到一张空白的代码纸。孩子只要能独立找到空白编辑区即可，不需要记住每一个菜单。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回到熟悉的实验站，操作顺序仍然是选择、代码、运行、结果。界面不变，我们就能把注意力留给新的代码规则。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这道题要求输出 thank you。先核对全部小写和中间的一个空格，再把整句话放进英文双引号，句末补上英文分号。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哪条语句能正确输出 apple？先投票，再按固定顺序检查：小写 cout、两个小于号、英文引号、英文分号。正确答案是 C。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endl 表示结束当前行，并把光标送到下一行。它写在双引号外，通过两个小于号连接；每使用一次 endl，就换一次行。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我们再次回到同一实验站。请孩子先说出四步操作顺序，再准备把多行输出用到诗词练习里。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标题和四句诗一共需要五条 cout。每句诗要与题目逐字一致，中文标点和换行都属于输出内容的一部分。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去掉双引号后，三加五变成真正的表达式，会先计算再输出八。记住口诀：有引号照抄，没引号计算。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实验站仍然没有变化。现在请孩子把注意力放在代码内容上，准备把自然语言写成可以计算的表达式。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三道练习先口算，再写进 cout。第二题要留意括号顺序，第三题连续输出三项时先别急着看答案，给孩子一点思考时间。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每执行一条 cout，右侧图案就增加一层。星号画出实体，空格控制位置，endl 负责换到下一行，三者一起决定形状。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最后一次回到固定实验站。请孩子复述选择、代码、运行、结果四步，再进入图案闯关。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五个连续星号可以放在同一个字符串里一次输出。先让五颗星拼起来，再把它们整体送进终端。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写代码前先观察目标图案。请孩子逐行数树冠层数、星号数量、左侧空格和树干位置；家长只提问，不代替孩子数。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六行目标对应六条 cout，字符串中的空格必须完整保留。每揭示一条代码，就去右侧确认对应的一行是否对齐。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第二幕把刚才用过的代码整理成模板。五块积木重新归位后，我们会复习程序框架、cout 规则和关键词。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第三幕开始独立闯关。每道题都走同一个闭环：读题、设计输出、写代码、运行检查。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rgbClr val="2E9BFF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rgbClr val="FF6FA5">
              <a:alpha val="28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亲子 C++ 公开课</a:t>
              </a:r>
              <a:endParaRPr lang="zh-CN" sz="18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初识 C++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 cout，让电脑开口</a:t>
              </a:r>
              <a:endParaRPr lang="zh-CN" sz="24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说话、算结果、画图案，编程像搭积木一样好玩。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让电脑计算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让电脑画图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C++!";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rgbClr val="2E9BFF">
                <a:alpha val="12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准备好了吗？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我们一起让电脑开口！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82000"/>
          </a:blip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24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今天的三幕课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2E9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新知精学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认识环境与 cout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看见第一声输出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9F1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知识梳理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记住五要素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整理输出规则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6FA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综合精练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独立完成 8 道题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把方法带回家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rgbClr val="EAF5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家长陪练提示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每幕结束，问孩子：“你能解释吗？你能自己写吗？”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12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9F1C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01</a:t>
              </a:r>
              <a:endParaRPr lang="en-US" sz="14250" b="1" dirty="0">
                <a:solidFill>
                  <a:srgbClr val="FF9F1C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新知精学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先让电脑说出第一句话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写下第一行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看见运行结果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我们从第一声开始！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Y2060 · 计算机输出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任务：让电脑说 Hello World!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今天的第一关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让屏幕准确显示：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大小写一致 · 感叹号不丢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rgbClr val="203044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成功标准：文字完全一致，屏幕就会按你的命令开口。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开发环境：Dev-C++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本课使用 5.11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rgbClr val="EAF5FF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Dev-C++ 5.11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工具会更换，但读懂和写出 C++ 代码的核心技能不会变。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新建文件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找到第 1 行：这就是空白代码纸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①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②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③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操作路线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文件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家长提示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会找到空白区就够了。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编写代码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先完整搭好，再逐块理解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rgbClr val="FF9F1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菜单栏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项目管理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编辑区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先认识界面区域，再逐块理解代码作用。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std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main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cout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65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保存、编译、运行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rgbClr val="FF6FA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6FA5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编译运行按钮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.cpp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示例：hello.cpp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9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看到 0 errors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9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核对屏幕输出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 errors / 0 warnings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→ 编译 → 运行，顺序不能乱。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第一声：运行成功！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rgbClr val="17243A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第一行：Hello World!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就是程序输出的内容。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C55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value 0</a:t>
              </a:r>
              <a:endParaRPr lang="en-US" sz="1500" b="1" dirty="0">
                <a:solidFill>
                  <a:srgbClr val="22C55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表示程序正常结束。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 </a:t>
              </a:r>
              <a:r>
                <a:rPr lang="en-US" sz="27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7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选一个任务，让 cout 开始工作！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选任务　→　② 看代码　→　③ 运行　→　④ 看结果</a:t>
              </a:r>
              <a:endParaRPr lang="zh-CN" sz="13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EAF5FF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▶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Hello!</a:t>
              </a:r>
              <a:endParaRPr lang="en-US" sz="1350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让电脑说中文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你好!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1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❤ 表白程序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 ❤ Coding!</a:t>
              </a:r>
              <a:endParaRPr lang="en-US" sz="1350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代码编辑器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先读代码，再点击按钮观察终端 ✨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World!";</a:t>
              </a:r>
              <a:endParaRPr lang="en-US" sz="158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"I ❤ Coding！";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运行结果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运行中...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,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!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好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员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3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restart="always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restart="always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restart="always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restart="always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xit" presetSubtype="0" restart="always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restart="always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restart="always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restart="always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restart="always" fill="hold" nodeType="withEffect">
                                  <p:stCondLst>
                                    <p:cond delay="81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restart="always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restart="always" fill="hold" nodeType="withEffect">
                                  <p:stCondLst>
                                    <p:cond delay="81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restart="always" fill="hold" nodeType="withEffect">
                                  <p:stCondLst>
                                    <p:cond delay="81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04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5" fill="hold">
                      <p:stCondLst>
                        <p:cond delay="0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ntr" presetSubtype="0" restart="always" fill="hold" nodeType="withEffect">
                                  <p:stCondLst>
                                    <p:cond delay="119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restart="always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ntr" presetSubtype="0" restart="always" fill="hold" nodeType="withEffect">
                                  <p:stCondLst>
                                    <p:cond delay="119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ntr" presetSubtype="0" restart="always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421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ntr" presetSubtype="0" restart="always" fill="hold" nodeType="withEffect">
                                  <p:stCondLst>
                                    <p:cond delay="119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515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6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ntr" presetSubtype="0" restart="always" fill="hold" nodeType="withEffect">
                                  <p:stCondLst>
                                    <p:cond delay="11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ntr" presetSubtype="0" restart="always" fill="hold" nodeType="withEffect">
                                  <p:stCondLst>
                                    <p:cond delay="119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ntr" presetSubtype="0" restart="always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ntr" presetSubtype="0" restart="always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549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0" fill="hold">
                      <p:stCondLst>
                        <p:cond delay="0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ntr" presetSubtype="0" restart="always" fill="hold" nodeType="withEffect">
                                  <p:stCondLst>
                                    <p:cond delay="119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ntr" presetSubtype="0" restart="always" fill="hold" nodeType="withEffect">
                                  <p:stCondLst>
                                    <p:cond delay="119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" presetClass="entr" presetSubtype="0" restart="always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ntr" presetSubtype="0" restart="always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583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4" fill="hold">
                      <p:stCondLst>
                        <p:cond delay="0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600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1" fill="hold">
                      <p:stCondLst>
                        <p:cond delay="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613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restart="always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" presetClass="entr" presetSubtype="0" restart="always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639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0" fill="hold">
                      <p:stCondLst>
                        <p:cond delay="0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652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5"/>
                  </p:tgtEl>
                </p:cond>
              </p:nextCondLst>
            </p:seq>
            <p:seq concurrent="1" nextAc="seek">
              <p:cTn id="691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2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" presetClass="entr" presetSubtype="0" restart="always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71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8" fill="hold">
                      <p:stCondLst>
                        <p:cond delay="0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presetID="1" presetClass="entr" presetSubtype="0" restart="always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1" presetClass="entr" presetSubtype="0" restart="always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ntr" presetSubtype="0" restart="always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xit" presetSubtype="0" restart="always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3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4" fill="hold">
                      <p:stCondLst>
                        <p:cond delay="0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id="736" presetID="1" presetClass="exit" presetSubtype="0" restart="always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38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" presetClass="entr" presetSubtype="0" restart="always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" presetClass="exit" presetSubtype="0" restart="always" fill="hold" nodeType="withEffect">
                                  <p:stCondLst>
                                    <p:cond delay="199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7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" presetClass="entr" presetSubtype="0" restart="always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" presetClass="exit" presetSubtype="0" restart="always" fill="hold" nodeType="withEffect">
                                  <p:stCondLst>
                                    <p:cond delay="171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" presetClass="entr" presetSubtype="0" restart="always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" presetClass="exit" presetSubtype="0" restart="always" fill="hold" nodeType="withEffect">
                                  <p:stCondLst>
                                    <p:cond delay="199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9" presetID="1" presetClass="exit" presetSubtype="0" restart="always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1" presetClass="entr" presetSubtype="0" restart="always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" presetClass="exit" presetSubtype="0" restart="always" fill="hold" nodeType="withEffect">
                                  <p:stCondLst>
                                    <p:cond delay="179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思考题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源程序扩展名是？</a:t>
              </a:r>
              <a:endParaRPr lang="zh-CN" sz="31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　.doc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　.jpg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　.mp3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.cpp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最常用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补充知识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.cxx　部分 UNIX 系统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.cc　部分编译器兼容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.h　常用于头文件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保存时先看文件名最后一段。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代码框架解析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比喻帮助记忆，说明更准确</a:t>
              </a:r>
              <a:endParaRPr lang="zh-CN" sz="13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203044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03044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引入输入输出工具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直接使用标准库名字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 main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程序从这里开始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与 &lt;&lt; 把内容送出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向环境报告正常结束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比喻不是正式定义；小字才是技术作用。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输入输出头文件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 C++ 编程中，流输入输出对应的头文件是（ ）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先回忆：哪只“工具箱”提供 cin 和 cout？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cstdio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algorithm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cstring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答案：B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包含标准输入流 cin 和标准输出流 cout。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记忆：输入 input + 输出 output + stream（流）。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选择判断：找出错误行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拼写侦探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　#include &lt;iosteam&gt;</a:t>
              </a:r>
              <a:endParaRPr lang="zh-CN" sz="1650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　using namespace std;</a:t>
              </a:r>
              <a:endParaRPr lang="zh-CN" sz="165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　int main() {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　　cout &lt;&lt; "Hello world!";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　　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　}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哪一行的单词少了一个字母？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请选择错误行号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　1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　2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　3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　5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1 行缺少字母 r。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拆开 cout 语句看一看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28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Console Output 的缩写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像“小喇叭”一样，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命令电脑把内容说出来。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"文字"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&lt;&lt; 把内容送给 cout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双引号把文字框起来，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里面写什么，就显示什么。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</a:t>
              </a:r>
              <a:endParaRPr lang="en-US" sz="30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分号是语句结束符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像一句话的句号，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每句代码都要收好尾。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rgbClr val="EAF5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想一想：如果把 &lt;&lt; 写成 &gt;&gt;，电脑还能“说话”吗？</a:t>
            </a:r>
            <a:endParaRPr lang="zh-CN" sz="1650" b="1" dirty="0">
              <a:solidFill>
                <a:srgbClr val="2E9B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N6713 · 短句输出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让电脑说 thank you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题目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输出指定短句，要求逐字一致。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全部小写，中间保留一个空格。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抄准 → 运行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"________________";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先把题目文字完整放进双引号。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EAF5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"thank you";</a:t>
              </a:r>
              <a:endParaRPr lang="en-US" sz="1800" dirty="0">
                <a:solidFill>
                  <a:srgbClr val="EAF5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逐字一致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0" b="1" dirty="0">
                <a:solidFill>
                  <a:srgbClr val="FF9F1C">
                    <a:alphaMod val="1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%</a:t>
            </a:r>
            <a:endParaRPr lang="en-US" sz="30000" b="1" dirty="0">
              <a:solidFill>
                <a:srgbClr val="FF9F1C">
                  <a:alphaMod val="1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P1067 · 输出百分号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双引号里，% 会原样显示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目标输出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b=19%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"a=10%,b=19%";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rgbClr val="FF9F1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a=10%,b=19%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等号、逗号、百分号都要放进英文双引号。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哪条语句能正确输出 apple？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少了一个 &lt;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必须小写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完全正确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使用了中文符号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 C：小写 cout + 两个 &lt; + 英文引号 + 英文分号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想一想：两条 cout 会换行吗？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"World!";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 endl，光标不会自动去下一行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结论：两条输出会“粘”在同一行。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用 endl 输出多行信息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endl 写在引号外，表示“换行”。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 endl 换一次行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一条信息一行，结果更整齐。</a:t>
            </a:r>
            <a:endParaRPr lang="zh-CN" sz="165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一条 cout，也能连续输出三行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 &lt;&lt; endl</a:t>
              </a:r>
              <a:endParaRPr lang="en-US" sz="18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&lt;&lt; "123456" &lt;&lt; endl</a:t>
              </a:r>
              <a:endParaRPr lang="en-US" sz="18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"你好世界!";</a:t>
              </a:r>
              <a:endParaRPr lang="zh-CN" sz="18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同一条语句用多个 &lt;&lt; 接上内容和 endl。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123456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你好世界!</a:t>
              </a:r>
              <a:endParaRPr lang="zh-CN" sz="225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一句代码，三行结果。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C5001 · 静夜思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一行诗，一条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静夜思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床前明月光，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疑是地上霜。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举头望明月，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低头思故乡。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标点和换行都要一致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"静夜思" &lt;&lt; endl;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"床前明月光，"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"疑是地上霜。"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"举头望明月，"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"低头思故乡。"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五条语句，完整输出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常见编程错误 · 字符双胞胎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看起来像，不代表编译器认为相同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　1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　0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　: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*　x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英文半角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 , ( ) " "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中文全角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 ， （ ） “ ”</a:t>
              </a:r>
              <a:endParaRPr lang="zh-CN" sz="210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2E9B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检查方法：切到英文输入法，再逐字符看。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编译器会逐字符检查，一个符号也不能猜。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符号要用英文并成对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中文符号 ≠ 英文符号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中文：； ， （ ） “ ”</a:t>
              </a:r>
              <a:endParaRPr lang="zh-CN" sz="18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英文：; , ( ) " "</a:t>
              </a:r>
              <a:endParaRPr lang="zh-CN" sz="18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写代码前先切换到英文输入法。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括号与引号要配成一对</a:t>
              </a:r>
              <a:endParaRPr lang="zh-CN" sz="21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 )　{ }　" "</a:t>
              </a:r>
              <a:endParaRPr lang="zh-CN" sz="25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引号里面还要显示引号时：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 said \"Hi\"";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从左到右数一数：每个“开门”都有“关门”。</a:t>
              </a:r>
              <a:endParaRPr lang="zh-CN" sz="150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关键单词别写错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电脑逐字符辨认，字母和数字不能“长得像就算对”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mian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i0stream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printf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end1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mian → main　　i0stream → iostream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print → printf　　end1 → endl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检查方法：对照模板，从第一个字符读到最后一个字符。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盒外的 3+5：先计算再输出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有引号：照抄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3+5</a:t>
              </a:r>
              <a:endParaRPr lang="en-US" sz="42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没引号：计算</a:t>
              </a:r>
              <a:endParaRPr lang="zh-CN" sz="18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 + 5;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+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判断口诀：有引号照抄，没引号计算。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三道小练习：先想结果，再写代码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7 - 2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先口算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7 - 2;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(8 + 3) * 2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注意括号顺序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写进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连续输出三项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 + 2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 * 4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 *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暂不揭晓结果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把数学表达式按原顺序写好，再交给 cout。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Q3005 · 输出表达式的值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挑战大算式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 * 5678 =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7006652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"1234 * 5678 = " &lt;&lt; 1234 * 5678 &lt;&lt; endl;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提示文字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计算结果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换行 endl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一条 cout 可以把三段内容连续送到屏幕。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一行行 cout，就是画笔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星号和空格共同决定图案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每执行一行，右边就增加一层。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40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40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0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空格不能随意删除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 cout 画一行，多条就画出形状。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N6690 · 五星连珠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一行完成第一个图案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输出结果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8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五个连续星号，可以放进一个字符串一次输出。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先看目标，再动手写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目标图案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先用手指数，再写代码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观察四件事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树冠有几层？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每层有几个星号？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左侧有几个空格？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树干在哪一列？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家长只提问，不替孩子数。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一行对应一条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字符串中的空格必须完整保留。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同步预览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对齐完成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02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知识梳理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把代码整理成可复用模板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命名空间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把五块重新归位！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程序模板　/　cout 规则　/　关键词词典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一张可复用的程序模板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固定框架，只替换 cout 内容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#include &lt;iostream&gt; // 输入输出工具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using namespace std; // 标准库名字</a:t>
              </a:r>
              <a:endParaRPr lang="zh-CN" sz="1500" dirty="0">
                <a:solidFill>
                  <a:srgbClr val="FF9F1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main() { // 程序入口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"内容"; // 替换这里</a:t>
              </a:r>
              <a:endParaRPr lang="zh-CN" sz="15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0; // 正常结束</a:t>
              </a:r>
              <a:endParaRPr lang="zh-CN" sz="150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口述五块作用，再遮住模板默写。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五条规则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单行输出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输出后用 endl 换行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多行就写多条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文字放在双引号里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　表达式不加引号会计算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家长：只提问，不直接报答案。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上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看懂词根，代码不再陌生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包含：把工具引进来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input/output stream：输入输出流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使用：开始采用某个名字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namespace</a:t>
              </a:r>
              <a:endParaRPr lang="en-US" sz="21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name + space：名字空间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std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standard：标准库简称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主要的：程序入口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按代码出现顺序读一遍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 → iostream → using → namespace → std → main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下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输出、换行、返回、整数类型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标准输出对象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character output：输出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“喇叭”只是记忆比喻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 line：结束这一行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让光标到下一行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</a:t>
              </a:r>
              <a:endParaRPr lang="en-US" sz="22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返回：报告程序结束状态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return 0 表示正常结束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en-US" sz="22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integer：整数类型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的返回类型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先用比喻记住，再用技术作用说准确。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03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不看示范，独立解决新题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运行检查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出发，自己闯关！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设计输出 → 写代码 → 运行检查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 · 8 道编程题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按“文字 → 数字 → 图案 → 综合”闯关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N3113　废话上代码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N6648　输出英文单词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N6685　输出偶数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C5000　自我介绍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C5003　输出菱形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Q3008　雪花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Q3006　长方形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N6691　背诵诗词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每题：读题 → 写代码 → 运行 → 找错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家长怎么陪？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只问检查问题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不直接报答案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让孩子口述五要素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说比喻，也说技术作用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完成后勾选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说出遇到的错误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下节课再见！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今天，你已经能让电脑开口了。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会解释五要素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 + 技术作用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会写 cout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文字 + 计算结果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会输出图案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 + 空格 + 换行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今晚行动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 N3113，并向家长讲一遍五要素。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编程像搭积木，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下一块等你来拼！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5923</Words>
  <Application>WPS 演示</Application>
  <PresentationFormat>On-screen Show (16:9)</PresentationFormat>
  <Paragraphs>1276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Arial</vt:lpstr>
      <vt:lpstr>Segoe UI</vt:lpstr>
      <vt:lpstr>幼圆</vt:lpstr>
      <vt:lpstr>微软雅黑</vt:lpstr>
      <vt:lpstr>Consolas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2</cp:revision>
  <dcterms:created xsi:type="dcterms:W3CDTF">2026-08-26T20:03:00Z</dcterms:created>
  <dcterms:modified xsi:type="dcterms:W3CDTF">2026-08-27T12:09:19Z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B38820253B434DD0B1FF129722269C05_12</vt:lpwstr>
  </property>
  <property fmtid="{D5CDD505-2E9C-101B-9397-08002B2CF9AE}" pid="3" name="KSOProductBuildVer">
    <vt:lpwstr>2052-12.1.0.28043</vt:lpwstr>
  </property>
</Properties>
</file>