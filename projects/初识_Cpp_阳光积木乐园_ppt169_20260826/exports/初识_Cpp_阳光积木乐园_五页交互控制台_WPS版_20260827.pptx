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先从文件菜单新建源代码，得到一张空白的代码纸。孩子只要能独立找到空白编辑区即可，不需要记住每一个菜单。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回到熟悉的交互控制台，先点击“输出文字”，观察双引号里的 3+5 会被原样输出；再点击“输出计算结果”，比较没有双引号时电脑会算出 8。最后点击“✨换行魔法 endl”，运行后终端会先出现 Hello，再换到下一行输出 World。引导孩子用“文字盒子、计算、换行”三个词说出差别。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这道题要求输出 thank you。先核对全部小写和中间的一个空格，再把整句话放进英文双引号，句末补上英文分号。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哪条语句能正确输出 apple？先投票，再按固定顺序检查：小写 cout、两个小于号、英文引号、英文分号。正确答案是 C。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endl 表示结束当前行，并把光标送到下一行。它写在双引号外，通过两个小于号连接；每使用一次 endl，就换一次行。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我们再次回到同一套交互控制台。依次试运行“输出文字”“输出计算结果”和“✨换行魔法 endl”，复习双引号决定原样输出、没有双引号可以计算、endl 能让下一次输出换到新的一行。请孩子先预测终端，再点击运行核对。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标题和四句诗一共需要五条 cout。每句诗要与题目逐字一致，中文标点和换行都属于输出内容的一部分。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去掉双引号后，三加五变成真正的表达式，会先计算再输出八。记住口诀：有引号照抄，没引号计算。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进入图案交互控制台。先点击“五星连珠”看一行五颗星，再依次尝试“❤️ 爱心”“智慧树”和“小房子”。每次先看左侧每一行 cout，再猜右侧会多出哪一层；点击运行后，终端按行把图案搭出来。提醒孩子注意空格也会决定图案的位置。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三道练习先口算，再写进 cout。第二题要留意括号顺序，第三题连续输出三项时先别急着看答案，给孩子一点思考时间。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每执行一条 cout，右侧图案就增加一层。星号画出实体，空格控制位置，endl 负责换到下一行，三者一起决定形状。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最后一次回到图案交互控制台。让孩子独立完成“选任务—看代码—运行—看结果”四步，轮流运行五星连珠、❤️ 爱心、智慧树和小房子。请孩子指出每个 endl 对应终端中的一次换行，并观察星号、斜线、竖线和空格怎样共同搭成图案。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五个连续星号可以放在同一个字符串里一次输出。先让五颗星拼起来，再把它们整体送进终端。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写代码前先观察目标图案。请孩子逐行数树冠层数、星号数量、左侧空格和树干位置；家长只提问，不代替孩子数。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六行目标对应六条 cout，字符串中的空格必须完整保留。每揭示一条代码，就去右侧确认对应的一行是否对齐。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第二幕把刚才用过的代码整理成模板。五块积木重新归位后，我们会复习程序框架、cout 规则和关键词。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第三幕开始独立闯关。每道题都走同一个闭环：读题、设计输出、写代码、运行检查。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初识_Cpp_阳光积木乐园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初识_Cpp_阳光积木乐园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7ec0d2362240f6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96862aa57274b1.png"/>
  <Relationship Id="rId3" Type="http://schemas.openxmlformats.org/officeDocument/2006/relationships/image" Target="../media/image_cb374d61e61c593f.pn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232a94677efaf9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a38a0273ed147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b9da3b1f187926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68697543039391b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ac2346544f4c60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"Hello, C++!";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2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12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chemeClr val="accent2">
                      <a:alphaMod val="18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新知精学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Dev-C++ 5.11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找到第 1 行：这就是空白代码纸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菜单栏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报告窗口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先认识界面区域，再逐块理解代码作用。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456" y="160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编译运行按钮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编译报告窗口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看到 0 errors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核对屏幕输出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 errors / 0 warnings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保存 → 编译 → 运行，顺序不能乱。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第一行：Hello World!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就是程序输出的内容。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value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Hello </a:t>
              </a:r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选一个任务，让 cout 开始工作！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Hello!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让电脑说中文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你好!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 表白程序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 ❤ Coding!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5" name="Rectangle 35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先读代码，再点击按钮观察终端 ✨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51" name="TextBox 51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"Hello, World!";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55" name="TextBox 55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"I ❤ Coding！";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3" name="Rectangle 63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6" name="Rectangle 66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9" name="Rectangle 69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8" name="TextBox 78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80" name="TextBox 80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82" name="TextBox 82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84" name="TextBox 84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104" name="TextBox 104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6" name="TextBox 106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8" name="TextBox 108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!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22" name="TextBox 122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员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6" name="TextBox 126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30" name="TextBox 130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40" name="TextBox 140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42" name="TextBox 142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g</a:t>
              </a: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44" name="TextBox 144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7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2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6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7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9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1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3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5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7" presetID="1" presetClass="exit" presetSubtype="0" fill="hold" grpId="0" nodeType="with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9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1" presetID="1" presetClass="entr" presetSubtype="0" fill="hold" grpId="0" nodeType="with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3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5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7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9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4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6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8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0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2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4" presetID="1" presetClass="exit" presetSubtype="0" fill="hold" grpId="0" nodeType="withEffect" restart="always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6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8" presetID="1" presetClass="entr" presetSubtype="0" fill="hold" grpId="0" nodeType="withEffect" restart="always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0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2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4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6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8" presetID="1" presetClass="entr" presetSubtype="0" fill="hold" grpId="0" nodeType="with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0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2" presetID="1" presetClass="entr" presetSubtype="0" fill="hold" grpId="0" nodeType="withEffect" restart="always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544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5" fill="hold">
                      <p:stCondLst>
                        <p:cond delay="0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1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3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5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7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9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1" presetID="1" presetClass="exit" presetSubtype="0" fill="hold" grpId="0" nodeType="with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3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5" presetID="1" presetClass="entr" presetSubtype="0" fill="hold" grpId="0" nodeType="with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7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9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1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3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95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4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6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8" presetID="1" presetClass="exit" presetSubtype="0" fill="hold" grpId="0" nodeType="withEffect" restart="always">
                                  <p:stCondLst>
                                    <p:cond delay="1559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0" presetID="1" presetClass="entr" presetSubtype="0" fill="hold" grpId="0" nodeType="withEffect" restart="always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2" presetID="1" presetClass="entr" presetSubtype="0" fill="hold" grpId="0" nodeType="with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4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6" presetID="1" presetClass="entr" presetSubtype="0" fill="hold" grpId="0" nodeType="withEffect" restart="always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8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0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2" presetID="1" presetClass="entr" presetSubtype="0" fill="hold" grpId="0" nodeType="with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4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源程序扩展名是？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　.cpp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B　.doc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　.jpg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D　.mp3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.cpp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补充知识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.cxx　部分 UNIX 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.cc　部分编译器兼容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.h　常用于头文件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保存时先看文件名最后一段。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代码框架解析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比喻帮助记忆，说明更准确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与 &lt;&lt; 把内容送出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输入输出头文件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C++ 编程中，流输入输出对应的头文件是（ 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先回忆：哪只“工具箱”提供 cin 和 cout？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cstdio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algorithm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cstring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包含标准输入流 cin 和标准输出流 cout。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记忆：输入 input + 输出 output + stream（流）。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选择判断：找出错误行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拼写侦探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1　#include &lt;iosteam&gt;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2　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3　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4　　cout &lt;&lt; "Hello world!";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5　　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6　}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哪一行的单词少了一个字母？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请选择错误行号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　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　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第 1 行缺少字母 r。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拆开 cout 语句看一看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Console Output 的缩写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像“小喇叭”一样，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命令电脑把内容说出来。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&lt;&lt; "文字"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&lt;&lt; 把内容送给 cout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双引号把文字框起来，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里面写什么，就显示什么。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分号是语句结束符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像一句话的句号，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每句代码都要收好尾。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想一想：如果把 &lt;&lt; 写成 &gt;&gt;，电脑还能“说话”吗？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7989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输出实验室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283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同样是 3+5，电脑会说出什么？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9257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输出文字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08115" y="16640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"3+5"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输出计算结果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2187" y="16640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78940" y="1624965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7349" y="1639729"/>
              <a:ext cx="13693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换行魔法 endl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89061" y="1672114"/>
              <a:ext cx="1075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Hello ↵ World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5" name="Rectangle 35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" y="3048000"/>
              <a:ext cx="6210300" cy="2476500"/>
            </a:xfrm>
            <a:prstGeom prst="roundRect">
              <a:avLst>
                <a:gd name="adj" fmla="val 8462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32451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6071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39690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" y="4248150"/>
              <a:ext cx="5905500" cy="838200"/>
            </a:xfrm>
            <a:prstGeom prst="roundRect">
              <a:avLst>
                <a:gd name="adj" fmla="val 170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7542" y="516921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435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042" y="5950268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先选任务，再运行看看答案 ✨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51" name="TextBox 51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8799" y="4535329"/>
            <a:ext cx="1378343" cy="308039"/>
            <a:chOff x="1058799" y="4535329"/>
            <a:chExt cx="1378343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58799" y="4535329"/>
              <a:ext cx="13783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3+5;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59561" y="4399121"/>
            <a:ext cx="2322711" cy="602552"/>
            <a:chOff x="1059561" y="4399121"/>
            <a:chExt cx="2322711" cy="602552"/>
          </a:xfrm>
        </p:grpSpPr>
        <p:sp>
          <p:nvSpPr>
            <p:cNvPr id="55" name="TextBox 55"/>
            <p:cNvSpPr txBox="1"/>
            <p:nvPr/>
          </p:nvSpPr>
          <p:spPr>
            <a:xfrm>
              <a:off x="1059561" y="4399121"/>
              <a:ext cx="23227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9561" y="4722971"/>
              <a:ext cx="16808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"World";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8" name="Rectangle 58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1" name="Rectangle 6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4" name="Rectangle 6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7" name="Rectangle 6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70" name="Rectangle 70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9" name="TextBox 79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81" name="TextBox 81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83" name="TextBox 83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85" name="TextBox 85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781341" y="3817620"/>
            <a:ext cx="210967" cy="469392"/>
            <a:chOff x="8781341" y="3817620"/>
            <a:chExt cx="210967" cy="469392"/>
          </a:xfrm>
        </p:grpSpPr>
        <p:sp>
          <p:nvSpPr>
            <p:cNvPr id="87" name="TextBox 87"/>
            <p:cNvSpPr txBox="1"/>
            <p:nvPr/>
          </p:nvSpPr>
          <p:spPr>
            <a:xfrm>
              <a:off x="87813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105191" y="3817620"/>
            <a:ext cx="210967" cy="469392"/>
            <a:chOff x="9105191" y="3817620"/>
            <a:chExt cx="210967" cy="469392"/>
          </a:xfrm>
        </p:grpSpPr>
        <p:sp>
          <p:nvSpPr>
            <p:cNvPr id="89" name="TextBox 89"/>
            <p:cNvSpPr txBox="1"/>
            <p:nvPr/>
          </p:nvSpPr>
          <p:spPr>
            <a:xfrm>
              <a:off x="910519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+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1" name="TextBox 91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3" name="TextBox 93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8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751806" y="3735705"/>
            <a:ext cx="193838" cy="410718"/>
            <a:chOff x="8751806" y="3735705"/>
            <a:chExt cx="193838" cy="410718"/>
          </a:xfrm>
        </p:grpSpPr>
        <p:sp>
          <p:nvSpPr>
            <p:cNvPr id="95" name="TextBox 95"/>
            <p:cNvSpPr txBox="1"/>
            <p:nvPr/>
          </p:nvSpPr>
          <p:spPr>
            <a:xfrm>
              <a:off x="8751806" y="37357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080277" y="3735705"/>
            <a:ext cx="184596" cy="410718"/>
            <a:chOff x="9080277" y="3735705"/>
            <a:chExt cx="184596" cy="410718"/>
          </a:xfrm>
        </p:grpSpPr>
        <p:sp>
          <p:nvSpPr>
            <p:cNvPr id="97" name="TextBox 97"/>
            <p:cNvSpPr txBox="1"/>
            <p:nvPr/>
          </p:nvSpPr>
          <p:spPr>
            <a:xfrm>
              <a:off x="908027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441231" y="3735705"/>
            <a:ext cx="110387" cy="410718"/>
            <a:chOff x="9441231" y="3735705"/>
            <a:chExt cx="110387" cy="410718"/>
          </a:xfrm>
        </p:grpSpPr>
        <p:sp>
          <p:nvSpPr>
            <p:cNvPr id="99" name="TextBox 99"/>
            <p:cNvSpPr txBox="1"/>
            <p:nvPr/>
          </p:nvSpPr>
          <p:spPr>
            <a:xfrm>
              <a:off x="944123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765081" y="3735705"/>
            <a:ext cx="110387" cy="410718"/>
            <a:chOff x="9765081" y="3735705"/>
            <a:chExt cx="110387" cy="410718"/>
          </a:xfrm>
        </p:grpSpPr>
        <p:sp>
          <p:nvSpPr>
            <p:cNvPr id="101" name="TextBox 101"/>
            <p:cNvSpPr txBox="1"/>
            <p:nvPr/>
          </p:nvSpPr>
          <p:spPr>
            <a:xfrm>
              <a:off x="976508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0051827" y="3735705"/>
            <a:ext cx="184596" cy="410718"/>
            <a:chOff x="10051827" y="3735705"/>
            <a:chExt cx="184596" cy="410718"/>
          </a:xfrm>
        </p:grpSpPr>
        <p:sp>
          <p:nvSpPr>
            <p:cNvPr id="103" name="TextBox 103"/>
            <p:cNvSpPr txBox="1"/>
            <p:nvPr/>
          </p:nvSpPr>
          <p:spPr>
            <a:xfrm>
              <a:off x="1005182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8720442" y="4192905"/>
            <a:ext cx="256565" cy="410718"/>
            <a:chOff x="8720442" y="4192905"/>
            <a:chExt cx="256565" cy="410718"/>
          </a:xfrm>
        </p:grpSpPr>
        <p:sp>
          <p:nvSpPr>
            <p:cNvPr id="105" name="TextBox 105"/>
            <p:cNvSpPr txBox="1"/>
            <p:nvPr/>
          </p:nvSpPr>
          <p:spPr>
            <a:xfrm>
              <a:off x="8720442" y="4192905"/>
              <a:ext cx="2565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9080277" y="4192905"/>
            <a:ext cx="184596" cy="410718"/>
            <a:chOff x="9080277" y="4192905"/>
            <a:chExt cx="184596" cy="410718"/>
          </a:xfrm>
        </p:grpSpPr>
        <p:sp>
          <p:nvSpPr>
            <p:cNvPr id="107" name="TextBox 107"/>
            <p:cNvSpPr txBox="1"/>
            <p:nvPr/>
          </p:nvSpPr>
          <p:spPr>
            <a:xfrm>
              <a:off x="908027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404127" y="4192905"/>
            <a:ext cx="184596" cy="410718"/>
            <a:chOff x="9404127" y="4192905"/>
            <a:chExt cx="184596" cy="410718"/>
          </a:xfrm>
        </p:grpSpPr>
        <p:sp>
          <p:nvSpPr>
            <p:cNvPr id="109" name="TextBox 109"/>
            <p:cNvSpPr txBox="1"/>
            <p:nvPr/>
          </p:nvSpPr>
          <p:spPr>
            <a:xfrm>
              <a:off x="94041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9765081" y="4192905"/>
            <a:ext cx="110387" cy="410718"/>
            <a:chOff x="9765081" y="4192905"/>
            <a:chExt cx="110387" cy="410718"/>
          </a:xfrm>
        </p:grpSpPr>
        <p:sp>
          <p:nvSpPr>
            <p:cNvPr id="111" name="TextBox 111"/>
            <p:cNvSpPr txBox="1"/>
            <p:nvPr/>
          </p:nvSpPr>
          <p:spPr>
            <a:xfrm>
              <a:off x="9765081" y="41929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0051827" y="4192905"/>
            <a:ext cx="184596" cy="410718"/>
            <a:chOff x="10051827" y="4192905"/>
            <a:chExt cx="184596" cy="410718"/>
          </a:xfrm>
        </p:grpSpPr>
        <p:sp>
          <p:nvSpPr>
            <p:cNvPr id="113" name="TextBox 113"/>
            <p:cNvSpPr txBox="1"/>
            <p:nvPr/>
          </p:nvSpPr>
          <p:spPr>
            <a:xfrm>
              <a:off x="100518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2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7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8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9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1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3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5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7" presetID="1" presetClass="exit" presetSubtype="0" fill="hold" grpId="0" nodeType="withEffect" restart="always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9" presetID="1" presetClass="entr" presetSubtype="0" fill="hold" grpId="0" nodeType="withEffect" restart="always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8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0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2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4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6" presetID="1" presetClass="exit" presetSubtype="0" fill="hold" grpId="0" nodeType="withEffect" restart="always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8" presetID="1" presetClass="entr" presetSubtype="0" fill="hold" grpId="0" nodeType="withEffect" restart="always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7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9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1" presetID="1" presetClass="exit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3" presetID="1" presetClass="entr" presetSubtype="0" fill="hold" grpId="0" nodeType="with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4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6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8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0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2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4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6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8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0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2" presetID="1" presetClass="entr" presetSubtype="0" fill="hold" grpId="0" nodeType="with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4" presetID="1" presetClass="exit" presetSubtype="0" fill="hold" grpId="0" nodeType="withEffect" restart="always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6" presetID="1" presetClass="entr" presetSubtype="0" fill="hold" grpId="0" nodeType="withEffect" restart="always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让电脑说 thank you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全部小写，中间保留一个空格。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"________________";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Consolas"/>
                  <a:ea typeface="Consolas"/>
                  <a:cs typeface="Consolas"/>
                </a:rPr>
                <a:t>cout &lt;&lt; "thank you";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0" b="1" dirty="0">
                <a:solidFill>
                  <a:schemeClr val="accent2">
                    <a:alphaMod val="10000"/>
                  </a:schemeClr>
                </a:solidFill>
                <a:latin typeface="+mn-lt"/>
                <a:ea typeface="+mn-ea"/>
                <a:cs typeface="+mn-cs"/>
              </a:rPr>
              <a:t>%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b=19%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"a=10%,b=19%";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a=10%,b=19%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等号、逗号、百分号都要放进英文双引号。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哪条语句能正确输出 apple？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 "apple";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cout &lt;&lt; “apple”；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C：小写 cout + 两个 &lt; + 英文引号 + 英文分号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想一想：两条 cout 会换行吗？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"World!";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没有 endl，光标不会自动去下一行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HelloWorld!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9856" y="6051232"/>
            <a:ext cx="33830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结论：两条输出会“粘”在同一行。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endl 输出多行信息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"World!"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写在引号外，表示“换行”。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World!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每个 endl 换一次行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一条信息一行，结果更整齐。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一条 cout，也能连续输出三行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 World!" &lt;&lt; endl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&lt;&lt; "123456" &lt;&lt; endl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&lt;&lt; "你好世界!";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同一条语句用多个 &lt;&lt; 接上内容和 endl。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123456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你好世界!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一句代码，三行结果。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7989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输出实验室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283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同样是 3+5，电脑会说出什么？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9257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输出文字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08115" y="16640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"3+5"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输出计算结果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2187" y="16640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78940" y="1624965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7349" y="1639729"/>
              <a:ext cx="13693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换行魔法 endl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89061" y="1672114"/>
              <a:ext cx="1075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Hello ↵ World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5" name="Rectangle 35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" y="3048000"/>
              <a:ext cx="6210300" cy="2476500"/>
            </a:xfrm>
            <a:prstGeom prst="roundRect">
              <a:avLst>
                <a:gd name="adj" fmla="val 8462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32451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6071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39690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" y="4248150"/>
              <a:ext cx="5905500" cy="838200"/>
            </a:xfrm>
            <a:prstGeom prst="roundRect">
              <a:avLst>
                <a:gd name="adj" fmla="val 170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7542" y="516921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435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042" y="5950268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先选任务，再运行看看答案 ✨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51" name="TextBox 51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8799" y="4535329"/>
            <a:ext cx="1378343" cy="308039"/>
            <a:chOff x="1058799" y="4535329"/>
            <a:chExt cx="1378343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58799" y="4535329"/>
              <a:ext cx="13783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3+5;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59561" y="4399121"/>
            <a:ext cx="2322711" cy="602552"/>
            <a:chOff x="1059561" y="4399121"/>
            <a:chExt cx="2322711" cy="602552"/>
          </a:xfrm>
        </p:grpSpPr>
        <p:sp>
          <p:nvSpPr>
            <p:cNvPr id="55" name="TextBox 55"/>
            <p:cNvSpPr txBox="1"/>
            <p:nvPr/>
          </p:nvSpPr>
          <p:spPr>
            <a:xfrm>
              <a:off x="1059561" y="4399121"/>
              <a:ext cx="23227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9561" y="4722971"/>
              <a:ext cx="16808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"World";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8" name="Rectangle 58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1" name="Rectangle 6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4" name="Rectangle 6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7" name="Rectangle 6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70" name="Rectangle 70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9" name="TextBox 79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81" name="TextBox 81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83" name="TextBox 83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85" name="TextBox 85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781341" y="3817620"/>
            <a:ext cx="210967" cy="469392"/>
            <a:chOff x="8781341" y="3817620"/>
            <a:chExt cx="210967" cy="469392"/>
          </a:xfrm>
        </p:grpSpPr>
        <p:sp>
          <p:nvSpPr>
            <p:cNvPr id="87" name="TextBox 87"/>
            <p:cNvSpPr txBox="1"/>
            <p:nvPr/>
          </p:nvSpPr>
          <p:spPr>
            <a:xfrm>
              <a:off x="87813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105191" y="3817620"/>
            <a:ext cx="210967" cy="469392"/>
            <a:chOff x="9105191" y="3817620"/>
            <a:chExt cx="210967" cy="469392"/>
          </a:xfrm>
        </p:grpSpPr>
        <p:sp>
          <p:nvSpPr>
            <p:cNvPr id="89" name="TextBox 89"/>
            <p:cNvSpPr txBox="1"/>
            <p:nvPr/>
          </p:nvSpPr>
          <p:spPr>
            <a:xfrm>
              <a:off x="910519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+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1" name="TextBox 91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3" name="TextBox 93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8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751806" y="3735705"/>
            <a:ext cx="193838" cy="410718"/>
            <a:chOff x="8751806" y="3735705"/>
            <a:chExt cx="193838" cy="410718"/>
          </a:xfrm>
        </p:grpSpPr>
        <p:sp>
          <p:nvSpPr>
            <p:cNvPr id="95" name="TextBox 95"/>
            <p:cNvSpPr txBox="1"/>
            <p:nvPr/>
          </p:nvSpPr>
          <p:spPr>
            <a:xfrm>
              <a:off x="8751806" y="37357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080277" y="3735705"/>
            <a:ext cx="184596" cy="410718"/>
            <a:chOff x="9080277" y="3735705"/>
            <a:chExt cx="184596" cy="410718"/>
          </a:xfrm>
        </p:grpSpPr>
        <p:sp>
          <p:nvSpPr>
            <p:cNvPr id="97" name="TextBox 97"/>
            <p:cNvSpPr txBox="1"/>
            <p:nvPr/>
          </p:nvSpPr>
          <p:spPr>
            <a:xfrm>
              <a:off x="908027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441231" y="3735705"/>
            <a:ext cx="110387" cy="410718"/>
            <a:chOff x="9441231" y="3735705"/>
            <a:chExt cx="110387" cy="410718"/>
          </a:xfrm>
        </p:grpSpPr>
        <p:sp>
          <p:nvSpPr>
            <p:cNvPr id="99" name="TextBox 99"/>
            <p:cNvSpPr txBox="1"/>
            <p:nvPr/>
          </p:nvSpPr>
          <p:spPr>
            <a:xfrm>
              <a:off x="944123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765081" y="3735705"/>
            <a:ext cx="110387" cy="410718"/>
            <a:chOff x="9765081" y="3735705"/>
            <a:chExt cx="110387" cy="410718"/>
          </a:xfrm>
        </p:grpSpPr>
        <p:sp>
          <p:nvSpPr>
            <p:cNvPr id="101" name="TextBox 101"/>
            <p:cNvSpPr txBox="1"/>
            <p:nvPr/>
          </p:nvSpPr>
          <p:spPr>
            <a:xfrm>
              <a:off x="976508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0051827" y="3735705"/>
            <a:ext cx="184596" cy="410718"/>
            <a:chOff x="10051827" y="3735705"/>
            <a:chExt cx="184596" cy="410718"/>
          </a:xfrm>
        </p:grpSpPr>
        <p:sp>
          <p:nvSpPr>
            <p:cNvPr id="103" name="TextBox 103"/>
            <p:cNvSpPr txBox="1"/>
            <p:nvPr/>
          </p:nvSpPr>
          <p:spPr>
            <a:xfrm>
              <a:off x="1005182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8720442" y="4192905"/>
            <a:ext cx="256565" cy="410718"/>
            <a:chOff x="8720442" y="4192905"/>
            <a:chExt cx="256565" cy="410718"/>
          </a:xfrm>
        </p:grpSpPr>
        <p:sp>
          <p:nvSpPr>
            <p:cNvPr id="105" name="TextBox 105"/>
            <p:cNvSpPr txBox="1"/>
            <p:nvPr/>
          </p:nvSpPr>
          <p:spPr>
            <a:xfrm>
              <a:off x="8720442" y="4192905"/>
              <a:ext cx="2565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9080277" y="4192905"/>
            <a:ext cx="184596" cy="410718"/>
            <a:chOff x="9080277" y="4192905"/>
            <a:chExt cx="184596" cy="410718"/>
          </a:xfrm>
        </p:grpSpPr>
        <p:sp>
          <p:nvSpPr>
            <p:cNvPr id="107" name="TextBox 107"/>
            <p:cNvSpPr txBox="1"/>
            <p:nvPr/>
          </p:nvSpPr>
          <p:spPr>
            <a:xfrm>
              <a:off x="908027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404127" y="4192905"/>
            <a:ext cx="184596" cy="410718"/>
            <a:chOff x="9404127" y="4192905"/>
            <a:chExt cx="184596" cy="410718"/>
          </a:xfrm>
        </p:grpSpPr>
        <p:sp>
          <p:nvSpPr>
            <p:cNvPr id="109" name="TextBox 109"/>
            <p:cNvSpPr txBox="1"/>
            <p:nvPr/>
          </p:nvSpPr>
          <p:spPr>
            <a:xfrm>
              <a:off x="94041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9765081" y="4192905"/>
            <a:ext cx="110387" cy="410718"/>
            <a:chOff x="9765081" y="4192905"/>
            <a:chExt cx="110387" cy="410718"/>
          </a:xfrm>
        </p:grpSpPr>
        <p:sp>
          <p:nvSpPr>
            <p:cNvPr id="111" name="TextBox 111"/>
            <p:cNvSpPr txBox="1"/>
            <p:nvPr/>
          </p:nvSpPr>
          <p:spPr>
            <a:xfrm>
              <a:off x="9765081" y="41929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0051827" y="4192905"/>
            <a:ext cx="184596" cy="410718"/>
            <a:chOff x="10051827" y="4192905"/>
            <a:chExt cx="184596" cy="410718"/>
          </a:xfrm>
        </p:grpSpPr>
        <p:sp>
          <p:nvSpPr>
            <p:cNvPr id="113" name="TextBox 113"/>
            <p:cNvSpPr txBox="1"/>
            <p:nvPr/>
          </p:nvSpPr>
          <p:spPr>
            <a:xfrm>
              <a:off x="100518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2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7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8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9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1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3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5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7" presetID="1" presetClass="exit" presetSubtype="0" fill="hold" grpId="0" nodeType="withEffect" restart="always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9" presetID="1" presetClass="entr" presetSubtype="0" fill="hold" grpId="0" nodeType="withEffect" restart="always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8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0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2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4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6" presetID="1" presetClass="exit" presetSubtype="0" fill="hold" grpId="0" nodeType="withEffect" restart="always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8" presetID="1" presetClass="entr" presetSubtype="0" fill="hold" grpId="0" nodeType="withEffect" restart="always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7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9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1" presetID="1" presetClass="exit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3" presetID="1" presetClass="entr" presetSubtype="0" fill="hold" grpId="0" nodeType="with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4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6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8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0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2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4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6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8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0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2" presetID="1" presetClass="entr" presetSubtype="0" fill="hold" grpId="0" nodeType="with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4" presetID="1" presetClass="exit" presetSubtype="0" fill="hold" grpId="0" nodeType="withEffect" restart="always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6" presetID="1" presetClass="entr" presetSubtype="0" fill="hold" grpId="0" nodeType="withEffect" restart="always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cout &lt;&lt; "静夜思" &lt;&lt; endl;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"床前明月光，" &lt;&lt; endl;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"疑是地上霜。" &lt;&lt; endl;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"举头望明月，" &lt;&lt; endl;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"低头思故乡。" &lt;&lt; endl;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l　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O　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;　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*　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; , ( ) " 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符号要用英文并成对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中文符号 ≠ 英文符号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中文：； ， （ ） “ 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英文：; , ( ) " 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写代码前先切换到英文输入法。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括号与引号要配成一对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( )　{ }　" 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引号里面还要显示引号时：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 said \"Hi\"";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从左到右数一数：每个“开门”都有“关门”。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关键单词别写错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电脑逐字符辨认，字母和数字不能“长得像就算对”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mian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i0stream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printf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end1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mian → main　　i0stream → iostream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 → printf　　end1 → endl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检查方法：对照模板，从第一个字符读到最后一个字符。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3+5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3 + 5;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43544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图案工坊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选一个图案，看星号和符号怎样搭积木！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0275" y="1633061"/>
              <a:ext cx="2606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499" y="1639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五星连珠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16" name="Rectangle 16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5242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914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68699" y="1639729"/>
              <a:ext cx="7317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❤️ 爱心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21" name="Rectangle 21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2674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6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118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智慧树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26" name="Rectangle 26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EAF8EC"/>
            </a:solidFill>
            <a:ln w="19050">
              <a:solidFill>
                <a:srgbClr val="A7E2B0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010650" y="152400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44578" y="1623536"/>
              <a:ext cx="1512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550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小房子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31" name="Rectangle 3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33" name="Rectangle 33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37" name="Rectangle 37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9" name="Rectangle 3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5800" y="3048000"/>
              <a:ext cx="6210300" cy="2895600"/>
            </a:xfrm>
            <a:prstGeom prst="roundRect">
              <a:avLst>
                <a:gd name="adj" fmla="val 7237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8685" y="3193256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8685" y="3459956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685" y="372665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9150" y="3943350"/>
              <a:ext cx="5905500" cy="14287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685" y="546020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8685" y="57269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7423" y="6034564"/>
              <a:ext cx="273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每一行 cout，都是一块图案积木 ✨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5" name="TextBox 55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23366" y="4058602"/>
            <a:ext cx="1992056" cy="1253109"/>
            <a:chOff x="1023366" y="4058602"/>
            <a:chExt cx="1992056" cy="1253109"/>
          </a:xfrm>
        </p:grpSpPr>
        <p:sp>
          <p:nvSpPr>
            <p:cNvPr id="57" name="TextBox 57"/>
            <p:cNvSpPr txBox="1"/>
            <p:nvPr/>
          </p:nvSpPr>
          <p:spPr>
            <a:xfrm>
              <a:off x="1023366" y="40586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3366" y="4268152"/>
              <a:ext cx="1665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3366" y="4477702"/>
              <a:ext cx="18287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3366" y="4687252"/>
              <a:ext cx="1992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*******" &lt;&lt; endl;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3366" y="48968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3366" y="510635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23747" y="3990499"/>
            <a:ext cx="2046209" cy="1390840"/>
            <a:chOff x="1023747" y="3990499"/>
            <a:chExt cx="2046209" cy="1390840"/>
          </a:xfrm>
        </p:grpSpPr>
        <p:sp>
          <p:nvSpPr>
            <p:cNvPr id="64" name="TextBox 64"/>
            <p:cNvSpPr txBox="1"/>
            <p:nvPr/>
          </p:nvSpPr>
          <p:spPr>
            <a:xfrm>
              <a:off x="1023747" y="3990499"/>
              <a:ext cx="16721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 **" &lt;&lt; endl;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3747" y="419052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 ****" &lt;&lt; endl;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3747" y="4390549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"**********" &lt;&lt; endl;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23747" y="459057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********" &lt;&lt; endl;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3747" y="4790599"/>
              <a:ext cx="17068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3747" y="4990624"/>
              <a:ext cx="15544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3747" y="5190649"/>
              <a:ext cx="14020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23747" y="3990499"/>
            <a:ext cx="1893832" cy="1390840"/>
            <a:chOff x="1023747" y="3990499"/>
            <a:chExt cx="1893832" cy="1390840"/>
          </a:xfrm>
        </p:grpSpPr>
        <p:sp>
          <p:nvSpPr>
            <p:cNvPr id="72" name="TextBox 72"/>
            <p:cNvSpPr txBox="1"/>
            <p:nvPr/>
          </p:nvSpPr>
          <p:spPr>
            <a:xfrm>
              <a:off x="1023747" y="3990499"/>
              <a:ext cx="15544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 /\\" &lt;&lt; endl;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23747" y="4190524"/>
              <a:ext cx="15960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 / \\" &lt;&lt; endl;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3747" y="4390549"/>
              <a:ext cx="15960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 / \\" &lt;&lt; endl;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23747" y="4590574"/>
              <a:ext cx="1893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"+------+" &lt;&lt; endl;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3747" y="4790599"/>
              <a:ext cx="14089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"| |" &lt;&lt; endl;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23747" y="4990624"/>
              <a:ext cx="16444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"| 0 0 |" &lt;&lt; endl;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23747" y="5190649"/>
              <a:ext cx="1893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"+------+" &lt;&lt; endl;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0" name="Rectangle 8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3" name="Rectangle 83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6" name="Rectangle 86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9" name="Rectangle 89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92" name="Rectangle 92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95" name="Rectangle 95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4" name="TextBox 10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6" name="TextBox 106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108" name="TextBox 108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绘制中...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110" name="TextBox 110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图案完成啦！！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155147" y="3828098"/>
            <a:ext cx="777807" cy="381381"/>
            <a:chOff x="9155147" y="3828098"/>
            <a:chExt cx="777807" cy="381381"/>
          </a:xfrm>
        </p:grpSpPr>
        <p:sp>
          <p:nvSpPr>
            <p:cNvPr id="112" name="TextBox 112"/>
            <p:cNvSpPr txBox="1"/>
            <p:nvPr/>
          </p:nvSpPr>
          <p:spPr>
            <a:xfrm>
              <a:off x="9155147" y="3828098"/>
              <a:ext cx="7778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474632" y="3601879"/>
            <a:ext cx="138836" cy="308039"/>
            <a:chOff x="9474632" y="3601879"/>
            <a:chExt cx="138836" cy="308039"/>
          </a:xfrm>
        </p:grpSpPr>
        <p:sp>
          <p:nvSpPr>
            <p:cNvPr id="114" name="TextBox 114"/>
            <p:cNvSpPr txBox="1"/>
            <p:nvPr/>
          </p:nvSpPr>
          <p:spPr>
            <a:xfrm>
              <a:off x="9474632" y="3601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351798" y="3830479"/>
            <a:ext cx="384504" cy="308039"/>
            <a:chOff x="9351798" y="3830479"/>
            <a:chExt cx="384504" cy="308039"/>
          </a:xfrm>
        </p:grpSpPr>
        <p:sp>
          <p:nvSpPr>
            <p:cNvPr id="116" name="TextBox 116"/>
            <p:cNvSpPr txBox="1"/>
            <p:nvPr/>
          </p:nvSpPr>
          <p:spPr>
            <a:xfrm>
              <a:off x="9351798" y="3830479"/>
              <a:ext cx="3845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228964" y="4059079"/>
            <a:ext cx="630172" cy="308039"/>
            <a:chOff x="9228964" y="4059079"/>
            <a:chExt cx="630172" cy="308039"/>
          </a:xfrm>
        </p:grpSpPr>
        <p:sp>
          <p:nvSpPr>
            <p:cNvPr id="118" name="TextBox 118"/>
            <p:cNvSpPr txBox="1"/>
            <p:nvPr/>
          </p:nvSpPr>
          <p:spPr>
            <a:xfrm>
              <a:off x="9228964" y="4059079"/>
              <a:ext cx="6301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106130" y="4287679"/>
            <a:ext cx="875840" cy="308039"/>
            <a:chOff x="9106130" y="4287679"/>
            <a:chExt cx="875840" cy="308039"/>
          </a:xfrm>
        </p:grpSpPr>
        <p:sp>
          <p:nvSpPr>
            <p:cNvPr id="120" name="TextBox 120"/>
            <p:cNvSpPr txBox="1"/>
            <p:nvPr/>
          </p:nvSpPr>
          <p:spPr>
            <a:xfrm>
              <a:off x="9106130" y="4287679"/>
              <a:ext cx="8758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474632" y="4516279"/>
            <a:ext cx="138836" cy="308039"/>
            <a:chOff x="9474632" y="4516279"/>
            <a:chExt cx="138836" cy="308039"/>
          </a:xfrm>
        </p:grpSpPr>
        <p:sp>
          <p:nvSpPr>
            <p:cNvPr id="122" name="TextBox 122"/>
            <p:cNvSpPr txBox="1"/>
            <p:nvPr/>
          </p:nvSpPr>
          <p:spPr>
            <a:xfrm>
              <a:off x="9474632" y="45162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9474632" y="4744879"/>
            <a:ext cx="138836" cy="308039"/>
            <a:chOff x="9474632" y="4744879"/>
            <a:chExt cx="138836" cy="308039"/>
          </a:xfrm>
        </p:grpSpPr>
        <p:sp>
          <p:nvSpPr>
            <p:cNvPr id="124" name="TextBox 124"/>
            <p:cNvSpPr txBox="1"/>
            <p:nvPr/>
          </p:nvSpPr>
          <p:spPr>
            <a:xfrm>
              <a:off x="9474632" y="4744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9271397" y="3609975"/>
            <a:ext cx="545306" cy="293370"/>
            <a:chOff x="9271397" y="3609975"/>
            <a:chExt cx="545306" cy="293370"/>
          </a:xfrm>
        </p:grpSpPr>
        <p:sp>
          <p:nvSpPr>
            <p:cNvPr id="126" name="TextBox 126"/>
            <p:cNvSpPr txBox="1"/>
            <p:nvPr/>
          </p:nvSpPr>
          <p:spPr>
            <a:xfrm>
              <a:off x="9271397" y="3609975"/>
              <a:ext cx="5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 **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038168" y="3838575"/>
            <a:ext cx="1011765" cy="293370"/>
            <a:chOff x="9038168" y="3838575"/>
            <a:chExt cx="1011765" cy="293370"/>
          </a:xfrm>
        </p:grpSpPr>
        <p:sp>
          <p:nvSpPr>
            <p:cNvPr id="128" name="TextBox 128"/>
            <p:cNvSpPr txBox="1"/>
            <p:nvPr/>
          </p:nvSpPr>
          <p:spPr>
            <a:xfrm>
              <a:off x="9038168" y="38385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 ****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953357" y="4067175"/>
            <a:ext cx="1181386" cy="293370"/>
            <a:chOff x="8953357" y="4067175"/>
            <a:chExt cx="1181386" cy="293370"/>
          </a:xfrm>
        </p:grpSpPr>
        <p:sp>
          <p:nvSpPr>
            <p:cNvPr id="130" name="TextBox 130"/>
            <p:cNvSpPr txBox="1"/>
            <p:nvPr/>
          </p:nvSpPr>
          <p:spPr>
            <a:xfrm>
              <a:off x="8953357" y="40671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**********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069972" y="4295775"/>
            <a:ext cx="948157" cy="293370"/>
            <a:chOff x="9069972" y="4295775"/>
            <a:chExt cx="948157" cy="293370"/>
          </a:xfrm>
        </p:grpSpPr>
        <p:sp>
          <p:nvSpPr>
            <p:cNvPr id="132" name="TextBox 132"/>
            <p:cNvSpPr txBox="1"/>
            <p:nvPr/>
          </p:nvSpPr>
          <p:spPr>
            <a:xfrm>
              <a:off x="9069972" y="4295775"/>
              <a:ext cx="9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********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244894" y="4524375"/>
            <a:ext cx="598313" cy="293370"/>
            <a:chOff x="9244894" y="4524375"/>
            <a:chExt cx="598313" cy="293370"/>
          </a:xfrm>
        </p:grpSpPr>
        <p:sp>
          <p:nvSpPr>
            <p:cNvPr id="134" name="TextBox 134"/>
            <p:cNvSpPr txBox="1"/>
            <p:nvPr/>
          </p:nvSpPr>
          <p:spPr>
            <a:xfrm>
              <a:off x="9244894" y="452437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361508" y="4752975"/>
            <a:ext cx="365084" cy="293370"/>
            <a:chOff x="9361508" y="4752975"/>
            <a:chExt cx="365084" cy="293370"/>
          </a:xfrm>
        </p:grpSpPr>
        <p:sp>
          <p:nvSpPr>
            <p:cNvPr id="136" name="TextBox 136"/>
            <p:cNvSpPr txBox="1"/>
            <p:nvPr/>
          </p:nvSpPr>
          <p:spPr>
            <a:xfrm>
              <a:off x="9361508" y="475297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478123" y="4981575"/>
            <a:ext cx="131855" cy="293370"/>
            <a:chOff x="9478123" y="4981575"/>
            <a:chExt cx="131855" cy="293370"/>
          </a:xfrm>
        </p:grpSpPr>
        <p:sp>
          <p:nvSpPr>
            <p:cNvPr id="138" name="TextBox 138"/>
            <p:cNvSpPr txBox="1"/>
            <p:nvPr/>
          </p:nvSpPr>
          <p:spPr>
            <a:xfrm>
              <a:off x="9478123" y="4981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9419815" y="3609975"/>
            <a:ext cx="248469" cy="293370"/>
            <a:chOff x="9419815" y="3609975"/>
            <a:chExt cx="248469" cy="293370"/>
          </a:xfrm>
        </p:grpSpPr>
        <p:sp>
          <p:nvSpPr>
            <p:cNvPr id="140" name="TextBox 140"/>
            <p:cNvSpPr txBox="1"/>
            <p:nvPr/>
          </p:nvSpPr>
          <p:spPr>
            <a:xfrm>
              <a:off x="9419815" y="36099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/\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9388011" y="3838575"/>
            <a:ext cx="312077" cy="293370"/>
            <a:chOff x="9388011" y="3838575"/>
            <a:chExt cx="312077" cy="293370"/>
          </a:xfrm>
        </p:grpSpPr>
        <p:sp>
          <p:nvSpPr>
            <p:cNvPr id="142" name="TextBox 142"/>
            <p:cNvSpPr txBox="1"/>
            <p:nvPr/>
          </p:nvSpPr>
          <p:spPr>
            <a:xfrm>
              <a:off x="9388011" y="3838575"/>
              <a:ext cx="312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/ \</a:t>
              </a: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9388011" y="4067175"/>
            <a:ext cx="312077" cy="293370"/>
            <a:chOff x="9388011" y="4067175"/>
            <a:chExt cx="312077" cy="293370"/>
          </a:xfrm>
        </p:grpSpPr>
        <p:sp>
          <p:nvSpPr>
            <p:cNvPr id="144" name="TextBox 144"/>
            <p:cNvSpPr txBox="1"/>
            <p:nvPr/>
          </p:nvSpPr>
          <p:spPr>
            <a:xfrm>
              <a:off x="9388011" y="4067175"/>
              <a:ext cx="312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/ \</a:t>
              </a: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9069972" y="4295775"/>
            <a:ext cx="948157" cy="293370"/>
            <a:chOff x="9069972" y="4295775"/>
            <a:chExt cx="948157" cy="293370"/>
          </a:xfrm>
        </p:grpSpPr>
        <p:sp>
          <p:nvSpPr>
            <p:cNvPr id="146" name="TextBox 146"/>
            <p:cNvSpPr txBox="1"/>
            <p:nvPr/>
          </p:nvSpPr>
          <p:spPr>
            <a:xfrm>
              <a:off x="9069972" y="4295775"/>
              <a:ext cx="9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+------+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9441018" y="4524375"/>
            <a:ext cx="206064" cy="293370"/>
            <a:chOff x="9441018" y="4524375"/>
            <a:chExt cx="206064" cy="293370"/>
          </a:xfrm>
        </p:grpSpPr>
        <p:sp>
          <p:nvSpPr>
            <p:cNvPr id="148" name="TextBox 148"/>
            <p:cNvSpPr txBox="1"/>
            <p:nvPr/>
          </p:nvSpPr>
          <p:spPr>
            <a:xfrm>
              <a:off x="9441018" y="4524375"/>
              <a:ext cx="2060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| |</a:t>
              </a: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9260796" y="4752975"/>
            <a:ext cx="566509" cy="293370"/>
            <a:chOff x="9260796" y="4752975"/>
            <a:chExt cx="566509" cy="293370"/>
          </a:xfrm>
        </p:grpSpPr>
        <p:sp>
          <p:nvSpPr>
            <p:cNvPr id="150" name="TextBox 150"/>
            <p:cNvSpPr txBox="1"/>
            <p:nvPr/>
          </p:nvSpPr>
          <p:spPr>
            <a:xfrm>
              <a:off x="9260796" y="4752975"/>
              <a:ext cx="5665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| 0 0 |</a:t>
              </a:r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9069972" y="4981575"/>
            <a:ext cx="948157" cy="293370"/>
            <a:chOff x="9069972" y="4981575"/>
            <a:chExt cx="948157" cy="293370"/>
          </a:xfrm>
        </p:grpSpPr>
        <p:sp>
          <p:nvSpPr>
            <p:cNvPr id="152" name="TextBox 152"/>
            <p:cNvSpPr txBox="1"/>
            <p:nvPr/>
          </p:nvSpPr>
          <p:spPr>
            <a:xfrm>
              <a:off x="9069972" y="4981575"/>
              <a:ext cx="9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+------+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8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0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8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7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4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6" presetID="1" presetClass="exit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8" presetID="1" presetClass="entr" presetSubtype="0" fill="hold" grpId="0" nodeType="with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1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3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5" presetID="1" presetClass="exit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7" presetID="1" presetClass="entr" presetSubtype="0" fill="hold" grpId="0" nodeType="with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569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0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2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4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6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8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0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2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4" presetID="1" presetClass="exit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6" presetID="1" presetClass="entr" presetSubtype="0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9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1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3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5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7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9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1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3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5" presetID="1" presetClass="exit" presetSubtype="0" fill="hold" grpId="0" nodeType="withEffect" restart="always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7" presetID="1" presetClass="entr" presetSubtype="0" fill="hold" grpId="0" nodeType="with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709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0" fill="hold">
                      <p:stCondLst>
                        <p:cond delay="0"/>
                      </p:stCondLst>
                      <p:childTnLst>
                        <p:par>
                          <p:cTn id="71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0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2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4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6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8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0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2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4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6" presetID="1" presetClass="exit" presetSubtype="0" fill="hold" grpId="0" nodeType="withEffect" restart="always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8" presetID="1" presetClass="entr" presetSubtype="0" fill="hold" grpId="0" nodeType="with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7 - 2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7 - 2;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(8 + 3) *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 + 2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 *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 *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1234 * 5678 =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7006652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"1234 * 5678 = " &lt;&lt; 1234 * 5678 &lt;&lt; endl;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43544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图案工坊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选一个图案，看星号和符号怎样搭积木！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0275" y="1633061"/>
              <a:ext cx="2606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499" y="1639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五星连珠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16" name="Rectangle 16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5242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914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68699" y="1639729"/>
              <a:ext cx="7317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❤️ 爱心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21" name="Rectangle 21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2674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6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118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智慧树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26" name="Rectangle 26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EAF8EC"/>
            </a:solidFill>
            <a:ln w="19050">
              <a:solidFill>
                <a:srgbClr val="A7E2B0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010650" y="152400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44578" y="1623536"/>
              <a:ext cx="1512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550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小房子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31" name="Rectangle 3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33" name="Rectangle 33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37" name="Rectangle 37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9" name="Rectangle 3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5800" y="3048000"/>
              <a:ext cx="6210300" cy="2895600"/>
            </a:xfrm>
            <a:prstGeom prst="roundRect">
              <a:avLst>
                <a:gd name="adj" fmla="val 7237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8685" y="3193256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8685" y="3459956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685" y="372665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9150" y="3943350"/>
              <a:ext cx="5905500" cy="14287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685" y="546020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8685" y="57269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7423" y="6034564"/>
              <a:ext cx="273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每一行 cout，都是一块图案积木 ✨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5" name="TextBox 55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23366" y="4058602"/>
            <a:ext cx="1992056" cy="1253109"/>
            <a:chOff x="1023366" y="4058602"/>
            <a:chExt cx="1992056" cy="1253109"/>
          </a:xfrm>
        </p:grpSpPr>
        <p:sp>
          <p:nvSpPr>
            <p:cNvPr id="57" name="TextBox 57"/>
            <p:cNvSpPr txBox="1"/>
            <p:nvPr/>
          </p:nvSpPr>
          <p:spPr>
            <a:xfrm>
              <a:off x="1023366" y="40586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3366" y="4268152"/>
              <a:ext cx="1665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3366" y="4477702"/>
              <a:ext cx="18287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3366" y="4687252"/>
              <a:ext cx="1992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*******" &lt;&lt; endl;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3366" y="48968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3366" y="510635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23747" y="3990499"/>
            <a:ext cx="2046209" cy="1390840"/>
            <a:chOff x="1023747" y="3990499"/>
            <a:chExt cx="2046209" cy="1390840"/>
          </a:xfrm>
        </p:grpSpPr>
        <p:sp>
          <p:nvSpPr>
            <p:cNvPr id="64" name="TextBox 64"/>
            <p:cNvSpPr txBox="1"/>
            <p:nvPr/>
          </p:nvSpPr>
          <p:spPr>
            <a:xfrm>
              <a:off x="1023747" y="3990499"/>
              <a:ext cx="16721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 **" &lt;&lt; endl;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3747" y="419052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 ****" &lt;&lt; endl;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3747" y="4390549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"**********" &lt;&lt; endl;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23747" y="459057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********" &lt;&lt; endl;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3747" y="4790599"/>
              <a:ext cx="17068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3747" y="4990624"/>
              <a:ext cx="15544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3747" y="5190649"/>
              <a:ext cx="14020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23747" y="3990499"/>
            <a:ext cx="1893832" cy="1390840"/>
            <a:chOff x="1023747" y="3990499"/>
            <a:chExt cx="1893832" cy="1390840"/>
          </a:xfrm>
        </p:grpSpPr>
        <p:sp>
          <p:nvSpPr>
            <p:cNvPr id="72" name="TextBox 72"/>
            <p:cNvSpPr txBox="1"/>
            <p:nvPr/>
          </p:nvSpPr>
          <p:spPr>
            <a:xfrm>
              <a:off x="1023747" y="3990499"/>
              <a:ext cx="15544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 /\\" &lt;&lt; endl;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23747" y="4190524"/>
              <a:ext cx="15960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 / \\" &lt;&lt; endl;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3747" y="4390549"/>
              <a:ext cx="15960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 / \\" &lt;&lt; endl;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23747" y="4590574"/>
              <a:ext cx="1893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"+------+" &lt;&lt; endl;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3747" y="4790599"/>
              <a:ext cx="14089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"| |" &lt;&lt; endl;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23747" y="4990624"/>
              <a:ext cx="16444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"| 0 0 |" &lt;&lt; endl;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23747" y="5190649"/>
              <a:ext cx="1893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cout &lt;&lt; "+------+" &lt;&lt; endl;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0" name="Rectangle 8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3" name="Rectangle 83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6" name="Rectangle 86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9" name="Rectangle 89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92" name="Rectangle 92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95" name="Rectangle 95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4" name="TextBox 10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6" name="TextBox 106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108" name="TextBox 108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绘制中...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110" name="TextBox 110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图案完成啦！！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155147" y="3828098"/>
            <a:ext cx="777807" cy="381381"/>
            <a:chOff x="9155147" y="3828098"/>
            <a:chExt cx="777807" cy="381381"/>
          </a:xfrm>
        </p:grpSpPr>
        <p:sp>
          <p:nvSpPr>
            <p:cNvPr id="112" name="TextBox 112"/>
            <p:cNvSpPr txBox="1"/>
            <p:nvPr/>
          </p:nvSpPr>
          <p:spPr>
            <a:xfrm>
              <a:off x="9155147" y="3828098"/>
              <a:ext cx="7778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474632" y="3601879"/>
            <a:ext cx="138836" cy="308039"/>
            <a:chOff x="9474632" y="3601879"/>
            <a:chExt cx="138836" cy="308039"/>
          </a:xfrm>
        </p:grpSpPr>
        <p:sp>
          <p:nvSpPr>
            <p:cNvPr id="114" name="TextBox 114"/>
            <p:cNvSpPr txBox="1"/>
            <p:nvPr/>
          </p:nvSpPr>
          <p:spPr>
            <a:xfrm>
              <a:off x="9474632" y="3601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351798" y="3830479"/>
            <a:ext cx="384504" cy="308039"/>
            <a:chOff x="9351798" y="3830479"/>
            <a:chExt cx="384504" cy="308039"/>
          </a:xfrm>
        </p:grpSpPr>
        <p:sp>
          <p:nvSpPr>
            <p:cNvPr id="116" name="TextBox 116"/>
            <p:cNvSpPr txBox="1"/>
            <p:nvPr/>
          </p:nvSpPr>
          <p:spPr>
            <a:xfrm>
              <a:off x="9351798" y="3830479"/>
              <a:ext cx="3845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228964" y="4059079"/>
            <a:ext cx="630172" cy="308039"/>
            <a:chOff x="9228964" y="4059079"/>
            <a:chExt cx="630172" cy="308039"/>
          </a:xfrm>
        </p:grpSpPr>
        <p:sp>
          <p:nvSpPr>
            <p:cNvPr id="118" name="TextBox 118"/>
            <p:cNvSpPr txBox="1"/>
            <p:nvPr/>
          </p:nvSpPr>
          <p:spPr>
            <a:xfrm>
              <a:off x="9228964" y="4059079"/>
              <a:ext cx="6301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106130" y="4287679"/>
            <a:ext cx="875840" cy="308039"/>
            <a:chOff x="9106130" y="4287679"/>
            <a:chExt cx="875840" cy="308039"/>
          </a:xfrm>
        </p:grpSpPr>
        <p:sp>
          <p:nvSpPr>
            <p:cNvPr id="120" name="TextBox 120"/>
            <p:cNvSpPr txBox="1"/>
            <p:nvPr/>
          </p:nvSpPr>
          <p:spPr>
            <a:xfrm>
              <a:off x="9106130" y="4287679"/>
              <a:ext cx="8758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474632" y="4516279"/>
            <a:ext cx="138836" cy="308039"/>
            <a:chOff x="9474632" y="4516279"/>
            <a:chExt cx="138836" cy="308039"/>
          </a:xfrm>
        </p:grpSpPr>
        <p:sp>
          <p:nvSpPr>
            <p:cNvPr id="122" name="TextBox 122"/>
            <p:cNvSpPr txBox="1"/>
            <p:nvPr/>
          </p:nvSpPr>
          <p:spPr>
            <a:xfrm>
              <a:off x="9474632" y="45162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9474632" y="4744879"/>
            <a:ext cx="138836" cy="308039"/>
            <a:chOff x="9474632" y="4744879"/>
            <a:chExt cx="138836" cy="308039"/>
          </a:xfrm>
        </p:grpSpPr>
        <p:sp>
          <p:nvSpPr>
            <p:cNvPr id="124" name="TextBox 124"/>
            <p:cNvSpPr txBox="1"/>
            <p:nvPr/>
          </p:nvSpPr>
          <p:spPr>
            <a:xfrm>
              <a:off x="9474632" y="4744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9271397" y="3609975"/>
            <a:ext cx="545306" cy="293370"/>
            <a:chOff x="9271397" y="3609975"/>
            <a:chExt cx="545306" cy="293370"/>
          </a:xfrm>
        </p:grpSpPr>
        <p:sp>
          <p:nvSpPr>
            <p:cNvPr id="126" name="TextBox 126"/>
            <p:cNvSpPr txBox="1"/>
            <p:nvPr/>
          </p:nvSpPr>
          <p:spPr>
            <a:xfrm>
              <a:off x="9271397" y="3609975"/>
              <a:ext cx="5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 **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038168" y="3838575"/>
            <a:ext cx="1011765" cy="293370"/>
            <a:chOff x="9038168" y="3838575"/>
            <a:chExt cx="1011765" cy="293370"/>
          </a:xfrm>
        </p:grpSpPr>
        <p:sp>
          <p:nvSpPr>
            <p:cNvPr id="128" name="TextBox 128"/>
            <p:cNvSpPr txBox="1"/>
            <p:nvPr/>
          </p:nvSpPr>
          <p:spPr>
            <a:xfrm>
              <a:off x="9038168" y="38385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 ****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953357" y="4067175"/>
            <a:ext cx="1181386" cy="293370"/>
            <a:chOff x="8953357" y="4067175"/>
            <a:chExt cx="1181386" cy="293370"/>
          </a:xfrm>
        </p:grpSpPr>
        <p:sp>
          <p:nvSpPr>
            <p:cNvPr id="130" name="TextBox 130"/>
            <p:cNvSpPr txBox="1"/>
            <p:nvPr/>
          </p:nvSpPr>
          <p:spPr>
            <a:xfrm>
              <a:off x="8953357" y="40671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**********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069972" y="4295775"/>
            <a:ext cx="948157" cy="293370"/>
            <a:chOff x="9069972" y="4295775"/>
            <a:chExt cx="948157" cy="293370"/>
          </a:xfrm>
        </p:grpSpPr>
        <p:sp>
          <p:nvSpPr>
            <p:cNvPr id="132" name="TextBox 132"/>
            <p:cNvSpPr txBox="1"/>
            <p:nvPr/>
          </p:nvSpPr>
          <p:spPr>
            <a:xfrm>
              <a:off x="9069972" y="4295775"/>
              <a:ext cx="9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********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244894" y="4524375"/>
            <a:ext cx="598313" cy="293370"/>
            <a:chOff x="9244894" y="4524375"/>
            <a:chExt cx="598313" cy="293370"/>
          </a:xfrm>
        </p:grpSpPr>
        <p:sp>
          <p:nvSpPr>
            <p:cNvPr id="134" name="TextBox 134"/>
            <p:cNvSpPr txBox="1"/>
            <p:nvPr/>
          </p:nvSpPr>
          <p:spPr>
            <a:xfrm>
              <a:off x="9244894" y="452437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361508" y="4752975"/>
            <a:ext cx="365084" cy="293370"/>
            <a:chOff x="9361508" y="4752975"/>
            <a:chExt cx="365084" cy="293370"/>
          </a:xfrm>
        </p:grpSpPr>
        <p:sp>
          <p:nvSpPr>
            <p:cNvPr id="136" name="TextBox 136"/>
            <p:cNvSpPr txBox="1"/>
            <p:nvPr/>
          </p:nvSpPr>
          <p:spPr>
            <a:xfrm>
              <a:off x="9361508" y="475297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478123" y="4981575"/>
            <a:ext cx="131855" cy="293370"/>
            <a:chOff x="9478123" y="4981575"/>
            <a:chExt cx="131855" cy="293370"/>
          </a:xfrm>
        </p:grpSpPr>
        <p:sp>
          <p:nvSpPr>
            <p:cNvPr id="138" name="TextBox 138"/>
            <p:cNvSpPr txBox="1"/>
            <p:nvPr/>
          </p:nvSpPr>
          <p:spPr>
            <a:xfrm>
              <a:off x="9478123" y="4981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9419815" y="3609975"/>
            <a:ext cx="248469" cy="293370"/>
            <a:chOff x="9419815" y="3609975"/>
            <a:chExt cx="248469" cy="293370"/>
          </a:xfrm>
        </p:grpSpPr>
        <p:sp>
          <p:nvSpPr>
            <p:cNvPr id="140" name="TextBox 140"/>
            <p:cNvSpPr txBox="1"/>
            <p:nvPr/>
          </p:nvSpPr>
          <p:spPr>
            <a:xfrm>
              <a:off x="9419815" y="36099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/\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9388011" y="3838575"/>
            <a:ext cx="312077" cy="293370"/>
            <a:chOff x="9388011" y="3838575"/>
            <a:chExt cx="312077" cy="293370"/>
          </a:xfrm>
        </p:grpSpPr>
        <p:sp>
          <p:nvSpPr>
            <p:cNvPr id="142" name="TextBox 142"/>
            <p:cNvSpPr txBox="1"/>
            <p:nvPr/>
          </p:nvSpPr>
          <p:spPr>
            <a:xfrm>
              <a:off x="9388011" y="3838575"/>
              <a:ext cx="312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/ \</a:t>
              </a: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9388011" y="4067175"/>
            <a:ext cx="312077" cy="293370"/>
            <a:chOff x="9388011" y="4067175"/>
            <a:chExt cx="312077" cy="293370"/>
          </a:xfrm>
        </p:grpSpPr>
        <p:sp>
          <p:nvSpPr>
            <p:cNvPr id="144" name="TextBox 144"/>
            <p:cNvSpPr txBox="1"/>
            <p:nvPr/>
          </p:nvSpPr>
          <p:spPr>
            <a:xfrm>
              <a:off x="9388011" y="4067175"/>
              <a:ext cx="312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/ \</a:t>
              </a: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9069972" y="4295775"/>
            <a:ext cx="948157" cy="293370"/>
            <a:chOff x="9069972" y="4295775"/>
            <a:chExt cx="948157" cy="293370"/>
          </a:xfrm>
        </p:grpSpPr>
        <p:sp>
          <p:nvSpPr>
            <p:cNvPr id="146" name="TextBox 146"/>
            <p:cNvSpPr txBox="1"/>
            <p:nvPr/>
          </p:nvSpPr>
          <p:spPr>
            <a:xfrm>
              <a:off x="9069972" y="4295775"/>
              <a:ext cx="9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+------+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9441018" y="4524375"/>
            <a:ext cx="206064" cy="293370"/>
            <a:chOff x="9441018" y="4524375"/>
            <a:chExt cx="206064" cy="293370"/>
          </a:xfrm>
        </p:grpSpPr>
        <p:sp>
          <p:nvSpPr>
            <p:cNvPr id="148" name="TextBox 148"/>
            <p:cNvSpPr txBox="1"/>
            <p:nvPr/>
          </p:nvSpPr>
          <p:spPr>
            <a:xfrm>
              <a:off x="9441018" y="4524375"/>
              <a:ext cx="2060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| |</a:t>
              </a: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9260796" y="4752975"/>
            <a:ext cx="566509" cy="293370"/>
            <a:chOff x="9260796" y="4752975"/>
            <a:chExt cx="566509" cy="293370"/>
          </a:xfrm>
        </p:grpSpPr>
        <p:sp>
          <p:nvSpPr>
            <p:cNvPr id="150" name="TextBox 150"/>
            <p:cNvSpPr txBox="1"/>
            <p:nvPr/>
          </p:nvSpPr>
          <p:spPr>
            <a:xfrm>
              <a:off x="9260796" y="4752975"/>
              <a:ext cx="5665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| 0 0 |</a:t>
              </a:r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9069972" y="4981575"/>
            <a:ext cx="948157" cy="293370"/>
            <a:chOff x="9069972" y="4981575"/>
            <a:chExt cx="948157" cy="293370"/>
          </a:xfrm>
        </p:grpSpPr>
        <p:sp>
          <p:nvSpPr>
            <p:cNvPr id="152" name="TextBox 152"/>
            <p:cNvSpPr txBox="1"/>
            <p:nvPr/>
          </p:nvSpPr>
          <p:spPr>
            <a:xfrm>
              <a:off x="9069972" y="4981575"/>
              <a:ext cx="9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+------+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8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0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8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7" presetID="1" presetClass="entr" presetSubtype="0" fill="hold" grpId="0" nodeType="withEffect" restart="always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5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4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6" presetID="1" presetClass="exit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8" presetID="1" presetClass="entr" presetSubtype="0" fill="hold" grpId="0" nodeType="with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1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3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5" presetID="1" presetClass="exit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7" presetID="1" presetClass="entr" presetSubtype="0" fill="hold" grpId="0" nodeType="withEffect" restart="always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569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7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0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2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4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6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8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0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2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4" presetID="1" presetClass="exit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6" presetID="1" presetClass="entr" presetSubtype="0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6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9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1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3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5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7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9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1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3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5" presetID="1" presetClass="exit" presetSubtype="0" fill="hold" grpId="0" nodeType="withEffect" restart="always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07" presetID="1" presetClass="entr" presetSubtype="0" fill="hold" grpId="0" nodeType="with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709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0" fill="hold">
                      <p:stCondLst>
                        <p:cond delay="0"/>
                      </p:stCondLst>
                      <p:childTnLst>
                        <p:par>
                          <p:cTn id="71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1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0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2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4" presetID="1" presetClass="entr" presetSubtype="0" fill="hold" grpId="0" nodeType="withEffect" restart="always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6" presetID="1" presetClass="entr" presetSubtype="0" fill="hold" grpId="0" nodeType="withEffect" restart="always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8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0" presetID="1" presetClass="entr" presetSubtype="0" fill="hold" grpId="0" nodeType="withEffect" restart="always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2" presetID="1" presetClass="entr" presetSubtype="0" fill="hold" grpId="0" nodeType="withEffect" restart="always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4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6" presetID="1" presetClass="exit" presetSubtype="0" fill="hold" grpId="0" nodeType="withEffect" restart="always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8" presetID="1" presetClass="entr" presetSubtype="0" fill="hold" grpId="0" nodeType="with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"*******" &lt;&lt; endl;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9126" y="1403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#include &lt;iostream&gt; // 输入输出工具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using namespace std; // 标准库名字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 main() { // 程序入口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"内容"; // 替换这里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return 0; // 正常结束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namespace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std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 → iostream → using → namespace → std → main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2026-08-27T14:02:52Z</dcterms:created>
  <dcterms:modified xsi:type="dcterms:W3CDTF">2026-08-27T14:02:52Z</dcterms:modified>
  <cp:category/>
  <cp:contentStatus/>
</cp:coreProperties>
</file>