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现在先把六行程序完整搭好，再逐块理解。头文件像工具箱，命名空间像标准仓库，main 是正门，cout 像广播喇叭，return 0 像完成印章；这些比喻用于记忆，小字才是技术作用。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cpp。编译像质量检查，出现零个错误、零个警告后，再运行观察屏幕结果。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这是全课反复使用的实验站。每次都按同一顺序操作：选择任务、阅读代码、点击运行、观察结果；现在先猜猜这行星号代码会输出什么。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先不要看答案，哪一行真正把文字送到了屏幕？答案是 C，也就是 cout 那一行；其余几块并不是没用，而是各自负责程序的其他部分。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请孩子按代码顺序说出五块积木。头文件引入输入输出工具，命名空间允许直接使用标准库名字，main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一条输出语句可以拆成四块：cout、两个小于号、双引号里的文字和句末分号。请大家用手指从左到右读一遍，并检查这些符号是不是英文半角。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先看左边三条错误代码，分别找出中文引号、漏分号和 Cout 大写的问题。修复口诀是：英文符号、小写 cout、句末分号。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每条 cout 像画笔的一笔，多条输出就能组合成图案。智慧树中不仅星号重要，星号前面的空格也决定树冠是否对齐。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先读题，再把指定短句完整放进双引号。运行后要逐字核对大小写、空格和感叹号，不能只看大概意思。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百分号放进字符串里，就会被原样输出。请孩子说出这条代码还必须有哪些英文符号：双引号和句末分号。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请先投票，再按固定顺序检查：小写 cout、两个小于号、英文引号、英文分号。正确答案是 C，其他三项各有一个清晰的字符错误。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同一条 cout 可以连续连接多段内容，它们会出现在同一行。中间的空格也要作为字符串明确写出，否则 Hello 和 C++ 会粘在一起。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反斜杠 n 写在字符串里，endl 则接在输出链中，而且没有引号。两种方法都能把光标带到下一行，初学时会用一种即可。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三条 cout 各负责一行，终端也依次增加三行。这个写法最直观，很适合初学者逐条检查内容和换行。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先检查括号和引号是否成对，再检查 main、iostream、printf 和 endl 的拼写。字符串内部要显示双引号时，需要在引号前写反斜杠进行转义。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双引号像透明展示盒，盒子里的三加五被当作字符串字面量。电脑不会计算，只会在终端原样显示三加五。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67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604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586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434203" cy="781050"/>
            <a:chOff x="590550" y="3638550"/>
            <a:chExt cx="5434203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6573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318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1006" y="38919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62200" y="3752850"/>
              <a:ext cx="16573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59080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62656" y="40062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33850" y="3638550"/>
              <a:ext cx="16573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3363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38919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886200" cy="5124450"/>
            <a:chOff x="7410450" y="1123950"/>
            <a:chExt cx="3886200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0" y="1571625"/>
              <a:ext cx="2857500" cy="42862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8385" y="54511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7586" y="520065"/>
            <a:ext cx="2832278" cy="645414"/>
            <a:chOff x="497586" y="520065"/>
            <a:chExt cx="2832278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2006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5" name="Rectangle 5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45158" y="2465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3" name="Rectangle 13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9320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1" name="Rectangle 21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541258" y="3074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5" name="Rectangle 35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457706" y="53873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666750"/>
            <a:ext cx="2857500" cy="2857500"/>
          </a:xfrm>
          <a:prstGeom prst="ellipse">
            <a:avLst/>
          </a:prstGeom>
          <a:solidFill>
            <a:schemeClr val="lt2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1319212"/>
            <a:ext cx="2650007" cy="3029522"/>
            <a:chOff x="571500" y="1319212"/>
            <a:chExt cx="2650007" cy="3029522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23900" y="32261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7" name="Rectangle 7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68442" y="1910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36576" y="29965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04711" y="4082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FFFF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FFFFFF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458200" y="914400"/>
            <a:ext cx="2819400" cy="4638675"/>
            <a:chOff x="8458200" y="914400"/>
            <a:chExt cx="2819400" cy="4638675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0" y="1495425"/>
              <a:ext cx="2705100" cy="405765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3787" y="1203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6095374" cy="1298829"/>
            <a:chOff x="535686" y="381000"/>
            <a:chExt cx="6095374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51946" y="567690"/>
              <a:ext cx="2410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60953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586772" cy="352044"/>
            <a:chOff x="614585" y="5977890"/>
            <a:chExt cx="6586772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2785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11123" y="555308"/>
              <a:ext cx="1532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324100"/>
              <a:ext cx="4667250" cy="2305050"/>
            </a:xfrm>
            <a:prstGeom prst="roundRect">
              <a:avLst>
                <a:gd name="adj" fmla="val 82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87218" y="2679382"/>
              <a:ext cx="2281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// 在这里写 C++ 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87218" y="31365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816047" cy="708279"/>
            <a:chOff x="514350" y="361950"/>
            <a:chExt cx="2816047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" y="1352550"/>
              <a:ext cx="7429500" cy="60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14350" y="1695450"/>
              <a:ext cx="74295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0768" y="15744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　编辑　搜索　运行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86000"/>
              <a:ext cx="6819900" cy="3048000"/>
            </a:xfrm>
            <a:prstGeom prst="roundRect">
              <a:avLst>
                <a:gd name="adj" fmla="val 68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29560" y="35128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空白代码编辑区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87980" y="39938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像一张等待搭积木的代码纸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15049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8080" y="1612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124700" y="24193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61730" y="25269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14400" y="48958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1430" y="50034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20" name="TextBox 20"/>
            <p:cNvSpPr txBox="1"/>
            <p:nvPr/>
          </p:nvSpPr>
          <p:spPr>
            <a:xfrm>
              <a:off x="84109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85274" y="2453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90049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67608" y="4206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30" name="Rectangle 30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60130" y="52197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95400"/>
            <a:ext cx="6191250" cy="4800600"/>
            <a:chOff x="495300" y="1295400"/>
            <a:chExt cx="6191250" cy="48006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6191250" cy="4800600"/>
            </a:xfrm>
            <a:prstGeom prst="roundRect">
              <a:avLst>
                <a:gd name="adj" fmla="val 674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1718" y="20126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25269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1718" y="30413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6518" y="35556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6518" y="4070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18" y="45843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2480" y="53244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完整程序共六行，今天先看整体。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00900" y="1466850"/>
            <a:ext cx="3848100" cy="3943350"/>
            <a:chOff x="7200900" y="1466850"/>
            <a:chExt cx="3848100" cy="3943350"/>
          </a:xfrm>
        </p:grpSpPr>
        <p:sp>
          <p:nvSpPr>
            <p:cNvPr id="19" name="Rectangle 19"/>
            <p:cNvSpPr/>
            <p:nvPr/>
          </p:nvSpPr>
          <p:spPr>
            <a:xfrm>
              <a:off x="7200900" y="1466850"/>
              <a:ext cx="384810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78268" y="17078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9680" y="17240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62850" y="2286000"/>
              <a:ext cx="34861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40218" y="25269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22130" y="2543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24800" y="3105150"/>
              <a:ext cx="312420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02168" y="3346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6498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62850" y="3924300"/>
              <a:ext cx="34861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40218" y="4165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22130" y="41814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200900" y="4743450"/>
              <a:ext cx="384810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78268" y="4984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36380" y="50006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681880" cy="708279"/>
            <a:chOff x="514350" y="361950"/>
            <a:chExt cx="4681880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638300"/>
            <a:ext cx="3143250" cy="2667000"/>
            <a:chOff x="609600" y="1638300"/>
            <a:chExt cx="3143250" cy="2667000"/>
          </a:xfrm>
        </p:grpSpPr>
        <p:sp>
          <p:nvSpPr>
            <p:cNvPr id="6" name="Ellipse 6"/>
            <p:cNvSpPr/>
            <p:nvPr/>
          </p:nvSpPr>
          <p:spPr>
            <a:xfrm>
              <a:off x="1600200" y="163830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70966" y="19888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514600"/>
              <a:ext cx="3143250" cy="1790700"/>
            </a:xfrm>
            <a:prstGeom prst="roundRect">
              <a:avLst>
                <a:gd name="adj" fmla="val 180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05738" y="2769870"/>
              <a:ext cx="15509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69454" y="3329940"/>
              <a:ext cx="18235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455" y="3762375"/>
              <a:ext cx="2415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告诉电脑：这是 C++ 文件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14850" y="1638300"/>
            <a:ext cx="3143250" cy="2667000"/>
            <a:chOff x="4514850" y="1638300"/>
            <a:chExt cx="3143250" cy="2667000"/>
          </a:xfrm>
        </p:grpSpPr>
        <p:sp>
          <p:nvSpPr>
            <p:cNvPr id="13" name="Ellipse 13"/>
            <p:cNvSpPr/>
            <p:nvPr/>
          </p:nvSpPr>
          <p:spPr>
            <a:xfrm>
              <a:off x="5610225" y="163830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0991" y="19888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14850" y="2514600"/>
              <a:ext cx="3143250" cy="1790700"/>
            </a:xfrm>
            <a:prstGeom prst="roundRect">
              <a:avLst>
                <a:gd name="adj" fmla="val 1808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9579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29225" y="3329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像积木质量检查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70170" y="37623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先找拼写与符号问题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20100" y="1638300"/>
            <a:ext cx="3143250" cy="2667000"/>
            <a:chOff x="8420100" y="1638300"/>
            <a:chExt cx="3143250" cy="2667000"/>
          </a:xfrm>
        </p:grpSpPr>
        <p:sp>
          <p:nvSpPr>
            <p:cNvPr id="20" name="Ellipse 20"/>
            <p:cNvSpPr/>
            <p:nvPr/>
          </p:nvSpPr>
          <p:spPr>
            <a:xfrm>
              <a:off x="9515475" y="163830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86241" y="19888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20100" y="2514600"/>
              <a:ext cx="3143250" cy="1790700"/>
            </a:xfrm>
            <a:prstGeom prst="roundRect">
              <a:avLst>
                <a:gd name="adj" fmla="val 1808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0104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55633" y="33299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电脑开始执行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75420" y="37623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看终端是否符合题目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52550" y="5143500"/>
            <a:ext cx="9486900" cy="895350"/>
            <a:chOff x="1352550" y="5143500"/>
            <a:chExt cx="9486900" cy="895350"/>
          </a:xfrm>
        </p:grpSpPr>
        <p:sp>
          <p:nvSpPr>
            <p:cNvPr id="27" name="Rectangle 27"/>
            <p:cNvSpPr/>
            <p:nvPr/>
          </p:nvSpPr>
          <p:spPr>
            <a:xfrm>
              <a:off x="1352550" y="5143500"/>
              <a:ext cx="9486900" cy="895350"/>
            </a:xfrm>
            <a:prstGeom prst="roundRect">
              <a:avLst>
                <a:gd name="adj" fmla="val 297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722592" y="5480014"/>
              <a:ext cx="286425" cy="203271"/>
            </a:xfrm>
            <a:custGeom>
              <a:avLst/>
              <a:gdLst/>
              <a:ahLst/>
              <a:cxnLst/>
              <a:rect l="l" t="t" r="r" b="b"/>
              <a:pathLst>
                <a:path w="286425" h="203271">
                  <a:moveTo>
                    <a:pt x="279918" y="6507"/>
                  </a:moveTo>
                  <a:cubicBezTo>
                    <a:pt x="286425" y="13016"/>
                    <a:pt x="286425" y="23568"/>
                    <a:pt x="279918" y="30077"/>
                  </a:cubicBezTo>
                  <a:lnTo>
                    <a:pt x="113230" y="196764"/>
                  </a:lnTo>
                  <a:cubicBezTo>
                    <a:pt x="106721" y="203271"/>
                    <a:pt x="96170" y="203271"/>
                    <a:pt x="89661" y="196764"/>
                  </a:cubicBezTo>
                  <a:lnTo>
                    <a:pt x="6317" y="113421"/>
                  </a:lnTo>
                  <a:cubicBezTo>
                    <a:pt x="0" y="106880"/>
                    <a:pt x="90" y="96484"/>
                    <a:pt x="6520" y="90054"/>
                  </a:cubicBezTo>
                  <a:cubicBezTo>
                    <a:pt x="12950" y="83624"/>
                    <a:pt x="23346" y="83534"/>
                    <a:pt x="29887" y="89851"/>
                  </a:cubicBezTo>
                  <a:lnTo>
                    <a:pt x="101446" y="161410"/>
                  </a:lnTo>
                  <a:lnTo>
                    <a:pt x="256348" y="6507"/>
                  </a:lnTo>
                  <a:cubicBezTo>
                    <a:pt x="262857" y="0"/>
                    <a:pt x="273409" y="0"/>
                    <a:pt x="279918" y="650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7806" y="5501640"/>
              <a:ext cx="2689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9118" y="55178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检查通过，才能放心运行。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231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38250" y="1428750"/>
            <a:ext cx="9715500" cy="3352800"/>
            <a:chOff x="1238250" y="1428750"/>
            <a:chExt cx="9715500" cy="3352800"/>
          </a:xfrm>
        </p:grpSpPr>
        <p:sp>
          <p:nvSpPr>
            <p:cNvPr id="3" name="Rectangle 3"/>
            <p:cNvSpPr/>
            <p:nvPr/>
          </p:nvSpPr>
          <p:spPr>
            <a:xfrm>
              <a:off x="1238250" y="1428750"/>
              <a:ext cx="9715500" cy="3352800"/>
            </a:xfrm>
            <a:prstGeom prst="roundRect">
              <a:avLst>
                <a:gd name="adj" fmla="val 1136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533525" y="16668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800225" y="16668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066925" y="1666875"/>
              <a:ext cx="171450" cy="1714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54886" y="2444115"/>
              <a:ext cx="265167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771650" y="302895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64030" y="3552825"/>
              <a:ext cx="3434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Process exited with return value 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4030" y="406717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Consolas"/>
                  <a:ea typeface="Microsoft YaHei"/>
                  <a:cs typeface="Consolas"/>
                </a:rPr>
                <a:t>请按任意键继续...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77250" y="2400300"/>
              <a:ext cx="19431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790142" y="2736814"/>
              <a:ext cx="286425" cy="203271"/>
            </a:xfrm>
            <a:custGeom>
              <a:avLst/>
              <a:gdLst/>
              <a:ahLst/>
              <a:cxnLst/>
              <a:rect l="l" t="t" r="r" b="b"/>
              <a:pathLst>
                <a:path w="286425" h="203271">
                  <a:moveTo>
                    <a:pt x="279918" y="6507"/>
                  </a:moveTo>
                  <a:cubicBezTo>
                    <a:pt x="286425" y="13016"/>
                    <a:pt x="286425" y="23568"/>
                    <a:pt x="279918" y="30077"/>
                  </a:cubicBezTo>
                  <a:lnTo>
                    <a:pt x="113230" y="196764"/>
                  </a:lnTo>
                  <a:cubicBezTo>
                    <a:pt x="106721" y="203271"/>
                    <a:pt x="96170" y="203271"/>
                    <a:pt x="89661" y="196764"/>
                  </a:cubicBezTo>
                  <a:lnTo>
                    <a:pt x="6317" y="113421"/>
                  </a:lnTo>
                  <a:cubicBezTo>
                    <a:pt x="0" y="106880"/>
                    <a:pt x="90" y="96484"/>
                    <a:pt x="6520" y="90054"/>
                  </a:cubicBezTo>
                  <a:cubicBezTo>
                    <a:pt x="12950" y="83624"/>
                    <a:pt x="23346" y="83534"/>
                    <a:pt x="29887" y="89851"/>
                  </a:cubicBezTo>
                  <a:lnTo>
                    <a:pt x="101446" y="161410"/>
                  </a:lnTo>
                  <a:lnTo>
                    <a:pt x="256348" y="6507"/>
                  </a:lnTo>
                  <a:cubicBezTo>
                    <a:pt x="262857" y="0"/>
                    <a:pt x="273409" y="0"/>
                    <a:pt x="279918" y="65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68206" y="2758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运行成功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8250" y="5219700"/>
            <a:ext cx="4686300" cy="895350"/>
            <a:chOff x="1238250" y="5219700"/>
            <a:chExt cx="4686300" cy="895350"/>
          </a:xfrm>
        </p:grpSpPr>
        <p:sp>
          <p:nvSpPr>
            <p:cNvPr id="15" name="Rectangle 15"/>
            <p:cNvSpPr/>
            <p:nvPr/>
          </p:nvSpPr>
          <p:spPr>
            <a:xfrm>
              <a:off x="1238250" y="5219700"/>
              <a:ext cx="4686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15618" y="54035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5618" y="57273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就是我们让电脑输出的内容。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67450" y="5219700"/>
            <a:ext cx="4686300" cy="895350"/>
            <a:chOff x="6267450" y="5219700"/>
            <a:chExt cx="4686300" cy="895350"/>
          </a:xfrm>
        </p:grpSpPr>
        <p:sp>
          <p:nvSpPr>
            <p:cNvPr id="19" name="Rectangle 19"/>
            <p:cNvSpPr/>
            <p:nvPr/>
          </p:nvSpPr>
          <p:spPr>
            <a:xfrm>
              <a:off x="6267450" y="5219700"/>
              <a:ext cx="4686300" cy="895350"/>
            </a:xfrm>
            <a:prstGeom prst="roundRect">
              <a:avLst>
                <a:gd name="adj" fmla="val 2766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4818" y="5403532"/>
              <a:ext cx="914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返回值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4818" y="57273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7586" y="438150"/>
            <a:ext cx="5255514" cy="4781550"/>
            <a:chOff x="497586" y="438150"/>
            <a:chExt cx="5255514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44092" y="5962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课堂思考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7586" y="12249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哪一行让电脑说话？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2668" y="2260282"/>
              <a:ext cx="2513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　#include &lt;iostream&gt;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2668" y="3098482"/>
              <a:ext cx="26906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using namespace std;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668" y="3936682"/>
              <a:ext cx="3000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　cout &lt;&lt; "Hello World!";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2668" y="4774882"/>
              <a:ext cx="1416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return 0;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91300" y="1066800"/>
            <a:ext cx="4953000" cy="4400550"/>
            <a:chOff x="6591300" y="1066800"/>
            <a:chExt cx="4953000" cy="440055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400550"/>
            </a:xfrm>
            <a:prstGeom prst="roundRect">
              <a:avLst>
                <a:gd name="adj" fmla="val 865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105650" y="1638300"/>
              <a:ext cx="457200" cy="571500"/>
            </a:xfrm>
            <a:custGeom>
              <a:avLst/>
              <a:gdLst/>
              <a:ahLst/>
              <a:cxnLst/>
              <a:rect l="l" t="t" r="r" b="b"/>
              <a:pathLst>
                <a:path w="457200" h="571500">
                  <a:moveTo>
                    <a:pt x="371475" y="0"/>
                  </a:moveTo>
                  <a:cubicBezTo>
                    <a:pt x="418820" y="0"/>
                    <a:pt x="457200" y="38380"/>
                    <a:pt x="457200" y="85725"/>
                  </a:cubicBezTo>
                  <a:lnTo>
                    <a:pt x="457200" y="485775"/>
                  </a:lnTo>
                  <a:cubicBezTo>
                    <a:pt x="457200" y="533120"/>
                    <a:pt x="418820" y="571500"/>
                    <a:pt x="371475" y="571500"/>
                  </a:cubicBezTo>
                  <a:lnTo>
                    <a:pt x="85725" y="571500"/>
                  </a:lnTo>
                  <a:cubicBezTo>
                    <a:pt x="38380" y="571500"/>
                    <a:pt x="0" y="533120"/>
                    <a:pt x="0" y="48577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  <a:moveTo>
                    <a:pt x="228600" y="257175"/>
                  </a:moveTo>
                  <a:cubicBezTo>
                    <a:pt x="167695" y="257175"/>
                    <a:pt x="117488" y="304931"/>
                    <a:pt x="114443" y="365760"/>
                  </a:cubicBezTo>
                  <a:lnTo>
                    <a:pt x="114300" y="371475"/>
                  </a:lnTo>
                  <a:cubicBezTo>
                    <a:pt x="114300" y="434601"/>
                    <a:pt x="165474" y="485775"/>
                    <a:pt x="228600" y="485775"/>
                  </a:cubicBezTo>
                  <a:cubicBezTo>
                    <a:pt x="291726" y="485775"/>
                    <a:pt x="342900" y="434601"/>
                    <a:pt x="342900" y="371475"/>
                  </a:cubicBezTo>
                  <a:cubicBezTo>
                    <a:pt x="342900" y="308349"/>
                    <a:pt x="291726" y="257175"/>
                    <a:pt x="228600" y="257175"/>
                  </a:cubicBezTo>
                  <a:moveTo>
                    <a:pt x="228600" y="114300"/>
                  </a:moveTo>
                  <a:cubicBezTo>
                    <a:pt x="212818" y="114300"/>
                    <a:pt x="200025" y="127093"/>
                    <a:pt x="200025" y="142875"/>
                  </a:cubicBezTo>
                  <a:lnTo>
                    <a:pt x="200025" y="143161"/>
                  </a:lnTo>
                  <a:cubicBezTo>
                    <a:pt x="200025" y="158942"/>
                    <a:pt x="212818" y="171736"/>
                    <a:pt x="228600" y="171736"/>
                  </a:cubicBezTo>
                  <a:cubicBezTo>
                    <a:pt x="244382" y="171736"/>
                    <a:pt x="257175" y="158942"/>
                    <a:pt x="257175" y="143161"/>
                  </a:cubicBezTo>
                  <a:lnTo>
                    <a:pt x="257175" y="142875"/>
                  </a:lnTo>
                  <a:cubicBezTo>
                    <a:pt x="257175" y="127093"/>
                    <a:pt x="244382" y="114300"/>
                    <a:pt x="228600" y="11430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41170"/>
              <a:ext cx="12968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80682" y="25546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0406" y="25869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把信息送到屏幕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10515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4604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其他几块也有作用：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3730" y="3895725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工具箱 · 标准仓库 · 正门 · 完成印章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584382"/>
              <a:ext cx="3398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先认出 cout，再理解完整程序。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五块积木，搭成一个程序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34500" y="400050"/>
              <a:ext cx="22860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98170" y="5876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17" name="Rectangle 17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5706" y="153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21" name="Rectangle 21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706" y="2796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25" name="Rectangle 25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5706" y="4053840"/>
              <a:ext cx="11505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29" name="Rectangle 29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53956" y="2167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56242" y="255936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是标准输出对象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33" name="Rectangle 33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53956" y="3882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586" y="481965"/>
            <a:ext cx="399842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cout 输出一段文字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00100" y="1524000"/>
            <a:ext cx="10591800" cy="1619250"/>
            <a:chOff x="800100" y="1524000"/>
            <a:chExt cx="10591800" cy="1619250"/>
          </a:xfrm>
        </p:grpSpPr>
        <p:sp>
          <p:nvSpPr>
            <p:cNvPr id="3" name="Rectangle 3"/>
            <p:cNvSpPr/>
            <p:nvPr/>
          </p:nvSpPr>
          <p:spPr>
            <a:xfrm>
              <a:off x="800100" y="1524000"/>
              <a:ext cx="10591800" cy="1619250"/>
            </a:xfrm>
            <a:prstGeom prst="roundRect">
              <a:avLst>
                <a:gd name="adj" fmla="val 223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66800" y="1771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314450" y="1771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562100" y="1771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47011" y="2280285"/>
              <a:ext cx="429797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0100" y="3638550"/>
            <a:ext cx="2247900" cy="1466850"/>
            <a:chOff x="800100" y="3638550"/>
            <a:chExt cx="2247900" cy="1466850"/>
          </a:xfrm>
        </p:grpSpPr>
        <p:sp>
          <p:nvSpPr>
            <p:cNvPr id="9" name="Rectangle 9"/>
            <p:cNvSpPr/>
            <p:nvPr/>
          </p:nvSpPr>
          <p:spPr>
            <a:xfrm>
              <a:off x="800100" y="36385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38691" y="3912870"/>
              <a:ext cx="7707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1422" y="4508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输出对象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81400" y="3638550"/>
            <a:ext cx="2247900" cy="1466850"/>
            <a:chOff x="3581400" y="3638550"/>
            <a:chExt cx="2247900" cy="1466850"/>
          </a:xfrm>
        </p:grpSpPr>
        <p:sp>
          <p:nvSpPr>
            <p:cNvPr id="13" name="Rectangle 13"/>
            <p:cNvSpPr/>
            <p:nvPr/>
          </p:nvSpPr>
          <p:spPr>
            <a:xfrm>
              <a:off x="3581400" y="36385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06575" y="39128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&lt;&lt;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2722" y="4508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送入方向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62700" y="3638550"/>
            <a:ext cx="2247900" cy="1466850"/>
            <a:chOff x="6362700" y="3638550"/>
            <a:chExt cx="2247900" cy="1466850"/>
          </a:xfrm>
        </p:grpSpPr>
        <p:sp>
          <p:nvSpPr>
            <p:cNvPr id="17" name="Rectangle 17"/>
            <p:cNvSpPr/>
            <p:nvPr/>
          </p:nvSpPr>
          <p:spPr>
            <a:xfrm>
              <a:off x="6362700" y="36385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9511" y="3961448"/>
              <a:ext cx="8742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"文字"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2961" y="45081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英文双引号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0" y="3638550"/>
            <a:ext cx="2247900" cy="1466850"/>
            <a:chOff x="9144000" y="3638550"/>
            <a:chExt cx="2247900" cy="1466850"/>
          </a:xfrm>
        </p:grpSpPr>
        <p:sp>
          <p:nvSpPr>
            <p:cNvPr id="21" name="Rectangle 21"/>
            <p:cNvSpPr/>
            <p:nvPr/>
          </p:nvSpPr>
          <p:spPr>
            <a:xfrm>
              <a:off x="9144000" y="36385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62466" y="39128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15322" y="4508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语句结束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4950" y="5619750"/>
            <a:ext cx="9182100" cy="685800"/>
            <a:chOff x="1504950" y="5619750"/>
            <a:chExt cx="9182100" cy="685800"/>
          </a:xfrm>
        </p:grpSpPr>
        <p:sp>
          <p:nvSpPr>
            <p:cNvPr id="25" name="Rectangle 25"/>
            <p:cNvSpPr/>
            <p:nvPr/>
          </p:nvSpPr>
          <p:spPr>
            <a:xfrm>
              <a:off x="1504950" y="5619750"/>
              <a:ext cx="9182100" cy="685800"/>
            </a:xfrm>
            <a:prstGeom prst="roundRect">
              <a:avLst>
                <a:gd name="adj" fmla="val 36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33674" y="58635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要原样显示的文字放进英文双引号，句末写英文分号。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3298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正确还是错误？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34500" y="361950"/>
              <a:ext cx="226695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03246" y="517208"/>
              <a:ext cx="1729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C++ 区分大小写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5300" y="1371600"/>
            <a:ext cx="4267200" cy="4476750"/>
            <a:chOff x="495300" y="1371600"/>
            <a:chExt cx="4267200" cy="4476750"/>
          </a:xfrm>
        </p:grpSpPr>
        <p:sp>
          <p:nvSpPr>
            <p:cNvPr id="6" name="Rectangle 6"/>
            <p:cNvSpPr/>
            <p:nvPr/>
          </p:nvSpPr>
          <p:spPr>
            <a:xfrm>
              <a:off x="495300" y="1371600"/>
              <a:ext cx="4267200" cy="4476750"/>
            </a:xfrm>
            <a:prstGeom prst="roundRect">
              <a:avLst>
                <a:gd name="adj" fmla="val 8482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34819" y="1725938"/>
              <a:ext cx="406600" cy="352821"/>
            </a:xfrm>
            <a:custGeom>
              <a:avLst/>
              <a:gdLst/>
              <a:ahLst/>
              <a:cxnLst/>
              <a:rect l="l" t="t" r="r" b="b"/>
              <a:pathLst>
                <a:path w="406600" h="352821">
                  <a:moveTo>
                    <a:pt x="203406" y="0"/>
                  </a:moveTo>
                  <a:cubicBezTo>
                    <a:pt x="220841" y="0"/>
                    <a:pt x="237089" y="8526"/>
                    <a:pt x="247039" y="22766"/>
                  </a:cubicBezTo>
                  <a:lnTo>
                    <a:pt x="248955" y="25687"/>
                  </a:lnTo>
                  <a:lnTo>
                    <a:pt x="397087" y="273023"/>
                  </a:lnTo>
                  <a:cubicBezTo>
                    <a:pt x="406238" y="288872"/>
                    <a:pt x="406600" y="308312"/>
                    <a:pt x="398045" y="324490"/>
                  </a:cubicBezTo>
                  <a:cubicBezTo>
                    <a:pt x="389490" y="340669"/>
                    <a:pt x="373220" y="351315"/>
                    <a:pt x="354970" y="352675"/>
                  </a:cubicBezTo>
                  <a:lnTo>
                    <a:pt x="351410" y="352821"/>
                  </a:lnTo>
                  <a:lnTo>
                    <a:pt x="55202" y="352821"/>
                  </a:lnTo>
                  <a:cubicBezTo>
                    <a:pt x="36933" y="352615"/>
                    <a:pt x="20048" y="343050"/>
                    <a:pt x="10480" y="327486"/>
                  </a:cubicBezTo>
                  <a:cubicBezTo>
                    <a:pt x="912" y="311923"/>
                    <a:pt x="0" y="292538"/>
                    <a:pt x="8064" y="276145"/>
                  </a:cubicBezTo>
                  <a:lnTo>
                    <a:pt x="9871" y="272767"/>
                  </a:lnTo>
                  <a:lnTo>
                    <a:pt x="157930" y="25614"/>
                  </a:lnTo>
                  <a:cubicBezTo>
                    <a:pt x="167571" y="9715"/>
                    <a:pt x="184813" y="4"/>
                    <a:pt x="203406" y="0"/>
                  </a:cubicBezTo>
                  <a:close/>
                  <a:moveTo>
                    <a:pt x="203589" y="243356"/>
                  </a:moveTo>
                  <a:lnTo>
                    <a:pt x="201270" y="243484"/>
                  </a:lnTo>
                  <a:cubicBezTo>
                    <a:pt x="192086" y="244576"/>
                    <a:pt x="185170" y="252364"/>
                    <a:pt x="185170" y="261613"/>
                  </a:cubicBezTo>
                  <a:cubicBezTo>
                    <a:pt x="185170" y="270861"/>
                    <a:pt x="192086" y="278649"/>
                    <a:pt x="201270" y="279741"/>
                  </a:cubicBezTo>
                  <a:lnTo>
                    <a:pt x="203406" y="279869"/>
                  </a:lnTo>
                  <a:lnTo>
                    <a:pt x="205725" y="279741"/>
                  </a:lnTo>
                  <a:cubicBezTo>
                    <a:pt x="214908" y="278649"/>
                    <a:pt x="221825" y="270861"/>
                    <a:pt x="221825" y="261613"/>
                  </a:cubicBezTo>
                  <a:cubicBezTo>
                    <a:pt x="221825" y="252364"/>
                    <a:pt x="214908" y="244576"/>
                    <a:pt x="205725" y="243484"/>
                  </a:cubicBezTo>
                  <a:lnTo>
                    <a:pt x="203589" y="243356"/>
                  </a:lnTo>
                  <a:close/>
                  <a:moveTo>
                    <a:pt x="203406" y="115562"/>
                  </a:moveTo>
                  <a:cubicBezTo>
                    <a:pt x="194151" y="115563"/>
                    <a:pt x="186360" y="122491"/>
                    <a:pt x="185278" y="131683"/>
                  </a:cubicBezTo>
                  <a:lnTo>
                    <a:pt x="185150" y="133819"/>
                  </a:lnTo>
                  <a:lnTo>
                    <a:pt x="185150" y="206844"/>
                  </a:lnTo>
                  <a:lnTo>
                    <a:pt x="185278" y="208980"/>
                  </a:lnTo>
                  <a:cubicBezTo>
                    <a:pt x="186370" y="218163"/>
                    <a:pt x="194157" y="225080"/>
                    <a:pt x="203406" y="225080"/>
                  </a:cubicBezTo>
                  <a:cubicBezTo>
                    <a:pt x="212655" y="225080"/>
                    <a:pt x="220442" y="218163"/>
                    <a:pt x="221535" y="208980"/>
                  </a:cubicBezTo>
                  <a:lnTo>
                    <a:pt x="221662" y="206844"/>
                  </a:lnTo>
                  <a:lnTo>
                    <a:pt x="221662" y="133819"/>
                  </a:lnTo>
                  <a:lnTo>
                    <a:pt x="221535" y="131683"/>
                  </a:lnTo>
                  <a:cubicBezTo>
                    <a:pt x="220452" y="122491"/>
                    <a:pt x="212661" y="115563"/>
                    <a:pt x="203406" y="11556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7132" y="177355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先找错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19150" y="2400300"/>
              <a:ext cx="3619500" cy="70485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48790" y="2660332"/>
              <a:ext cx="17602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“Hello”;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3295650"/>
              <a:ext cx="3619500" cy="70485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10258" y="3555682"/>
              <a:ext cx="1637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9150" y="4191000"/>
              <a:ext cx="3619500" cy="70485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43342" y="4451032"/>
              <a:ext cx="1771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5191125"/>
              <a:ext cx="3047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中文引号 · 漏分号 · 大小写错误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19700" y="1371600"/>
            <a:ext cx="6400800" cy="4476750"/>
            <a:chOff x="5219700" y="1371600"/>
            <a:chExt cx="6400800" cy="4476750"/>
          </a:xfrm>
        </p:grpSpPr>
        <p:sp>
          <p:nvSpPr>
            <p:cNvPr id="17" name="Rectangle 17"/>
            <p:cNvSpPr/>
            <p:nvPr/>
          </p:nvSpPr>
          <p:spPr>
            <a:xfrm>
              <a:off x="5219700" y="1371600"/>
              <a:ext cx="6400800" cy="4476750"/>
            </a:xfrm>
            <a:prstGeom prst="roundRect">
              <a:avLst>
                <a:gd name="adj" fmla="val 808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615006" y="1803210"/>
              <a:ext cx="313704" cy="222631"/>
            </a:xfrm>
            <a:custGeom>
              <a:avLst/>
              <a:gdLst/>
              <a:ahLst/>
              <a:cxnLst/>
              <a:rect l="l" t="t" r="r" b="b"/>
              <a:pathLst>
                <a:path w="313704" h="222631">
                  <a:moveTo>
                    <a:pt x="306577" y="7127"/>
                  </a:moveTo>
                  <a:cubicBezTo>
                    <a:pt x="313704" y="14256"/>
                    <a:pt x="313704" y="25812"/>
                    <a:pt x="306577" y="32941"/>
                  </a:cubicBezTo>
                  <a:lnTo>
                    <a:pt x="124014" y="215504"/>
                  </a:lnTo>
                  <a:cubicBezTo>
                    <a:pt x="116885" y="222631"/>
                    <a:pt x="105329" y="222631"/>
                    <a:pt x="98200" y="215504"/>
                  </a:cubicBezTo>
                  <a:lnTo>
                    <a:pt x="6919" y="124223"/>
                  </a:lnTo>
                  <a:cubicBezTo>
                    <a:pt x="0" y="117059"/>
                    <a:pt x="99" y="105673"/>
                    <a:pt x="7141" y="98631"/>
                  </a:cubicBezTo>
                  <a:cubicBezTo>
                    <a:pt x="14183" y="91589"/>
                    <a:pt x="25570" y="91490"/>
                    <a:pt x="32733" y="98408"/>
                  </a:cubicBezTo>
                  <a:lnTo>
                    <a:pt x="111107" y="176783"/>
                  </a:lnTo>
                  <a:lnTo>
                    <a:pt x="280763" y="7127"/>
                  </a:lnTo>
                  <a:cubicBezTo>
                    <a:pt x="287892" y="0"/>
                    <a:pt x="299448" y="0"/>
                    <a:pt x="306577" y="712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61532" y="177355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修好它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43550" y="2400300"/>
              <a:ext cx="5753100" cy="70485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9018" y="26603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17330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英文引号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43550" y="3295650"/>
              <a:ext cx="5753100" cy="70485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59018" y="35556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17330" y="3571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补上分号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543550" y="4191000"/>
              <a:ext cx="5753100" cy="704850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59018" y="44510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17330" y="44672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全小写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35168" y="5174932"/>
              <a:ext cx="4331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口诀：英文符号、小写 cout、句末分号。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231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图案工坊：一行一笔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95300" y="1352550"/>
            <a:ext cx="2724150" cy="4895850"/>
            <a:chOff x="495300" y="1352550"/>
            <a:chExt cx="2724150" cy="4895850"/>
          </a:xfrm>
        </p:grpSpPr>
        <p:sp>
          <p:nvSpPr>
            <p:cNvPr id="3" name="Rectangle 3"/>
            <p:cNvSpPr/>
            <p:nvPr/>
          </p:nvSpPr>
          <p:spPr>
            <a:xfrm>
              <a:off x="495300" y="1352550"/>
              <a:ext cx="2724150" cy="4895850"/>
            </a:xfrm>
            <a:prstGeom prst="roundRect">
              <a:avLst>
                <a:gd name="adj" fmla="val 1328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90956" y="1615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选择图案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095500"/>
              <a:ext cx="2266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04747" y="23364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23900" y="2933700"/>
              <a:ext cx="226695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9149" y="31746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智慧树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3771900"/>
              <a:ext cx="2266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4747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温暖爱心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" y="4610100"/>
              <a:ext cx="2266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15808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242" y="5664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空格也是图案的一部分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524250" y="1352550"/>
            <a:ext cx="4819650" cy="4895850"/>
            <a:chOff x="3524250" y="1352550"/>
            <a:chExt cx="4819650" cy="4895850"/>
          </a:xfrm>
        </p:grpSpPr>
        <p:sp>
          <p:nvSpPr>
            <p:cNvPr id="15" name="Rectangle 15"/>
            <p:cNvSpPr/>
            <p:nvPr/>
          </p:nvSpPr>
          <p:spPr>
            <a:xfrm>
              <a:off x="3524250" y="1352550"/>
              <a:ext cx="4819650" cy="4895850"/>
            </a:xfrm>
            <a:prstGeom prst="roundRect">
              <a:avLst>
                <a:gd name="adj" fmla="val 75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771900" y="16002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019550" y="1600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267200" y="16002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58768" y="2222182"/>
              <a:ext cx="23157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 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58768" y="2888932"/>
              <a:ext cx="2560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 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58768" y="35556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67150" y="4476750"/>
              <a:ext cx="4114800" cy="1181100"/>
            </a:xfrm>
            <a:prstGeom prst="roundRect">
              <a:avLst>
                <a:gd name="adj" fmla="val 225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06574" y="4774882"/>
              <a:ext cx="18359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 cout 画一行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6315" y="51530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多行组合，图案就出现了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648700" y="1352550"/>
            <a:ext cx="3048000" cy="4895850"/>
            <a:chOff x="8648700" y="1352550"/>
            <a:chExt cx="3048000" cy="4895850"/>
          </a:xfrm>
        </p:grpSpPr>
        <p:sp>
          <p:nvSpPr>
            <p:cNvPr id="26" name="Rectangle 26"/>
            <p:cNvSpPr/>
            <p:nvPr/>
          </p:nvSpPr>
          <p:spPr>
            <a:xfrm>
              <a:off x="8648700" y="1352550"/>
              <a:ext cx="3048000" cy="4895850"/>
            </a:xfrm>
            <a:prstGeom prst="roundRect">
              <a:avLst>
                <a:gd name="adj" fmla="val 1187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69786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终端预览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71659" y="2598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93960" y="3093720"/>
              <a:ext cx="557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16262" y="3589020"/>
              <a:ext cx="9128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544050" y="4724400"/>
              <a:ext cx="125730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97860" y="48987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长出来了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7424547" cy="708279"/>
            <a:chOff x="495300" y="323850"/>
            <a:chExt cx="7424547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5076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把题目文字放进字符串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83648" y="3259455"/>
              <a:ext cx="28810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Programming is fun!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大小写、空格、感叹号全部一致。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85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8380" y="2524125"/>
              <a:ext cx="291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8380" y="3933825"/>
              <a:ext cx="3083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"Programming is fun!";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6856" y="4511040"/>
              <a:ext cx="24694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Programming is fun!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98519" y="469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17241" y="2028825"/>
            <a:ext cx="3377517" cy="6019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0" b="1" dirty="0">
                <a:solidFill>
                  <a:schemeClr val="accent2">
                    <a:alphaMod val="12000"/>
                  </a:schemeClr>
                </a:solidFill>
                <a:latin typeface="+mj-lt"/>
                <a:ea typeface="+mj-ea"/>
                <a:cs typeface="+mj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5187892" cy="1470279"/>
            <a:chOff x="535686" y="400050"/>
            <a:chExt cx="5187892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4751" y="583882"/>
              <a:ext cx="2209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51878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2450" y="2190750"/>
            <a:ext cx="3429000" cy="2986087"/>
            <a:chOff x="552450" y="2190750"/>
            <a:chExt cx="3429000" cy="2986087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8942" y="2606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1575" y="3014662"/>
              <a:ext cx="1230749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1" name="Rectangle 11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519" y="2677478"/>
              <a:ext cx="22967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"%";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71189" y="4406265"/>
              <a:ext cx="3833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7" name="Rectangle 17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37522" y="5898832"/>
              <a:ext cx="3316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记得：英文双引号 + 英文分号。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6004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语法侦探：哪条 cout 正确？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3284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"Hi";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4651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"Hi";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5235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"Hi";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55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“Hi”；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81745" y="5692140"/>
              <a:ext cx="5628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检查顺序：小写 cout → &lt;&lt; → 英文引号 →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563102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不换行：把输出积木接起来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143250" y="1752600"/>
            <a:ext cx="7334250" cy="1266825"/>
            <a:chOff x="3143250" y="1752600"/>
            <a:chExt cx="7334250" cy="1266825"/>
          </a:xfrm>
        </p:grpSpPr>
        <p:sp>
          <p:nvSpPr>
            <p:cNvPr id="7" name="Rectangle 7"/>
            <p:cNvSpPr/>
            <p:nvPr/>
          </p:nvSpPr>
          <p:spPr>
            <a:xfrm>
              <a:off x="3143250" y="1752600"/>
              <a:ext cx="2095500" cy="800100"/>
            </a:xfrm>
            <a:prstGeom prst="roundRect">
              <a:avLst>
                <a:gd name="adj" fmla="val 3095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50858" y="2072640"/>
              <a:ext cx="8802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"Hello"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63825" y="20078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&lt;&lt;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905500" y="1752600"/>
              <a:ext cx="1524000" cy="800100"/>
            </a:xfrm>
            <a:prstGeom prst="roundRect">
              <a:avLst>
                <a:gd name="adj" fmla="val 3095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80254" y="2072640"/>
              <a:ext cx="3744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 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4575" y="20078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&lt;&lt;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0" y="1752600"/>
              <a:ext cx="2381250" cy="800100"/>
            </a:xfrm>
            <a:prstGeom prst="roundRect">
              <a:avLst>
                <a:gd name="adj" fmla="val 3095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8085" y="20726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"C++"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143250" y="3009900"/>
              <a:ext cx="7334250" cy="9525"/>
            </a:xfrm>
            <a:custGeom>
              <a:avLst/>
              <a:gdLst/>
              <a:ahLst/>
              <a:cxnLst/>
              <a:rect l="l" t="t" r="r" b="b"/>
              <a:pathLst>
                <a:path w="7334250" h="9525">
                  <a:moveTo>
                    <a:pt x="0" y="0"/>
                  </a:moveTo>
                  <a:lnTo>
                    <a:pt x="73342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3143250" y="3505200"/>
            <a:ext cx="8096250" cy="1714500"/>
            <a:chOff x="3143250" y="3505200"/>
            <a:chExt cx="8096250" cy="1714500"/>
          </a:xfrm>
        </p:grpSpPr>
        <p:sp>
          <p:nvSpPr>
            <p:cNvPr id="17" name="Rectangle 17"/>
            <p:cNvSpPr/>
            <p:nvPr/>
          </p:nvSpPr>
          <p:spPr>
            <a:xfrm>
              <a:off x="3143250" y="3505200"/>
              <a:ext cx="8096250" cy="1714500"/>
            </a:xfrm>
            <a:prstGeom prst="roundRect">
              <a:avLst>
                <a:gd name="adj" fmla="val 1888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54730" y="3800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终端同一行继续延长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76566" y="4406265"/>
              <a:ext cx="20296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C++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43250" y="5562600"/>
            <a:ext cx="8096250" cy="647700"/>
            <a:chOff x="3143250" y="5562600"/>
            <a:chExt cx="8096250" cy="647700"/>
          </a:xfrm>
        </p:grpSpPr>
        <p:sp>
          <p:nvSpPr>
            <p:cNvPr id="21" name="Rectangle 21"/>
            <p:cNvSpPr/>
            <p:nvPr/>
          </p:nvSpPr>
          <p:spPr>
            <a:xfrm>
              <a:off x="3143250" y="5562600"/>
              <a:ext cx="8096250" cy="647700"/>
            </a:xfrm>
            <a:prstGeom prst="roundRect">
              <a:avLst>
                <a:gd name="adj" fmla="val 35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82933" y="5803582"/>
              <a:ext cx="48168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空格也要明确写出来，否则会变成 HelloC++。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376519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让光标走到下一行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42875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42766" y="1824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方法 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475548"/>
              <a:ext cx="21905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"A\nB";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754118" y="2507932"/>
              <a:ext cx="16604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\n 写在字符串里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9" name="Rectangle 9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00100" y="3962400"/>
              <a:ext cx="142875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2766" y="41300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方法 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4812982"/>
              <a:ext cx="3106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"A" &lt;&lt; endl &lt;&lt; "B";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4118" y="5232082"/>
              <a:ext cx="14050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没有引号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5" name="Rectangle 15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2837" y="18030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两种写法，相同结果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2767965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41486" y="3472815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02814" y="48320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光标已经来到下一行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755326" y="612743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会用一种就能换行；认识两种更方便读代码。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78536" y="443865"/>
            <a:ext cx="9288399" cy="645414"/>
            <a:chOff x="478536" y="443865"/>
            <a:chExt cx="92883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4386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多条信息，多行输出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306818" y="6029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一条代码，对应一行结果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5300" y="1466850"/>
            <a:ext cx="6496050" cy="4343400"/>
            <a:chOff x="495300" y="1466850"/>
            <a:chExt cx="6496050" cy="4343400"/>
          </a:xfrm>
        </p:grpSpPr>
        <p:sp>
          <p:nvSpPr>
            <p:cNvPr id="5" name="Rectangle 5"/>
            <p:cNvSpPr/>
            <p:nvPr/>
          </p:nvSpPr>
          <p:spPr>
            <a:xfrm>
              <a:off x="495300" y="1466850"/>
              <a:ext cx="649605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2247900"/>
              <a:ext cx="5886450" cy="781050"/>
            </a:xfrm>
            <a:prstGeom prst="roundRect">
              <a:avLst>
                <a:gd name="adj" fmla="val 268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8418" y="2555558"/>
              <a:ext cx="26380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"Hello!" &lt;&lt; endl;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0100" y="3238500"/>
              <a:ext cx="5886450" cy="781050"/>
            </a:xfrm>
            <a:prstGeom prst="roundRect">
              <a:avLst>
                <a:gd name="adj" fmla="val 2682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8418" y="3546158"/>
              <a:ext cx="2793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"123456" &lt;&lt; endl;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4229100"/>
              <a:ext cx="5886450" cy="781050"/>
            </a:xfrm>
            <a:prstGeom prst="roundRect">
              <a:avLst>
                <a:gd name="adj" fmla="val 2682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8418" y="4536758"/>
              <a:ext cx="25711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"你好!"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2480" y="52673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适合初学者逐行检查。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10450" y="1466850"/>
            <a:ext cx="4286250" cy="4343400"/>
            <a:chOff x="7410450" y="1466850"/>
            <a:chExt cx="4286250" cy="4343400"/>
          </a:xfrm>
        </p:grpSpPr>
        <p:sp>
          <p:nvSpPr>
            <p:cNvPr id="17" name="Rectangle 17"/>
            <p:cNvSpPr/>
            <p:nvPr/>
          </p:nvSpPr>
          <p:spPr>
            <a:xfrm>
              <a:off x="7410450" y="1466850"/>
              <a:ext cx="4286250" cy="4343400"/>
            </a:xfrm>
            <a:prstGeom prst="roundRect">
              <a:avLst>
                <a:gd name="adj" fmla="val 844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21168" y="1860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17358" y="2636520"/>
              <a:ext cx="8992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Hello!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17358" y="33985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17358" y="4160520"/>
              <a:ext cx="8046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你好!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829550" y="4876800"/>
              <a:ext cx="3448050" cy="9525"/>
            </a:xfrm>
            <a:custGeom>
              <a:avLst/>
              <a:gdLst/>
              <a:ahLst/>
              <a:cxnLst/>
              <a:rect l="l" t="t" r="r" b="b"/>
              <a:pathLst>
                <a:path w="3448050" h="9525">
                  <a:moveTo>
                    <a:pt x="0" y="0"/>
                  </a:moveTo>
                  <a:lnTo>
                    <a:pt x="34480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21930" y="51530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三条语句，整整齐齐三行。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458160" cy="708279"/>
            <a:chOff x="476250" y="323850"/>
            <a:chExt cx="645816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25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0194" y="19126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8561" y="55340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0285" y="251174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44221" y="2511742"/>
              <a:ext cx="1007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15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23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71941" y="6127432"/>
            <a:ext cx="44481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配对与拼写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先检查成对符号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82074" y="2582228"/>
              <a:ext cx="3017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　)　{　}　"　"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35556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字符串里要显示双引号：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4000500"/>
              <a:ext cx="474345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25253" y="4410075"/>
              <a:ext cx="2931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\"Hello\"";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1530" y="5324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配对完整，路径才会闭合。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再检查关键单词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66950"/>
              <a:ext cx="2095500" cy="857250"/>
            </a:xfrm>
            <a:prstGeom prst="roundRect">
              <a:avLst>
                <a:gd name="adj" fmla="val 2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71505" y="246697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37097" y="2755582"/>
              <a:ext cx="5182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239250" y="2266950"/>
              <a:ext cx="2095500" cy="857250"/>
            </a:xfrm>
            <a:prstGeom prst="roundRect">
              <a:avLst>
                <a:gd name="adj" fmla="val 2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40182" y="2466975"/>
              <a:ext cx="893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71345" y="2755582"/>
              <a:ext cx="1031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48450" y="3429000"/>
              <a:ext cx="2095500" cy="857250"/>
            </a:xfrm>
            <a:prstGeom prst="roundRect">
              <a:avLst>
                <a:gd name="adj" fmla="val 2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36168" y="3629025"/>
              <a:ext cx="5200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32144" y="3917632"/>
              <a:ext cx="7281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39250" y="3429000"/>
              <a:ext cx="2095500" cy="857250"/>
            </a:xfrm>
            <a:prstGeom prst="roundRect">
              <a:avLst>
                <a:gd name="adj" fmla="val 2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57257" y="3629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51220" y="3917632"/>
              <a:ext cx="471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40068" y="4832032"/>
              <a:ext cx="3281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一个字符错，程序也会停下来。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40830" y="5267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慢一点检查，反而更快通过。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381000"/>
            <a:ext cx="11046714" cy="727329"/>
            <a:chOff x="497586" y="38100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62915"/>
              <a:ext cx="3275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双引号里的 3+5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067550" y="381000"/>
              <a:ext cx="4476750" cy="5334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31710" y="56483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字符串：看起来像算式，实际是文字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1657350"/>
            <a:ext cx="4953000" cy="3905250"/>
            <a:chOff x="1028700" y="1657350"/>
            <a:chExt cx="4953000" cy="3905250"/>
          </a:xfrm>
        </p:grpSpPr>
        <p:sp>
          <p:nvSpPr>
            <p:cNvPr id="6" name="Rectangle 6"/>
            <p:cNvSpPr/>
            <p:nvPr/>
          </p:nvSpPr>
          <p:spPr>
            <a:xfrm>
              <a:off x="1028700" y="1657350"/>
              <a:ext cx="4953000" cy="3905250"/>
            </a:xfrm>
            <a:prstGeom prst="roundRect">
              <a:avLst>
                <a:gd name="adj" fmla="val 112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619250" y="224790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571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78312" y="2832735"/>
              <a:ext cx="2253777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"3+5"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51113" y="46634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双引号像透明展示盒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86965" y="50577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技术名称：字符串字面量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96050" y="1657350"/>
            <a:ext cx="4667250" cy="3905250"/>
            <a:chOff x="6496050" y="1657350"/>
            <a:chExt cx="4667250" cy="3905250"/>
          </a:xfrm>
        </p:grpSpPr>
        <p:sp>
          <p:nvSpPr>
            <p:cNvPr id="12" name="Rectangle 12"/>
            <p:cNvSpPr/>
            <p:nvPr/>
          </p:nvSpPr>
          <p:spPr>
            <a:xfrm>
              <a:off x="6496050" y="1657350"/>
              <a:ext cx="4667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73302" y="2157412"/>
              <a:ext cx="23127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829675" y="30480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95250" cap="rnd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86600" y="3848100"/>
              <a:ext cx="3486150" cy="1714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16265" y="4181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终端原样照抄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0844" y="46710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305833" y="6054090"/>
            <a:ext cx="35803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有引号，电脑不计算，只照抄。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6077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3201" y="59997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703040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688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06146" y="6073140"/>
            <a:ext cx="4979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511356" cy="708279"/>
            <a:chOff x="476250" y="323850"/>
            <a:chExt cx="551135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977" y="507682"/>
              <a:ext cx="2752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587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72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6631" y="4832032"/>
              <a:ext cx="1007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931340" cy="914019"/>
            <a:chOff x="535686" y="501015"/>
            <a:chExt cx="4931340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931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949629" y="6130290"/>
            <a:ext cx="4292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881889" cy="708279"/>
            <a:chOff x="514350" y="361950"/>
            <a:chExt cx="6881889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3191" y="5457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415322" y="6015990"/>
            <a:ext cx="53613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786639" cy="708279"/>
            <a:chOff x="476250" y="323850"/>
            <a:chExt cx="6786639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553410" cy="708279"/>
            <a:chOff x="476250" y="304800"/>
            <a:chExt cx="655341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48863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8335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1502" y="55435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1999" y="1745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3285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40108" y="3022282"/>
              <a:ext cx="1054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82177" y="34794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510087"/>
            <a:chOff x="8572500" y="1104900"/>
            <a:chExt cx="2857500" cy="4510087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1757362"/>
              <a:ext cx="2571750" cy="385762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64701" y="14030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750719" cy="352044"/>
            <a:chOff x="714756" y="5825490"/>
            <a:chExt cx="4750719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750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9507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05170" y="6070282"/>
            <a:ext cx="3981660" cy="322707"/>
            <a:chOff x="4105170" y="6070282"/>
            <a:chExt cx="3981660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05170" y="6070282"/>
              <a:ext cx="3981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25739" y="1898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1310" y="2774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6324" y="3650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8510" y="4527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529137"/>
            <a:chOff x="8572500" y="1047750"/>
            <a:chExt cx="2895600" cy="4529137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719262"/>
              <a:ext cx="2571750" cy="385762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4226" y="13458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22554" y="5749290"/>
              <a:ext cx="4203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317327" cy="657107"/>
            <a:chOff x="526070" y="375022"/>
            <a:chExt cx="5317327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974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291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544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887838" cy="1192911"/>
            <a:chOff x="495300" y="597218"/>
            <a:chExt cx="3887838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5143500"/>
            <a:chOff x="7791450" y="685800"/>
            <a:chExt cx="3429000" cy="51435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543050"/>
              <a:ext cx="2857500" cy="4286250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1266" y="9267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2026-08-26T10:48:46Z</dcterms:created>
  <dcterms:modified xsi:type="dcterms:W3CDTF">2026-08-26T10:48:46Z</dcterms:modified>
  <cp:category/>
  <cp:contentStatus/>
</cp:coreProperties>
</file>