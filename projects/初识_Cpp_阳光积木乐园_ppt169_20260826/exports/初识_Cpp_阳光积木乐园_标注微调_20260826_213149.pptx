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6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zh-CN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欢迎来到亲子 C++ 公开课。今天我们只做一件很酷的事：用一行 cout 让电脑说话，再让它计算和画图。请孩子先猜一猜，电脑真的能听懂我们写下的文字吗？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整堂课分成三幕：先学新知识，再整理规则，最后独立闯关。每一幕结束，家长可以问两个问题：你能解释吗，你能自己写吗？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第一幕先认识开发环境，然后写下第一段程序，最后看见运行结果。我们的第一个目标不是背概念，而是让电脑成功说出第一句话。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第一项任务是让屏幕准确显示 Hello World。请大家注意大小写和感叹号，因为输出题要求逐字一致。点击后，我们把代码送进屏幕，再一起看结果。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本课使用 Dev-C++ 五点一一，它把写代码、编译检查和运行观察放在一起。工具以后可能更换，但读懂和写出 C++ 代码的能力不会变。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先从文件菜单新建源代码，得到一张空白的代码纸。孩子只要能独立找到空白编辑区即可，不需要记住每一个菜单。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先认识 Dev-C++ 的菜单栏、工具栏、项目管理窗口、编辑区和报告窗口，再把六行程序完整搭好。右侧五块比喻帮助孩子先记住结构，后面再逐块解释技术作用。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文件名要以点 cpp 结尾，例如 hello 点 cpp。指向工具栏中的编译运行按钮，再指向下方报告窗口；出现零个错误、零个警告后，再运行观察屏幕结果。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终端第一行显示 Hello World，说明我们的输出成功了。返回值零表示程序正常结束，这是技术事实，不是电脑给我们的分数。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这是全课反复使用的实验站。每次都按同一顺序操作：选择任务、阅读代码、点击运行、观察结果；现在先猜猜这行星号代码会输出什么。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先不要看答案，C++ 源程序最常用的扩展名是什么？答案是 A，点 cpp。点 cxx 和点 cc 也可能出现，点 h 通常用来存放头文件；本课统一保存为点 cpp。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请沿彩色箭头把五块积木与对应代码行一一配对。头文件引入输入输出工具，命名空间允许直接使用标准库名字，main 是程序入口，cout 是标准输出对象，return 0 向运行环境报告正常结束。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请先判断哪个头文件负责输入输出。答案是 iostream，其中 io 表示 input 与 output，stream 表示信息流；有了它，程序才认识 cin 和 cout。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先逐行找错。第一行把 iostream 写成了 iosteam，少了字母 r，所以答案是第一行。修好后再读一遍完整框架，确认其他行没有被误改。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沿箭头从代码片段指向解释卡：cout 是标准输出对象，两个小于号把内容送给它，双引号框住要显示的文字，分号结束整条语句。点击时请孩子按顺序用自己的话解释。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回到熟悉的实验站，操作顺序仍然是选择、代码、运行、结果。界面不变，我们就能把注意力留给新的代码规则。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这道题要求输出 thank you。先核对全部小写和中间的一个空格，再把整句话放进英文双引号，句末补上英文分号。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目标是完整输出 a 等于 10 百分号，逗号，b 等于 19 百分号。等号、逗号和百分号都在双引号里，因此会被电脑逐字显示。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哪条语句能正确输出 apple？先投票，再按固定顺序检查：小写 cout、两个小于号、英文引号、英文分号。正确答案是 C。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连续写两条 cout，如果中间没有 endl，第二条会紧接第一条继续输出。这里的结果是 HelloWorld 感叹号，两段文字会粘在同一行。</a:t>
            </a:r>
            <a:endParaRPr lang="zh-CN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endl 表示结束当前行，并把光标送到下一行。它写在双引号外，通过两个小于号连接；每使用一次 endl，就换一次行。</a:t>
            </a:r>
            <a:endParaRPr lang="zh-CN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一条 cout 也能连续接上多段内容。这里依次输出 Hello World 感叹号、123456 和你好世界感叹号；前两段后接 endl，因此终端得到三行。</a:t>
            </a:r>
            <a:endParaRPr lang="zh-CN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我们再次回到同一实验站。请孩子先说出四步操作顺序，再准备把多行输出用到诗词练习里。</a:t>
            </a:r>
            <a:endParaRPr lang="zh-CN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标题和四句诗一共需要五条 cout。每句诗要与题目逐字一致，中文标点和换行都属于输出内容的一部分。</a:t>
            </a:r>
            <a:endParaRPr 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编译器逐字符检查，字母 l 和数字一、字母 O 和数字零都不能混用。切到英文输入法后，再核对分号、逗号、括号和引号是否为半角字符。</a:t>
            </a:r>
            <a:endParaRPr lang="zh-CN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先检查代码符号是不是英文半角，再检查括号和引号是否成对。字符串内部需要显示双引号时，要在引号前写反斜杠进行转义。</a:t>
            </a:r>
            <a:endParaRPr lang="zh-CN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关键单词必须逐字符拼对。重点区分 main 和 mian、iostream 和 i0stream、printf 和 print、endl 和 end1；字母 l 与数字 1 也不能混用。</a:t>
            </a:r>
            <a:endParaRPr lang="zh-CN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去掉双引号后，三加五变成真正的表达式，会先计算再输出八。记住口诀：有引号照抄，没引号计算。</a:t>
            </a:r>
            <a:endParaRPr lang="zh-CN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实验站仍然没有变化。现在请孩子把注意力放在代码内容上，准备把自然语言写成可以计算的表达式。</a:t>
            </a:r>
            <a:endParaRPr lang="zh-CN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三道练习先口算，再写进 cout。第二题要留意括号顺序，第三题连续输出三项时先别急着看答案，给孩子一点思考时间。</a:t>
            </a:r>
            <a:endParaRPr lang="zh-CN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这条 cout 同时输出提示文字、乘法结果和换行。点击后依次指出三段，让孩子看到一条输出链可以拼接不同类型的内容。</a:t>
            </a:r>
            <a:endParaRPr lang="zh-CN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每执行一条 cout，右侧图案就增加一层。星号画出实体，空格控制位置，endl 负责换到下一行，三者一起决定形状。</a:t>
            </a:r>
            <a:endParaRPr lang="zh-CN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最后一次回到固定实验站。请孩子复述选择、代码、运行、结果四步，再进入图案闯关。</a:t>
            </a:r>
            <a:endParaRPr lang="zh-CN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五个连续星号可以放在同一个字符串里一次输出。先让五颗星拼起来，再把它们整体送进终端。</a:t>
            </a:r>
            <a:endParaRPr lang="zh-CN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写代码前先观察目标图案。请孩子逐行数树冠层数、星号数量、左侧空格和树干位置；家长只提问，不代替孩子数。</a:t>
            </a:r>
            <a:endParaRPr lang="zh-CN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六行目标对应六条 cout，字符串中的空格必须完整保留。每揭示一条代码，就去右侧确认对应的一行是否对齐。</a:t>
            </a:r>
            <a:endParaRPr lang="zh-CN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第二幕把刚才用过的代码整理成模板。五块积木重新归位后，我们会复习程序框架、cout 规则和关键词。</a:t>
            </a:r>
            <a:endParaRPr lang="zh-CN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以后做输出题，可以保留固定框架，只替换 cout 中的内容。家长陪练时，先让孩子口述五块作用，再遮住模板尝试默写。</a:t>
            </a:r>
            <a:endParaRPr lang="zh-CN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按代码出现顺序读六个词：include、iostream、using、namespace、std 和 main。英文词根能帮助理解作用，但真正写代码时仍要保证拼写完全正确。</a:t>
            </a:r>
            <a:endParaRPr lang="zh-CN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cout 负责标准输出，endl 结束当前行，return 返回结束状态，int 表示整数类型。广播喇叭只是 cout 的课堂比喻，更准确的说法是标准输出对象。</a:t>
            </a:r>
            <a:endParaRPr lang="zh-CN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第三幕开始独立闯关。每道题都走同一个闭环：读题、设计输出、写代码、运行检查。</a:t>
            </a:r>
            <a:endParaRPr lang="zh-CN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八道题从文字、数字逐步走向图案和综合练习。家长不直接报答案，只问检查问题，让孩子口述五要素；每完成一题就勾选，并说出这次遇到的错误。</a:t>
            </a:r>
            <a:endParaRPr lang="zh-CN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今天我们已经会解释五要素，会用 cout 输出文字和计算结果，也会用星号、空格与换行画图案。今晚完成 N3113，并向家长讲一遍五要素；编程像搭积木，下一块等你来拼。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ree Design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CF1"/>
            </a:gs>
            <a:gs pos="100000">
              <a:srgbClr val="FFEFCB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11068050" y="533400"/>
            <a:ext cx="381000" cy="381000"/>
          </a:xfrm>
          <a:prstGeom prst="ellipse">
            <a:avLst/>
          </a:prstGeom>
          <a:solidFill>
            <a:schemeClr val="accent1">
              <a:alpha val="18000"/>
            </a:scheme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1601450" y="1047750"/>
            <a:ext cx="228600" cy="228600"/>
          </a:xfrm>
          <a:prstGeom prst="ellipse">
            <a:avLst/>
          </a:prstGeom>
          <a:solidFill>
            <a:schemeClr val="accent3">
              <a:alpha val="28000"/>
            </a:schemeClr>
          </a:solidFill>
          <a:ln>
            <a:noFill/>
          </a:ln>
        </p:spPr>
      </p:sp>
      <p:grpSp>
        <p:nvGrpSpPr>
          <p:cNvPr id="8" name="Group 8"/>
          <p:cNvGrpSpPr/>
          <p:nvPr/>
        </p:nvGrpSpPr>
        <p:grpSpPr>
          <a:xfrm>
            <a:off x="590550" y="495300"/>
            <a:ext cx="2533650" cy="495300"/>
            <a:chOff x="590550" y="495300"/>
            <a:chExt cx="2533650" cy="495300"/>
          </a:xfrm>
        </p:grpSpPr>
        <p:sp>
          <p:nvSpPr>
            <p:cNvPr id="5" name="Rectangle 5"/>
            <p:cNvSpPr/>
            <p:nvPr/>
          </p:nvSpPr>
          <p:spPr>
            <a:xfrm>
              <a:off x="590550" y="495300"/>
              <a:ext cx="253365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782636" y="635140"/>
              <a:ext cx="217280" cy="218128"/>
            </a:xfrm>
            <a:custGeom>
              <a:avLst/>
              <a:gdLst/>
              <a:ahLst/>
              <a:cxnLst/>
              <a:rect l="l" t="t" r="r" b="b"/>
              <a:pathLst>
                <a:path w="217280" h="218128">
                  <a:moveTo>
                    <a:pt x="154782" y="18449"/>
                  </a:moveTo>
                  <a:cubicBezTo>
                    <a:pt x="198149" y="43487"/>
                    <a:pt x="217280" y="96049"/>
                    <a:pt x="200152" y="143105"/>
                  </a:cubicBezTo>
                  <a:cubicBezTo>
                    <a:pt x="183025" y="190161"/>
                    <a:pt x="134584" y="218128"/>
                    <a:pt x="85268" y="209431"/>
                  </a:cubicBezTo>
                  <a:cubicBezTo>
                    <a:pt x="35953" y="200735"/>
                    <a:pt x="0" y="157886"/>
                    <a:pt x="1" y="107809"/>
                  </a:cubicBezTo>
                  <a:lnTo>
                    <a:pt x="53" y="104466"/>
                  </a:lnTo>
                  <a:cubicBezTo>
                    <a:pt x="1228" y="68216"/>
                    <a:pt x="21349" y="35245"/>
                    <a:pt x="53049" y="17623"/>
                  </a:cubicBezTo>
                  <a:cubicBezTo>
                    <a:pt x="84749" y="0"/>
                    <a:pt x="123373" y="314"/>
                    <a:pt x="154782" y="18449"/>
                  </a:cubicBezTo>
                  <a:moveTo>
                    <a:pt x="89846" y="79877"/>
                  </a:moveTo>
                  <a:cubicBezTo>
                    <a:pt x="85817" y="75848"/>
                    <a:pt x="79285" y="75848"/>
                    <a:pt x="75256" y="79877"/>
                  </a:cubicBezTo>
                  <a:lnTo>
                    <a:pt x="54618" y="100514"/>
                  </a:lnTo>
                  <a:cubicBezTo>
                    <a:pt x="50590" y="104543"/>
                    <a:pt x="50590" y="111075"/>
                    <a:pt x="54618" y="115105"/>
                  </a:cubicBezTo>
                  <a:lnTo>
                    <a:pt x="75256" y="135742"/>
                  </a:lnTo>
                  <a:cubicBezTo>
                    <a:pt x="79285" y="139770"/>
                    <a:pt x="85817" y="139770"/>
                    <a:pt x="89846" y="135742"/>
                  </a:cubicBezTo>
                  <a:lnTo>
                    <a:pt x="90703" y="134772"/>
                  </a:lnTo>
                  <a:cubicBezTo>
                    <a:pt x="93889" y="130664"/>
                    <a:pt x="93522" y="124828"/>
                    <a:pt x="89846" y="121151"/>
                  </a:cubicBezTo>
                  <a:lnTo>
                    <a:pt x="76515" y="107809"/>
                  </a:lnTo>
                  <a:lnTo>
                    <a:pt x="89846" y="94467"/>
                  </a:lnTo>
                  <a:cubicBezTo>
                    <a:pt x="93875" y="90438"/>
                    <a:pt x="93875" y="83906"/>
                    <a:pt x="89846" y="79877"/>
                  </a:cubicBezTo>
                  <a:moveTo>
                    <a:pt x="131121" y="79877"/>
                  </a:moveTo>
                  <a:cubicBezTo>
                    <a:pt x="127092" y="75848"/>
                    <a:pt x="120560" y="75848"/>
                    <a:pt x="116531" y="79877"/>
                  </a:cubicBezTo>
                  <a:lnTo>
                    <a:pt x="115674" y="80847"/>
                  </a:lnTo>
                  <a:cubicBezTo>
                    <a:pt x="112488" y="84954"/>
                    <a:pt x="112855" y="90791"/>
                    <a:pt x="116531" y="94467"/>
                  </a:cubicBezTo>
                  <a:lnTo>
                    <a:pt x="129862" y="107809"/>
                  </a:lnTo>
                  <a:lnTo>
                    <a:pt x="116531" y="121151"/>
                  </a:lnTo>
                  <a:cubicBezTo>
                    <a:pt x="112620" y="125200"/>
                    <a:pt x="112676" y="131636"/>
                    <a:pt x="116656" y="135616"/>
                  </a:cubicBezTo>
                  <a:cubicBezTo>
                    <a:pt x="120637" y="139597"/>
                    <a:pt x="127072" y="139653"/>
                    <a:pt x="131121" y="135742"/>
                  </a:cubicBezTo>
                  <a:lnTo>
                    <a:pt x="151759" y="115105"/>
                  </a:lnTo>
                  <a:cubicBezTo>
                    <a:pt x="155787" y="111075"/>
                    <a:pt x="155787" y="104543"/>
                    <a:pt x="151759" y="1005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14806" y="634365"/>
              <a:ext cx="19673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亲子 C++ 公开课</a:t>
              </a:r>
              <a:endParaRPr lang="zh-CN" sz="18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71500" y="1644968"/>
            <a:ext cx="5359146" cy="1751266"/>
            <a:chOff x="571500" y="1644968"/>
            <a:chExt cx="5359146" cy="1751266"/>
          </a:xfrm>
        </p:grpSpPr>
        <p:sp>
          <p:nvSpPr>
            <p:cNvPr id="9" name="TextBox 9"/>
            <p:cNvSpPr txBox="1"/>
            <p:nvPr/>
          </p:nvSpPr>
          <p:spPr>
            <a:xfrm>
              <a:off x="571500" y="1644968"/>
              <a:ext cx="260434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初识 C++</a:t>
              </a:r>
              <a:endParaRPr lang="zh-CN" sz="43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8358" y="2503170"/>
              <a:ext cx="358642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一行 cout，让电脑开口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81406" y="3044190"/>
              <a:ext cx="534924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说话、算结果、画图案，编程像搭积木一样好玩。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" y="3638550"/>
            <a:ext cx="5734050" cy="781050"/>
            <a:chOff x="590550" y="3638550"/>
            <a:chExt cx="5734050" cy="781050"/>
          </a:xfrm>
        </p:grpSpPr>
        <p:sp>
          <p:nvSpPr>
            <p:cNvPr id="13" name="Rectangle 13"/>
            <p:cNvSpPr/>
            <p:nvPr/>
          </p:nvSpPr>
          <p:spPr>
            <a:xfrm>
              <a:off x="5905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793750" y="3844925"/>
              <a:ext cx="203199" cy="253999"/>
            </a:xfrm>
            <a:custGeom>
              <a:avLst/>
              <a:gdLst/>
              <a:ahLst/>
              <a:cxnLst/>
              <a:rect l="l" t="t" r="r" b="b"/>
              <a:pathLst>
                <a:path w="203199" h="253999">
                  <a:moveTo>
                    <a:pt x="165100" y="0"/>
                  </a:moveTo>
                  <a:cubicBezTo>
                    <a:pt x="186142" y="0"/>
                    <a:pt x="203199" y="17058"/>
                    <a:pt x="203199" y="38100"/>
                  </a:cubicBezTo>
                  <a:lnTo>
                    <a:pt x="203199" y="215899"/>
                  </a:lnTo>
                  <a:cubicBezTo>
                    <a:pt x="203199" y="236941"/>
                    <a:pt x="186142" y="253999"/>
                    <a:pt x="1651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01600" y="114300"/>
                  </a:moveTo>
                  <a:cubicBezTo>
                    <a:pt x="74531" y="114300"/>
                    <a:pt x="52217" y="135525"/>
                    <a:pt x="50863" y="162560"/>
                  </a:cubicBezTo>
                  <a:lnTo>
                    <a:pt x="50800" y="165100"/>
                  </a:lnTo>
                  <a:cubicBezTo>
                    <a:pt x="50800" y="193156"/>
                    <a:pt x="73544" y="215899"/>
                    <a:pt x="101600" y="215899"/>
                  </a:cubicBezTo>
                  <a:cubicBezTo>
                    <a:pt x="129656" y="215899"/>
                    <a:pt x="152400" y="193156"/>
                    <a:pt x="152400" y="165100"/>
                  </a:cubicBezTo>
                  <a:cubicBezTo>
                    <a:pt x="152400" y="137044"/>
                    <a:pt x="129656" y="114300"/>
                    <a:pt x="101600" y="114300"/>
                  </a:cubicBezTo>
                  <a:moveTo>
                    <a:pt x="101600" y="50800"/>
                  </a:moveTo>
                  <a:cubicBezTo>
                    <a:pt x="94586" y="50800"/>
                    <a:pt x="88900" y="56486"/>
                    <a:pt x="88900" y="63500"/>
                  </a:cubicBezTo>
                  <a:lnTo>
                    <a:pt x="88900" y="63627"/>
                  </a:lnTo>
                  <a:cubicBezTo>
                    <a:pt x="88900" y="70641"/>
                    <a:pt x="94586" y="76327"/>
                    <a:pt x="101600" y="76327"/>
                  </a:cubicBezTo>
                  <a:cubicBezTo>
                    <a:pt x="108614" y="76327"/>
                    <a:pt x="114300" y="70641"/>
                    <a:pt x="114300" y="63627"/>
                  </a:cubicBezTo>
                  <a:lnTo>
                    <a:pt x="114300" y="63500"/>
                  </a:lnTo>
                  <a:cubicBezTo>
                    <a:pt x="114300" y="56486"/>
                    <a:pt x="108614" y="50800"/>
                    <a:pt x="101600" y="508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15568" y="3898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让电脑说话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33650" y="37528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2724150" y="3959225"/>
              <a:ext cx="228599" cy="253999"/>
            </a:xfrm>
            <a:custGeom>
              <a:avLst/>
              <a:gdLst/>
              <a:ahLst/>
              <a:cxnLst/>
              <a:rect l="l" t="t" r="r" b="b"/>
              <a:pathLst>
                <a:path w="228599" h="253999">
                  <a:moveTo>
                    <a:pt x="190500" y="0"/>
                  </a:moveTo>
                  <a:cubicBezTo>
                    <a:pt x="211542" y="0"/>
                    <a:pt x="228599" y="17058"/>
                    <a:pt x="228599" y="38100"/>
                  </a:cubicBezTo>
                  <a:lnTo>
                    <a:pt x="228599" y="215899"/>
                  </a:lnTo>
                  <a:cubicBezTo>
                    <a:pt x="228599" y="236941"/>
                    <a:pt x="211542" y="253999"/>
                    <a:pt x="190500" y="253999"/>
                  </a:cubicBezTo>
                  <a:lnTo>
                    <a:pt x="38100" y="253999"/>
                  </a:lnTo>
                  <a:cubicBezTo>
                    <a:pt x="17058" y="253999"/>
                    <a:pt x="0" y="236941"/>
                    <a:pt x="0" y="215899"/>
                  </a:cubicBez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63500" y="190500"/>
                  </a:moveTo>
                  <a:cubicBezTo>
                    <a:pt x="56486" y="190500"/>
                    <a:pt x="50800" y="196185"/>
                    <a:pt x="50800" y="203199"/>
                  </a:cubicBezTo>
                  <a:lnTo>
                    <a:pt x="50889" y="204812"/>
                  </a:lnTo>
                  <a:cubicBezTo>
                    <a:pt x="51682" y="211485"/>
                    <a:pt x="57536" y="216384"/>
                    <a:pt x="64244" y="215991"/>
                  </a:cubicBezTo>
                  <a:cubicBezTo>
                    <a:pt x="70952" y="215597"/>
                    <a:pt x="76192" y="210046"/>
                    <a:pt x="76200" y="203326"/>
                  </a:cubicBezTo>
                  <a:lnTo>
                    <a:pt x="76111" y="201714"/>
                  </a:lnTo>
                  <a:cubicBezTo>
                    <a:pt x="75358" y="195319"/>
                    <a:pt x="69938" y="190500"/>
                    <a:pt x="63500" y="190500"/>
                  </a:cubicBezTo>
                  <a:close/>
                  <a:moveTo>
                    <a:pt x="114300" y="190500"/>
                  </a:moveTo>
                  <a:cubicBezTo>
                    <a:pt x="107286" y="190500"/>
                    <a:pt x="101600" y="196185"/>
                    <a:pt x="101600" y="203199"/>
                  </a:cubicBezTo>
                  <a:lnTo>
                    <a:pt x="101689" y="204812"/>
                  </a:lnTo>
                  <a:cubicBezTo>
                    <a:pt x="102482" y="211485"/>
                    <a:pt x="108336" y="216384"/>
                    <a:pt x="115044" y="215991"/>
                  </a:cubicBezTo>
                  <a:cubicBezTo>
                    <a:pt x="121752" y="215597"/>
                    <a:pt x="126992" y="210046"/>
                    <a:pt x="127000" y="203326"/>
                  </a:cubicBezTo>
                  <a:lnTo>
                    <a:pt x="126911" y="201714"/>
                  </a:lnTo>
                  <a:cubicBezTo>
                    <a:pt x="126157" y="195319"/>
                    <a:pt x="120738" y="190500"/>
                    <a:pt x="114300" y="190500"/>
                  </a:cubicBezTo>
                  <a:close/>
                  <a:moveTo>
                    <a:pt x="165100" y="190500"/>
                  </a:moveTo>
                  <a:cubicBezTo>
                    <a:pt x="158086" y="190500"/>
                    <a:pt x="152400" y="196185"/>
                    <a:pt x="152400" y="203199"/>
                  </a:cubicBezTo>
                  <a:lnTo>
                    <a:pt x="152489" y="204812"/>
                  </a:lnTo>
                  <a:cubicBezTo>
                    <a:pt x="153282" y="211485"/>
                    <a:pt x="159136" y="216384"/>
                    <a:pt x="165844" y="215991"/>
                  </a:cubicBezTo>
                  <a:cubicBezTo>
                    <a:pt x="172552" y="215597"/>
                    <a:pt x="177792" y="210046"/>
                    <a:pt x="177800" y="203326"/>
                  </a:cubicBezTo>
                  <a:lnTo>
                    <a:pt x="177711" y="201714"/>
                  </a:lnTo>
                  <a:cubicBezTo>
                    <a:pt x="176957" y="195319"/>
                    <a:pt x="171538" y="190500"/>
                    <a:pt x="165100" y="190500"/>
                  </a:cubicBezTo>
                  <a:close/>
                  <a:moveTo>
                    <a:pt x="63500" y="139700"/>
                  </a:moveTo>
                  <a:cubicBezTo>
                    <a:pt x="56486" y="139700"/>
                    <a:pt x="50800" y="145386"/>
                    <a:pt x="50800" y="152400"/>
                  </a:cubicBezTo>
                  <a:lnTo>
                    <a:pt x="50889" y="154013"/>
                  </a:lnTo>
                  <a:cubicBezTo>
                    <a:pt x="51682" y="160685"/>
                    <a:pt x="57536" y="165584"/>
                    <a:pt x="64244" y="165191"/>
                  </a:cubicBezTo>
                  <a:cubicBezTo>
                    <a:pt x="70952" y="164797"/>
                    <a:pt x="76192" y="159246"/>
                    <a:pt x="76200" y="152527"/>
                  </a:cubicBezTo>
                  <a:lnTo>
                    <a:pt x="76111" y="150914"/>
                  </a:lnTo>
                  <a:cubicBezTo>
                    <a:pt x="75358" y="144519"/>
                    <a:pt x="69938" y="139701"/>
                    <a:pt x="63500" y="139700"/>
                  </a:cubicBezTo>
                  <a:close/>
                  <a:moveTo>
                    <a:pt x="114300" y="139700"/>
                  </a:moveTo>
                  <a:cubicBezTo>
                    <a:pt x="107286" y="139700"/>
                    <a:pt x="101600" y="145386"/>
                    <a:pt x="101600" y="152400"/>
                  </a:cubicBezTo>
                  <a:lnTo>
                    <a:pt x="101689" y="154013"/>
                  </a:lnTo>
                  <a:cubicBezTo>
                    <a:pt x="102482" y="160685"/>
                    <a:pt x="108336" y="165584"/>
                    <a:pt x="115044" y="165191"/>
                  </a:cubicBezTo>
                  <a:cubicBezTo>
                    <a:pt x="121752" y="164797"/>
                    <a:pt x="126992" y="159246"/>
                    <a:pt x="127000" y="152527"/>
                  </a:cubicBezTo>
                  <a:lnTo>
                    <a:pt x="126911" y="150914"/>
                  </a:lnTo>
                  <a:cubicBezTo>
                    <a:pt x="126157" y="144519"/>
                    <a:pt x="120738" y="139701"/>
                    <a:pt x="114300" y="139700"/>
                  </a:cubicBezTo>
                  <a:close/>
                  <a:moveTo>
                    <a:pt x="165100" y="139700"/>
                  </a:moveTo>
                  <a:cubicBezTo>
                    <a:pt x="158086" y="139700"/>
                    <a:pt x="152400" y="145386"/>
                    <a:pt x="152400" y="152400"/>
                  </a:cubicBezTo>
                  <a:lnTo>
                    <a:pt x="152489" y="154013"/>
                  </a:lnTo>
                  <a:cubicBezTo>
                    <a:pt x="153282" y="160685"/>
                    <a:pt x="159136" y="165584"/>
                    <a:pt x="165844" y="165191"/>
                  </a:cubicBezTo>
                  <a:cubicBezTo>
                    <a:pt x="172552" y="164797"/>
                    <a:pt x="177792" y="159246"/>
                    <a:pt x="177800" y="152527"/>
                  </a:cubicBezTo>
                  <a:lnTo>
                    <a:pt x="177711" y="150914"/>
                  </a:lnTo>
                  <a:cubicBezTo>
                    <a:pt x="176957" y="144519"/>
                    <a:pt x="171538" y="139701"/>
                    <a:pt x="165100" y="139700"/>
                  </a:cubicBezTo>
                  <a:close/>
                  <a:moveTo>
                    <a:pt x="152400" y="50800"/>
                  </a:moveTo>
                  <a:lnTo>
                    <a:pt x="76200" y="50800"/>
                  </a:lnTo>
                  <a:cubicBezTo>
                    <a:pt x="62172" y="50800"/>
                    <a:pt x="50800" y="62172"/>
                    <a:pt x="50800" y="76200"/>
                  </a:cubicBezTo>
                  <a:lnTo>
                    <a:pt x="50800" y="88900"/>
                  </a:lnTo>
                  <a:cubicBezTo>
                    <a:pt x="50800" y="102928"/>
                    <a:pt x="62172" y="114300"/>
                    <a:pt x="76200" y="114300"/>
                  </a:cubicBezTo>
                  <a:lnTo>
                    <a:pt x="152400" y="114300"/>
                  </a:lnTo>
                  <a:cubicBezTo>
                    <a:pt x="166428" y="114300"/>
                    <a:pt x="177800" y="102928"/>
                    <a:pt x="177800" y="88900"/>
                  </a:cubicBezTo>
                  <a:lnTo>
                    <a:pt x="177800" y="76200"/>
                  </a:lnTo>
                  <a:cubicBezTo>
                    <a:pt x="177800" y="62172"/>
                    <a:pt x="166428" y="50800"/>
                    <a:pt x="152400" y="5080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58668" y="40128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让电脑计算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476750" y="3638550"/>
              <a:ext cx="1847850" cy="666750"/>
            </a:xfrm>
            <a:prstGeom prst="roundRect">
              <a:avLst>
                <a:gd name="adj" fmla="val 314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4641189" y="3832251"/>
              <a:ext cx="280581" cy="267415"/>
            </a:xfrm>
            <a:custGeom>
              <a:avLst/>
              <a:gdLst/>
              <a:ahLst/>
              <a:cxnLst/>
              <a:rect l="l" t="t" r="r" b="b"/>
              <a:pathLst>
                <a:path w="280581" h="267415">
                  <a:moveTo>
                    <a:pt x="92647" y="80492"/>
                  </a:moveTo>
                  <a:lnTo>
                    <a:pt x="11621" y="92239"/>
                  </a:lnTo>
                  <a:lnTo>
                    <a:pt x="10186" y="92532"/>
                  </a:lnTo>
                  <a:cubicBezTo>
                    <a:pt x="5763" y="93706"/>
                    <a:pt x="2314" y="97168"/>
                    <a:pt x="1157" y="101596"/>
                  </a:cubicBezTo>
                  <a:cubicBezTo>
                    <a:pt x="0" y="106023"/>
                    <a:pt x="1314" y="110731"/>
                    <a:pt x="4598" y="113918"/>
                  </a:cubicBezTo>
                  <a:lnTo>
                    <a:pt x="63297" y="171055"/>
                  </a:lnTo>
                  <a:lnTo>
                    <a:pt x="49454" y="251764"/>
                  </a:lnTo>
                  <a:lnTo>
                    <a:pt x="49289" y="253161"/>
                  </a:lnTo>
                  <a:cubicBezTo>
                    <a:pt x="49018" y="257735"/>
                    <a:pt x="51233" y="262101"/>
                    <a:pt x="55084" y="264585"/>
                  </a:cubicBezTo>
                  <a:cubicBezTo>
                    <a:pt x="58936" y="267068"/>
                    <a:pt x="63826" y="267284"/>
                    <a:pt x="67882" y="265150"/>
                  </a:cubicBezTo>
                  <a:lnTo>
                    <a:pt x="140348" y="227050"/>
                  </a:lnTo>
                  <a:lnTo>
                    <a:pt x="212649" y="265150"/>
                  </a:lnTo>
                  <a:lnTo>
                    <a:pt x="213919" y="265734"/>
                  </a:lnTo>
                  <a:cubicBezTo>
                    <a:pt x="218187" y="267415"/>
                    <a:pt x="223030" y="266664"/>
                    <a:pt x="226588" y="263769"/>
                  </a:cubicBezTo>
                  <a:cubicBezTo>
                    <a:pt x="230146" y="260874"/>
                    <a:pt x="231867" y="256285"/>
                    <a:pt x="231089" y="251764"/>
                  </a:cubicBezTo>
                  <a:lnTo>
                    <a:pt x="217233" y="171055"/>
                  </a:lnTo>
                  <a:lnTo>
                    <a:pt x="275958" y="113906"/>
                  </a:lnTo>
                  <a:lnTo>
                    <a:pt x="276949" y="112826"/>
                  </a:lnTo>
                  <a:cubicBezTo>
                    <a:pt x="279829" y="109278"/>
                    <a:pt x="280581" y="104456"/>
                    <a:pt x="278918" y="100199"/>
                  </a:cubicBezTo>
                  <a:cubicBezTo>
                    <a:pt x="277255" y="95942"/>
                    <a:pt x="273433" y="92907"/>
                    <a:pt x="268909" y="92252"/>
                  </a:cubicBezTo>
                  <a:lnTo>
                    <a:pt x="187884" y="80492"/>
                  </a:lnTo>
                  <a:lnTo>
                    <a:pt x="151663" y="7086"/>
                  </a:lnTo>
                  <a:cubicBezTo>
                    <a:pt x="149525" y="2748"/>
                    <a:pt x="145108" y="0"/>
                    <a:pt x="140271" y="0"/>
                  </a:cubicBezTo>
                  <a:cubicBezTo>
                    <a:pt x="135435" y="0"/>
                    <a:pt x="131018" y="2748"/>
                    <a:pt x="128880" y="7086"/>
                  </a:cubicBezTo>
                  <a:lnTo>
                    <a:pt x="92647" y="804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01768" y="38985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让电脑画图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90550" y="4953000"/>
            <a:ext cx="6000750" cy="933450"/>
            <a:chOff x="590550" y="4953000"/>
            <a:chExt cx="6000750" cy="933450"/>
          </a:xfrm>
        </p:grpSpPr>
        <p:sp>
          <p:nvSpPr>
            <p:cNvPr id="23" name="Rectangle 23"/>
            <p:cNvSpPr/>
            <p:nvPr/>
          </p:nvSpPr>
          <p:spPr>
            <a:xfrm>
              <a:off x="590550" y="4953000"/>
              <a:ext cx="5048250" cy="933450"/>
            </a:xfrm>
            <a:prstGeom prst="roundRect">
              <a:avLst>
                <a:gd name="adj" fmla="val 2653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71525" y="50958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981075" y="50958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1190625" y="5095875"/>
              <a:ext cx="133350" cy="13335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9818" y="5441632"/>
              <a:ext cx="251698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"Hello, C++!";</a:t>
              </a:r>
              <a:endParaRPr lang="zh-CN" sz="16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486400" y="5105400"/>
              <a:ext cx="1104900" cy="628650"/>
            </a:xfrm>
            <a:prstGeom prst="roundRect">
              <a:avLst>
                <a:gd name="adj" fmla="val 3030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51195" y="5353050"/>
              <a:ext cx="5753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RUN ▶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410450" y="1123950"/>
            <a:ext cx="3957385" cy="5124450"/>
            <a:chOff x="7410450" y="1123950"/>
            <a:chExt cx="3957385" cy="5124450"/>
          </a:xfrm>
        </p:grpSpPr>
        <p:sp>
          <p:nvSpPr>
            <p:cNvPr id="31" name="Ellipse 31"/>
            <p:cNvSpPr/>
            <p:nvPr/>
          </p:nvSpPr>
          <p:spPr>
            <a:xfrm>
              <a:off x="7962900" y="5791200"/>
              <a:ext cx="3276600" cy="457200"/>
            </a:xfrm>
            <a:prstGeom prst="ellipse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7410450" y="1123950"/>
              <a:ext cx="2476500" cy="1066800"/>
            </a:xfrm>
            <a:prstGeom prst="roundRect">
              <a:avLst>
                <a:gd name="adj" fmla="val 3035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687056" y="13677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准备好了吗？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87818" y="17459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我们一起让电脑开口！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5" name="Image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34615" y="1809750"/>
              <a:ext cx="3133220" cy="4095750"/>
            </a:xfrm>
            <a:prstGeom prst="rect">
              <a:avLst/>
            </a:prstGeom>
          </p:spPr>
        </p:pic>
        <p:sp>
          <p:nvSpPr>
            <p:cNvPr id="36" name="Rectangle 36"/>
            <p:cNvSpPr/>
            <p:nvPr/>
          </p:nvSpPr>
          <p:spPr>
            <a:xfrm>
              <a:off x="9829800" y="5276850"/>
              <a:ext cx="1466850" cy="533400"/>
            </a:xfrm>
            <a:prstGeom prst="roundRect">
              <a:avLst>
                <a:gd name="adj" fmla="val 3214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0088385" y="545115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大仙老师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>
            <a:alphaModFix amt="82000"/>
          </a:blip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24000"/>
            </a:scheme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497586" y="520065"/>
            <a:ext cx="2832278" cy="645414"/>
            <a:chOff x="497586" y="520065"/>
            <a:chExt cx="2832278" cy="645414"/>
          </a:xfrm>
        </p:grpSpPr>
        <p:sp>
          <p:nvSpPr>
            <p:cNvPr id="4" name="TextBox 4"/>
            <p:cNvSpPr txBox="1"/>
            <p:nvPr/>
          </p:nvSpPr>
          <p:spPr>
            <a:xfrm>
              <a:off x="497586" y="520065"/>
              <a:ext cx="283227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今天的三幕课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1047750"/>
              <a:ext cx="1790700" cy="9525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647700" y="1524000"/>
            <a:ext cx="3219450" cy="2438400"/>
            <a:chOff x="647700" y="1524000"/>
            <a:chExt cx="3219450" cy="2438400"/>
          </a:xfrm>
        </p:grpSpPr>
        <p:sp>
          <p:nvSpPr>
            <p:cNvPr id="7" name="Rectangle 7"/>
            <p:cNvSpPr/>
            <p:nvPr/>
          </p:nvSpPr>
          <p:spPr>
            <a:xfrm>
              <a:off x="647700" y="19621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800100" y="15240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94666" y="17983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24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Freeform 10"/>
            <p:cNvSpPr/>
            <p:nvPr/>
          </p:nvSpPr>
          <p:spPr>
            <a:xfrm>
              <a:off x="993773" y="2489481"/>
              <a:ext cx="434562" cy="436257"/>
            </a:xfrm>
            <a:custGeom>
              <a:avLst/>
              <a:gdLst/>
              <a:ahLst/>
              <a:cxnLst/>
              <a:rect l="l" t="t" r="r" b="b"/>
              <a:pathLst>
                <a:path w="434562" h="436257">
                  <a:moveTo>
                    <a:pt x="309566" y="36899"/>
                  </a:moveTo>
                  <a:cubicBezTo>
                    <a:pt x="396301" y="86975"/>
                    <a:pt x="434562" y="192098"/>
                    <a:pt x="400307" y="286211"/>
                  </a:cubicBezTo>
                  <a:cubicBezTo>
                    <a:pt x="366051" y="380324"/>
                    <a:pt x="269169" y="436257"/>
                    <a:pt x="170538" y="418864"/>
                  </a:cubicBezTo>
                  <a:cubicBezTo>
                    <a:pt x="71906" y="401471"/>
                    <a:pt x="0" y="315773"/>
                    <a:pt x="3" y="215620"/>
                  </a:cubicBezTo>
                  <a:lnTo>
                    <a:pt x="106" y="208933"/>
                  </a:lnTo>
                  <a:cubicBezTo>
                    <a:pt x="2457" y="136433"/>
                    <a:pt x="42698" y="70490"/>
                    <a:pt x="106098" y="35245"/>
                  </a:cubicBezTo>
                  <a:cubicBezTo>
                    <a:pt x="169498" y="0"/>
                    <a:pt x="246747" y="628"/>
                    <a:pt x="309566" y="36899"/>
                  </a:cubicBezTo>
                  <a:moveTo>
                    <a:pt x="179694" y="159754"/>
                  </a:moveTo>
                  <a:cubicBezTo>
                    <a:pt x="171635" y="151697"/>
                    <a:pt x="158571" y="151697"/>
                    <a:pt x="150512" y="159754"/>
                  </a:cubicBezTo>
                  <a:lnTo>
                    <a:pt x="109237" y="201029"/>
                  </a:lnTo>
                  <a:cubicBezTo>
                    <a:pt x="101180" y="209088"/>
                    <a:pt x="101180" y="222151"/>
                    <a:pt x="109237" y="230210"/>
                  </a:cubicBezTo>
                  <a:lnTo>
                    <a:pt x="150512" y="271485"/>
                  </a:lnTo>
                  <a:cubicBezTo>
                    <a:pt x="158571" y="279542"/>
                    <a:pt x="171635" y="279542"/>
                    <a:pt x="179694" y="271485"/>
                  </a:cubicBezTo>
                  <a:lnTo>
                    <a:pt x="181406" y="269546"/>
                  </a:lnTo>
                  <a:cubicBezTo>
                    <a:pt x="187779" y="261330"/>
                    <a:pt x="187045" y="249657"/>
                    <a:pt x="179694" y="242304"/>
                  </a:cubicBezTo>
                  <a:lnTo>
                    <a:pt x="153030" y="215620"/>
                  </a:lnTo>
                  <a:lnTo>
                    <a:pt x="179694" y="188935"/>
                  </a:lnTo>
                  <a:cubicBezTo>
                    <a:pt x="187750" y="180876"/>
                    <a:pt x="187750" y="167813"/>
                    <a:pt x="179694" y="159754"/>
                  </a:cubicBezTo>
                  <a:moveTo>
                    <a:pt x="262244" y="159754"/>
                  </a:moveTo>
                  <a:cubicBezTo>
                    <a:pt x="254185" y="151697"/>
                    <a:pt x="241121" y="151697"/>
                    <a:pt x="233062" y="159754"/>
                  </a:cubicBezTo>
                  <a:lnTo>
                    <a:pt x="231349" y="161694"/>
                  </a:lnTo>
                  <a:cubicBezTo>
                    <a:pt x="224976" y="169909"/>
                    <a:pt x="225710" y="181583"/>
                    <a:pt x="233062" y="188935"/>
                  </a:cubicBezTo>
                  <a:lnTo>
                    <a:pt x="259726" y="215620"/>
                  </a:lnTo>
                  <a:lnTo>
                    <a:pt x="233062" y="242304"/>
                  </a:lnTo>
                  <a:cubicBezTo>
                    <a:pt x="225241" y="250402"/>
                    <a:pt x="225353" y="263273"/>
                    <a:pt x="233314" y="271234"/>
                  </a:cubicBezTo>
                  <a:cubicBezTo>
                    <a:pt x="241274" y="279195"/>
                    <a:pt x="254146" y="279307"/>
                    <a:pt x="262244" y="271485"/>
                  </a:cubicBezTo>
                  <a:lnTo>
                    <a:pt x="303519" y="230210"/>
                  </a:lnTo>
                  <a:cubicBezTo>
                    <a:pt x="311575" y="222151"/>
                    <a:pt x="311575" y="209088"/>
                    <a:pt x="303519" y="2010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45158" y="24650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新知精学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3356" y="3101340"/>
              <a:ext cx="18356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认识环境与 cout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4118" y="3498532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看见第一声输出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095750" y="1828800"/>
            <a:ext cx="3219450" cy="2438400"/>
            <a:chOff x="4095750" y="1828800"/>
            <a:chExt cx="3219450" cy="2438400"/>
          </a:xfrm>
        </p:grpSpPr>
        <p:sp>
          <p:nvSpPr>
            <p:cNvPr id="15" name="Rectangle 15"/>
            <p:cNvSpPr/>
            <p:nvPr/>
          </p:nvSpPr>
          <p:spPr>
            <a:xfrm>
              <a:off x="4095750" y="2266950"/>
              <a:ext cx="3219450" cy="2000250"/>
            </a:xfrm>
            <a:prstGeom prst="roundRect">
              <a:avLst>
                <a:gd name="adj" fmla="val 1809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248150" y="18288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2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542716" y="21031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24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Freeform 18"/>
            <p:cNvSpPr/>
            <p:nvPr/>
          </p:nvSpPr>
          <p:spPr>
            <a:xfrm>
              <a:off x="4441818" y="2803523"/>
              <a:ext cx="413774" cy="412759"/>
            </a:xfrm>
            <a:custGeom>
              <a:avLst/>
              <a:gdLst/>
              <a:ahLst/>
              <a:cxnLst/>
              <a:rect l="l" t="t" r="r" b="b"/>
              <a:pathLst>
                <a:path w="413774" h="412759">
                  <a:moveTo>
                    <a:pt x="165107" y="2"/>
                  </a:moveTo>
                  <a:cubicBezTo>
                    <a:pt x="197891" y="0"/>
                    <a:pt x="224993" y="25555"/>
                    <a:pt x="226916" y="58282"/>
                  </a:cubicBezTo>
                  <a:lnTo>
                    <a:pt x="227020" y="61914"/>
                  </a:lnTo>
                  <a:lnTo>
                    <a:pt x="227020" y="82552"/>
                  </a:lnTo>
                  <a:lnTo>
                    <a:pt x="288932" y="82552"/>
                  </a:lnTo>
                  <a:cubicBezTo>
                    <a:pt x="310532" y="82545"/>
                    <a:pt x="328484" y="99192"/>
                    <a:pt x="330104" y="120731"/>
                  </a:cubicBezTo>
                  <a:lnTo>
                    <a:pt x="330207" y="123827"/>
                  </a:lnTo>
                  <a:lnTo>
                    <a:pt x="330207" y="185740"/>
                  </a:lnTo>
                  <a:lnTo>
                    <a:pt x="350845" y="185740"/>
                  </a:lnTo>
                  <a:cubicBezTo>
                    <a:pt x="384354" y="185707"/>
                    <a:pt x="411807" y="212341"/>
                    <a:pt x="412790" y="245835"/>
                  </a:cubicBezTo>
                  <a:cubicBezTo>
                    <a:pt x="413774" y="279330"/>
                    <a:pt x="387930" y="307528"/>
                    <a:pt x="354477" y="309462"/>
                  </a:cubicBezTo>
                  <a:lnTo>
                    <a:pt x="350845" y="309565"/>
                  </a:lnTo>
                  <a:lnTo>
                    <a:pt x="330207" y="309565"/>
                  </a:lnTo>
                  <a:lnTo>
                    <a:pt x="330207" y="371477"/>
                  </a:lnTo>
                  <a:cubicBezTo>
                    <a:pt x="330214" y="393077"/>
                    <a:pt x="313567" y="411029"/>
                    <a:pt x="292028" y="412649"/>
                  </a:cubicBezTo>
                  <a:lnTo>
                    <a:pt x="288932" y="412752"/>
                  </a:lnTo>
                  <a:lnTo>
                    <a:pt x="227020" y="412752"/>
                  </a:lnTo>
                  <a:cubicBezTo>
                    <a:pt x="205420" y="412759"/>
                    <a:pt x="187468" y="396112"/>
                    <a:pt x="185848" y="374573"/>
                  </a:cubicBezTo>
                  <a:lnTo>
                    <a:pt x="185745" y="371477"/>
                  </a:lnTo>
                  <a:lnTo>
                    <a:pt x="185745" y="350840"/>
                  </a:lnTo>
                  <a:cubicBezTo>
                    <a:pt x="185733" y="339921"/>
                    <a:pt x="177217" y="330901"/>
                    <a:pt x="166317" y="330261"/>
                  </a:cubicBezTo>
                  <a:cubicBezTo>
                    <a:pt x="155416" y="329621"/>
                    <a:pt x="145904" y="337583"/>
                    <a:pt x="144614" y="348425"/>
                  </a:cubicBezTo>
                  <a:lnTo>
                    <a:pt x="144470" y="350840"/>
                  </a:lnTo>
                  <a:lnTo>
                    <a:pt x="144470" y="371477"/>
                  </a:lnTo>
                  <a:cubicBezTo>
                    <a:pt x="144476" y="393077"/>
                    <a:pt x="127829" y="411029"/>
                    <a:pt x="106290" y="412649"/>
                  </a:cubicBezTo>
                  <a:lnTo>
                    <a:pt x="103194" y="412752"/>
                  </a:lnTo>
                  <a:lnTo>
                    <a:pt x="41282" y="412752"/>
                  </a:lnTo>
                  <a:cubicBezTo>
                    <a:pt x="19682" y="412759"/>
                    <a:pt x="1730" y="396112"/>
                    <a:pt x="110" y="374573"/>
                  </a:cubicBezTo>
                  <a:lnTo>
                    <a:pt x="7" y="371477"/>
                  </a:lnTo>
                  <a:lnTo>
                    <a:pt x="7" y="309565"/>
                  </a:lnTo>
                  <a:cubicBezTo>
                    <a:pt x="0" y="287965"/>
                    <a:pt x="16647" y="270013"/>
                    <a:pt x="38186" y="268393"/>
                  </a:cubicBezTo>
                  <a:lnTo>
                    <a:pt x="41282" y="268290"/>
                  </a:lnTo>
                  <a:lnTo>
                    <a:pt x="61919" y="268290"/>
                  </a:lnTo>
                  <a:cubicBezTo>
                    <a:pt x="72839" y="268278"/>
                    <a:pt x="81859" y="259762"/>
                    <a:pt x="82499" y="248862"/>
                  </a:cubicBezTo>
                  <a:cubicBezTo>
                    <a:pt x="83139" y="237961"/>
                    <a:pt x="75177" y="228449"/>
                    <a:pt x="64334" y="227159"/>
                  </a:cubicBezTo>
                  <a:lnTo>
                    <a:pt x="61919" y="227015"/>
                  </a:lnTo>
                  <a:lnTo>
                    <a:pt x="41282" y="227015"/>
                  </a:lnTo>
                  <a:cubicBezTo>
                    <a:pt x="19682" y="227022"/>
                    <a:pt x="1730" y="210374"/>
                    <a:pt x="110" y="188835"/>
                  </a:cubicBezTo>
                  <a:lnTo>
                    <a:pt x="7" y="185740"/>
                  </a:lnTo>
                  <a:lnTo>
                    <a:pt x="7" y="123827"/>
                  </a:lnTo>
                  <a:cubicBezTo>
                    <a:pt x="0" y="102227"/>
                    <a:pt x="16647" y="84275"/>
                    <a:pt x="38186" y="82655"/>
                  </a:cubicBezTo>
                  <a:lnTo>
                    <a:pt x="41282" y="82552"/>
                  </a:lnTo>
                  <a:lnTo>
                    <a:pt x="103194" y="82552"/>
                  </a:lnTo>
                  <a:lnTo>
                    <a:pt x="103194" y="61914"/>
                  </a:lnTo>
                  <a:cubicBezTo>
                    <a:pt x="103194" y="27721"/>
                    <a:pt x="130914" y="2"/>
                    <a:pt x="165107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3208" y="27698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知识梳理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91406" y="34061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记住五要素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392168" y="38033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整理输出规则</a:t>
              </a:r>
              <a:endParaRPr lang="zh-CN" sz="16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543800" y="2133600"/>
            <a:ext cx="4000500" cy="2438400"/>
            <a:chOff x="7543800" y="2133600"/>
            <a:chExt cx="4000500" cy="2438400"/>
          </a:xfrm>
        </p:grpSpPr>
        <p:sp>
          <p:nvSpPr>
            <p:cNvPr id="23" name="Rectangle 23"/>
            <p:cNvSpPr/>
            <p:nvPr/>
          </p:nvSpPr>
          <p:spPr>
            <a:xfrm>
              <a:off x="7543800" y="2571750"/>
              <a:ext cx="4000500" cy="2000250"/>
            </a:xfrm>
            <a:prstGeom prst="roundRect">
              <a:avLst>
                <a:gd name="adj" fmla="val 1809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7696200" y="2133600"/>
              <a:ext cx="800100" cy="800100"/>
            </a:xfrm>
            <a:prstGeom prst="ellipse">
              <a:avLst/>
            </a:prstGeom>
            <a:solidFill>
              <a:srgbClr val="FFFFFF"/>
            </a:solidFill>
            <a:ln w="76200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90766" y="2407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24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7898420" y="3137272"/>
              <a:ext cx="383568" cy="344538"/>
              <a:chOff x="7898420" y="3137272"/>
              <a:chExt cx="383568" cy="3445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7898420" y="31372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7898420" y="326109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7898420" y="33849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54975" y="31702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54975" y="329406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054975" y="34178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8541258" y="3074670"/>
              <a:ext cx="13813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综合精练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839456" y="3710940"/>
              <a:ext cx="17508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独立完成 8 道题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840218" y="41081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把方法带回家</a:t>
              </a:r>
              <a:endParaRPr lang="zh-CN" sz="16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47700" y="5219700"/>
            <a:ext cx="10896600" cy="876300"/>
            <a:chOff x="647700" y="5219700"/>
            <a:chExt cx="10896600" cy="876300"/>
          </a:xfrm>
        </p:grpSpPr>
        <p:sp>
          <p:nvSpPr>
            <p:cNvPr id="37" name="Rectangle 37"/>
            <p:cNvSpPr/>
            <p:nvPr/>
          </p:nvSpPr>
          <p:spPr>
            <a:xfrm>
              <a:off x="647700" y="5219700"/>
              <a:ext cx="10896600" cy="876300"/>
            </a:xfrm>
            <a:prstGeom prst="roundRect">
              <a:avLst>
                <a:gd name="adj" fmla="val 30435"/>
              </a:avLst>
            </a:prstGeom>
            <a:solidFill>
              <a:schemeClr val="lt2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28218" y="5462588"/>
              <a:ext cx="334315" cy="333375"/>
              <a:chOff x="928218" y="5462588"/>
              <a:chExt cx="334315" cy="333375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928218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78706" y="5462588"/>
                <a:ext cx="33338" cy="50476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50476">
                    <a:moveTo>
                      <a:pt x="16669" y="0"/>
                    </a:moveTo>
                    <a:cubicBezTo>
                      <a:pt x="25119" y="1"/>
                      <a:pt x="32232" y="6326"/>
                      <a:pt x="33221" y="14719"/>
                    </a:cubicBezTo>
                    <a:lnTo>
                      <a:pt x="33338" y="16669"/>
                    </a:lnTo>
                    <a:lnTo>
                      <a:pt x="33338" y="33338"/>
                    </a:lnTo>
                    <a:cubicBezTo>
                      <a:pt x="33328" y="42157"/>
                      <a:pt x="26450" y="49442"/>
                      <a:pt x="17646" y="49959"/>
                    </a:cubicBezTo>
                    <a:cubicBezTo>
                      <a:pt x="8841" y="50476"/>
                      <a:pt x="1158" y="44045"/>
                      <a:pt x="117" y="35288"/>
                    </a:cubicBezTo>
                    <a:lnTo>
                      <a:pt x="0" y="33338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211587" y="5612606"/>
                <a:ext cx="50946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50946" h="33338">
                    <a:moveTo>
                      <a:pt x="33807" y="0"/>
                    </a:moveTo>
                    <a:cubicBezTo>
                      <a:pt x="42627" y="10"/>
                      <a:pt x="49912" y="6888"/>
                      <a:pt x="50429" y="15692"/>
                    </a:cubicBezTo>
                    <a:cubicBezTo>
                      <a:pt x="50946" y="24496"/>
                      <a:pt x="44515" y="32179"/>
                      <a:pt x="35757" y="33221"/>
                    </a:cubicBezTo>
                    <a:lnTo>
                      <a:pt x="33807" y="33338"/>
                    </a:lnTo>
                    <a:lnTo>
                      <a:pt x="17138" y="33338"/>
                    </a:lnTo>
                    <a:cubicBezTo>
                      <a:pt x="8319" y="33328"/>
                      <a:pt x="1034" y="26450"/>
                      <a:pt x="517" y="17646"/>
                    </a:cubicBezTo>
                    <a:cubicBezTo>
                      <a:pt x="0" y="8841"/>
                      <a:pt x="6431" y="1158"/>
                      <a:pt x="15188" y="117"/>
                    </a:cubicBezTo>
                    <a:lnTo>
                      <a:pt x="17138" y="0"/>
                    </a:lnTo>
                    <a:lnTo>
                      <a:pt x="3380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70403" y="5504279"/>
                <a:ext cx="48254" cy="48528"/>
              </a:xfrm>
              <a:custGeom>
                <a:avLst/>
                <a:gdLst/>
                <a:ahLst/>
                <a:cxnLst/>
                <a:rect l="l" t="t" r="r" b="b"/>
                <a:pathLst>
                  <a:path w="48254" h="48528">
                    <a:moveTo>
                      <a:pt x="6507" y="6531"/>
                    </a:moveTo>
                    <a:cubicBezTo>
                      <a:pt x="12446" y="593"/>
                      <a:pt x="21874" y="0"/>
                      <a:pt x="28510" y="5147"/>
                    </a:cubicBezTo>
                    <a:lnTo>
                      <a:pt x="30077" y="6531"/>
                    </a:lnTo>
                    <a:lnTo>
                      <a:pt x="41745" y="18199"/>
                    </a:lnTo>
                    <a:cubicBezTo>
                      <a:pt x="47949" y="24424"/>
                      <a:pt x="48254" y="34397"/>
                      <a:pt x="42441" y="40990"/>
                    </a:cubicBezTo>
                    <a:cubicBezTo>
                      <a:pt x="36628" y="47582"/>
                      <a:pt x="26695" y="48528"/>
                      <a:pt x="19742" y="43152"/>
                    </a:cubicBezTo>
                    <a:lnTo>
                      <a:pt x="18175" y="41769"/>
                    </a:lnTo>
                    <a:lnTo>
                      <a:pt x="6507" y="30100"/>
                    </a:lnTo>
                    <a:cubicBezTo>
                      <a:pt x="0" y="23591"/>
                      <a:pt x="0" y="13040"/>
                      <a:pt x="6507" y="653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171842" y="5504301"/>
                <a:ext cx="48757" cy="48255"/>
              </a:xfrm>
              <a:custGeom>
                <a:avLst/>
                <a:gdLst/>
                <a:ahLst/>
                <a:cxnLst/>
                <a:rect l="l" t="t" r="r" b="b"/>
                <a:pathLst>
                  <a:path w="48757" h="48255">
                    <a:moveTo>
                      <a:pt x="18428" y="6509"/>
                    </a:moveTo>
                    <a:cubicBezTo>
                      <a:pt x="24653" y="305"/>
                      <a:pt x="34626" y="0"/>
                      <a:pt x="41219" y="5813"/>
                    </a:cubicBezTo>
                    <a:cubicBezTo>
                      <a:pt x="47811" y="11626"/>
                      <a:pt x="48757" y="21559"/>
                      <a:pt x="43381" y="28512"/>
                    </a:cubicBezTo>
                    <a:lnTo>
                      <a:pt x="41997" y="30078"/>
                    </a:lnTo>
                    <a:lnTo>
                      <a:pt x="30329" y="41747"/>
                    </a:lnTo>
                    <a:cubicBezTo>
                      <a:pt x="24104" y="47951"/>
                      <a:pt x="14131" y="48255"/>
                      <a:pt x="7539" y="42443"/>
                    </a:cubicBezTo>
                    <a:cubicBezTo>
                      <a:pt x="946" y="36630"/>
                      <a:pt x="0" y="26697"/>
                      <a:pt x="5376" y="19744"/>
                    </a:cubicBezTo>
                    <a:lnTo>
                      <a:pt x="6760" y="18177"/>
                    </a:lnTo>
                    <a:lnTo>
                      <a:pt x="18428" y="650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45369" y="5729288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83344" y="0"/>
                    </a:moveTo>
                    <a:cubicBezTo>
                      <a:pt x="92550" y="0"/>
                      <a:pt x="100012" y="7463"/>
                      <a:pt x="100012" y="16669"/>
                    </a:cubicBezTo>
                    <a:cubicBezTo>
                      <a:pt x="100012" y="44286"/>
                      <a:pt x="77624" y="66675"/>
                      <a:pt x="50006" y="66675"/>
                    </a:cubicBezTo>
                    <a:cubicBezTo>
                      <a:pt x="22389" y="66675"/>
                      <a:pt x="0" y="44286"/>
                      <a:pt x="0" y="16669"/>
                    </a:cubicBezTo>
                    <a:cubicBezTo>
                      <a:pt x="1" y="8218"/>
                      <a:pt x="6326" y="1105"/>
                      <a:pt x="14719" y="117"/>
                    </a:cubicBezTo>
                    <a:lnTo>
                      <a:pt x="16669" y="0"/>
                    </a:lnTo>
                    <a:lnTo>
                      <a:pt x="8334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86882" y="5529262"/>
                <a:ext cx="216987" cy="183356"/>
              </a:xfrm>
              <a:custGeom>
                <a:avLst/>
                <a:gdLst/>
                <a:ahLst/>
                <a:cxnLst/>
                <a:rect l="l" t="t" r="r" b="b"/>
                <a:pathLst>
                  <a:path w="216987" h="183356">
                    <a:moveTo>
                      <a:pt x="108493" y="0"/>
                    </a:moveTo>
                    <a:cubicBezTo>
                      <a:pt x="151542" y="0"/>
                      <a:pt x="189760" y="27546"/>
                      <a:pt x="203373" y="68386"/>
                    </a:cubicBezTo>
                    <a:cubicBezTo>
                      <a:pt x="216987" y="109225"/>
                      <a:pt x="202940" y="154193"/>
                      <a:pt x="168501" y="180022"/>
                    </a:cubicBezTo>
                    <a:cubicBezTo>
                      <a:pt x="166203" y="181748"/>
                      <a:pt x="163499" y="182851"/>
                      <a:pt x="160650" y="183223"/>
                    </a:cubicBezTo>
                    <a:lnTo>
                      <a:pt x="158500" y="183356"/>
                    </a:lnTo>
                    <a:lnTo>
                      <a:pt x="58487" y="183356"/>
                    </a:lnTo>
                    <a:cubicBezTo>
                      <a:pt x="54880" y="183356"/>
                      <a:pt x="51371" y="182186"/>
                      <a:pt x="48486" y="180022"/>
                    </a:cubicBezTo>
                    <a:cubicBezTo>
                      <a:pt x="14047" y="154193"/>
                      <a:pt x="0" y="109225"/>
                      <a:pt x="13613" y="68386"/>
                    </a:cubicBezTo>
                    <a:cubicBezTo>
                      <a:pt x="27226" y="27546"/>
                      <a:pt x="65445" y="0"/>
                      <a:pt x="10849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457706" y="53873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家长陪练提示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458468" y="5746432"/>
              <a:ext cx="514780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每幕结束，问孩子：“你能解释吗？你能自己写吗？”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26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>
              <a:alpha val="12000"/>
            </a:schemeClr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319212"/>
            <a:ext cx="2650007" cy="3029522"/>
            <a:chOff x="571500" y="1319212"/>
            <a:chExt cx="2650007" cy="3029522"/>
          </a:xfrm>
        </p:grpSpPr>
        <p:sp>
          <p:nvSpPr>
            <p:cNvPr id="4" name="TextBox 4"/>
            <p:cNvSpPr txBox="1"/>
            <p:nvPr/>
          </p:nvSpPr>
          <p:spPr>
            <a:xfrm>
              <a:off x="571500" y="131921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chemeClr val="accent2">
                      <a:alphaMod val="18000"/>
                    </a:schemeClr>
                  </a:solidFill>
                  <a:latin typeface="+mj-lt"/>
                  <a:ea typeface="+mj-ea"/>
                  <a:cs typeface="+mj-cs"/>
                </a:rPr>
                <a:t>01</a:t>
              </a:r>
              <a:endParaRPr lang="zh-CN" sz="14250" b="1" dirty="0">
                <a:solidFill>
                  <a:schemeClr val="accent2">
                    <a:alphaMod val="18000"/>
                  </a:scheme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23900" y="322611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新知精学</a:t>
              </a:r>
              <a:endParaRPr lang="zh-CN" sz="43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33806" y="399669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先让电脑说出第一句话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686300" y="1600200"/>
            <a:ext cx="4191000" cy="3009900"/>
            <a:chOff x="4686300" y="1600200"/>
            <a:chExt cx="4191000" cy="3009900"/>
          </a:xfrm>
        </p:grpSpPr>
        <p:sp>
          <p:nvSpPr>
            <p:cNvPr id="8" name="Rectangle 8"/>
            <p:cNvSpPr/>
            <p:nvPr/>
          </p:nvSpPr>
          <p:spPr>
            <a:xfrm>
              <a:off x="4686300" y="16002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368442" y="19107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认识环境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581650" y="268605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136576" y="299656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写下第一行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477000" y="3771900"/>
              <a:ext cx="2400300" cy="838200"/>
            </a:xfrm>
            <a:prstGeom prst="roundRect">
              <a:avLst>
                <a:gd name="adj" fmla="val 31818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904711" y="40824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看见运行结果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6724650" y="243840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7620000" y="3524250"/>
              <a:ext cx="9525" cy="247650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76200" cap="rnd">
              <a:solidFill>
                <a:schemeClr val="accent1"/>
              </a:solidFill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402730" y="914400"/>
            <a:ext cx="2987489" cy="4953000"/>
            <a:chOff x="8402730" y="914400"/>
            <a:chExt cx="2987489" cy="4953000"/>
          </a:xfrm>
        </p:grpSpPr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402730" y="1962150"/>
              <a:ext cx="2987489" cy="3905250"/>
            </a:xfrm>
            <a:prstGeom prst="rect">
              <a:avLst/>
            </a:prstGeom>
          </p:spPr>
        </p:pic>
        <p:sp>
          <p:nvSpPr>
            <p:cNvPr id="18" name="Rectangle 18"/>
            <p:cNvSpPr/>
            <p:nvPr/>
          </p:nvSpPr>
          <p:spPr>
            <a:xfrm>
              <a:off x="8458200" y="914400"/>
              <a:ext cx="2667000" cy="742950"/>
            </a:xfrm>
            <a:prstGeom prst="roundRect">
              <a:avLst>
                <a:gd name="adj" fmla="val 3589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733787" y="1203008"/>
              <a:ext cx="21158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我们从第一声开始！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35686" y="381000"/>
            <a:ext cx="6095374" cy="1298829"/>
            <a:chOff x="535686" y="381000"/>
            <a:chExt cx="6095374" cy="1298829"/>
          </a:xfrm>
        </p:grpSpPr>
        <p:sp>
          <p:nvSpPr>
            <p:cNvPr id="2" name="Rectangle 2"/>
            <p:cNvSpPr/>
            <p:nvPr/>
          </p:nvSpPr>
          <p:spPr>
            <a:xfrm>
              <a:off x="552450" y="381000"/>
              <a:ext cx="30099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51946" y="567690"/>
              <a:ext cx="2410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Y2060 · 计算机输出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35686" y="1034415"/>
              <a:ext cx="60953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任务：让电脑说 Hello World!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52450" y="1809750"/>
            <a:ext cx="3924300" cy="3371850"/>
            <a:chOff x="552450" y="1809750"/>
            <a:chExt cx="3924300" cy="3371850"/>
          </a:xfrm>
        </p:grpSpPr>
        <p:sp>
          <p:nvSpPr>
            <p:cNvPr id="6" name="Rectangle 6"/>
            <p:cNvSpPr/>
            <p:nvPr/>
          </p:nvSpPr>
          <p:spPr>
            <a:xfrm>
              <a:off x="552450" y="1809750"/>
              <a:ext cx="3924300" cy="3371850"/>
            </a:xfrm>
            <a:prstGeom prst="roundRect">
              <a:avLst>
                <a:gd name="adj" fmla="val 107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93231" y="2238375"/>
              <a:ext cx="475988" cy="342900"/>
            </a:xfrm>
            <a:custGeom>
              <a:avLst/>
              <a:gdLst/>
              <a:ahLst/>
              <a:cxnLst/>
              <a:rect l="l" t="t" r="r" b="b"/>
              <a:pathLst>
                <a:path w="475988" h="342900">
                  <a:moveTo>
                    <a:pt x="390263" y="202118"/>
                  </a:moveTo>
                  <a:lnTo>
                    <a:pt x="390263" y="257175"/>
                  </a:lnTo>
                  <a:cubicBezTo>
                    <a:pt x="390263" y="308567"/>
                    <a:pt x="321576" y="342900"/>
                    <a:pt x="240244" y="342900"/>
                  </a:cubicBezTo>
                  <a:cubicBezTo>
                    <a:pt x="158913" y="342900"/>
                    <a:pt x="90226" y="308567"/>
                    <a:pt x="90226" y="257175"/>
                  </a:cubicBezTo>
                  <a:lnTo>
                    <a:pt x="90226" y="202118"/>
                  </a:lnTo>
                  <a:lnTo>
                    <a:pt x="216370" y="252567"/>
                  </a:lnTo>
                  <a:cubicBezTo>
                    <a:pt x="230115" y="258070"/>
                    <a:pt x="245338" y="258661"/>
                    <a:pt x="259468" y="254239"/>
                  </a:cubicBezTo>
                  <a:lnTo>
                    <a:pt x="264119" y="252567"/>
                  </a:lnTo>
                  <a:close/>
                  <a:moveTo>
                    <a:pt x="433126" y="138789"/>
                  </a:moveTo>
                  <a:lnTo>
                    <a:pt x="248195" y="212769"/>
                  </a:lnTo>
                  <a:cubicBezTo>
                    <a:pt x="243091" y="214809"/>
                    <a:pt x="237398" y="214809"/>
                    <a:pt x="232293" y="212769"/>
                  </a:cubicBezTo>
                  <a:lnTo>
                    <a:pt x="17981" y="127044"/>
                  </a:lnTo>
                  <a:cubicBezTo>
                    <a:pt x="0" y="119865"/>
                    <a:pt x="0" y="94448"/>
                    <a:pt x="17981" y="87268"/>
                  </a:cubicBezTo>
                  <a:lnTo>
                    <a:pt x="232293" y="1543"/>
                  </a:lnTo>
                  <a:cubicBezTo>
                    <a:pt x="233978" y="865"/>
                    <a:pt x="235743" y="404"/>
                    <a:pt x="237544" y="171"/>
                  </a:cubicBezTo>
                  <a:lnTo>
                    <a:pt x="240244" y="0"/>
                  </a:lnTo>
                  <a:lnTo>
                    <a:pt x="242945" y="171"/>
                  </a:lnTo>
                  <a:cubicBezTo>
                    <a:pt x="244746" y="404"/>
                    <a:pt x="246510" y="865"/>
                    <a:pt x="248195" y="1543"/>
                  </a:cubicBezTo>
                  <a:lnTo>
                    <a:pt x="463194" y="87547"/>
                  </a:lnTo>
                  <a:lnTo>
                    <a:pt x="465508" y="88725"/>
                  </a:lnTo>
                  <a:lnTo>
                    <a:pt x="467630" y="90183"/>
                  </a:lnTo>
                  <a:lnTo>
                    <a:pt x="469516" y="91811"/>
                  </a:lnTo>
                  <a:lnTo>
                    <a:pt x="471123" y="93569"/>
                  </a:lnTo>
                  <a:lnTo>
                    <a:pt x="471873" y="94512"/>
                  </a:lnTo>
                  <a:lnTo>
                    <a:pt x="473438" y="96976"/>
                  </a:lnTo>
                  <a:lnTo>
                    <a:pt x="474552" y="99441"/>
                  </a:lnTo>
                  <a:lnTo>
                    <a:pt x="475281" y="101627"/>
                  </a:lnTo>
                  <a:lnTo>
                    <a:pt x="475817" y="104520"/>
                  </a:lnTo>
                  <a:lnTo>
                    <a:pt x="475945" y="105763"/>
                  </a:lnTo>
                  <a:lnTo>
                    <a:pt x="475988" y="235744"/>
                  </a:lnTo>
                  <a:cubicBezTo>
                    <a:pt x="475988" y="247580"/>
                    <a:pt x="466393" y="257175"/>
                    <a:pt x="454557" y="257175"/>
                  </a:cubicBezTo>
                  <a:cubicBezTo>
                    <a:pt x="442721" y="257175"/>
                    <a:pt x="433126" y="247580"/>
                    <a:pt x="433126" y="2357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68958" y="2217420"/>
              <a:ext cx="205983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今天的第一关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7156" y="296799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让屏幕准确显示：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76300" y="3429000"/>
              <a:ext cx="3276600" cy="800100"/>
            </a:xfrm>
            <a:prstGeom prst="roundRect">
              <a:avLst>
                <a:gd name="adj" fmla="val 2857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70884" y="3697605"/>
              <a:ext cx="168743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zh-CN" sz="21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7918" y="458438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大小写一致 · 感叹号不丢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1619250"/>
            <a:ext cx="6477000" cy="4076700"/>
            <a:chOff x="5029200" y="1619250"/>
            <a:chExt cx="6477000" cy="4076700"/>
          </a:xfrm>
        </p:grpSpPr>
        <p:sp>
          <p:nvSpPr>
            <p:cNvPr id="14" name="Rectangle 14"/>
            <p:cNvSpPr/>
            <p:nvPr/>
          </p:nvSpPr>
          <p:spPr>
            <a:xfrm>
              <a:off x="5029200" y="1619250"/>
              <a:ext cx="6477000" cy="3848100"/>
            </a:xfrm>
            <a:prstGeom prst="roundRect">
              <a:avLst>
                <a:gd name="adj" fmla="val 990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5295900" y="1905000"/>
              <a:ext cx="5943600" cy="3143250"/>
            </a:xfrm>
            <a:prstGeom prst="roundRect">
              <a:avLst>
                <a:gd name="adj" fmla="val 7273"/>
              </a:avLst>
            </a:prstGeom>
            <a:solidFill>
              <a:schemeClr val="dk1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5486400" y="20574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734050" y="20574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981700" y="20574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619750" y="2724150"/>
              <a:ext cx="4572000" cy="685800"/>
            </a:xfrm>
            <a:prstGeom prst="roundRect">
              <a:avLst>
                <a:gd name="adj" fmla="val 2777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2479" y="2984182"/>
              <a:ext cx="26265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303453" y="3970020"/>
              <a:ext cx="192849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448550" y="5467350"/>
              <a:ext cx="1638300" cy="2286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614585" y="5977890"/>
            <a:ext cx="6586772" cy="352044"/>
            <a:chOff x="614585" y="5977890"/>
            <a:chExt cx="6586772" cy="352044"/>
          </a:xfrm>
        </p:grpSpPr>
        <p:sp>
          <p:nvSpPr>
            <p:cNvPr id="24" name="Freeform 24"/>
            <p:cNvSpPr/>
            <p:nvPr/>
          </p:nvSpPr>
          <p:spPr>
            <a:xfrm>
              <a:off x="614585" y="5980154"/>
              <a:ext cx="272786" cy="193592"/>
            </a:xfrm>
            <a:custGeom>
              <a:avLst/>
              <a:gdLst/>
              <a:ahLst/>
              <a:cxnLst/>
              <a:rect l="l" t="t" r="r" b="b"/>
              <a:pathLst>
                <a:path w="272786" h="193592">
                  <a:moveTo>
                    <a:pt x="266589" y="6197"/>
                  </a:moveTo>
                  <a:cubicBezTo>
                    <a:pt x="272786" y="12397"/>
                    <a:pt x="272786" y="22445"/>
                    <a:pt x="266589" y="28645"/>
                  </a:cubicBezTo>
                  <a:lnTo>
                    <a:pt x="107839" y="187395"/>
                  </a:lnTo>
                  <a:cubicBezTo>
                    <a:pt x="101639" y="193592"/>
                    <a:pt x="91591" y="193592"/>
                    <a:pt x="85391" y="187395"/>
                  </a:cubicBezTo>
                  <a:lnTo>
                    <a:pt x="6016" y="108020"/>
                  </a:lnTo>
                  <a:cubicBezTo>
                    <a:pt x="0" y="101791"/>
                    <a:pt x="86" y="91889"/>
                    <a:pt x="6210" y="85766"/>
                  </a:cubicBezTo>
                  <a:cubicBezTo>
                    <a:pt x="12333" y="79642"/>
                    <a:pt x="22234" y="79556"/>
                    <a:pt x="28463" y="85572"/>
                  </a:cubicBezTo>
                  <a:lnTo>
                    <a:pt x="96615" y="153724"/>
                  </a:lnTo>
                  <a:lnTo>
                    <a:pt x="244142" y="6197"/>
                  </a:lnTo>
                  <a:cubicBezTo>
                    <a:pt x="250341" y="0"/>
                    <a:pt x="260390" y="0"/>
                    <a:pt x="266589" y="6197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76706" y="5977890"/>
              <a:ext cx="612465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成功标准：文字完全一致，屏幕就会按你的命令开口。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6636" y="400050"/>
            <a:ext cx="11027664" cy="727329"/>
            <a:chOff x="516636" y="400050"/>
            <a:chExt cx="1102766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516636" y="481965"/>
              <a:ext cx="4278519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开发环境：Dev-C++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711123" y="555308"/>
              <a:ext cx="153275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本课使用 5.11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2190750" y="1428750"/>
            <a:ext cx="7810500" cy="3638550"/>
            <a:chOff x="2190750" y="1428750"/>
            <a:chExt cx="7810500" cy="3638550"/>
          </a:xfrm>
        </p:grpSpPr>
        <p:sp>
          <p:nvSpPr>
            <p:cNvPr id="6" name="Rectangle 6"/>
            <p:cNvSpPr/>
            <p:nvPr/>
          </p:nvSpPr>
          <p:spPr>
            <a:xfrm>
              <a:off x="2190750" y="1428750"/>
              <a:ext cx="7810500" cy="3638550"/>
            </a:xfrm>
            <a:prstGeom prst="roundRect">
              <a:avLst>
                <a:gd name="adj" fmla="val 9424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2190750" y="1428750"/>
              <a:ext cx="781050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2190750" y="1752600"/>
              <a:ext cx="781050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486025" y="1628775"/>
              <a:ext cx="171450" cy="171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790825" y="16287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095625" y="1628775"/>
              <a:ext cx="171450" cy="1714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571750" y="2228850"/>
              <a:ext cx="4667250" cy="2552700"/>
            </a:xfrm>
            <a:prstGeom prst="roundRect">
              <a:avLst>
                <a:gd name="adj" fmla="val 8955"/>
              </a:avLst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3" name="Image 1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641558" y="2343150"/>
              <a:ext cx="1994234" cy="1981200"/>
            </a:xfrm>
            <a:prstGeom prst="rect">
              <a:avLst/>
            </a:prstGeom>
          </p:spPr>
        </p:pic>
        <p:sp>
          <p:nvSpPr>
            <p:cNvPr id="14" name="TextBox 14"/>
            <p:cNvSpPr txBox="1"/>
            <p:nvPr/>
          </p:nvSpPr>
          <p:spPr>
            <a:xfrm>
              <a:off x="4065547" y="4434840"/>
              <a:ext cx="16796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Dev-C++ 5.11</a:t>
              </a:r>
              <a:endParaRPr lang="zh-CN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524750" y="23241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16"/>
            <p:cNvSpPr/>
            <p:nvPr/>
          </p:nvSpPr>
          <p:spPr>
            <a:xfrm>
              <a:off x="7759698" y="2543836"/>
              <a:ext cx="267422" cy="268465"/>
            </a:xfrm>
            <a:custGeom>
              <a:avLst/>
              <a:gdLst/>
              <a:ahLst/>
              <a:cxnLst/>
              <a:rect l="l" t="t" r="r" b="b"/>
              <a:pathLst>
                <a:path w="267422" h="268465">
                  <a:moveTo>
                    <a:pt x="190501" y="22707"/>
                  </a:moveTo>
                  <a:cubicBezTo>
                    <a:pt x="243876" y="53523"/>
                    <a:pt x="267422" y="118214"/>
                    <a:pt x="246342" y="176129"/>
                  </a:cubicBezTo>
                  <a:cubicBezTo>
                    <a:pt x="225261" y="234045"/>
                    <a:pt x="165642" y="268465"/>
                    <a:pt x="104946" y="257762"/>
                  </a:cubicBezTo>
                  <a:cubicBezTo>
                    <a:pt x="44250" y="247058"/>
                    <a:pt x="0" y="194321"/>
                    <a:pt x="2" y="132688"/>
                  </a:cubicBezTo>
                  <a:lnTo>
                    <a:pt x="65" y="128574"/>
                  </a:lnTo>
                  <a:cubicBezTo>
                    <a:pt x="1512" y="83958"/>
                    <a:pt x="26276" y="43379"/>
                    <a:pt x="65291" y="21689"/>
                  </a:cubicBezTo>
                  <a:cubicBezTo>
                    <a:pt x="104306" y="0"/>
                    <a:pt x="151844" y="386"/>
                    <a:pt x="190501" y="22707"/>
                  </a:cubicBezTo>
                  <a:moveTo>
                    <a:pt x="110580" y="98310"/>
                  </a:moveTo>
                  <a:cubicBezTo>
                    <a:pt x="105621" y="93352"/>
                    <a:pt x="97582" y="93352"/>
                    <a:pt x="92622" y="98310"/>
                  </a:cubicBezTo>
                  <a:lnTo>
                    <a:pt x="67222" y="123710"/>
                  </a:lnTo>
                  <a:cubicBezTo>
                    <a:pt x="62265" y="128669"/>
                    <a:pt x="62265" y="136708"/>
                    <a:pt x="67222" y="141667"/>
                  </a:cubicBezTo>
                  <a:lnTo>
                    <a:pt x="92622" y="167067"/>
                  </a:lnTo>
                  <a:cubicBezTo>
                    <a:pt x="97582" y="172025"/>
                    <a:pt x="105621" y="172025"/>
                    <a:pt x="110580" y="167067"/>
                  </a:cubicBezTo>
                  <a:lnTo>
                    <a:pt x="111634" y="165874"/>
                  </a:lnTo>
                  <a:cubicBezTo>
                    <a:pt x="115556" y="160818"/>
                    <a:pt x="115104" y="153634"/>
                    <a:pt x="110580" y="149110"/>
                  </a:cubicBezTo>
                  <a:lnTo>
                    <a:pt x="94172" y="132688"/>
                  </a:lnTo>
                  <a:lnTo>
                    <a:pt x="110580" y="116267"/>
                  </a:lnTo>
                  <a:cubicBezTo>
                    <a:pt x="115538" y="111308"/>
                    <a:pt x="115538" y="103269"/>
                    <a:pt x="110580" y="98310"/>
                  </a:cubicBezTo>
                  <a:moveTo>
                    <a:pt x="161380" y="98310"/>
                  </a:moveTo>
                  <a:cubicBezTo>
                    <a:pt x="156421" y="93352"/>
                    <a:pt x="148382" y="93352"/>
                    <a:pt x="143422" y="98310"/>
                  </a:cubicBezTo>
                  <a:lnTo>
                    <a:pt x="142368" y="99503"/>
                  </a:lnTo>
                  <a:cubicBezTo>
                    <a:pt x="138446" y="104559"/>
                    <a:pt x="138898" y="111743"/>
                    <a:pt x="143422" y="116267"/>
                  </a:cubicBezTo>
                  <a:lnTo>
                    <a:pt x="159831" y="132688"/>
                  </a:lnTo>
                  <a:lnTo>
                    <a:pt x="143422" y="149110"/>
                  </a:lnTo>
                  <a:cubicBezTo>
                    <a:pt x="138609" y="154093"/>
                    <a:pt x="138678" y="162014"/>
                    <a:pt x="143577" y="166913"/>
                  </a:cubicBezTo>
                  <a:cubicBezTo>
                    <a:pt x="148476" y="171811"/>
                    <a:pt x="156397" y="171880"/>
                    <a:pt x="161380" y="167067"/>
                  </a:cubicBezTo>
                  <a:lnTo>
                    <a:pt x="186780" y="141667"/>
                  </a:lnTo>
                  <a:cubicBezTo>
                    <a:pt x="191738" y="136708"/>
                    <a:pt x="191738" y="128669"/>
                    <a:pt x="186780" y="1237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201406" y="259651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写代码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24750" y="32004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7784008" y="3475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201406" y="34728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编译检查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24750" y="4076700"/>
              <a:ext cx="2095500" cy="704850"/>
            </a:xfrm>
            <a:prstGeom prst="roundRect">
              <a:avLst>
                <a:gd name="adj" fmla="val 2973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759700" y="4314825"/>
              <a:ext cx="253999" cy="228599"/>
            </a:xfrm>
            <a:custGeom>
              <a:avLst/>
              <a:gdLst/>
              <a:ahLst/>
              <a:cxnLst/>
              <a:rect l="l" t="t" r="r" b="b"/>
              <a:pathLst>
                <a:path w="253999" h="228599">
                  <a:moveTo>
                    <a:pt x="63500" y="228599"/>
                  </a:moveTo>
                  <a:cubicBezTo>
                    <a:pt x="56486" y="228599"/>
                    <a:pt x="50800" y="222913"/>
                    <a:pt x="50800" y="215899"/>
                  </a:cubicBezTo>
                  <a:cubicBezTo>
                    <a:pt x="50800" y="208885"/>
                    <a:pt x="56486" y="203199"/>
                    <a:pt x="63500" y="203199"/>
                  </a:cubicBezTo>
                  <a:lnTo>
                    <a:pt x="76200" y="203199"/>
                  </a:lnTo>
                  <a:lnTo>
                    <a:pt x="76200" y="177800"/>
                  </a:lnTo>
                  <a:lnTo>
                    <a:pt x="25400" y="177800"/>
                  </a:lnTo>
                  <a:cubicBezTo>
                    <a:pt x="11372" y="177800"/>
                    <a:pt x="0" y="166428"/>
                    <a:pt x="0" y="152400"/>
                  </a:cubicBezTo>
                  <a:lnTo>
                    <a:pt x="0" y="25400"/>
                  </a:lnTo>
                  <a:cubicBezTo>
                    <a:pt x="0" y="11372"/>
                    <a:pt x="11372" y="0"/>
                    <a:pt x="25400" y="0"/>
                  </a:cubicBezTo>
                  <a:lnTo>
                    <a:pt x="228599" y="0"/>
                  </a:lnTo>
                  <a:cubicBezTo>
                    <a:pt x="242627" y="0"/>
                    <a:pt x="253999" y="11372"/>
                    <a:pt x="253999" y="25400"/>
                  </a:cubicBezTo>
                  <a:lnTo>
                    <a:pt x="253999" y="152400"/>
                  </a:lnTo>
                  <a:cubicBezTo>
                    <a:pt x="253999" y="166428"/>
                    <a:pt x="242627" y="177800"/>
                    <a:pt x="228599" y="177800"/>
                  </a:cubicBezTo>
                  <a:lnTo>
                    <a:pt x="177800" y="177800"/>
                  </a:lnTo>
                  <a:lnTo>
                    <a:pt x="177800" y="203199"/>
                  </a:lnTo>
                  <a:lnTo>
                    <a:pt x="190500" y="203199"/>
                  </a:lnTo>
                  <a:cubicBezTo>
                    <a:pt x="197514" y="203199"/>
                    <a:pt x="203199" y="208885"/>
                    <a:pt x="203199" y="215899"/>
                  </a:cubicBezTo>
                  <a:cubicBezTo>
                    <a:pt x="203199" y="222913"/>
                    <a:pt x="197514" y="228599"/>
                    <a:pt x="190500" y="228599"/>
                  </a:cubicBezTo>
                  <a:close/>
                  <a:moveTo>
                    <a:pt x="152400" y="177800"/>
                  </a:moveTo>
                  <a:lnTo>
                    <a:pt x="101600" y="177800"/>
                  </a:lnTo>
                  <a:lnTo>
                    <a:pt x="101600" y="203199"/>
                  </a:lnTo>
                  <a:lnTo>
                    <a:pt x="152400" y="20319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201406" y="4349115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运行观察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619250" y="5467350"/>
            <a:ext cx="8953500" cy="800100"/>
            <a:chOff x="1619250" y="5467350"/>
            <a:chExt cx="8953500" cy="800100"/>
          </a:xfrm>
        </p:grpSpPr>
        <p:sp>
          <p:nvSpPr>
            <p:cNvPr id="25" name="Rectangle 25"/>
            <p:cNvSpPr/>
            <p:nvPr/>
          </p:nvSpPr>
          <p:spPr>
            <a:xfrm>
              <a:off x="1619250" y="5467350"/>
              <a:ext cx="8953500" cy="8001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854452" y="5768340"/>
              <a:ext cx="64830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工具会更换，但读懂和写出 C++ 代码的核心技能不会变。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2816047" cy="708279"/>
            <a:chOff x="514350" y="361950"/>
            <a:chExt cx="2816047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新建文件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14350" y="1352550"/>
            <a:ext cx="7429500" cy="4457700"/>
            <a:chOff x="514350" y="1352550"/>
            <a:chExt cx="7429500" cy="4457700"/>
          </a:xfrm>
        </p:grpSpPr>
        <p:sp>
          <p:nvSpPr>
            <p:cNvPr id="6" name="Rectangle 6"/>
            <p:cNvSpPr/>
            <p:nvPr/>
          </p:nvSpPr>
          <p:spPr>
            <a:xfrm>
              <a:off x="514350" y="1352550"/>
              <a:ext cx="7429500" cy="4457700"/>
            </a:xfrm>
            <a:prstGeom prst="roundRect">
              <a:avLst>
                <a:gd name="adj" fmla="val 7265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504950"/>
              <a:ext cx="7124700" cy="401002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2495550" y="5353050"/>
              <a:ext cx="3467100" cy="3619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721393" y="5438775"/>
              <a:ext cx="30154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找到第 1 行：这就是空白代码纸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1676400"/>
              <a:ext cx="419100" cy="419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780" y="17840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Ellipse 12"/>
            <p:cNvSpPr/>
            <p:nvPr/>
          </p:nvSpPr>
          <p:spPr>
            <a:xfrm>
              <a:off x="3771900" y="2124075"/>
              <a:ext cx="419100" cy="4191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908930" y="2231708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315200" y="4933950"/>
              <a:ext cx="419100" cy="4191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52230" y="504158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410956" y="1729740"/>
            <a:ext cx="2866644" cy="2918460"/>
            <a:chOff x="8410956" y="1729740"/>
            <a:chExt cx="2866644" cy="2918460"/>
          </a:xfrm>
        </p:grpSpPr>
        <p:sp>
          <p:nvSpPr>
            <p:cNvPr id="17" name="TextBox 17"/>
            <p:cNvSpPr txBox="1"/>
            <p:nvPr/>
          </p:nvSpPr>
          <p:spPr>
            <a:xfrm>
              <a:off x="8410956" y="1729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操作路线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420100" y="2228850"/>
              <a:ext cx="2857500" cy="666750"/>
            </a:xfrm>
            <a:prstGeom prst="roundRect">
              <a:avLst>
                <a:gd name="adj" fmla="val 3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585274" y="24536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文件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9848850" y="28956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862965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90049" y="3329940"/>
              <a:ext cx="5271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新建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9953625" y="37719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5715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839200" y="3981450"/>
              <a:ext cx="2438400" cy="666750"/>
            </a:xfrm>
            <a:prstGeom prst="roundRect">
              <a:avLst>
                <a:gd name="adj" fmla="val 34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667608" y="4206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源代码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420100" y="5029200"/>
            <a:ext cx="3162300" cy="895350"/>
            <a:chOff x="8420100" y="5029200"/>
            <a:chExt cx="3162300" cy="895350"/>
          </a:xfrm>
        </p:grpSpPr>
        <p:sp>
          <p:nvSpPr>
            <p:cNvPr id="27" name="Rectangle 27"/>
            <p:cNvSpPr/>
            <p:nvPr/>
          </p:nvSpPr>
          <p:spPr>
            <a:xfrm>
              <a:off x="8420100" y="5029200"/>
              <a:ext cx="3162300" cy="895350"/>
            </a:xfrm>
            <a:prstGeom prst="roundRect">
              <a:avLst>
                <a:gd name="adj" fmla="val 27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60130" y="52197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家长提示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60130" y="55530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会找到空白区就够了。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495300" y="323850"/>
            <a:ext cx="6408420" cy="708279"/>
            <a:chOff x="495300" y="323850"/>
            <a:chExt cx="6408420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4362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11986" y="38671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编写代码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219956" y="5295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先完整搭好，再逐块理解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5300" y="1295400"/>
            <a:ext cx="7334250" cy="4762500"/>
            <a:chOff x="495300" y="1295400"/>
            <a:chExt cx="7334250" cy="4762500"/>
          </a:xfrm>
        </p:grpSpPr>
        <p:sp>
          <p:nvSpPr>
            <p:cNvPr id="7" name="Rectangle 7"/>
            <p:cNvSpPr/>
            <p:nvPr/>
          </p:nvSpPr>
          <p:spPr>
            <a:xfrm>
              <a:off x="495300" y="1295400"/>
              <a:ext cx="7334250" cy="4762500"/>
            </a:xfrm>
            <a:prstGeom prst="roundRect">
              <a:avLst>
                <a:gd name="adj" fmla="val 6800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47700" y="1450916"/>
              <a:ext cx="7029450" cy="3956168"/>
            </a:xfrm>
            <a:prstGeom prst="rect">
              <a:avLst/>
            </a:prstGeom>
          </p:spPr>
        </p:pic>
        <p:sp>
          <p:nvSpPr>
            <p:cNvPr id="9" name="Rectangle 9"/>
            <p:cNvSpPr/>
            <p:nvPr/>
          </p:nvSpPr>
          <p:spPr>
            <a:xfrm>
              <a:off x="666750" y="1619250"/>
              <a:ext cx="6991350" cy="228600"/>
            </a:xfrm>
            <a:prstGeom prst="roundRect">
              <a:avLst>
                <a:gd name="adj" fmla="val 20833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66750" y="1847850"/>
              <a:ext cx="6991350" cy="361950"/>
            </a:xfrm>
            <a:prstGeom prst="roundRect">
              <a:avLst>
                <a:gd name="adj" fmla="val 13158"/>
              </a:avLst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666750" y="2209800"/>
              <a:ext cx="1428750" cy="2305685"/>
            </a:xfrm>
            <a:prstGeom prst="roundRect">
              <a:avLst>
                <a:gd name="adj" fmla="val 3333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2209800"/>
              <a:ext cx="5562600" cy="2305685"/>
            </a:xfrm>
            <a:prstGeom prst="roundRect">
              <a:avLst>
                <a:gd name="adj" fmla="val 1799"/>
              </a:avLst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66750" y="4552950"/>
              <a:ext cx="6991350" cy="838200"/>
            </a:xfrm>
            <a:prstGeom prst="roundRect">
              <a:avLst>
                <a:gd name="adj" fmla="val 5682"/>
              </a:avLst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29000" y="1476375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669306" y="154971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菜单栏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981700" y="1885950"/>
              <a:ext cx="1066800" cy="323850"/>
            </a:xfrm>
            <a:prstGeom prst="roundRect">
              <a:avLst>
                <a:gd name="adj" fmla="val 382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22006" y="1959292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工具栏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23900" y="3048000"/>
              <a:ext cx="1257300" cy="495300"/>
            </a:xfrm>
            <a:prstGeom prst="roundRect">
              <a:avLst>
                <a:gd name="adj" fmla="val 2884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4044" y="31118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项目管理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54868" y="332136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窗口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619750" y="3067050"/>
              <a:ext cx="1066800" cy="361950"/>
            </a:xfrm>
            <a:prstGeom prst="roundRect">
              <a:avLst>
                <a:gd name="adj" fmla="val 3684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60056" y="3168968"/>
              <a:ext cx="5861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编辑区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62600" y="4953000"/>
              <a:ext cx="1200150" cy="342900"/>
            </a:xfrm>
            <a:prstGeom prst="roundRect">
              <a:avLst>
                <a:gd name="adj" fmla="val 38889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774169" y="504539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报告窗口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1466850" y="5524500"/>
              <a:ext cx="5391150" cy="40005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37435" y="562927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先认识界面区域，再逐块理解代码作用。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15300" y="1428750"/>
            <a:ext cx="3181350" cy="4019550"/>
            <a:chOff x="8115300" y="1428750"/>
            <a:chExt cx="3181350" cy="4019550"/>
          </a:xfrm>
        </p:grpSpPr>
        <p:sp>
          <p:nvSpPr>
            <p:cNvPr id="28" name="Rectangle 28"/>
            <p:cNvSpPr/>
            <p:nvPr/>
          </p:nvSpPr>
          <p:spPr>
            <a:xfrm>
              <a:off x="8115300" y="14287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354568" y="16697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工具箱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974580" y="16859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头文件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82000" y="22669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602218" y="2507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标准仓库</a:t>
              </a:r>
              <a:endParaRPr lang="zh-CN" sz="16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184130" y="25241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std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648700" y="3105150"/>
              <a:ext cx="2647950" cy="666750"/>
            </a:xfrm>
            <a:prstGeom prst="roundRect">
              <a:avLst>
                <a:gd name="adj" fmla="val 3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87968" y="33461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184130" y="3362325"/>
              <a:ext cx="449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8382000" y="3943350"/>
              <a:ext cx="2914650" cy="666750"/>
            </a:xfrm>
            <a:prstGeom prst="roundRect">
              <a:avLst>
                <a:gd name="adj" fmla="val 34286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602218" y="41843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广播喇叭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84130" y="42005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cout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115300" y="4781550"/>
              <a:ext cx="3181350" cy="666750"/>
            </a:xfrm>
            <a:prstGeom prst="roundRect">
              <a:avLst>
                <a:gd name="adj" fmla="val 34286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354568" y="50225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完成印章</a:t>
              </a:r>
              <a:endParaRPr lang="zh-CN" sz="165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184130" y="5038725"/>
              <a:ext cx="8532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return 0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4681880" cy="708279"/>
            <a:chOff x="514350" y="361950"/>
            <a:chExt cx="4681880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723900" cy="533400"/>
            </a:xfrm>
            <a:prstGeom prst="roundRect">
              <a:avLst>
                <a:gd name="adj" fmla="val 39286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70816" y="474345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431036" y="424815"/>
              <a:ext cx="3765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保存、编译、运行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1275715"/>
            <a:ext cx="7734300" cy="4495800"/>
            <a:chOff x="514350" y="1257300"/>
            <a:chExt cx="7734300" cy="4495800"/>
          </a:xfrm>
        </p:grpSpPr>
        <p:sp>
          <p:nvSpPr>
            <p:cNvPr id="6" name="Rectangle 6"/>
            <p:cNvSpPr/>
            <p:nvPr/>
          </p:nvSpPr>
          <p:spPr>
            <a:xfrm>
              <a:off x="514350" y="1257300"/>
              <a:ext cx="7734300" cy="4495800"/>
            </a:xfrm>
            <a:prstGeom prst="roundRect">
              <a:avLst>
                <a:gd name="adj" fmla="val 6356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pic>
          <p:nvPicPr>
            <p:cNvPr id="7" name="Image 7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" y="1409700"/>
              <a:ext cx="7429500" cy="4181475"/>
            </a:xfrm>
            <a:prstGeom prst="rect">
              <a:avLst/>
            </a:prstGeom>
          </p:spPr>
        </p:pic>
        <p:sp>
          <p:nvSpPr>
            <p:cNvPr id="8" name="Rectangle 8"/>
            <p:cNvSpPr/>
            <p:nvPr/>
          </p:nvSpPr>
          <p:spPr>
            <a:xfrm>
              <a:off x="4286250" y="1714500"/>
              <a:ext cx="252730" cy="281305"/>
            </a:xfrm>
            <a:prstGeom prst="roundRect">
              <a:avLst>
                <a:gd name="adj" fmla="val 27778"/>
              </a:avLst>
            </a:pr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5029200" y="1261110"/>
              <a:ext cx="1657350" cy="419100"/>
            </a:xfrm>
            <a:prstGeom prst="roundRect">
              <a:avLst>
                <a:gd name="adj" fmla="val 36364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255685" y="137445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编译运行按钮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4598670" y="1508760"/>
              <a:ext cx="457200" cy="247650"/>
            </a:xfrm>
            <a:custGeom>
              <a:avLst/>
              <a:gdLst/>
              <a:ahLst/>
              <a:cxnLst/>
              <a:rect l="l" t="t" r="r" b="b"/>
              <a:pathLst>
                <a:path w="457200" h="247650">
                  <a:moveTo>
                    <a:pt x="457200" y="0"/>
                  </a:moveTo>
                  <a:lnTo>
                    <a:pt x="0" y="2476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4560570" y="1689735"/>
              <a:ext cx="95250" cy="85725"/>
            </a:xfrm>
            <a:custGeom>
              <a:avLst/>
              <a:gdLst/>
              <a:ahLst/>
              <a:cxnLst/>
              <a:rect l="l" t="t" r="r" b="b"/>
              <a:pathLst>
                <a:path w="95250" h="85725">
                  <a:moveTo>
                    <a:pt x="0" y="85725"/>
                  </a:moveTo>
                  <a:lnTo>
                    <a:pt x="95250" y="8572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3900" y="3694430"/>
              <a:ext cx="7315200" cy="1830070"/>
            </a:xfrm>
            <a:prstGeom prst="roundRect">
              <a:avLst>
                <a:gd name="adj" fmla="val 7547"/>
              </a:avLst>
            </a:pr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4857750"/>
              <a:ext cx="1676400" cy="381000"/>
            </a:xfrm>
            <a:prstGeom prst="roundRect">
              <a:avLst>
                <a:gd name="adj" fmla="val 3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73870" y="4969192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编译报告窗口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572500" y="1409700"/>
            <a:ext cx="3009900" cy="1009650"/>
            <a:chOff x="8572500" y="1409700"/>
            <a:chExt cx="3009900" cy="1009650"/>
          </a:xfrm>
        </p:grpSpPr>
        <p:sp>
          <p:nvSpPr>
            <p:cNvPr id="19" name="Rectangle 19"/>
            <p:cNvSpPr/>
            <p:nvPr/>
          </p:nvSpPr>
          <p:spPr>
            <a:xfrm>
              <a:off x="8572500" y="14097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705850" y="1685925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61930" y="18221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24594" y="1637348"/>
              <a:ext cx="126016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保存 .cpp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27642" y="20069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示例：hello.cpp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572500" y="2667000"/>
            <a:ext cx="3009900" cy="1009650"/>
            <a:chOff x="8572500" y="2667000"/>
            <a:chExt cx="3009900" cy="1009650"/>
          </a:xfrm>
        </p:grpSpPr>
        <p:sp>
          <p:nvSpPr>
            <p:cNvPr id="25" name="Rectangle 25"/>
            <p:cNvSpPr/>
            <p:nvPr/>
          </p:nvSpPr>
          <p:spPr>
            <a:xfrm>
              <a:off x="8572500" y="26670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8705850" y="2943225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861930" y="30794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324594" y="28946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编译检查</a:t>
              </a:r>
              <a:endParaRPr lang="zh-CN" sz="19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327642" y="3264218"/>
              <a:ext cx="11859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看到 0 errors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572500" y="3924300"/>
            <a:ext cx="3009900" cy="1009650"/>
            <a:chOff x="8572500" y="3924300"/>
            <a:chExt cx="3009900" cy="1009650"/>
          </a:xfrm>
        </p:grpSpPr>
        <p:sp>
          <p:nvSpPr>
            <p:cNvPr id="31" name="Rectangle 31"/>
            <p:cNvSpPr/>
            <p:nvPr/>
          </p:nvSpPr>
          <p:spPr>
            <a:xfrm>
              <a:off x="8572500" y="3924300"/>
              <a:ext cx="3009900" cy="1009650"/>
            </a:xfrm>
            <a:prstGeom prst="roundRect">
              <a:avLst>
                <a:gd name="adj" fmla="val 2641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8705850" y="4200525"/>
              <a:ext cx="457200" cy="4572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861930" y="4336732"/>
              <a:ext cx="145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24594" y="4151948"/>
              <a:ext cx="11223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运行观察</a:t>
              </a:r>
              <a:endParaRPr lang="zh-CN" sz="19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327642" y="45215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核对屏幕输出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90650" y="5924550"/>
            <a:ext cx="9410700" cy="590550"/>
            <a:chOff x="1390650" y="5924550"/>
            <a:chExt cx="9410700" cy="590550"/>
          </a:xfrm>
        </p:grpSpPr>
        <p:sp>
          <p:nvSpPr>
            <p:cNvPr id="37" name="Rectangle 37"/>
            <p:cNvSpPr/>
            <p:nvPr/>
          </p:nvSpPr>
          <p:spPr>
            <a:xfrm>
              <a:off x="1390650" y="5924550"/>
              <a:ext cx="9410700" cy="590550"/>
            </a:xfrm>
            <a:prstGeom prst="roundRect">
              <a:avLst>
                <a:gd name="adj" fmla="val 3871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1688008" y="6142388"/>
              <a:ext cx="218228" cy="154873"/>
            </a:xfrm>
            <a:custGeom>
              <a:avLst/>
              <a:gdLst/>
              <a:ahLst/>
              <a:cxnLst/>
              <a:rect l="l" t="t" r="r" b="b"/>
              <a:pathLst>
                <a:path w="218228" h="154873">
                  <a:moveTo>
                    <a:pt x="213270" y="4958"/>
                  </a:moveTo>
                  <a:cubicBezTo>
                    <a:pt x="218228" y="9917"/>
                    <a:pt x="218228" y="17956"/>
                    <a:pt x="213270" y="22916"/>
                  </a:cubicBezTo>
                  <a:lnTo>
                    <a:pt x="86271" y="149915"/>
                  </a:lnTo>
                  <a:cubicBezTo>
                    <a:pt x="81311" y="154873"/>
                    <a:pt x="73272" y="154873"/>
                    <a:pt x="68313" y="149915"/>
                  </a:cubicBezTo>
                  <a:lnTo>
                    <a:pt x="4813" y="86415"/>
                  </a:lnTo>
                  <a:cubicBezTo>
                    <a:pt x="0" y="81432"/>
                    <a:pt x="69" y="73511"/>
                    <a:pt x="4968" y="68612"/>
                  </a:cubicBezTo>
                  <a:cubicBezTo>
                    <a:pt x="9866" y="63714"/>
                    <a:pt x="17787" y="63645"/>
                    <a:pt x="22771" y="68458"/>
                  </a:cubicBezTo>
                  <a:lnTo>
                    <a:pt x="77292" y="122979"/>
                  </a:lnTo>
                  <a:lnTo>
                    <a:pt x="195312" y="4958"/>
                  </a:lnTo>
                  <a:cubicBezTo>
                    <a:pt x="200272" y="0"/>
                    <a:pt x="208311" y="0"/>
                    <a:pt x="213270" y="495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25218" y="6117908"/>
              <a:ext cx="24656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0 errors / 0 warnings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26530" y="6134100"/>
              <a:ext cx="31047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保存 → 编译 → 运行，顺序不能乱。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pic>
        <p:nvPicPr>
          <p:cNvPr id="42" name="图片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445" y="1799590"/>
            <a:ext cx="177800" cy="1657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35686" y="462915"/>
            <a:ext cx="423165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第一声：运行成功！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857250" y="1219200"/>
            <a:ext cx="10477500" cy="4438650"/>
            <a:chOff x="857250" y="1219200"/>
            <a:chExt cx="10477500" cy="4438650"/>
          </a:xfrm>
        </p:grpSpPr>
        <p:sp>
          <p:nvSpPr>
            <p:cNvPr id="3" name="Rectangle 3"/>
            <p:cNvSpPr/>
            <p:nvPr/>
          </p:nvSpPr>
          <p:spPr>
            <a:xfrm>
              <a:off x="857250" y="1219200"/>
              <a:ext cx="10477500" cy="4438650"/>
            </a:xfrm>
            <a:prstGeom prst="roundRect">
              <a:avLst>
                <a:gd name="adj" fmla="val 7296"/>
              </a:avLst>
            </a:prstGeom>
            <a:solidFill>
              <a:schemeClr val="accent5"/>
            </a:solidFill>
            <a:ln>
              <a:noFill/>
            </a:ln>
          </p:spPr>
        </p:sp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56167" y="1390650"/>
              <a:ext cx="10079665" cy="4267200"/>
            </a:xfrm>
            <a:prstGeom prst="rect">
              <a:avLst/>
            </a:prstGeom>
          </p:spPr>
        </p:pic>
      </p:grpSp>
      <p:grpSp>
        <p:nvGrpSpPr>
          <p:cNvPr id="9" name="Group 9"/>
          <p:cNvGrpSpPr/>
          <p:nvPr/>
        </p:nvGrpSpPr>
        <p:grpSpPr>
          <a:xfrm>
            <a:off x="857250" y="5810250"/>
            <a:ext cx="4953000" cy="723900"/>
            <a:chOff x="857250" y="5810250"/>
            <a:chExt cx="4953000" cy="723900"/>
          </a:xfrm>
        </p:grpSpPr>
        <p:sp>
          <p:nvSpPr>
            <p:cNvPr id="6" name="Rectangle 6"/>
            <p:cNvSpPr/>
            <p:nvPr/>
          </p:nvSpPr>
          <p:spPr>
            <a:xfrm>
              <a:off x="857250" y="5810250"/>
              <a:ext cx="4953000" cy="72390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35380" y="5934075"/>
              <a:ext cx="2063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第一行：Hello World!</a:t>
              </a:r>
              <a:endParaRPr lang="zh-CN" sz="15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5380" y="62198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就是程序输出的内容。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000750" y="5810250"/>
            <a:ext cx="5334000" cy="723900"/>
            <a:chOff x="6000750" y="5810250"/>
            <a:chExt cx="5334000" cy="723900"/>
          </a:xfrm>
        </p:grpSpPr>
        <p:sp>
          <p:nvSpPr>
            <p:cNvPr id="10" name="Rectangle 10"/>
            <p:cNvSpPr/>
            <p:nvPr/>
          </p:nvSpPr>
          <p:spPr>
            <a:xfrm>
              <a:off x="6000750" y="5810250"/>
              <a:ext cx="5334000" cy="723900"/>
            </a:xfrm>
            <a:prstGeom prst="roundRect">
              <a:avLst>
                <a:gd name="adj" fmla="val 31579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8880" y="5934075"/>
              <a:ext cx="1488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value 0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8880" y="62198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表示程序正常结束。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6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zh-CN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439150" y="356620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829800" y="4090035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235724" y="419481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260965" y="4461510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498348" y="438150"/>
            <a:ext cx="5254752" cy="4781550"/>
            <a:chOff x="498348" y="438150"/>
            <a:chExt cx="5254752" cy="4781550"/>
          </a:xfrm>
        </p:grpSpPr>
        <p:sp>
          <p:nvSpPr>
            <p:cNvPr id="2" name="Rectangle 2"/>
            <p:cNvSpPr/>
            <p:nvPr/>
          </p:nvSpPr>
          <p:spPr>
            <a:xfrm>
              <a:off x="514350" y="438150"/>
              <a:ext cx="2095500" cy="51435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71308" y="596265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思考题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498348" y="1241108"/>
              <a:ext cx="47130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源程序扩展名是？</a:t>
              </a:r>
              <a:endParaRPr lang="zh-CN" sz="31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514350" y="20193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71144" y="2237422"/>
              <a:ext cx="10680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A　.cpp</a:t>
              </a:r>
              <a:endParaRPr lang="zh-CN" sz="19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14350" y="28575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1144" y="3075622"/>
              <a:ext cx="101815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B　.doc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14350" y="36957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71144" y="3913822"/>
              <a:ext cx="95159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　.jpg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14350" y="4533900"/>
              <a:ext cx="5238750" cy="685800"/>
            </a:xfrm>
            <a:prstGeom prst="roundRect">
              <a:avLst>
                <a:gd name="adj" fmla="val 33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1144" y="4752022"/>
              <a:ext cx="107628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D　.mp3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91300" y="1066800"/>
            <a:ext cx="4953000" cy="4572000"/>
            <a:chOff x="6591300" y="1066800"/>
            <a:chExt cx="49530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591300" y="1066800"/>
              <a:ext cx="4953000" cy="4572000"/>
            </a:xfrm>
            <a:prstGeom prst="roundRect">
              <a:avLst>
                <a:gd name="adj" fmla="val 833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7048496" y="1606450"/>
              <a:ext cx="601700" cy="604048"/>
            </a:xfrm>
            <a:custGeom>
              <a:avLst/>
              <a:gdLst/>
              <a:ahLst/>
              <a:cxnLst/>
              <a:rect l="l" t="t" r="r" b="b"/>
              <a:pathLst>
                <a:path w="601700" h="604048">
                  <a:moveTo>
                    <a:pt x="428629" y="51090"/>
                  </a:moveTo>
                  <a:cubicBezTo>
                    <a:pt x="548723" y="120427"/>
                    <a:pt x="601700" y="265982"/>
                    <a:pt x="554270" y="396292"/>
                  </a:cubicBezTo>
                  <a:cubicBezTo>
                    <a:pt x="506840" y="526602"/>
                    <a:pt x="372695" y="604048"/>
                    <a:pt x="236129" y="579965"/>
                  </a:cubicBezTo>
                  <a:cubicBezTo>
                    <a:pt x="99562" y="555882"/>
                    <a:pt x="0" y="437223"/>
                    <a:pt x="4" y="298550"/>
                  </a:cubicBezTo>
                  <a:lnTo>
                    <a:pt x="146" y="289292"/>
                  </a:lnTo>
                  <a:cubicBezTo>
                    <a:pt x="3402" y="188907"/>
                    <a:pt x="59120" y="97602"/>
                    <a:pt x="146905" y="48801"/>
                  </a:cubicBezTo>
                  <a:cubicBezTo>
                    <a:pt x="234689" y="0"/>
                    <a:pt x="341649" y="869"/>
                    <a:pt x="428629" y="51090"/>
                  </a:cubicBezTo>
                  <a:moveTo>
                    <a:pt x="248806" y="221197"/>
                  </a:moveTo>
                  <a:cubicBezTo>
                    <a:pt x="237648" y="210042"/>
                    <a:pt x="219560" y="210042"/>
                    <a:pt x="208401" y="221197"/>
                  </a:cubicBezTo>
                  <a:lnTo>
                    <a:pt x="151251" y="278347"/>
                  </a:lnTo>
                  <a:cubicBezTo>
                    <a:pt x="140096" y="289506"/>
                    <a:pt x="140096" y="307594"/>
                    <a:pt x="151251" y="318752"/>
                  </a:cubicBezTo>
                  <a:lnTo>
                    <a:pt x="208401" y="375902"/>
                  </a:lnTo>
                  <a:cubicBezTo>
                    <a:pt x="219560" y="387058"/>
                    <a:pt x="237648" y="387058"/>
                    <a:pt x="248806" y="375902"/>
                  </a:cubicBezTo>
                  <a:lnTo>
                    <a:pt x="251178" y="373216"/>
                  </a:lnTo>
                  <a:cubicBezTo>
                    <a:pt x="260002" y="361841"/>
                    <a:pt x="258985" y="345678"/>
                    <a:pt x="248806" y="335497"/>
                  </a:cubicBezTo>
                  <a:lnTo>
                    <a:pt x="211887" y="298550"/>
                  </a:lnTo>
                  <a:lnTo>
                    <a:pt x="248806" y="261602"/>
                  </a:lnTo>
                  <a:cubicBezTo>
                    <a:pt x="259961" y="250444"/>
                    <a:pt x="259961" y="232356"/>
                    <a:pt x="248806" y="221197"/>
                  </a:cubicBezTo>
                  <a:moveTo>
                    <a:pt x="363106" y="221197"/>
                  </a:moveTo>
                  <a:cubicBezTo>
                    <a:pt x="351948" y="210042"/>
                    <a:pt x="333860" y="210042"/>
                    <a:pt x="322701" y="221197"/>
                  </a:cubicBezTo>
                  <a:lnTo>
                    <a:pt x="320329" y="223883"/>
                  </a:lnTo>
                  <a:cubicBezTo>
                    <a:pt x="311505" y="235259"/>
                    <a:pt x="312522" y="251422"/>
                    <a:pt x="322701" y="261602"/>
                  </a:cubicBezTo>
                  <a:lnTo>
                    <a:pt x="359620" y="298550"/>
                  </a:lnTo>
                  <a:lnTo>
                    <a:pt x="322701" y="335497"/>
                  </a:lnTo>
                  <a:cubicBezTo>
                    <a:pt x="311872" y="346710"/>
                    <a:pt x="312027" y="364532"/>
                    <a:pt x="323049" y="375554"/>
                  </a:cubicBezTo>
                  <a:cubicBezTo>
                    <a:pt x="334071" y="386577"/>
                    <a:pt x="351894" y="386732"/>
                    <a:pt x="363106" y="375902"/>
                  </a:cubicBezTo>
                  <a:lnTo>
                    <a:pt x="420256" y="318752"/>
                  </a:lnTo>
                  <a:cubicBezTo>
                    <a:pt x="431411" y="307594"/>
                    <a:pt x="431411" y="289506"/>
                    <a:pt x="420256" y="27834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93558" y="1722120"/>
              <a:ext cx="129686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答案：A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978396" y="2467928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.cpp</a:t>
              </a:r>
              <a:endParaRPr lang="zh-CN" sz="25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10906" y="254889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最常用</a:t>
              </a:r>
              <a:endParaRPr lang="zh-CN" sz="18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991350" y="3086100"/>
              <a:ext cx="4133850" cy="9525"/>
            </a:xfrm>
            <a:custGeom>
              <a:avLst/>
              <a:gdLst/>
              <a:ahLst/>
              <a:cxnLst/>
              <a:rect l="l" t="t" r="r" b="b"/>
              <a:pathLst>
                <a:path w="4133850" h="9525">
                  <a:moveTo>
                    <a:pt x="0" y="0"/>
                  </a:moveTo>
                  <a:lnTo>
                    <a:pt x="413385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982968" y="33651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补充知识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982968" y="3784282"/>
              <a:ext cx="225251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.cxx　部分 UNIX 系统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2968" y="420338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.cc　部分编译器兼容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982968" y="46224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.h　常用于头文件</a:t>
              </a:r>
              <a:endParaRPr lang="zh-CN" sz="165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83730" y="51339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保存时先看文件名最后一段。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59486" y="400050"/>
            <a:ext cx="11161014" cy="670179"/>
            <a:chOff x="459486" y="400050"/>
            <a:chExt cx="11161014" cy="670179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283227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代码框架解析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105900" y="400050"/>
              <a:ext cx="25146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211399" y="587692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比喻帮助记忆，说明更准确</a:t>
              </a:r>
              <a:endParaRPr lang="zh-CN" sz="13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333750" y="1352550"/>
            <a:ext cx="5524500" cy="4457700"/>
            <a:chOff x="3333750" y="1352550"/>
            <a:chExt cx="5524500" cy="4457700"/>
          </a:xfrm>
        </p:grpSpPr>
        <p:sp>
          <p:nvSpPr>
            <p:cNvPr id="6" name="Rectangle 6"/>
            <p:cNvSpPr/>
            <p:nvPr/>
          </p:nvSpPr>
          <p:spPr>
            <a:xfrm>
              <a:off x="3333750" y="1352550"/>
              <a:ext cx="5524500" cy="4457700"/>
            </a:xfrm>
            <a:prstGeom prst="roundRect">
              <a:avLst>
                <a:gd name="adj" fmla="val 7692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3562350" y="15811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810000" y="15811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4057650" y="15811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06368" y="2165032"/>
              <a:ext cx="21602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06368" y="2736532"/>
              <a:ext cx="233794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6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6368" y="3308032"/>
              <a:ext cx="130507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011168" y="387953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zh-CN" sz="16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011168" y="4451032"/>
              <a:ext cx="106074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</a:t>
              </a:r>
              <a:endParaRPr lang="zh-CN" sz="16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06368" y="50225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2857500" y="1847850"/>
            <a:ext cx="6477000" cy="2819400"/>
            <a:chOff x="2857500" y="1847850"/>
            <a:chExt cx="6477000" cy="2819400"/>
          </a:xfrm>
        </p:grpSpPr>
        <p:sp>
          <p:nvSpPr>
            <p:cNvPr id="17" name="Polyline 17"/>
            <p:cNvSpPr/>
            <p:nvPr/>
          </p:nvSpPr>
          <p:spPr>
            <a:xfrm>
              <a:off x="2857500" y="1847850"/>
              <a:ext cx="781050" cy="419100"/>
            </a:xfrm>
            <a:custGeom>
              <a:avLst/>
              <a:gdLst/>
              <a:ahLst/>
              <a:cxnLst/>
              <a:rect l="l" t="t" r="r" b="b"/>
              <a:pathLst>
                <a:path w="781050" h="419100">
                  <a:moveTo>
                    <a:pt x="0" y="0"/>
                  </a:moveTo>
                  <a:lnTo>
                    <a:pt x="304800" y="0"/>
                  </a:lnTo>
                  <a:lnTo>
                    <a:pt x="304800" y="419100"/>
                  </a:lnTo>
                  <a:lnTo>
                    <a:pt x="781050" y="41910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8" name="Polygon 18"/>
            <p:cNvSpPr/>
            <p:nvPr/>
          </p:nvSpPr>
          <p:spPr>
            <a:xfrm>
              <a:off x="3524250" y="22002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9" name="Polyline 19"/>
            <p:cNvSpPr/>
            <p:nvPr/>
          </p:nvSpPr>
          <p:spPr>
            <a:xfrm>
              <a:off x="2857500" y="2876550"/>
              <a:ext cx="781050" cy="228600"/>
            </a:xfrm>
            <a:custGeom>
              <a:avLst/>
              <a:gdLst/>
              <a:ahLst/>
              <a:cxnLst/>
              <a:rect l="l" t="t" r="r" b="b"/>
              <a:pathLst>
                <a:path w="781050" h="228600">
                  <a:moveTo>
                    <a:pt x="0" y="228600"/>
                  </a:moveTo>
                  <a:lnTo>
                    <a:pt x="323850" y="228600"/>
                  </a:lnTo>
                  <a:lnTo>
                    <a:pt x="3238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20" name="Polygon 20"/>
            <p:cNvSpPr/>
            <p:nvPr/>
          </p:nvSpPr>
          <p:spPr>
            <a:xfrm>
              <a:off x="3524250" y="28098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Polyline 21"/>
            <p:cNvSpPr/>
            <p:nvPr/>
          </p:nvSpPr>
          <p:spPr>
            <a:xfrm>
              <a:off x="2857500" y="3448050"/>
              <a:ext cx="781050" cy="914400"/>
            </a:xfrm>
            <a:custGeom>
              <a:avLst/>
              <a:gdLst/>
              <a:ahLst/>
              <a:cxnLst/>
              <a:rect l="l" t="t" r="r" b="b"/>
              <a:pathLst>
                <a:path w="781050" h="914400">
                  <a:moveTo>
                    <a:pt x="0" y="914400"/>
                  </a:moveTo>
                  <a:lnTo>
                    <a:pt x="247650" y="914400"/>
                  </a:lnTo>
                  <a:lnTo>
                    <a:pt x="247650" y="0"/>
                  </a:lnTo>
                  <a:lnTo>
                    <a:pt x="781050" y="0"/>
                  </a:lnTo>
                </a:path>
              </a:pathLst>
            </a:custGeom>
            <a:noFill/>
            <a:ln w="28575">
              <a:solidFill>
                <a:schemeClr val="dk1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3524250" y="338137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  <p:sp>
          <p:nvSpPr>
            <p:cNvPr id="23" name="Polyline 23"/>
            <p:cNvSpPr/>
            <p:nvPr/>
          </p:nvSpPr>
          <p:spPr>
            <a:xfrm>
              <a:off x="6191250" y="2476500"/>
              <a:ext cx="3143250" cy="1543050"/>
            </a:xfrm>
            <a:custGeom>
              <a:avLst/>
              <a:gdLst/>
              <a:ahLst/>
              <a:cxnLst/>
              <a:rect l="l" t="t" r="r" b="b"/>
              <a:pathLst>
                <a:path w="3143250" h="1543050">
                  <a:moveTo>
                    <a:pt x="3143250" y="0"/>
                  </a:moveTo>
                  <a:lnTo>
                    <a:pt x="2876550" y="0"/>
                  </a:lnTo>
                  <a:lnTo>
                    <a:pt x="2876550" y="1543050"/>
                  </a:lnTo>
                  <a:lnTo>
                    <a:pt x="0" y="15430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Polygon 24"/>
            <p:cNvSpPr/>
            <p:nvPr/>
          </p:nvSpPr>
          <p:spPr>
            <a:xfrm>
              <a:off x="6191250" y="39433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476875" y="4191000"/>
              <a:ext cx="3857625" cy="400050"/>
            </a:xfrm>
            <a:custGeom>
              <a:avLst/>
              <a:gdLst/>
              <a:ahLst/>
              <a:cxnLst/>
              <a:rect l="l" t="t" r="r" b="b"/>
              <a:pathLst>
                <a:path w="3857625" h="400050">
                  <a:moveTo>
                    <a:pt x="3857625" y="0"/>
                  </a:moveTo>
                  <a:lnTo>
                    <a:pt x="3609975" y="0"/>
                  </a:lnTo>
                  <a:lnTo>
                    <a:pt x="3609975" y="400050"/>
                  </a:lnTo>
                  <a:lnTo>
                    <a:pt x="0" y="400050"/>
                  </a:lnTo>
                </a:path>
              </a:pathLst>
            </a:custGeom>
            <a:noFill/>
            <a:ln w="28575">
              <a:solidFill>
                <a:srgbClr val="22C55E"/>
              </a:solidFill>
            </a:ln>
          </p:spPr>
        </p:sp>
        <p:sp>
          <p:nvSpPr>
            <p:cNvPr id="26" name="Polygon 26"/>
            <p:cNvSpPr/>
            <p:nvPr/>
          </p:nvSpPr>
          <p:spPr>
            <a:xfrm>
              <a:off x="5476875" y="4514850"/>
              <a:ext cx="133350" cy="152400"/>
            </a:xfrm>
            <a:custGeom>
              <a:avLst/>
              <a:gdLst/>
              <a:ahLst/>
              <a:cxnLst/>
              <a:rect l="l" t="t" r="r" b="b"/>
              <a:pathLst>
                <a:path w="133350" h="152400">
                  <a:moveTo>
                    <a:pt x="0" y="76200"/>
                  </a:moveTo>
                  <a:lnTo>
                    <a:pt x="133350" y="0"/>
                  </a:lnTo>
                  <a:lnTo>
                    <a:pt x="133350" y="15240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476250" y="1352550"/>
            <a:ext cx="2381250" cy="990600"/>
            <a:chOff x="476250" y="1352550"/>
            <a:chExt cx="2381250" cy="990600"/>
          </a:xfrm>
        </p:grpSpPr>
        <p:sp>
          <p:nvSpPr>
            <p:cNvPr id="28" name="Rectangle 28"/>
            <p:cNvSpPr/>
            <p:nvPr/>
          </p:nvSpPr>
          <p:spPr>
            <a:xfrm>
              <a:off x="476250" y="13525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5706" y="15392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工具箱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7992" y="19307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引入输入输出工具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76250" y="2609850"/>
            <a:ext cx="2381250" cy="990600"/>
            <a:chOff x="476250" y="2609850"/>
            <a:chExt cx="2381250" cy="990600"/>
          </a:xfrm>
        </p:grpSpPr>
        <p:sp>
          <p:nvSpPr>
            <p:cNvPr id="32" name="Rectangle 32"/>
            <p:cNvSpPr/>
            <p:nvPr/>
          </p:nvSpPr>
          <p:spPr>
            <a:xfrm>
              <a:off x="476250" y="26098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5706" y="27965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标准仓库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7992" y="31880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直接使用标准库名字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76250" y="3867150"/>
            <a:ext cx="2381250" cy="990600"/>
            <a:chOff x="476250" y="3867150"/>
            <a:chExt cx="2381250" cy="990600"/>
          </a:xfrm>
        </p:grpSpPr>
        <p:sp>
          <p:nvSpPr>
            <p:cNvPr id="36" name="Rectangle 36"/>
            <p:cNvSpPr/>
            <p:nvPr/>
          </p:nvSpPr>
          <p:spPr>
            <a:xfrm>
              <a:off x="476250" y="386715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95706" y="4053840"/>
              <a:ext cx="11505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正门 main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97992" y="44453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程序从这里开始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334500" y="1981200"/>
            <a:ext cx="2381250" cy="990600"/>
            <a:chOff x="9334500" y="1981200"/>
            <a:chExt cx="2381250" cy="990600"/>
          </a:xfrm>
        </p:grpSpPr>
        <p:sp>
          <p:nvSpPr>
            <p:cNvPr id="40" name="Rectangle 40"/>
            <p:cNvSpPr/>
            <p:nvPr/>
          </p:nvSpPr>
          <p:spPr>
            <a:xfrm>
              <a:off x="9334500" y="19812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553956" y="21678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广播喇叭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556242" y="2559368"/>
              <a:ext cx="18674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与 &lt;&lt; 把内容送出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334500" y="3695700"/>
            <a:ext cx="2381250" cy="990600"/>
            <a:chOff x="9334500" y="3695700"/>
            <a:chExt cx="2381250" cy="990600"/>
          </a:xfrm>
        </p:grpSpPr>
        <p:sp>
          <p:nvSpPr>
            <p:cNvPr id="44" name="Rectangle 44"/>
            <p:cNvSpPr/>
            <p:nvPr/>
          </p:nvSpPr>
          <p:spPr>
            <a:xfrm>
              <a:off x="9334500" y="3695700"/>
              <a:ext cx="2381250" cy="990600"/>
            </a:xfrm>
            <a:prstGeom prst="roundRect">
              <a:avLst>
                <a:gd name="adj" fmla="val 2692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53956" y="38823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完成印章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556242" y="42738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向环境报告正常结束</a:t>
              </a:r>
              <a:endParaRPr lang="zh-CN" sz="13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453509" y="6197918"/>
            <a:ext cx="3284982" cy="264033"/>
            <a:chOff x="4453509" y="6197918"/>
            <a:chExt cx="3284982" cy="264033"/>
          </a:xfrm>
        </p:grpSpPr>
        <p:sp>
          <p:nvSpPr>
            <p:cNvPr id="48" name="TextBox 48"/>
            <p:cNvSpPr txBox="1"/>
            <p:nvPr/>
          </p:nvSpPr>
          <p:spPr>
            <a:xfrm>
              <a:off x="4453509" y="6197918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比喻不是正式定义；小字才是技术作用。</a:t>
              </a:r>
              <a:endParaRPr lang="zh-CN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7586" y="400050"/>
            <a:ext cx="11046714" cy="727329"/>
            <a:chOff x="497586" y="400050"/>
            <a:chExt cx="11046714" cy="727329"/>
          </a:xfrm>
        </p:grpSpPr>
        <p:sp>
          <p:nvSpPr>
            <p:cNvPr id="2" name="TextBox 2"/>
            <p:cNvSpPr txBox="1"/>
            <p:nvPr/>
          </p:nvSpPr>
          <p:spPr>
            <a:xfrm>
              <a:off x="497586" y="481965"/>
              <a:ext cx="189936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410700" y="400050"/>
              <a:ext cx="2133600" cy="4953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652816" y="555308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输入输出头文件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0100" y="1352550"/>
            <a:ext cx="10591800" cy="1638300"/>
            <a:chOff x="800100" y="1352550"/>
            <a:chExt cx="10591800" cy="1638300"/>
          </a:xfrm>
        </p:grpSpPr>
        <p:sp>
          <p:nvSpPr>
            <p:cNvPr id="6" name="Rectangle 6"/>
            <p:cNvSpPr/>
            <p:nvPr/>
          </p:nvSpPr>
          <p:spPr>
            <a:xfrm>
              <a:off x="800100" y="1352550"/>
              <a:ext cx="10591800" cy="1638300"/>
            </a:xfrm>
            <a:prstGeom prst="roundRect">
              <a:avLst>
                <a:gd name="adj" fmla="val 2209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1184275" y="1860480"/>
              <a:ext cx="412751" cy="343891"/>
            </a:xfrm>
            <a:custGeom>
              <a:avLst/>
              <a:gdLst/>
              <a:ahLst/>
              <a:cxnLst/>
              <a:rect l="l" t="t" r="r" b="b"/>
              <a:pathLst>
                <a:path w="412751" h="343891">
                  <a:moveTo>
                    <a:pt x="402432" y="36173"/>
                  </a:moveTo>
                  <a:cubicBezTo>
                    <a:pt x="408067" y="39426"/>
                    <a:pt x="411838" y="45148"/>
                    <a:pt x="412606" y="51610"/>
                  </a:cubicBezTo>
                  <a:lnTo>
                    <a:pt x="412751" y="54045"/>
                  </a:lnTo>
                  <a:lnTo>
                    <a:pt x="412751" y="322333"/>
                  </a:lnTo>
                  <a:cubicBezTo>
                    <a:pt x="412750" y="329706"/>
                    <a:pt x="408817" y="336519"/>
                    <a:pt x="402432" y="340205"/>
                  </a:cubicBezTo>
                  <a:cubicBezTo>
                    <a:pt x="396046" y="343891"/>
                    <a:pt x="388180" y="343891"/>
                    <a:pt x="381794" y="340205"/>
                  </a:cubicBezTo>
                  <a:cubicBezTo>
                    <a:pt x="334313" y="312787"/>
                    <a:pt x="276318" y="310730"/>
                    <a:pt x="227013" y="334715"/>
                  </a:cubicBezTo>
                  <a:lnTo>
                    <a:pt x="227013" y="21561"/>
                  </a:lnTo>
                  <a:cubicBezTo>
                    <a:pt x="284735" y="0"/>
                    <a:pt x="349072" y="5359"/>
                    <a:pt x="402432" y="36173"/>
                  </a:cubicBezTo>
                  <a:moveTo>
                    <a:pt x="185738" y="21582"/>
                  </a:moveTo>
                  <a:lnTo>
                    <a:pt x="185758" y="334736"/>
                  </a:lnTo>
                  <a:cubicBezTo>
                    <a:pt x="138452" y="311707"/>
                    <a:pt x="83003" y="312604"/>
                    <a:pt x="36467" y="337150"/>
                  </a:cubicBezTo>
                  <a:lnTo>
                    <a:pt x="29718" y="340865"/>
                  </a:lnTo>
                  <a:lnTo>
                    <a:pt x="27592" y="341773"/>
                  </a:lnTo>
                  <a:lnTo>
                    <a:pt x="26581" y="342103"/>
                  </a:lnTo>
                  <a:lnTo>
                    <a:pt x="24311" y="342640"/>
                  </a:lnTo>
                  <a:lnTo>
                    <a:pt x="23052" y="342846"/>
                  </a:lnTo>
                  <a:lnTo>
                    <a:pt x="20638" y="342970"/>
                  </a:lnTo>
                  <a:lnTo>
                    <a:pt x="19771" y="342970"/>
                  </a:lnTo>
                  <a:lnTo>
                    <a:pt x="17501" y="342723"/>
                  </a:lnTo>
                  <a:lnTo>
                    <a:pt x="15912" y="342434"/>
                  </a:lnTo>
                  <a:lnTo>
                    <a:pt x="13683" y="341773"/>
                  </a:lnTo>
                  <a:lnTo>
                    <a:pt x="11082" y="340618"/>
                  </a:lnTo>
                  <a:lnTo>
                    <a:pt x="9122" y="339462"/>
                  </a:lnTo>
                  <a:lnTo>
                    <a:pt x="7285" y="338079"/>
                  </a:lnTo>
                  <a:lnTo>
                    <a:pt x="6047" y="336923"/>
                  </a:lnTo>
                  <a:lnTo>
                    <a:pt x="4540" y="335231"/>
                  </a:lnTo>
                  <a:lnTo>
                    <a:pt x="3219" y="333394"/>
                  </a:lnTo>
                  <a:lnTo>
                    <a:pt x="2765" y="332651"/>
                  </a:lnTo>
                  <a:lnTo>
                    <a:pt x="2105" y="331413"/>
                  </a:lnTo>
                  <a:lnTo>
                    <a:pt x="1197" y="329288"/>
                  </a:lnTo>
                  <a:lnTo>
                    <a:pt x="867" y="328276"/>
                  </a:lnTo>
                  <a:lnTo>
                    <a:pt x="330" y="326006"/>
                  </a:lnTo>
                  <a:lnTo>
                    <a:pt x="124" y="324747"/>
                  </a:lnTo>
                  <a:lnTo>
                    <a:pt x="41" y="323736"/>
                  </a:lnTo>
                  <a:lnTo>
                    <a:pt x="0" y="54045"/>
                  </a:lnTo>
                  <a:cubicBezTo>
                    <a:pt x="0" y="46672"/>
                    <a:pt x="3934" y="39859"/>
                    <a:pt x="10319" y="36173"/>
                  </a:cubicBezTo>
                  <a:cubicBezTo>
                    <a:pt x="63682" y="5366"/>
                    <a:pt x="128019" y="14"/>
                    <a:pt x="185738" y="2158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55470" y="1700212"/>
              <a:ext cx="726456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 C++ 编程中，流输入输出对应的头文件是（ ）</a:t>
              </a:r>
              <a:endParaRPr lang="zh-CN" sz="22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8518" y="2279332"/>
              <a:ext cx="41482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先回忆：哪只“工具箱”提供 cin 和 cout？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00100" y="3371850"/>
            <a:ext cx="2247900" cy="1466850"/>
            <a:chOff x="800100" y="3371850"/>
            <a:chExt cx="2247900" cy="1466850"/>
          </a:xfrm>
        </p:grpSpPr>
        <p:sp>
          <p:nvSpPr>
            <p:cNvPr id="11" name="Rectangle 11"/>
            <p:cNvSpPr/>
            <p:nvPr/>
          </p:nvSpPr>
          <p:spPr>
            <a:xfrm>
              <a:off x="8001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0705" y="411670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cstdio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581400" y="3371850"/>
            <a:ext cx="2247900" cy="1466850"/>
            <a:chOff x="3581400" y="3371850"/>
            <a:chExt cx="2247900" cy="1466850"/>
          </a:xfrm>
        </p:grpSpPr>
        <p:sp>
          <p:nvSpPr>
            <p:cNvPr id="15" name="Rectangle 15"/>
            <p:cNvSpPr/>
            <p:nvPr/>
          </p:nvSpPr>
          <p:spPr>
            <a:xfrm>
              <a:off x="35814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8389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049061" y="411670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62700" y="3371850"/>
            <a:ext cx="2247900" cy="1466850"/>
            <a:chOff x="6362700" y="3371850"/>
            <a:chExt cx="2247900" cy="1466850"/>
          </a:xfrm>
        </p:grpSpPr>
        <p:sp>
          <p:nvSpPr>
            <p:cNvPr id="19" name="Rectangle 19"/>
            <p:cNvSpPr/>
            <p:nvPr/>
          </p:nvSpPr>
          <p:spPr>
            <a:xfrm>
              <a:off x="63627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202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zh-CN" sz="18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835894" y="4132898"/>
              <a:ext cx="13015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algorithm</a:t>
              </a:r>
              <a:endParaRPr lang="zh-CN" sz="19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144000" y="3371850"/>
            <a:ext cx="2247900" cy="1466850"/>
            <a:chOff x="9144000" y="3371850"/>
            <a:chExt cx="2247900" cy="1466850"/>
          </a:xfrm>
        </p:grpSpPr>
        <p:sp>
          <p:nvSpPr>
            <p:cNvPr id="23" name="Rectangle 23"/>
            <p:cNvSpPr/>
            <p:nvPr/>
          </p:nvSpPr>
          <p:spPr>
            <a:xfrm>
              <a:off x="9144000" y="3371850"/>
              <a:ext cx="2247900" cy="1466850"/>
            </a:xfrm>
            <a:prstGeom prst="roundRect">
              <a:avLst>
                <a:gd name="adj" fmla="val 19481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401556" y="37109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722975" y="4116705"/>
              <a:ext cx="10899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cstring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04950" y="5391150"/>
            <a:ext cx="9182100" cy="914400"/>
            <a:chOff x="1504950" y="5391150"/>
            <a:chExt cx="9182100" cy="914400"/>
          </a:xfrm>
        </p:grpSpPr>
        <p:sp>
          <p:nvSpPr>
            <p:cNvPr id="27" name="Rectangle 27"/>
            <p:cNvSpPr/>
            <p:nvPr/>
          </p:nvSpPr>
          <p:spPr>
            <a:xfrm>
              <a:off x="1504950" y="5391150"/>
              <a:ext cx="9182100" cy="914400"/>
            </a:xfrm>
            <a:prstGeom prst="roundRect">
              <a:avLst>
                <a:gd name="adj" fmla="val 2916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876806" y="5587365"/>
              <a:ext cx="9726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答案：B</a:t>
              </a:r>
              <a:endPara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324606" y="5587365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18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849368" y="5603558"/>
              <a:ext cx="41260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包含标准输入流 cin 和标准输出流 cout。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78330" y="5972175"/>
              <a:ext cx="47000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记忆：输入 input + 输出 output + stream（流）。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8536" y="361950"/>
            <a:ext cx="11122914" cy="708279"/>
            <a:chOff x="478536" y="361950"/>
            <a:chExt cx="11122914" cy="708279"/>
          </a:xfrm>
        </p:grpSpPr>
        <p:sp>
          <p:nvSpPr>
            <p:cNvPr id="2" name="TextBox 2"/>
            <p:cNvSpPr txBox="1"/>
            <p:nvPr/>
          </p:nvSpPr>
          <p:spPr>
            <a:xfrm>
              <a:off x="478536" y="4248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选择判断：找出错误行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Rectangle 3"/>
            <p:cNvSpPr/>
            <p:nvPr/>
          </p:nvSpPr>
          <p:spPr>
            <a:xfrm>
              <a:off x="9658350" y="361950"/>
              <a:ext cx="1943100" cy="495300"/>
            </a:xfrm>
            <a:prstGeom prst="roundRect">
              <a:avLst>
                <a:gd name="adj" fmla="val 50000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155060" y="517208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拼写侦探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95300" y="1257300"/>
            <a:ext cx="6324600" cy="4953000"/>
            <a:chOff x="495300" y="1257300"/>
            <a:chExt cx="6324600" cy="4953000"/>
          </a:xfrm>
        </p:grpSpPr>
        <p:sp>
          <p:nvSpPr>
            <p:cNvPr id="6" name="Rectangle 6"/>
            <p:cNvSpPr/>
            <p:nvPr/>
          </p:nvSpPr>
          <p:spPr>
            <a:xfrm>
              <a:off x="495300" y="1257300"/>
              <a:ext cx="6324600" cy="4953000"/>
            </a:xfrm>
            <a:prstGeom prst="roundRect">
              <a:avLst>
                <a:gd name="adj" fmla="val 7308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240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240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240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29818" y="1955482"/>
              <a:ext cx="23823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1　#include &lt;iosteam&gt;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25269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2　using namespace std;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9818" y="30984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3　int main() {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9818" y="3669982"/>
              <a:ext cx="30610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4　　cout &lt;&lt; "Hello world!";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818" y="4241482"/>
              <a:ext cx="16271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5　　return 0;</a:t>
              </a:r>
              <a:endParaRPr lang="zh-CN" sz="165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" y="481298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6　}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42950" y="5314950"/>
              <a:ext cx="5829300" cy="628650"/>
            </a:xfrm>
            <a:prstGeom prst="roundRect">
              <a:avLst>
                <a:gd name="adj" fmla="val 33333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133229" y="5536882"/>
              <a:ext cx="304874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哪一行的单词少了一个字母？</a:t>
              </a:r>
              <a:endPara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7200900" y="1257300"/>
            <a:ext cx="4419600" cy="4953000"/>
            <a:chOff x="7200900" y="1257300"/>
            <a:chExt cx="4419600" cy="4953000"/>
          </a:xfrm>
        </p:grpSpPr>
        <p:sp>
          <p:nvSpPr>
            <p:cNvPr id="19" name="Rectangle 19"/>
            <p:cNvSpPr/>
            <p:nvPr/>
          </p:nvSpPr>
          <p:spPr>
            <a:xfrm>
              <a:off x="7200900" y="1257300"/>
              <a:ext cx="4419600" cy="4953000"/>
            </a:xfrm>
            <a:prstGeom prst="roundRect">
              <a:avLst>
                <a:gd name="adj" fmla="val 819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533132" y="1583055"/>
              <a:ext cx="20991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请选择错误行号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438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42011" y="2345055"/>
              <a:ext cx="6799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　1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25000" y="211455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0038893" y="234505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　2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438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576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　3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525000" y="3048000"/>
              <a:ext cx="1676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038893" y="3278505"/>
              <a:ext cx="6486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　5</a:t>
              </a:r>
              <a:endParaRPr lang="zh-CN" sz="21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543800" y="4152900"/>
              <a:ext cx="3657600" cy="1428750"/>
            </a:xfrm>
            <a:prstGeom prst="roundRect">
              <a:avLst>
                <a:gd name="adj" fmla="val 1866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839456" y="4434840"/>
              <a:ext cx="9726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答案：A</a:t>
              </a:r>
              <a:endParaRPr lang="zh-CN" sz="18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839456" y="485394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840980" y="52292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第 1 行缺少字母 r。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604819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拆开 cout 语句看一看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619250" y="1200150"/>
            <a:ext cx="8953500" cy="990600"/>
            <a:chOff x="1619250" y="1200150"/>
            <a:chExt cx="8953500" cy="990600"/>
          </a:xfrm>
        </p:grpSpPr>
        <p:sp>
          <p:nvSpPr>
            <p:cNvPr id="3" name="Rectangle 3"/>
            <p:cNvSpPr/>
            <p:nvPr/>
          </p:nvSpPr>
          <p:spPr>
            <a:xfrm>
              <a:off x="1619250" y="1200150"/>
              <a:ext cx="8953500" cy="990600"/>
            </a:xfrm>
            <a:prstGeom prst="roundRect">
              <a:avLst>
                <a:gd name="adj" fmla="val 3269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1905000" y="14478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2152650" y="14478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2400300" y="14478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3827623" y="1540192"/>
              <a:ext cx="453675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World!";</a:t>
              </a:r>
              <a:endParaRPr lang="zh-CN" sz="28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143125" y="2133600"/>
            <a:ext cx="8020050" cy="514350"/>
            <a:chOff x="2143125" y="2133600"/>
            <a:chExt cx="8020050" cy="514350"/>
          </a:xfrm>
        </p:grpSpPr>
        <p:sp>
          <p:nvSpPr>
            <p:cNvPr id="9" name="Polyline 9"/>
            <p:cNvSpPr/>
            <p:nvPr/>
          </p:nvSpPr>
          <p:spPr>
            <a:xfrm>
              <a:off x="2209800" y="2133600"/>
              <a:ext cx="1828800" cy="514350"/>
            </a:xfrm>
            <a:custGeom>
              <a:avLst/>
              <a:gdLst/>
              <a:ahLst/>
              <a:cxnLst/>
              <a:rect l="l" t="t" r="r" b="b"/>
              <a:pathLst>
                <a:path w="1828800" h="514350">
                  <a:moveTo>
                    <a:pt x="1828800" y="0"/>
                  </a:moveTo>
                  <a:lnTo>
                    <a:pt x="1828800" y="266700"/>
                  </a:lnTo>
                  <a:lnTo>
                    <a:pt x="0" y="26670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21431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1" name="Polyline 11"/>
            <p:cNvSpPr/>
            <p:nvPr/>
          </p:nvSpPr>
          <p:spPr>
            <a:xfrm>
              <a:off x="4953000" y="2133600"/>
              <a:ext cx="857250" cy="514350"/>
            </a:xfrm>
            <a:custGeom>
              <a:avLst/>
              <a:gdLst/>
              <a:ahLst/>
              <a:cxnLst/>
              <a:rect l="l" t="t" r="r" b="b"/>
              <a:pathLst>
                <a:path w="857250" h="514350">
                  <a:moveTo>
                    <a:pt x="0" y="0"/>
                  </a:moveTo>
                  <a:lnTo>
                    <a:pt x="0" y="285750"/>
                  </a:lnTo>
                  <a:lnTo>
                    <a:pt x="857250" y="285750"/>
                  </a:lnTo>
                  <a:lnTo>
                    <a:pt x="85725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2" name="Polygon 12"/>
            <p:cNvSpPr/>
            <p:nvPr/>
          </p:nvSpPr>
          <p:spPr>
            <a:xfrm>
              <a:off x="57435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3" name="Polyline 13"/>
            <p:cNvSpPr/>
            <p:nvPr/>
          </p:nvSpPr>
          <p:spPr>
            <a:xfrm>
              <a:off x="6610350" y="2133600"/>
              <a:ext cx="247650" cy="514350"/>
            </a:xfrm>
            <a:custGeom>
              <a:avLst/>
              <a:gdLst/>
              <a:ahLst/>
              <a:cxnLst/>
              <a:rect l="l" t="t" r="r" b="b"/>
              <a:pathLst>
                <a:path w="247650" h="514350">
                  <a:moveTo>
                    <a:pt x="247650" y="0"/>
                  </a:moveTo>
                  <a:lnTo>
                    <a:pt x="247650" y="285750"/>
                  </a:lnTo>
                  <a:lnTo>
                    <a:pt x="0" y="285750"/>
                  </a:lnTo>
                  <a:lnTo>
                    <a:pt x="0" y="51435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4" name="Polygon 14"/>
            <p:cNvSpPr/>
            <p:nvPr/>
          </p:nvSpPr>
          <p:spPr>
            <a:xfrm>
              <a:off x="654367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15" name="Polyline 15"/>
            <p:cNvSpPr/>
            <p:nvPr/>
          </p:nvSpPr>
          <p:spPr>
            <a:xfrm>
              <a:off x="8477250" y="2133600"/>
              <a:ext cx="1619250" cy="514350"/>
            </a:xfrm>
            <a:custGeom>
              <a:avLst/>
              <a:gdLst/>
              <a:ahLst/>
              <a:cxnLst/>
              <a:rect l="l" t="t" r="r" b="b"/>
              <a:pathLst>
                <a:path w="1619250" h="514350">
                  <a:moveTo>
                    <a:pt x="0" y="0"/>
                  </a:moveTo>
                  <a:lnTo>
                    <a:pt x="0" y="266700"/>
                  </a:lnTo>
                  <a:lnTo>
                    <a:pt x="1619250" y="266700"/>
                  </a:lnTo>
                  <a:lnTo>
                    <a:pt x="1619250" y="5143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6" name="Polygon 16"/>
            <p:cNvSpPr/>
            <p:nvPr/>
          </p:nvSpPr>
          <p:spPr>
            <a:xfrm>
              <a:off x="10029825" y="2533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11430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</p:grpSp>
      <p:grpSp>
        <p:nvGrpSpPr>
          <p:cNvPr id="24" name="Group 24"/>
          <p:cNvGrpSpPr/>
          <p:nvPr/>
        </p:nvGrpSpPr>
        <p:grpSpPr>
          <a:xfrm>
            <a:off x="495300" y="2647950"/>
            <a:ext cx="3429000" cy="2857500"/>
            <a:chOff x="495300" y="2647950"/>
            <a:chExt cx="34290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95300" y="2647950"/>
              <a:ext cx="3429000" cy="2857500"/>
            </a:xfrm>
            <a:prstGeom prst="roundRect">
              <a:avLst>
                <a:gd name="adj" fmla="val 126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38200" y="2990850"/>
              <a:ext cx="2705100" cy="704850"/>
            </a:xfrm>
            <a:prstGeom prst="roundRect">
              <a:avLst>
                <a:gd name="adj" fmla="val 351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781306" y="3182302"/>
              <a:ext cx="81888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25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9056" y="3996690"/>
              <a:ext cx="27644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Console Output 的缩写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818" y="4470082"/>
              <a:ext cx="18159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像“小喇叭”一样，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9818" y="48320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命令电脑把内容说出来。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305300" y="2647950"/>
            <a:ext cx="3810000" cy="2857500"/>
            <a:chOff x="4305300" y="2647950"/>
            <a:chExt cx="3810000" cy="2857500"/>
          </a:xfrm>
        </p:grpSpPr>
        <p:sp>
          <p:nvSpPr>
            <p:cNvPr id="25" name="Rectangle 25"/>
            <p:cNvSpPr/>
            <p:nvPr/>
          </p:nvSpPr>
          <p:spPr>
            <a:xfrm>
              <a:off x="4305300" y="2647950"/>
              <a:ext cx="3810000" cy="2857500"/>
            </a:xfrm>
            <a:prstGeom prst="roundRect">
              <a:avLst>
                <a:gd name="adj" fmla="val 12667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67250" y="2990850"/>
              <a:ext cx="3086100" cy="704850"/>
            </a:xfrm>
            <a:prstGeom prst="roundRect">
              <a:avLst>
                <a:gd name="adj" fmla="val 35135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86345" y="3182302"/>
              <a:ext cx="16479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"文字"</a:t>
              </a:r>
              <a:endParaRPr lang="zh-CN" sz="2550" b="1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58106" y="3996690"/>
              <a:ext cx="22827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&lt;&lt; 把内容送给 cout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58868" y="44700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双引号把文字框起来，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58868" y="483203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里面写什么，就显示什么。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496300" y="2647950"/>
            <a:ext cx="3200400" cy="2857500"/>
            <a:chOff x="8496300" y="2647950"/>
            <a:chExt cx="3200400" cy="2857500"/>
          </a:xfrm>
        </p:grpSpPr>
        <p:sp>
          <p:nvSpPr>
            <p:cNvPr id="32" name="Rectangle 32"/>
            <p:cNvSpPr/>
            <p:nvPr/>
          </p:nvSpPr>
          <p:spPr>
            <a:xfrm>
              <a:off x="8496300" y="2647950"/>
              <a:ext cx="3200400" cy="2857500"/>
            </a:xfrm>
            <a:prstGeom prst="roundRect">
              <a:avLst>
                <a:gd name="adj" fmla="val 1266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8858250" y="2990850"/>
              <a:ext cx="2476500" cy="704850"/>
            </a:xfrm>
            <a:prstGeom prst="roundRect">
              <a:avLst>
                <a:gd name="adj" fmla="val 3513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964645" y="3133725"/>
              <a:ext cx="263709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0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</a:t>
              </a:r>
              <a:endParaRPr lang="zh-CN" sz="30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49106" y="39966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分号是语句结束符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49868" y="447008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像一句话的句号，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849868" y="483203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每句代码都要收好尾。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39" name="Rectangle 39"/>
          <p:cNvSpPr/>
          <p:nvPr/>
        </p:nvSpPr>
        <p:spPr>
          <a:xfrm>
            <a:off x="2076450" y="5867400"/>
            <a:ext cx="8039100" cy="590550"/>
          </a:xfrm>
          <a:prstGeom prst="roundRect">
            <a:avLst>
              <a:gd name="adj" fmla="val 38710"/>
            </a:avLst>
          </a:prstGeom>
          <a:solidFill>
            <a:schemeClr val="lt2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3498774" y="6079808"/>
            <a:ext cx="519445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想一想：如果把 &lt;&lt; 写成 &gt;&gt;，电脑还能“说话”吗？</a:t>
            </a:r>
            <a:endParaRPr lang="zh-CN" sz="1650" b="1" dirty="0">
              <a:solidFill>
                <a:schemeClr val="accent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6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zh-CN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155581"/>
            <a:chOff x="8020050" y="381000"/>
            <a:chExt cx="3848100" cy="6155581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15103" y="367282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9718129" y="4022703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111940" y="419611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148659" y="4451328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95300" y="323850"/>
            <a:ext cx="6958089" cy="708279"/>
            <a:chOff x="495300" y="323850"/>
            <a:chExt cx="6958089" cy="708279"/>
          </a:xfrm>
        </p:grpSpPr>
        <p:sp>
          <p:nvSpPr>
            <p:cNvPr id="2" name="Rectangle 2"/>
            <p:cNvSpPr/>
            <p:nvPr/>
          </p:nvSpPr>
          <p:spPr>
            <a:xfrm>
              <a:off x="495300" y="323850"/>
              <a:ext cx="24765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51766" y="507682"/>
              <a:ext cx="196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N6713 · 短句输出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21736" y="3867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让电脑说 thank you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1466850"/>
            <a:ext cx="4857750" cy="4248150"/>
            <a:chOff x="495300" y="1466850"/>
            <a:chExt cx="4857750" cy="4248150"/>
          </a:xfrm>
        </p:grpSpPr>
        <p:sp>
          <p:nvSpPr>
            <p:cNvPr id="6" name="Rectangle 6"/>
            <p:cNvSpPr/>
            <p:nvPr/>
          </p:nvSpPr>
          <p:spPr>
            <a:xfrm>
              <a:off x="495300" y="1466850"/>
              <a:ext cx="4857750" cy="4248150"/>
            </a:xfrm>
            <a:prstGeom prst="roundRect">
              <a:avLst>
                <a:gd name="adj" fmla="val 852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27532" y="1773555"/>
              <a:ext cx="61501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题目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29056" y="23583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输出指定短句，要求逐字一致。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33700"/>
              <a:ext cx="4171950" cy="876300"/>
            </a:xfrm>
            <a:prstGeom prst="roundRect">
              <a:avLst>
                <a:gd name="adj" fmla="val 2826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013587" y="3194685"/>
              <a:ext cx="182117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zh-CN" sz="27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9818" y="4279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成功标准：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0580" y="47148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全部小写，中间保留一个空格。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61482" y="1678305"/>
            <a:ext cx="5820918" cy="3503295"/>
            <a:chOff x="5761482" y="1678305"/>
            <a:chExt cx="5820918" cy="3503295"/>
          </a:xfrm>
        </p:grpSpPr>
        <p:sp>
          <p:nvSpPr>
            <p:cNvPr id="14" name="TextBox 14"/>
            <p:cNvSpPr txBox="1"/>
            <p:nvPr/>
          </p:nvSpPr>
          <p:spPr>
            <a:xfrm>
              <a:off x="5761482" y="1678305"/>
              <a:ext cx="248508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读题 → 抄准 → 运行</a:t>
              </a:r>
              <a:endParaRPr lang="zh-CN" sz="21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772150" y="2247900"/>
              <a:ext cx="5810250" cy="1200150"/>
            </a:xfrm>
            <a:prstGeom prst="roundRect">
              <a:avLst>
                <a:gd name="adj" fmla="val 2381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087618" y="25079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"________________";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88380" y="29622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先把题目文字完整放进双引号。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772150" y="3657600"/>
              <a:ext cx="5810250" cy="1524000"/>
            </a:xfrm>
            <a:prstGeom prst="roundRect">
              <a:avLst>
                <a:gd name="adj" fmla="val 1875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86856" y="3901440"/>
              <a:ext cx="25020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"thank you";</a:t>
              </a:r>
              <a:endParaRPr lang="zh-CN" sz="1800" dirty="0">
                <a:solidFill>
                  <a:srgbClr val="EAF5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83808" y="4503420"/>
              <a:ext cx="161882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thank you</a:t>
              </a:r>
              <a:endParaRPr lang="zh-CN" sz="24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753600" y="4552950"/>
              <a:ext cx="1466850" cy="419100"/>
            </a:xfrm>
            <a:prstGeom prst="roundRect">
              <a:avLst>
                <a:gd name="adj" fmla="val 40909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098519" y="46929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逐字一致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77751" y="2000250"/>
            <a:ext cx="3218498" cy="5734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0000" b="1" dirty="0">
                <a:solidFill>
                  <a:schemeClr val="accent2">
                    <a:alphaMod val="10000"/>
                  </a:schemeClr>
                </a:solidFill>
                <a:latin typeface="+mn-lt"/>
                <a:ea typeface="+mn-ea"/>
                <a:cs typeface="+mn-cs"/>
              </a:rPr>
              <a:t>%</a:t>
            </a:r>
            <a:endParaRPr lang="zh-CN" sz="30000" b="1" dirty="0">
              <a:solidFill>
                <a:schemeClr val="accent2">
                  <a:alphaMod val="1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35686" y="400050"/>
            <a:ext cx="5187892" cy="1470279"/>
            <a:chOff x="535686" y="400050"/>
            <a:chExt cx="5187892" cy="1470279"/>
          </a:xfrm>
        </p:grpSpPr>
        <p:sp>
          <p:nvSpPr>
            <p:cNvPr id="3" name="Rectangle 3"/>
            <p:cNvSpPr/>
            <p:nvPr/>
          </p:nvSpPr>
          <p:spPr>
            <a:xfrm>
              <a:off x="552450" y="400050"/>
              <a:ext cx="2514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04751" y="583882"/>
              <a:ext cx="22099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P1067 · 输出百分号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35686" y="1224915"/>
              <a:ext cx="51878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双引号里，% 会原样显示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2450" y="2190750"/>
            <a:ext cx="3429000" cy="2952750"/>
            <a:chOff x="552450" y="2190750"/>
            <a:chExt cx="3429000" cy="2952750"/>
          </a:xfrm>
        </p:grpSpPr>
        <p:sp>
          <p:nvSpPr>
            <p:cNvPr id="7" name="Rectangle 7"/>
            <p:cNvSpPr/>
            <p:nvPr/>
          </p:nvSpPr>
          <p:spPr>
            <a:xfrm>
              <a:off x="552450" y="2190750"/>
              <a:ext cx="3429000" cy="2952750"/>
            </a:xfrm>
            <a:prstGeom prst="roundRect">
              <a:avLst>
                <a:gd name="adj" fmla="val 1419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748942" y="26060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目标输出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85351" y="3613785"/>
              <a:ext cx="136319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</a:t>
              </a:r>
              <a:endParaRPr lang="zh-CN" sz="27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90304" y="4147185"/>
              <a:ext cx="1153293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b=19%</a:t>
              </a:r>
              <a:endParaRPr lang="zh-CN" sz="27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476750" y="2190750"/>
            <a:ext cx="6572250" cy="2952750"/>
            <a:chOff x="4476750" y="2190750"/>
            <a:chExt cx="6572250" cy="2952750"/>
          </a:xfrm>
        </p:grpSpPr>
        <p:sp>
          <p:nvSpPr>
            <p:cNvPr id="12" name="Rectangle 12"/>
            <p:cNvSpPr/>
            <p:nvPr/>
          </p:nvSpPr>
          <p:spPr>
            <a:xfrm>
              <a:off x="4476750" y="2190750"/>
              <a:ext cx="6572250" cy="1200150"/>
            </a:xfrm>
            <a:prstGeom prst="roundRect">
              <a:avLst>
                <a:gd name="adj" fmla="val 2698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843206" y="2709862"/>
              <a:ext cx="38393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"a=10%,b=19%";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7762875" y="352425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76200" cap="rnd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0" y="4114800"/>
              <a:ext cx="3333750" cy="1028700"/>
            </a:xfrm>
            <a:prstGeom prst="roundRect">
              <a:avLst>
                <a:gd name="adj" fmla="val 2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87486" y="4487228"/>
              <a:ext cx="235077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a=10%,b=19%</a:t>
              </a:r>
              <a:endParaRPr lang="zh-CN" sz="25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5450" y="5657850"/>
            <a:ext cx="8801100" cy="647700"/>
            <a:chOff x="1695450" y="5657850"/>
            <a:chExt cx="8801100" cy="647700"/>
          </a:xfrm>
        </p:grpSpPr>
        <p:sp>
          <p:nvSpPr>
            <p:cNvPr id="18" name="Rectangle 18"/>
            <p:cNvSpPr/>
            <p:nvPr/>
          </p:nvSpPr>
          <p:spPr>
            <a:xfrm>
              <a:off x="1695450" y="5657850"/>
              <a:ext cx="8801100" cy="647700"/>
            </a:xfrm>
            <a:prstGeom prst="roundRect">
              <a:avLst>
                <a:gd name="adj" fmla="val 35294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71941" y="5898832"/>
              <a:ext cx="444811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等号、逗号、百分号都要放进英文双引号。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459486" y="424815"/>
            <a:ext cx="10264635" cy="645414"/>
            <a:chOff x="459486" y="424815"/>
            <a:chExt cx="1026463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24815"/>
              <a:ext cx="600419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哪条语句能正确输出 apple？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326128" y="458787"/>
              <a:ext cx="397993" cy="396875"/>
              <a:chOff x="10326128" y="458787"/>
              <a:chExt cx="397993" cy="396875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10326128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10505281" y="458787"/>
                <a:ext cx="39687" cy="60090"/>
              </a:xfrm>
              <a:custGeom>
                <a:avLst/>
                <a:gdLst/>
                <a:ahLst/>
                <a:cxnLst/>
                <a:rect l="l" t="t" r="r" b="b"/>
                <a:pathLst>
                  <a:path w="39687" h="60090">
                    <a:moveTo>
                      <a:pt x="19844" y="0"/>
                    </a:moveTo>
                    <a:cubicBezTo>
                      <a:pt x="29904" y="1"/>
                      <a:pt x="38371" y="7531"/>
                      <a:pt x="39549" y="17522"/>
                    </a:cubicBezTo>
                    <a:lnTo>
                      <a:pt x="39687" y="19844"/>
                    </a:lnTo>
                    <a:lnTo>
                      <a:pt x="39687" y="39687"/>
                    </a:lnTo>
                    <a:cubicBezTo>
                      <a:pt x="39676" y="50187"/>
                      <a:pt x="31488" y="58860"/>
                      <a:pt x="21007" y="59475"/>
                    </a:cubicBezTo>
                    <a:cubicBezTo>
                      <a:pt x="10526" y="60090"/>
                      <a:pt x="1379" y="52435"/>
                      <a:pt x="139" y="42009"/>
                    </a:cubicBezTo>
                    <a:lnTo>
                      <a:pt x="0" y="39687"/>
                    </a:lnTo>
                    <a:lnTo>
                      <a:pt x="0" y="19844"/>
                    </a:lnTo>
                    <a:cubicBezTo>
                      <a:pt x="0" y="8884"/>
                      <a:pt x="8884" y="0"/>
                      <a:pt x="1984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10663471" y="637381"/>
                <a:ext cx="60650" cy="39687"/>
              </a:xfrm>
              <a:custGeom>
                <a:avLst/>
                <a:gdLst/>
                <a:ahLst/>
                <a:cxnLst/>
                <a:rect l="l" t="t" r="r" b="b"/>
                <a:pathLst>
                  <a:path w="60650" h="39687">
                    <a:moveTo>
                      <a:pt x="40247" y="0"/>
                    </a:moveTo>
                    <a:cubicBezTo>
                      <a:pt x="50746" y="12"/>
                      <a:pt x="59419" y="8200"/>
                      <a:pt x="60034" y="18681"/>
                    </a:cubicBezTo>
                    <a:cubicBezTo>
                      <a:pt x="60650" y="29162"/>
                      <a:pt x="52994" y="38308"/>
                      <a:pt x="42568" y="39549"/>
                    </a:cubicBezTo>
                    <a:lnTo>
                      <a:pt x="40247" y="39687"/>
                    </a:lnTo>
                    <a:lnTo>
                      <a:pt x="20403" y="39687"/>
                    </a:lnTo>
                    <a:cubicBezTo>
                      <a:pt x="9904" y="39676"/>
                      <a:pt x="1231" y="31488"/>
                      <a:pt x="615" y="21007"/>
                    </a:cubicBezTo>
                    <a:cubicBezTo>
                      <a:pt x="0" y="10526"/>
                      <a:pt x="7655" y="1379"/>
                      <a:pt x="18081" y="139"/>
                    </a:cubicBezTo>
                    <a:lnTo>
                      <a:pt x="20403" y="0"/>
                    </a:lnTo>
                    <a:lnTo>
                      <a:pt x="4024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10376349" y="508421"/>
                <a:ext cx="57445" cy="57772"/>
              </a:xfrm>
              <a:custGeom>
                <a:avLst/>
                <a:gdLst/>
                <a:ahLst/>
                <a:cxnLst/>
                <a:rect l="l" t="t" r="r" b="b"/>
                <a:pathLst>
                  <a:path w="57445" h="57772">
                    <a:moveTo>
                      <a:pt x="7747" y="7775"/>
                    </a:moveTo>
                    <a:cubicBezTo>
                      <a:pt x="14816" y="706"/>
                      <a:pt x="26041" y="0"/>
                      <a:pt x="33940" y="6128"/>
                    </a:cubicBezTo>
                    <a:lnTo>
                      <a:pt x="35806" y="7775"/>
                    </a:lnTo>
                    <a:lnTo>
                      <a:pt x="49696" y="21665"/>
                    </a:lnTo>
                    <a:cubicBezTo>
                      <a:pt x="57082" y="29077"/>
                      <a:pt x="57445" y="40949"/>
                      <a:pt x="50525" y="48797"/>
                    </a:cubicBezTo>
                    <a:cubicBezTo>
                      <a:pt x="43605" y="56645"/>
                      <a:pt x="31780" y="57772"/>
                      <a:pt x="23503" y="51371"/>
                    </a:cubicBezTo>
                    <a:lnTo>
                      <a:pt x="21637" y="49724"/>
                    </a:lnTo>
                    <a:lnTo>
                      <a:pt x="7747" y="35834"/>
                    </a:lnTo>
                    <a:cubicBezTo>
                      <a:pt x="0" y="28085"/>
                      <a:pt x="0" y="15524"/>
                      <a:pt x="7747" y="777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616157" y="508447"/>
                <a:ext cx="58044" cy="57447"/>
              </a:xfrm>
              <a:custGeom>
                <a:avLst/>
                <a:gdLst/>
                <a:ahLst/>
                <a:cxnLst/>
                <a:rect l="l" t="t" r="r" b="b"/>
                <a:pathLst>
                  <a:path w="58044" h="57447">
                    <a:moveTo>
                      <a:pt x="21938" y="7749"/>
                    </a:moveTo>
                    <a:cubicBezTo>
                      <a:pt x="29349" y="363"/>
                      <a:pt x="41222" y="0"/>
                      <a:pt x="49070" y="6920"/>
                    </a:cubicBezTo>
                    <a:cubicBezTo>
                      <a:pt x="56918" y="13840"/>
                      <a:pt x="58044" y="25665"/>
                      <a:pt x="51644" y="33942"/>
                    </a:cubicBezTo>
                    <a:lnTo>
                      <a:pt x="49997" y="35808"/>
                    </a:lnTo>
                    <a:lnTo>
                      <a:pt x="36106" y="49698"/>
                    </a:lnTo>
                    <a:cubicBezTo>
                      <a:pt x="28695" y="57084"/>
                      <a:pt x="16822" y="57447"/>
                      <a:pt x="8974" y="50527"/>
                    </a:cubicBezTo>
                    <a:cubicBezTo>
                      <a:pt x="1126" y="43607"/>
                      <a:pt x="0" y="31782"/>
                      <a:pt x="6400" y="23505"/>
                    </a:cubicBezTo>
                    <a:lnTo>
                      <a:pt x="8047" y="21639"/>
                    </a:lnTo>
                    <a:lnTo>
                      <a:pt x="21938" y="7749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0465593" y="776287"/>
                <a:ext cx="119062" cy="79375"/>
              </a:xfrm>
              <a:custGeom>
                <a:avLst/>
                <a:gdLst/>
                <a:ahLst/>
                <a:cxnLst/>
                <a:rect l="l" t="t" r="r" b="b"/>
                <a:pathLst>
                  <a:path w="119062" h="79375">
                    <a:moveTo>
                      <a:pt x="99219" y="0"/>
                    </a:moveTo>
                    <a:cubicBezTo>
                      <a:pt x="110178" y="0"/>
                      <a:pt x="119062" y="8884"/>
                      <a:pt x="119062" y="19844"/>
                    </a:cubicBezTo>
                    <a:cubicBezTo>
                      <a:pt x="119062" y="52722"/>
                      <a:pt x="92409" y="79375"/>
                      <a:pt x="59531" y="79375"/>
                    </a:cubicBezTo>
                    <a:cubicBezTo>
                      <a:pt x="26653" y="79375"/>
                      <a:pt x="0" y="52722"/>
                      <a:pt x="0" y="19844"/>
                    </a:cubicBezTo>
                    <a:cubicBezTo>
                      <a:pt x="1" y="9783"/>
                      <a:pt x="7531" y="1316"/>
                      <a:pt x="17522" y="139"/>
                    </a:cubicBezTo>
                    <a:lnTo>
                      <a:pt x="19844" y="0"/>
                    </a:lnTo>
                    <a:lnTo>
                      <a:pt x="9921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395966" y="538162"/>
                <a:ext cx="258317" cy="218281"/>
              </a:xfrm>
              <a:custGeom>
                <a:avLst/>
                <a:gdLst/>
                <a:ahLst/>
                <a:cxnLst/>
                <a:rect l="l" t="t" r="r" b="b"/>
                <a:pathLst>
                  <a:path w="258317" h="218281">
                    <a:moveTo>
                      <a:pt x="129158" y="0"/>
                    </a:moveTo>
                    <a:cubicBezTo>
                      <a:pt x="180407" y="0"/>
                      <a:pt x="225905" y="32793"/>
                      <a:pt x="242111" y="81412"/>
                    </a:cubicBezTo>
                    <a:cubicBezTo>
                      <a:pt x="258317" y="130030"/>
                      <a:pt x="241594" y="183563"/>
                      <a:pt x="200596" y="214312"/>
                    </a:cubicBezTo>
                    <a:cubicBezTo>
                      <a:pt x="197861" y="216366"/>
                      <a:pt x="194641" y="217679"/>
                      <a:pt x="191249" y="218122"/>
                    </a:cubicBezTo>
                    <a:lnTo>
                      <a:pt x="188690" y="218281"/>
                    </a:lnTo>
                    <a:lnTo>
                      <a:pt x="69627" y="218281"/>
                    </a:lnTo>
                    <a:cubicBezTo>
                      <a:pt x="65334" y="218281"/>
                      <a:pt x="61156" y="216888"/>
                      <a:pt x="57721" y="214312"/>
                    </a:cubicBezTo>
                    <a:cubicBezTo>
                      <a:pt x="16723" y="183563"/>
                      <a:pt x="0" y="130030"/>
                      <a:pt x="16206" y="81412"/>
                    </a:cubicBezTo>
                    <a:cubicBezTo>
                      <a:pt x="32412" y="32793"/>
                      <a:pt x="77910" y="0"/>
                      <a:pt x="1291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</p:grpSp>
      <p:grpSp>
        <p:nvGrpSpPr>
          <p:cNvPr id="17" name="Group 17"/>
          <p:cNvGrpSpPr/>
          <p:nvPr/>
        </p:nvGrpSpPr>
        <p:grpSpPr>
          <a:xfrm>
            <a:off x="666750" y="1466850"/>
            <a:ext cx="4857750" cy="1466850"/>
            <a:chOff x="666750" y="1466850"/>
            <a:chExt cx="4857750" cy="1466850"/>
          </a:xfrm>
        </p:grpSpPr>
        <p:sp>
          <p:nvSpPr>
            <p:cNvPr id="12" name="Rectangle 12"/>
            <p:cNvSpPr/>
            <p:nvPr/>
          </p:nvSpPr>
          <p:spPr>
            <a:xfrm>
              <a:off x="66675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535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7897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29918" y="1879282"/>
              <a:ext cx="16826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0680" y="237172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少了一个 &lt;</a:t>
              </a:r>
              <a:endPara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0" y="1466850"/>
            <a:ext cx="4857750" cy="1466850"/>
            <a:chOff x="6667500" y="1466850"/>
            <a:chExt cx="4857750" cy="1466850"/>
          </a:xfrm>
        </p:grpSpPr>
        <p:sp>
          <p:nvSpPr>
            <p:cNvPr id="18" name="Rectangle 18"/>
            <p:cNvSpPr/>
            <p:nvPr/>
          </p:nvSpPr>
          <p:spPr>
            <a:xfrm>
              <a:off x="6667500" y="146685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6896100" y="167640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079727" y="184404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30668" y="1879282"/>
              <a:ext cx="1816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1430" y="2371725"/>
              <a:ext cx="13277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cout 必须小写</a:t>
              </a:r>
              <a:endPara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66750" y="3238500"/>
            <a:ext cx="4857750" cy="1466850"/>
            <a:chOff x="666750" y="3238500"/>
            <a:chExt cx="4857750" cy="1466850"/>
          </a:xfrm>
        </p:grpSpPr>
        <p:sp>
          <p:nvSpPr>
            <p:cNvPr id="24" name="Rectangle 24"/>
            <p:cNvSpPr/>
            <p:nvPr/>
          </p:nvSpPr>
          <p:spPr>
            <a:xfrm>
              <a:off x="66675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895350" y="3448050"/>
              <a:ext cx="533400" cy="533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7897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29918" y="3650932"/>
              <a:ext cx="18942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"apple";</a:t>
              </a:r>
              <a:endParaRPr lang="zh-CN" sz="16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30680" y="414337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完全正确</a:t>
              </a:r>
              <a:endParaRPr lang="zh-CN" sz="1500" b="1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667500" y="3238500"/>
            <a:ext cx="4857750" cy="1466850"/>
            <a:chOff x="6667500" y="3238500"/>
            <a:chExt cx="4857750" cy="1466850"/>
          </a:xfrm>
        </p:grpSpPr>
        <p:sp>
          <p:nvSpPr>
            <p:cNvPr id="30" name="Rectangle 30"/>
            <p:cNvSpPr/>
            <p:nvPr/>
          </p:nvSpPr>
          <p:spPr>
            <a:xfrm>
              <a:off x="6667500" y="3238500"/>
              <a:ext cx="4857750" cy="1466850"/>
            </a:xfrm>
            <a:prstGeom prst="roundRect">
              <a:avLst>
                <a:gd name="adj" fmla="val 19481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6896100" y="3448050"/>
              <a:ext cx="533400" cy="533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079727" y="3615690"/>
              <a:ext cx="166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30668" y="3650932"/>
              <a:ext cx="19048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“apple”；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31430" y="4143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使用了中文符号</a:t>
              </a:r>
              <a:endParaRPr lang="zh-CN" sz="15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19250" y="5334000"/>
            <a:ext cx="8953500" cy="876300"/>
            <a:chOff x="1619250" y="5334000"/>
            <a:chExt cx="8953500" cy="876300"/>
          </a:xfrm>
        </p:grpSpPr>
        <p:sp>
          <p:nvSpPr>
            <p:cNvPr id="36" name="Rectangle 36"/>
            <p:cNvSpPr/>
            <p:nvPr/>
          </p:nvSpPr>
          <p:spPr>
            <a:xfrm>
              <a:off x="1619250" y="5334000"/>
              <a:ext cx="8953500" cy="876300"/>
            </a:xfrm>
            <a:prstGeom prst="roundRect">
              <a:avLst>
                <a:gd name="adj" fmla="val 3043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172796" y="5692140"/>
              <a:ext cx="58464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答案 C：小写 cout + 两个 &lt; + 英文引号 + 英文分号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62915"/>
            <a:ext cx="6470653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想一想：两条 cout 会换行吗？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561975" y="1962150"/>
            <a:ext cx="2133600" cy="2717673"/>
            <a:chOff x="561975" y="1962150"/>
            <a:chExt cx="2133600" cy="2717673"/>
          </a:xfrm>
        </p:grpSpPr>
        <p:sp>
          <p:nvSpPr>
            <p:cNvPr id="3" name="Ellipse 3"/>
            <p:cNvSpPr/>
            <p:nvPr/>
          </p:nvSpPr>
          <p:spPr>
            <a:xfrm>
              <a:off x="561975" y="1962150"/>
              <a:ext cx="2133600" cy="21336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260475" y="2568575"/>
              <a:ext cx="736599" cy="920749"/>
            </a:xfrm>
            <a:custGeom>
              <a:avLst/>
              <a:gdLst/>
              <a:ahLst/>
              <a:cxnLst/>
              <a:rect l="l" t="t" r="r" b="b"/>
              <a:pathLst>
                <a:path w="736599" h="920749">
                  <a:moveTo>
                    <a:pt x="598487" y="0"/>
                  </a:moveTo>
                  <a:cubicBezTo>
                    <a:pt x="674764" y="0"/>
                    <a:pt x="736599" y="61835"/>
                    <a:pt x="736599" y="138112"/>
                  </a:cubicBezTo>
                  <a:lnTo>
                    <a:pt x="736599" y="782637"/>
                  </a:lnTo>
                  <a:cubicBezTo>
                    <a:pt x="736599" y="858914"/>
                    <a:pt x="674764" y="920749"/>
                    <a:pt x="598487" y="920749"/>
                  </a:cubicBezTo>
                  <a:lnTo>
                    <a:pt x="138112" y="920749"/>
                  </a:lnTo>
                  <a:cubicBezTo>
                    <a:pt x="61835" y="920749"/>
                    <a:pt x="0" y="858914"/>
                    <a:pt x="0" y="782637"/>
                  </a:cubicBezTo>
                  <a:lnTo>
                    <a:pt x="0" y="138112"/>
                  </a:lnTo>
                  <a:cubicBezTo>
                    <a:pt x="0" y="61835"/>
                    <a:pt x="61835" y="0"/>
                    <a:pt x="138112" y="0"/>
                  </a:cubicBezTo>
                  <a:close/>
                  <a:moveTo>
                    <a:pt x="368300" y="414337"/>
                  </a:moveTo>
                  <a:cubicBezTo>
                    <a:pt x="270175" y="414337"/>
                    <a:pt x="189286" y="491278"/>
                    <a:pt x="184380" y="589280"/>
                  </a:cubicBezTo>
                  <a:lnTo>
                    <a:pt x="184150" y="598487"/>
                  </a:lnTo>
                  <a:cubicBezTo>
                    <a:pt x="184150" y="700190"/>
                    <a:pt x="266597" y="782637"/>
                    <a:pt x="368300" y="782637"/>
                  </a:cubicBezTo>
                  <a:cubicBezTo>
                    <a:pt x="470003" y="782637"/>
                    <a:pt x="552450" y="700190"/>
                    <a:pt x="552450" y="598487"/>
                  </a:cubicBezTo>
                  <a:cubicBezTo>
                    <a:pt x="552450" y="496784"/>
                    <a:pt x="470003" y="414337"/>
                    <a:pt x="368300" y="414337"/>
                  </a:cubicBezTo>
                  <a:moveTo>
                    <a:pt x="368300" y="184150"/>
                  </a:moveTo>
                  <a:cubicBezTo>
                    <a:pt x="342874" y="184150"/>
                    <a:pt x="322262" y="204762"/>
                    <a:pt x="322262" y="230187"/>
                  </a:cubicBezTo>
                  <a:lnTo>
                    <a:pt x="322262" y="230648"/>
                  </a:lnTo>
                  <a:cubicBezTo>
                    <a:pt x="322262" y="256074"/>
                    <a:pt x="342874" y="276685"/>
                    <a:pt x="368300" y="276685"/>
                  </a:cubicBezTo>
                  <a:cubicBezTo>
                    <a:pt x="393726" y="276685"/>
                    <a:pt x="414337" y="256074"/>
                    <a:pt x="414337" y="230648"/>
                  </a:cubicBezTo>
                  <a:lnTo>
                    <a:pt x="414337" y="230187"/>
                  </a:lnTo>
                  <a:cubicBezTo>
                    <a:pt x="414337" y="204762"/>
                    <a:pt x="393726" y="184150"/>
                    <a:pt x="368300" y="18415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291586" y="4269105"/>
              <a:ext cx="6743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21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143250" y="1581150"/>
            <a:ext cx="8096250" cy="2095500"/>
            <a:chOff x="3143250" y="1581150"/>
            <a:chExt cx="8096250" cy="2095500"/>
          </a:xfrm>
        </p:grpSpPr>
        <p:sp>
          <p:nvSpPr>
            <p:cNvPr id="7" name="Rectangle 7"/>
            <p:cNvSpPr/>
            <p:nvPr/>
          </p:nvSpPr>
          <p:spPr>
            <a:xfrm>
              <a:off x="3143250" y="1581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418332" y="1945005"/>
              <a:ext cx="235122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zh-CN" sz="21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143250" y="2724150"/>
              <a:ext cx="8096250" cy="952500"/>
            </a:xfrm>
            <a:prstGeom prst="roundRect">
              <a:avLst>
                <a:gd name="adj" fmla="val 28000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418332" y="3088005"/>
              <a:ext cx="25752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"World!";</a:t>
              </a:r>
              <a:endParaRPr lang="zh-CN" sz="21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3250" y="4000500"/>
            <a:ext cx="8096250" cy="1619250"/>
            <a:chOff x="3143250" y="4000500"/>
            <a:chExt cx="8096250" cy="1619250"/>
          </a:xfrm>
        </p:grpSpPr>
        <p:sp>
          <p:nvSpPr>
            <p:cNvPr id="12" name="Rectangle 12"/>
            <p:cNvSpPr/>
            <p:nvPr/>
          </p:nvSpPr>
          <p:spPr>
            <a:xfrm>
              <a:off x="3143250" y="4000500"/>
              <a:ext cx="8096250" cy="1619250"/>
            </a:xfrm>
            <a:prstGeom prst="roundRect">
              <a:avLst>
                <a:gd name="adj" fmla="val 20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54730" y="4295775"/>
              <a:ext cx="30946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没有 endl，光标不会自动去下一行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936296" y="4863465"/>
              <a:ext cx="251015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HelloWorld!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16" name="Rectangle 16"/>
          <p:cNvSpPr/>
          <p:nvPr/>
        </p:nvSpPr>
        <p:spPr>
          <a:xfrm>
            <a:off x="3143250" y="5867400"/>
            <a:ext cx="8096250" cy="552450"/>
          </a:xfrm>
          <a:prstGeom prst="roundRect">
            <a:avLst>
              <a:gd name="adj" fmla="val 37931"/>
            </a:avLst>
          </a:prstGeom>
          <a:solidFill>
            <a:srgbClr val="FFE2ED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5422113" y="6051232"/>
            <a:ext cx="353852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结论：两条输出会“粘”在同一行。</a:t>
            </a:r>
            <a:endParaRPr lang="zh-CN" sz="1650" b="1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448820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用 endl 输出多行信息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95300" y="1371600"/>
            <a:ext cx="7010400" cy="2019300"/>
            <a:chOff x="495300" y="1371600"/>
            <a:chExt cx="7010400" cy="2019300"/>
          </a:xfrm>
        </p:grpSpPr>
        <p:sp>
          <p:nvSpPr>
            <p:cNvPr id="3" name="Rectangle 3"/>
            <p:cNvSpPr/>
            <p:nvPr/>
          </p:nvSpPr>
          <p:spPr>
            <a:xfrm>
              <a:off x="495300" y="137160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800100" y="165735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190358" y="18249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90194" y="2532698"/>
              <a:ext cx="318956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 &lt;&lt; endl;</a:t>
              </a:r>
              <a:endParaRPr lang="zh-CN" sz="19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95300" y="3676650"/>
            <a:ext cx="7010400" cy="2019300"/>
            <a:chOff x="495300" y="3676650"/>
            <a:chExt cx="7010400" cy="2019300"/>
          </a:xfrm>
        </p:grpSpPr>
        <p:sp>
          <p:nvSpPr>
            <p:cNvPr id="8" name="Rectangle 8"/>
            <p:cNvSpPr/>
            <p:nvPr/>
          </p:nvSpPr>
          <p:spPr>
            <a:xfrm>
              <a:off x="495300" y="3676650"/>
              <a:ext cx="7010400" cy="2019300"/>
            </a:xfrm>
            <a:prstGeom prst="roundRect">
              <a:avLst>
                <a:gd name="adj" fmla="val 1792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962400"/>
              <a:ext cx="1562100" cy="533400"/>
            </a:xfrm>
            <a:prstGeom prst="roundRect">
              <a:avLst>
                <a:gd name="adj" fmla="val 4285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90358" y="413004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第二行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0194" y="4837748"/>
              <a:ext cx="33971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"World!" &lt;&lt; endl;</a:t>
              </a:r>
              <a:endParaRPr lang="zh-CN" sz="195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91718" y="5251132"/>
              <a:ext cx="32042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endl 写在引号外，表示“换行”。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24800" y="1371600"/>
            <a:ext cx="3771900" cy="4324350"/>
            <a:chOff x="7924800" y="1371600"/>
            <a:chExt cx="3771900" cy="4324350"/>
          </a:xfrm>
        </p:grpSpPr>
        <p:sp>
          <p:nvSpPr>
            <p:cNvPr id="14" name="Rectangle 14"/>
            <p:cNvSpPr/>
            <p:nvPr/>
          </p:nvSpPr>
          <p:spPr>
            <a:xfrm>
              <a:off x="7924800" y="1371600"/>
              <a:ext cx="3771900" cy="4324350"/>
            </a:xfrm>
            <a:prstGeom prst="roundRect">
              <a:avLst>
                <a:gd name="adj" fmla="val 959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35910" y="1803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41486" y="2767965"/>
              <a:ext cx="109494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41486" y="3472815"/>
              <a:ext cx="144874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World!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724900" y="4095750"/>
              <a:ext cx="266700" cy="762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852792" y="4832032"/>
              <a:ext cx="191591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每个 endl 换一次行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571629" y="6127432"/>
            <a:ext cx="304874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一条信息一行，结果更整齐。</a:t>
            </a:r>
            <a:endParaRPr lang="zh-CN" sz="165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43865"/>
            <a:ext cx="633071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一条 cout，也能连续输出三行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495300" y="1466850"/>
            <a:ext cx="7048500" cy="4343400"/>
            <a:chOff x="495300" y="1466850"/>
            <a:chExt cx="7048500" cy="4343400"/>
          </a:xfrm>
        </p:grpSpPr>
        <p:sp>
          <p:nvSpPr>
            <p:cNvPr id="3" name="Rectangle 3"/>
            <p:cNvSpPr/>
            <p:nvPr/>
          </p:nvSpPr>
          <p:spPr>
            <a:xfrm>
              <a:off x="495300" y="1466850"/>
              <a:ext cx="7048500" cy="4343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742950" y="1714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990600" y="1714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238250" y="1714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800100" y="2247900"/>
              <a:ext cx="6438900" cy="2381250"/>
            </a:xfrm>
            <a:prstGeom prst="roundRect">
              <a:avLst>
                <a:gd name="adj" fmla="val 112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7656" y="2663190"/>
              <a:ext cx="36539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 World!" &lt;&lt; endl</a:t>
              </a:r>
              <a:endParaRPr lang="zh-CN" sz="18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24406" y="3348990"/>
              <a:ext cx="242266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&lt;&lt; "123456" &lt;&lt; endl</a:t>
              </a:r>
              <a:endParaRPr lang="zh-CN" sz="180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724406" y="4034790"/>
              <a:ext cx="18883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&lt;&lt; "你好世界!";</a:t>
              </a:r>
              <a:endParaRPr lang="zh-CN" sz="180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92480" y="5057775"/>
              <a:ext cx="3639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同一条语句用多个 &lt;&lt; 接上内容和 endl。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962900" y="1466850"/>
            <a:ext cx="3733800" cy="4343400"/>
            <a:chOff x="7962900" y="1466850"/>
            <a:chExt cx="3733800" cy="4343400"/>
          </a:xfrm>
        </p:grpSpPr>
        <p:sp>
          <p:nvSpPr>
            <p:cNvPr id="13" name="Rectangle 13"/>
            <p:cNvSpPr/>
            <p:nvPr/>
          </p:nvSpPr>
          <p:spPr>
            <a:xfrm>
              <a:off x="7962900" y="1466850"/>
              <a:ext cx="3733800" cy="4343400"/>
            </a:xfrm>
            <a:prstGeom prst="roundRect">
              <a:avLst>
                <a:gd name="adj" fmla="val 969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73618" y="18602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70570" y="2652712"/>
              <a:ext cx="18079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Hello World!</a:t>
              </a:r>
              <a:endParaRPr lang="zh-CN" sz="22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370570" y="34147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123456</a:t>
              </a:r>
              <a:endParaRPr lang="zh-CN" sz="22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70570" y="4176712"/>
              <a:ext cx="139043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你好世界!</a:t>
              </a:r>
              <a:endParaRPr lang="zh-CN" sz="225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8382000" y="4876800"/>
              <a:ext cx="2895600" cy="9525"/>
            </a:xfrm>
            <a:custGeom>
              <a:avLst/>
              <a:gdLst/>
              <a:ahLst/>
              <a:cxnLst/>
              <a:rect l="l" t="t" r="r" b="b"/>
              <a:pathLst>
                <a:path w="2895600" h="9525">
                  <a:moveTo>
                    <a:pt x="0" y="0"/>
                  </a:moveTo>
                  <a:lnTo>
                    <a:pt x="2895600" y="0"/>
                  </a:lnTo>
                </a:path>
              </a:pathLst>
            </a:custGeom>
            <a:noFill/>
            <a:ln w="28575">
              <a:solidFill>
                <a:schemeClr val="accent1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74380" y="51530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一句代码，三行结果。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6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zh-CN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458160" cy="708279"/>
            <a:chOff x="476250" y="323850"/>
            <a:chExt cx="6458160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098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2582" y="50768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C5001 · 静夜思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2935986" y="386715"/>
              <a:ext cx="39984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一行诗，一条 cout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6250" y="1390650"/>
            <a:ext cx="3810000" cy="4819650"/>
            <a:chOff x="476250" y="1390650"/>
            <a:chExt cx="3810000" cy="481965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3810000" cy="4819650"/>
            </a:xfrm>
            <a:prstGeom prst="roundRect">
              <a:avLst>
                <a:gd name="adj" fmla="val 10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63" y="1814329"/>
              <a:ext cx="365126" cy="304212"/>
            </a:xfrm>
            <a:custGeom>
              <a:avLst/>
              <a:gdLst/>
              <a:ahLst/>
              <a:cxnLst/>
              <a:rect l="l" t="t" r="r" b="b"/>
              <a:pathLst>
                <a:path w="365126" h="304212">
                  <a:moveTo>
                    <a:pt x="355997" y="31999"/>
                  </a:moveTo>
                  <a:cubicBezTo>
                    <a:pt x="360983" y="34877"/>
                    <a:pt x="364318" y="39938"/>
                    <a:pt x="364998" y="45655"/>
                  </a:cubicBezTo>
                  <a:lnTo>
                    <a:pt x="365126" y="47809"/>
                  </a:lnTo>
                  <a:lnTo>
                    <a:pt x="365126" y="285141"/>
                  </a:lnTo>
                  <a:cubicBezTo>
                    <a:pt x="365125" y="291663"/>
                    <a:pt x="361646" y="297690"/>
                    <a:pt x="355997" y="300951"/>
                  </a:cubicBezTo>
                  <a:cubicBezTo>
                    <a:pt x="350349" y="304212"/>
                    <a:pt x="343390" y="304212"/>
                    <a:pt x="337741" y="300950"/>
                  </a:cubicBezTo>
                  <a:cubicBezTo>
                    <a:pt x="295738" y="276697"/>
                    <a:pt x="244435" y="274877"/>
                    <a:pt x="200819" y="296094"/>
                  </a:cubicBezTo>
                  <a:lnTo>
                    <a:pt x="200819" y="19073"/>
                  </a:lnTo>
                  <a:cubicBezTo>
                    <a:pt x="251881" y="0"/>
                    <a:pt x="308795" y="4741"/>
                    <a:pt x="355997" y="31999"/>
                  </a:cubicBezTo>
                  <a:moveTo>
                    <a:pt x="164307" y="19092"/>
                  </a:moveTo>
                  <a:lnTo>
                    <a:pt x="164325" y="296113"/>
                  </a:lnTo>
                  <a:cubicBezTo>
                    <a:pt x="122477" y="275741"/>
                    <a:pt x="73426" y="276534"/>
                    <a:pt x="32259" y="298249"/>
                  </a:cubicBezTo>
                  <a:lnTo>
                    <a:pt x="26289" y="301535"/>
                  </a:lnTo>
                  <a:lnTo>
                    <a:pt x="24409" y="302338"/>
                  </a:lnTo>
                  <a:lnTo>
                    <a:pt x="23514" y="302630"/>
                  </a:lnTo>
                  <a:lnTo>
                    <a:pt x="21506" y="303105"/>
                  </a:lnTo>
                  <a:lnTo>
                    <a:pt x="20392" y="303287"/>
                  </a:lnTo>
                  <a:lnTo>
                    <a:pt x="18256" y="303397"/>
                  </a:lnTo>
                  <a:lnTo>
                    <a:pt x="17490" y="303397"/>
                  </a:lnTo>
                  <a:lnTo>
                    <a:pt x="15481" y="303178"/>
                  </a:lnTo>
                  <a:lnTo>
                    <a:pt x="14076" y="302922"/>
                  </a:lnTo>
                  <a:lnTo>
                    <a:pt x="12104" y="302338"/>
                  </a:lnTo>
                  <a:lnTo>
                    <a:pt x="9804" y="301316"/>
                  </a:lnTo>
                  <a:lnTo>
                    <a:pt x="8069" y="300293"/>
                  </a:lnTo>
                  <a:lnTo>
                    <a:pt x="6444" y="299070"/>
                  </a:lnTo>
                  <a:lnTo>
                    <a:pt x="5349" y="298048"/>
                  </a:lnTo>
                  <a:lnTo>
                    <a:pt x="4016" y="296551"/>
                  </a:lnTo>
                  <a:lnTo>
                    <a:pt x="2848" y="294926"/>
                  </a:lnTo>
                  <a:lnTo>
                    <a:pt x="2446" y="294269"/>
                  </a:lnTo>
                  <a:lnTo>
                    <a:pt x="1862" y="293173"/>
                  </a:lnTo>
                  <a:lnTo>
                    <a:pt x="1059" y="291293"/>
                  </a:lnTo>
                  <a:lnTo>
                    <a:pt x="767" y="290398"/>
                  </a:lnTo>
                  <a:lnTo>
                    <a:pt x="292" y="288390"/>
                  </a:lnTo>
                  <a:lnTo>
                    <a:pt x="110" y="287276"/>
                  </a:lnTo>
                  <a:lnTo>
                    <a:pt x="37" y="286382"/>
                  </a:lnTo>
                  <a:lnTo>
                    <a:pt x="0" y="47809"/>
                  </a:lnTo>
                  <a:cubicBezTo>
                    <a:pt x="0" y="41287"/>
                    <a:pt x="3480" y="35260"/>
                    <a:pt x="9128" y="31999"/>
                  </a:cubicBezTo>
                  <a:cubicBezTo>
                    <a:pt x="56334" y="4747"/>
                    <a:pt x="113247" y="13"/>
                    <a:pt x="164307" y="19092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60194" y="1912620"/>
              <a:ext cx="104211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静夜思</a:t>
              </a:r>
              <a:endParaRPr lang="zh-CN" sz="24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45158" y="2701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床前明月光，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45158" y="3272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疑是地上霜。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45158" y="38442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举头望明月，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645158" y="44157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低头思故乡。</a:t>
              </a:r>
              <a:endParaRPr lang="zh-CN" sz="18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64945" y="53054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标点和换行都要一致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686300" y="1390650"/>
            <a:ext cx="7029450" cy="4819650"/>
            <a:chOff x="4686300" y="1390650"/>
            <a:chExt cx="7029450" cy="4819650"/>
          </a:xfrm>
        </p:grpSpPr>
        <p:sp>
          <p:nvSpPr>
            <p:cNvPr id="15" name="Rectangle 15"/>
            <p:cNvSpPr/>
            <p:nvPr/>
          </p:nvSpPr>
          <p:spPr>
            <a:xfrm>
              <a:off x="4686300" y="1390650"/>
              <a:ext cx="7029450" cy="4819650"/>
            </a:xfrm>
            <a:prstGeom prst="roundRect">
              <a:avLst>
                <a:gd name="adj" fmla="val 79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4953000" y="16383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5200650" y="16383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448300" y="1638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40630" y="216217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"静夜思" &lt;&lt; endl;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40630" y="27908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"床前明月光，"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0630" y="34194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"疑是地上霜。"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040630" y="404812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"举头望明月，"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40630" y="4676775"/>
              <a:ext cx="30845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"低头思故乡。" &lt;&lt; endl;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20150" y="5353050"/>
              <a:ext cx="2400300" cy="514350"/>
            </a:xfrm>
            <a:prstGeom prst="roundRect">
              <a:avLst>
                <a:gd name="adj" fmla="val 3703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58561" y="5534025"/>
              <a:ext cx="19234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五条语句，完整输出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352319" cy="692864"/>
            <a:chOff x="493963" y="377365"/>
            <a:chExt cx="6352319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7009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常见编程错误 · 字符双胞胎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71500" y="1428750"/>
            <a:ext cx="11049000" cy="2381250"/>
            <a:chOff x="571500" y="1428750"/>
            <a:chExt cx="11049000" cy="2381250"/>
          </a:xfrm>
        </p:grpSpPr>
        <p:sp>
          <p:nvSpPr>
            <p:cNvPr id="5" name="Rectangle 5"/>
            <p:cNvSpPr/>
            <p:nvPr/>
          </p:nvSpPr>
          <p:spPr>
            <a:xfrm>
              <a:off x="571500" y="1428750"/>
              <a:ext cx="11049000" cy="2381250"/>
            </a:xfrm>
            <a:prstGeom prst="roundRect">
              <a:avLst>
                <a:gd name="adj" fmla="val 16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81456" y="1748790"/>
              <a:ext cx="38347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看起来像，不代表编译器认为相同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9906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670285" y="2511742"/>
              <a:ext cx="77422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l　1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5814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144221" y="2511742"/>
              <a:ext cx="100795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O　0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1722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01529" y="2511742"/>
              <a:ext cx="87494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;　: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763000" y="2286000"/>
              <a:ext cx="21336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92329" y="2511742"/>
              <a:ext cx="87494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*　x</a:t>
              </a:r>
              <a:endParaRPr lang="zh-CN" sz="28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4171950"/>
            <a:ext cx="11049000" cy="1543050"/>
            <a:chOff x="571500" y="4171950"/>
            <a:chExt cx="11049000" cy="1543050"/>
          </a:xfrm>
        </p:grpSpPr>
        <p:sp>
          <p:nvSpPr>
            <p:cNvPr id="16" name="Rectangle 16"/>
            <p:cNvSpPr/>
            <p:nvPr/>
          </p:nvSpPr>
          <p:spPr>
            <a:xfrm>
              <a:off x="571500" y="4171950"/>
              <a:ext cx="11049000" cy="1543050"/>
            </a:xfrm>
            <a:prstGeom prst="roundRect">
              <a:avLst>
                <a:gd name="adj" fmla="val 2222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2218" y="4470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英文半角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37282" y="4421505"/>
              <a:ext cx="14461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; , ( ) " "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2918" y="4470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中文全角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37982" y="4421505"/>
              <a:ext cx="198046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； ， （ ） “ ”</a:t>
              </a:r>
              <a:endParaRPr lang="zh-CN" sz="2100" b="1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990600" y="501015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82218" y="5251132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检查方法：切到英文输入法，再逐字符看。</a:t>
              </a:r>
              <a:endParaRPr lang="zh-CN" sz="16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871941" y="6127432"/>
            <a:ext cx="444811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编译器会逐字符检查，一个符号也不能猜。</a:t>
            </a:r>
            <a:endParaRPr lang="zh-CN" sz="1650" b="1" dirty="0">
              <a:solidFill>
                <a:schemeClr val="accent3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7285236" cy="692864"/>
            <a:chOff x="493963" y="377365"/>
            <a:chExt cx="7285236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663391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符号要用英文并成对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6250" y="1371600"/>
            <a:ext cx="5429250" cy="4572000"/>
            <a:chOff x="476250" y="1371600"/>
            <a:chExt cx="5429250" cy="4572000"/>
          </a:xfrm>
        </p:grpSpPr>
        <p:sp>
          <p:nvSpPr>
            <p:cNvPr id="5" name="Rectangle 5"/>
            <p:cNvSpPr/>
            <p:nvPr/>
          </p:nvSpPr>
          <p:spPr>
            <a:xfrm>
              <a:off x="476250" y="1371600"/>
              <a:ext cx="5429250" cy="4572000"/>
            </a:xfrm>
            <a:prstGeom prst="roundRect">
              <a:avLst>
                <a:gd name="adj" fmla="val 833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08482" y="1659255"/>
              <a:ext cx="273739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中文符号 ≠ 英文符号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19150" y="2228850"/>
              <a:ext cx="4743450" cy="120015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18614" y="2491740"/>
              <a:ext cx="23445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中文：； ， （ ） “ ”</a:t>
              </a:r>
              <a:endPara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9447" y="2948940"/>
              <a:ext cx="20028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英文：; , ( ) " "</a:t>
              </a:r>
              <a:endParaRPr lang="zh-CN" sz="1800" b="1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10768" y="376523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写代码前先切换到英文输入法。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819150" y="4362450"/>
              <a:ext cx="4743450" cy="9906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267179" y="4774882"/>
              <a:ext cx="18473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"Hello";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305550" y="1371600"/>
            <a:ext cx="5410200" cy="4572000"/>
            <a:chOff x="6305550" y="1371600"/>
            <a:chExt cx="54102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6305550" y="1371600"/>
              <a:ext cx="5410200" cy="4572000"/>
            </a:xfrm>
            <a:prstGeom prst="roundRect">
              <a:avLst>
                <a:gd name="adj" fmla="val 8333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637782" y="1659255"/>
              <a:ext cx="29897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括号与引号要配成一对</a:t>
              </a:r>
              <a:endParaRPr lang="zh-CN" sz="21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648450" y="2228850"/>
              <a:ext cx="4686300" cy="990600"/>
            </a:xfrm>
            <a:prstGeom prst="roundRect">
              <a:avLst>
                <a:gd name="adj" fmla="val 2692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861266" y="2582228"/>
              <a:ext cx="226066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chemeClr val="dk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( )　{ }　" "</a:t>
              </a:r>
              <a:endParaRPr lang="zh-CN" sz="2550" b="1" dirty="0">
                <a:solidFill>
                  <a:schemeClr val="dk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40068" y="35556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引号里面还要显示引号时：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648450" y="4000500"/>
              <a:ext cx="4686300" cy="971550"/>
            </a:xfrm>
            <a:prstGeom prst="roundRect">
              <a:avLst>
                <a:gd name="adj" fmla="val 2549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73066" y="4410075"/>
              <a:ext cx="2637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"He said \"Hi\"";</a:t>
              </a:r>
              <a:endParaRPr lang="zh-CN" sz="15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40830" y="5324475"/>
              <a:ext cx="38922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从左到右数一数：每个“开门”都有“关门”。</a:t>
              </a:r>
              <a:endParaRPr lang="zh-CN" sz="150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93963" y="377365"/>
            <a:ext cx="6352319" cy="692864"/>
            <a:chOff x="493963" y="377365"/>
            <a:chExt cx="6352319" cy="692864"/>
          </a:xfrm>
        </p:grpSpPr>
        <p:sp>
          <p:nvSpPr>
            <p:cNvPr id="2" name="Freeform 2"/>
            <p:cNvSpPr/>
            <p:nvPr/>
          </p:nvSpPr>
          <p:spPr>
            <a:xfrm>
              <a:off x="493963" y="377365"/>
              <a:ext cx="459634" cy="398841"/>
            </a:xfrm>
            <a:custGeom>
              <a:avLst/>
              <a:gdLst/>
              <a:ahLst/>
              <a:cxnLst/>
              <a:rect l="l" t="t" r="r" b="b"/>
              <a:pathLst>
                <a:path w="459634" h="398841">
                  <a:moveTo>
                    <a:pt x="229937" y="0"/>
                  </a:moveTo>
                  <a:cubicBezTo>
                    <a:pt x="249646" y="0"/>
                    <a:pt x="268013" y="9638"/>
                    <a:pt x="279261" y="25735"/>
                  </a:cubicBezTo>
                  <a:lnTo>
                    <a:pt x="281428" y="29037"/>
                  </a:lnTo>
                  <a:lnTo>
                    <a:pt x="448881" y="308634"/>
                  </a:lnTo>
                  <a:cubicBezTo>
                    <a:pt x="459225" y="326551"/>
                    <a:pt x="459634" y="348526"/>
                    <a:pt x="449964" y="366815"/>
                  </a:cubicBezTo>
                  <a:cubicBezTo>
                    <a:pt x="440293" y="385104"/>
                    <a:pt x="421901" y="397138"/>
                    <a:pt x="401270" y="398676"/>
                  </a:cubicBezTo>
                  <a:lnTo>
                    <a:pt x="397246" y="398841"/>
                  </a:lnTo>
                  <a:lnTo>
                    <a:pt x="62402" y="398841"/>
                  </a:lnTo>
                  <a:cubicBezTo>
                    <a:pt x="41751" y="398609"/>
                    <a:pt x="22663" y="387796"/>
                    <a:pt x="11847" y="370202"/>
                  </a:cubicBezTo>
                  <a:cubicBezTo>
                    <a:pt x="1031" y="352608"/>
                    <a:pt x="0" y="330695"/>
                    <a:pt x="9116" y="312163"/>
                  </a:cubicBezTo>
                  <a:lnTo>
                    <a:pt x="11159" y="308345"/>
                  </a:lnTo>
                  <a:lnTo>
                    <a:pt x="178529" y="28954"/>
                  </a:lnTo>
                  <a:cubicBezTo>
                    <a:pt x="189428" y="10982"/>
                    <a:pt x="208919" y="5"/>
                    <a:pt x="229937" y="0"/>
                  </a:cubicBezTo>
                  <a:close/>
                  <a:moveTo>
                    <a:pt x="230144" y="275098"/>
                  </a:moveTo>
                  <a:lnTo>
                    <a:pt x="227523" y="275243"/>
                  </a:lnTo>
                  <a:cubicBezTo>
                    <a:pt x="217141" y="276478"/>
                    <a:pt x="209323" y="285281"/>
                    <a:pt x="209323" y="295736"/>
                  </a:cubicBezTo>
                  <a:cubicBezTo>
                    <a:pt x="209323" y="306191"/>
                    <a:pt x="217141" y="314994"/>
                    <a:pt x="227523" y="316229"/>
                  </a:cubicBezTo>
                  <a:lnTo>
                    <a:pt x="229937" y="316373"/>
                  </a:lnTo>
                  <a:lnTo>
                    <a:pt x="232558" y="316229"/>
                  </a:lnTo>
                  <a:cubicBezTo>
                    <a:pt x="242940" y="314994"/>
                    <a:pt x="250758" y="306191"/>
                    <a:pt x="250758" y="295736"/>
                  </a:cubicBezTo>
                  <a:cubicBezTo>
                    <a:pt x="250758" y="285281"/>
                    <a:pt x="242940" y="276478"/>
                    <a:pt x="232558" y="275243"/>
                  </a:cubicBezTo>
                  <a:lnTo>
                    <a:pt x="230144" y="275098"/>
                  </a:lnTo>
                  <a:close/>
                  <a:moveTo>
                    <a:pt x="229937" y="130636"/>
                  </a:moveTo>
                  <a:cubicBezTo>
                    <a:pt x="219474" y="130637"/>
                    <a:pt x="210668" y="138468"/>
                    <a:pt x="209444" y="148859"/>
                  </a:cubicBezTo>
                  <a:lnTo>
                    <a:pt x="209300" y="151273"/>
                  </a:lnTo>
                  <a:lnTo>
                    <a:pt x="209300" y="233823"/>
                  </a:lnTo>
                  <a:lnTo>
                    <a:pt x="209444" y="236238"/>
                  </a:lnTo>
                  <a:cubicBezTo>
                    <a:pt x="210679" y="246620"/>
                    <a:pt x="219482" y="254438"/>
                    <a:pt x="229937" y="254438"/>
                  </a:cubicBezTo>
                  <a:cubicBezTo>
                    <a:pt x="240392" y="254438"/>
                    <a:pt x="249195" y="246620"/>
                    <a:pt x="250430" y="236238"/>
                  </a:cubicBezTo>
                  <a:lnTo>
                    <a:pt x="250575" y="233823"/>
                  </a:lnTo>
                  <a:lnTo>
                    <a:pt x="250575" y="151273"/>
                  </a:lnTo>
                  <a:lnTo>
                    <a:pt x="250430" y="148859"/>
                  </a:lnTo>
                  <a:cubicBezTo>
                    <a:pt x="249206" y="138468"/>
                    <a:pt x="240400" y="130637"/>
                    <a:pt x="229937" y="13063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45286" y="424815"/>
              <a:ext cx="57009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常见错误 · 关键单词别写错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52450" y="1409700"/>
            <a:ext cx="11087100" cy="3752850"/>
            <a:chOff x="552450" y="1409700"/>
            <a:chExt cx="11087100" cy="3752850"/>
          </a:xfrm>
        </p:grpSpPr>
        <p:sp>
          <p:nvSpPr>
            <p:cNvPr id="5" name="Rectangle 5"/>
            <p:cNvSpPr/>
            <p:nvPr/>
          </p:nvSpPr>
          <p:spPr>
            <a:xfrm>
              <a:off x="552450" y="1409700"/>
              <a:ext cx="11087100" cy="3752850"/>
            </a:xfrm>
            <a:prstGeom prst="roundRect">
              <a:avLst>
                <a:gd name="adj" fmla="val 1066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6206" y="1729740"/>
              <a:ext cx="564123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电脑逐字符辨认，字母和数字不能“长得像就算对”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895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38811" y="2546032"/>
              <a:ext cx="4943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mian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756207" y="2954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3562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261475" y="2546032"/>
              <a:ext cx="982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i0stream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6686" y="29546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29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133939" y="2546032"/>
              <a:ext cx="57207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956630" y="2954655"/>
              <a:ext cx="92668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printf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896350" y="2305050"/>
              <a:ext cx="2381250" cy="1143000"/>
            </a:xfrm>
            <a:prstGeom prst="roundRect">
              <a:avLst>
                <a:gd name="adj" fmla="val 2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834258" y="2546032"/>
              <a:ext cx="505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end1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86891" y="2954655"/>
              <a:ext cx="6001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86968" y="3917632"/>
              <a:ext cx="38594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mian → main　　i0stream → iostream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6968" y="4431982"/>
              <a:ext cx="31264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print → printf　　end1 → endl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809750" y="5562600"/>
            <a:ext cx="8572500" cy="723900"/>
            <a:chOff x="1809750" y="5562600"/>
            <a:chExt cx="8572500" cy="723900"/>
          </a:xfrm>
        </p:grpSpPr>
        <p:sp>
          <p:nvSpPr>
            <p:cNvPr id="22" name="Rectangle 22"/>
            <p:cNvSpPr/>
            <p:nvPr/>
          </p:nvSpPr>
          <p:spPr>
            <a:xfrm>
              <a:off x="1809750" y="5562600"/>
              <a:ext cx="8572500" cy="723900"/>
            </a:xfrm>
            <a:prstGeom prst="roundRect">
              <a:avLst>
                <a:gd name="adj" fmla="val 36842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906458" y="5835015"/>
              <a:ext cx="63790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检查方法：对照模板，从第一个字符读到最后一个字符。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5607705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盒外的 3+5：先计算再输出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495300" y="1390650"/>
            <a:ext cx="4953000" cy="4000500"/>
            <a:chOff x="495300" y="1390650"/>
            <a:chExt cx="4953000" cy="4000500"/>
          </a:xfrm>
        </p:grpSpPr>
        <p:sp>
          <p:nvSpPr>
            <p:cNvPr id="3" name="Rectangle 3"/>
            <p:cNvSpPr/>
            <p:nvPr/>
          </p:nvSpPr>
          <p:spPr>
            <a:xfrm>
              <a:off x="495300" y="1390650"/>
              <a:ext cx="4953000" cy="40005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848106" y="1729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有引号：照抄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857250" y="2228850"/>
              <a:ext cx="42291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892518" y="2630805"/>
              <a:ext cx="2158563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"3+5";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741295" y="361283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终端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462969" y="4175760"/>
              <a:ext cx="1017662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3+5</a:t>
              </a:r>
              <a:endParaRPr lang="zh-CN" sz="42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905500" y="1390650"/>
            <a:ext cx="5791200" cy="4000500"/>
            <a:chOff x="5905500" y="1390650"/>
            <a:chExt cx="57912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5905500" y="1390650"/>
              <a:ext cx="5791200" cy="4000500"/>
            </a:xfrm>
            <a:prstGeom prst="roundRect">
              <a:avLst>
                <a:gd name="adj" fmla="val 9524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58306" y="17297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没引号：计算</a:t>
              </a:r>
              <a:endParaRPr lang="zh-CN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6267450" y="2228850"/>
              <a:ext cx="5067300" cy="1028700"/>
            </a:xfrm>
            <a:prstGeom prst="roundRect">
              <a:avLst>
                <a:gd name="adj" fmla="val 25926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796028" y="2630805"/>
              <a:ext cx="201014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3 + 5;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70675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49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Ellipse 16"/>
            <p:cNvSpPr/>
            <p:nvPr/>
          </p:nvSpPr>
          <p:spPr>
            <a:xfrm>
              <a:off x="8362950" y="35433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560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Ellipse 18"/>
            <p:cNvSpPr/>
            <p:nvPr/>
          </p:nvSpPr>
          <p:spPr>
            <a:xfrm>
              <a:off x="9429750" y="3429000"/>
              <a:ext cx="1104900" cy="1104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837160" y="3758565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248650" y="4705350"/>
              <a:ext cx="1104900" cy="609600"/>
            </a:xfrm>
            <a:prstGeom prst="roundRect">
              <a:avLst>
                <a:gd name="adj" fmla="val 375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5838" y="4816792"/>
              <a:ext cx="250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8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</a:t>
              </a:r>
              <a:endParaRPr lang="zh-CN" sz="28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714500" y="5772150"/>
            <a:ext cx="8763000" cy="666750"/>
            <a:chOff x="1714500" y="5772150"/>
            <a:chExt cx="8763000" cy="666750"/>
          </a:xfrm>
        </p:grpSpPr>
        <p:sp>
          <p:nvSpPr>
            <p:cNvPr id="23" name="Rectangle 23"/>
            <p:cNvSpPr/>
            <p:nvPr/>
          </p:nvSpPr>
          <p:spPr>
            <a:xfrm>
              <a:off x="1714500" y="5772150"/>
              <a:ext cx="8763000" cy="666750"/>
            </a:xfrm>
            <a:prstGeom prst="roundRect">
              <a:avLst>
                <a:gd name="adj" fmla="val 3714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743201" y="5999798"/>
              <a:ext cx="470559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判断口诀：有引号照抄，没引号计算。</a:t>
              </a:r>
              <a:endParaRPr lang="zh-CN" sz="19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6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zh-CN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8536" y="424815"/>
            <a:ext cx="703040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rPr>
              <a:t>三道小练习：先想结果，再写代码</a:t>
            </a:r>
            <a:endParaRPr lang="zh-CN" sz="3300" b="1" dirty="0">
              <a:solidFill>
                <a:schemeClr val="dk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723900" y="1619250"/>
            <a:ext cx="3257550" cy="3371850"/>
            <a:chOff x="723900" y="1619250"/>
            <a:chExt cx="3257550" cy="3371850"/>
          </a:xfrm>
        </p:grpSpPr>
        <p:sp>
          <p:nvSpPr>
            <p:cNvPr id="3" name="Ellipse 3"/>
            <p:cNvSpPr/>
            <p:nvPr/>
          </p:nvSpPr>
          <p:spPr>
            <a:xfrm>
              <a:off x="1876425" y="1619250"/>
              <a:ext cx="952500" cy="952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2247191" y="19697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723900" y="24384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909605" y="2813685"/>
              <a:ext cx="88613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7 - 2</a:t>
              </a:r>
              <a:endParaRPr lang="zh-CN" sz="27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011108" y="3574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先口算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40957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68589" y="4305300"/>
              <a:ext cx="13681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7 - 2;</a:t>
              </a:r>
              <a:endParaRPr lang="zh-CN" sz="150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67225" y="1924050"/>
            <a:ext cx="3257550" cy="3371850"/>
            <a:chOff x="4467225" y="1924050"/>
            <a:chExt cx="3257550" cy="3371850"/>
          </a:xfrm>
        </p:grpSpPr>
        <p:sp>
          <p:nvSpPr>
            <p:cNvPr id="11" name="Ellipse 11"/>
            <p:cNvSpPr/>
            <p:nvPr/>
          </p:nvSpPr>
          <p:spPr>
            <a:xfrm>
              <a:off x="5619750" y="1924050"/>
              <a:ext cx="952500" cy="952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990516" y="22745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67225" y="27432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27221" y="3150870"/>
              <a:ext cx="173755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(8 + 3) * 2</a:t>
              </a:r>
              <a:endParaRPr lang="zh-CN" sz="24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21249" y="387953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注意括号顺序</a:t>
              </a:r>
              <a:endParaRPr lang="zh-CN" sz="16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48225" y="4400550"/>
              <a:ext cx="2495550" cy="571500"/>
            </a:xfrm>
            <a:prstGeom prst="roundRect">
              <a:avLst>
                <a:gd name="adj" fmla="val 3666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634038" y="4610100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写进 cout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210550" y="2228850"/>
            <a:ext cx="3257550" cy="3371850"/>
            <a:chOff x="8210550" y="2228850"/>
            <a:chExt cx="3257550" cy="3371850"/>
          </a:xfrm>
        </p:grpSpPr>
        <p:sp>
          <p:nvSpPr>
            <p:cNvPr id="19" name="Ellipse 19"/>
            <p:cNvSpPr/>
            <p:nvPr/>
          </p:nvSpPr>
          <p:spPr>
            <a:xfrm>
              <a:off x="9363075" y="2228850"/>
              <a:ext cx="952500" cy="9525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733841" y="257937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zh-CN" sz="24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210550" y="3048000"/>
              <a:ext cx="3257550" cy="2552700"/>
            </a:xfrm>
            <a:prstGeom prst="roundRect">
              <a:avLst>
                <a:gd name="adj" fmla="val 14179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066886" y="3444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连续输出三项</a:t>
              </a:r>
              <a:endPara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581055" y="39176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 + 2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81055" y="43367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3 * 4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81055" y="4755832"/>
              <a:ext cx="5165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2 * 2</a:t>
              </a:r>
              <a:endParaRPr lang="zh-CN" sz="16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287256" y="5188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暂不揭晓结果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606146" y="6073140"/>
            <a:ext cx="4979708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把数学表达式按原顺序写好，再交给 cout。</a:t>
            </a:r>
            <a:endParaRPr lang="zh-CN" sz="18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5511356" cy="708279"/>
            <a:chOff x="476250" y="323850"/>
            <a:chExt cx="5511356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895600" cy="533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47977" y="507682"/>
              <a:ext cx="275214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Q3005 · 输出表达式的值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621786" y="386715"/>
              <a:ext cx="236582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挑战大算式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6250" y="1352550"/>
            <a:ext cx="11239500" cy="1485900"/>
            <a:chOff x="476250" y="1352550"/>
            <a:chExt cx="11239500" cy="1485900"/>
          </a:xfrm>
        </p:grpSpPr>
        <p:sp>
          <p:nvSpPr>
            <p:cNvPr id="6" name="Rectangle 6"/>
            <p:cNvSpPr/>
            <p:nvPr/>
          </p:nvSpPr>
          <p:spPr>
            <a:xfrm>
              <a:off x="476250" y="1352550"/>
              <a:ext cx="11239500" cy="1485900"/>
            </a:xfrm>
            <a:prstGeom prst="roundRect">
              <a:avLst>
                <a:gd name="adj" fmla="val 256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4108" y="1664970"/>
              <a:ext cx="219553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1234 * 5678 =</a:t>
              </a:r>
              <a:endParaRPr lang="zh-CN" sz="24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24750" y="1657350"/>
              <a:ext cx="3505200" cy="895350"/>
            </a:xfrm>
            <a:prstGeom prst="roundRect">
              <a:avLst>
                <a:gd name="adj" fmla="val 29787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62654" y="1891665"/>
              <a:ext cx="182939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7006652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76250" y="3200400"/>
            <a:ext cx="11239500" cy="2705100"/>
            <a:chOff x="476250" y="3200400"/>
            <a:chExt cx="11239500" cy="2705100"/>
          </a:xfrm>
        </p:grpSpPr>
        <p:sp>
          <p:nvSpPr>
            <p:cNvPr id="11" name="Rectangle 11"/>
            <p:cNvSpPr/>
            <p:nvPr/>
          </p:nvSpPr>
          <p:spPr>
            <a:xfrm>
              <a:off x="476250" y="3200400"/>
              <a:ext cx="11239500" cy="2705100"/>
            </a:xfrm>
            <a:prstGeom prst="roundRect">
              <a:avLst>
                <a:gd name="adj" fmla="val 1408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742950" y="3448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990600" y="3448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Ellipse 14"/>
            <p:cNvSpPr/>
            <p:nvPr/>
          </p:nvSpPr>
          <p:spPr>
            <a:xfrm>
              <a:off x="1238250" y="3448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48106" y="3977640"/>
              <a:ext cx="59083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"1234 * 5678 = " &lt;&lt; 1234 * 5678 &lt;&lt; endl;</a:t>
              </a:r>
              <a:endParaRPr lang="zh-CN" sz="18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858785" y="4832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提示文字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0957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097285" y="48320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计算结果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334250" y="4552950"/>
              <a:ext cx="2952750" cy="704850"/>
            </a:xfrm>
            <a:prstGeom prst="roundRect">
              <a:avLst>
                <a:gd name="adj" fmla="val 32432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306631" y="4832032"/>
              <a:ext cx="100798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换行 endl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9630" y="5457825"/>
              <a:ext cx="38115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一条 cout 可以把三段内容连续送到屏幕。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535686" y="501015"/>
            <a:ext cx="4931340" cy="914019"/>
            <a:chOff x="535686" y="501015"/>
            <a:chExt cx="4931340" cy="914019"/>
          </a:xfrm>
        </p:grpSpPr>
        <p:sp>
          <p:nvSpPr>
            <p:cNvPr id="2" name="TextBox 2"/>
            <p:cNvSpPr txBox="1"/>
            <p:nvPr/>
          </p:nvSpPr>
          <p:spPr>
            <a:xfrm>
              <a:off x="535686" y="501015"/>
              <a:ext cx="493134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一行行 cout，就是画笔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43306" y="106299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星号和空格共同决定图案</a:t>
              </a:r>
              <a:endParaRPr lang="zh-CN" sz="18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00100" y="1828800"/>
            <a:ext cx="5429250" cy="3790950"/>
            <a:chOff x="800100" y="1828800"/>
            <a:chExt cx="5429250" cy="3790950"/>
          </a:xfrm>
        </p:grpSpPr>
        <p:sp>
          <p:nvSpPr>
            <p:cNvPr id="5" name="Rectangle 5"/>
            <p:cNvSpPr/>
            <p:nvPr/>
          </p:nvSpPr>
          <p:spPr>
            <a:xfrm>
              <a:off x="800100" y="1828800"/>
              <a:ext cx="5429250" cy="3790950"/>
            </a:xfrm>
            <a:prstGeom prst="roundRect">
              <a:avLst>
                <a:gd name="adj" fmla="val 1055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1066800" y="209550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314450" y="209550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562100" y="20955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72718" y="2717482"/>
              <a:ext cx="224910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6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72718" y="3422332"/>
              <a:ext cx="24934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6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72718" y="4127182"/>
              <a:ext cx="26711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zh-CN" sz="165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3480" y="488632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每执行一行，右边就增加一层。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724650" y="1657350"/>
            <a:ext cx="4610100" cy="4133850"/>
            <a:chOff x="6724650" y="1657350"/>
            <a:chExt cx="4610100" cy="4133850"/>
          </a:xfrm>
        </p:grpSpPr>
        <p:sp>
          <p:nvSpPr>
            <p:cNvPr id="14" name="Rectangle 14"/>
            <p:cNvSpPr/>
            <p:nvPr/>
          </p:nvSpPr>
          <p:spPr>
            <a:xfrm>
              <a:off x="6724650" y="1657350"/>
              <a:ext cx="4610100" cy="4133850"/>
            </a:xfrm>
            <a:prstGeom prst="roundRect">
              <a:avLst>
                <a:gd name="adj" fmla="val 96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71818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6" name="Ellipse 16"/>
            <p:cNvSpPr/>
            <p:nvPr/>
          </p:nvSpPr>
          <p:spPr>
            <a:xfrm>
              <a:off x="76771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7" name="Ellipse 17"/>
            <p:cNvSpPr/>
            <p:nvPr/>
          </p:nvSpPr>
          <p:spPr>
            <a:xfrm>
              <a:off x="81724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86677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1630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96583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01536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10648950" y="2114550"/>
              <a:ext cx="76200" cy="762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853220" y="2801302"/>
              <a:ext cx="352959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40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538361" y="3601402"/>
              <a:ext cx="98267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40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23502" y="4401502"/>
              <a:ext cx="1612397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40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4360" y="52673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空格不能随意删除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949629" y="6130290"/>
            <a:ext cx="429274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一条 cout 画一行，多条就画出形状。</a:t>
            </a:r>
            <a:endParaRPr lang="zh-CN" sz="18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1714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323850" y="381000"/>
            <a:ext cx="2430647" cy="6096000"/>
            <a:chOff x="323850" y="381000"/>
            <a:chExt cx="2430647" cy="6096000"/>
          </a:xfrm>
        </p:grpSpPr>
        <p:sp>
          <p:nvSpPr>
            <p:cNvPr id="3" name="Rectangle 3"/>
            <p:cNvSpPr/>
            <p:nvPr/>
          </p:nvSpPr>
          <p:spPr>
            <a:xfrm>
              <a:off x="323850" y="381000"/>
              <a:ext cx="2266950" cy="6096000"/>
            </a:xfrm>
            <a:prstGeom prst="roundRect">
              <a:avLst>
                <a:gd name="adj" fmla="val 159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09610" y="757163"/>
              <a:ext cx="451275" cy="453036"/>
            </a:xfrm>
            <a:custGeom>
              <a:avLst/>
              <a:gdLst/>
              <a:ahLst/>
              <a:cxnLst/>
              <a:rect l="l" t="t" r="r" b="b"/>
              <a:pathLst>
                <a:path w="451275" h="453036">
                  <a:moveTo>
                    <a:pt x="321471" y="38318"/>
                  </a:moveTo>
                  <a:cubicBezTo>
                    <a:pt x="411543" y="90320"/>
                    <a:pt x="451275" y="199486"/>
                    <a:pt x="415702" y="297219"/>
                  </a:cubicBezTo>
                  <a:cubicBezTo>
                    <a:pt x="380130" y="394951"/>
                    <a:pt x="279521" y="453036"/>
                    <a:pt x="177097" y="434974"/>
                  </a:cubicBezTo>
                  <a:cubicBezTo>
                    <a:pt x="74672" y="416912"/>
                    <a:pt x="0" y="327918"/>
                    <a:pt x="3" y="223912"/>
                  </a:cubicBezTo>
                  <a:lnTo>
                    <a:pt x="110" y="216969"/>
                  </a:lnTo>
                  <a:cubicBezTo>
                    <a:pt x="2551" y="141680"/>
                    <a:pt x="44340" y="73201"/>
                    <a:pt x="110178" y="36601"/>
                  </a:cubicBezTo>
                  <a:cubicBezTo>
                    <a:pt x="176017" y="0"/>
                    <a:pt x="256237" y="652"/>
                    <a:pt x="321471" y="38318"/>
                  </a:cubicBezTo>
                  <a:moveTo>
                    <a:pt x="186605" y="165898"/>
                  </a:moveTo>
                  <a:cubicBezTo>
                    <a:pt x="178236" y="157532"/>
                    <a:pt x="164670" y="157532"/>
                    <a:pt x="156301" y="165898"/>
                  </a:cubicBezTo>
                  <a:lnTo>
                    <a:pt x="113438" y="208760"/>
                  </a:lnTo>
                  <a:cubicBezTo>
                    <a:pt x="105072" y="217129"/>
                    <a:pt x="105072" y="230695"/>
                    <a:pt x="113438" y="239064"/>
                  </a:cubicBezTo>
                  <a:lnTo>
                    <a:pt x="156301" y="281927"/>
                  </a:lnTo>
                  <a:cubicBezTo>
                    <a:pt x="164670" y="290293"/>
                    <a:pt x="178236" y="290293"/>
                    <a:pt x="186605" y="281927"/>
                  </a:cubicBezTo>
                  <a:lnTo>
                    <a:pt x="188383" y="279912"/>
                  </a:lnTo>
                  <a:cubicBezTo>
                    <a:pt x="195001" y="271381"/>
                    <a:pt x="194239" y="259258"/>
                    <a:pt x="186605" y="251623"/>
                  </a:cubicBezTo>
                  <a:lnTo>
                    <a:pt x="158915" y="223912"/>
                  </a:lnTo>
                  <a:lnTo>
                    <a:pt x="186605" y="196202"/>
                  </a:lnTo>
                  <a:cubicBezTo>
                    <a:pt x="194971" y="187833"/>
                    <a:pt x="194971" y="174267"/>
                    <a:pt x="186605" y="165898"/>
                  </a:cubicBezTo>
                  <a:moveTo>
                    <a:pt x="272330" y="165898"/>
                  </a:moveTo>
                  <a:cubicBezTo>
                    <a:pt x="263961" y="157532"/>
                    <a:pt x="250395" y="157532"/>
                    <a:pt x="242026" y="165898"/>
                  </a:cubicBezTo>
                  <a:lnTo>
                    <a:pt x="240247" y="167913"/>
                  </a:lnTo>
                  <a:cubicBezTo>
                    <a:pt x="233629" y="176444"/>
                    <a:pt x="234391" y="188567"/>
                    <a:pt x="242026" y="196202"/>
                  </a:cubicBezTo>
                  <a:lnTo>
                    <a:pt x="269715" y="223912"/>
                  </a:lnTo>
                  <a:lnTo>
                    <a:pt x="242026" y="251623"/>
                  </a:lnTo>
                  <a:cubicBezTo>
                    <a:pt x="233904" y="260032"/>
                    <a:pt x="234020" y="273399"/>
                    <a:pt x="242287" y="281666"/>
                  </a:cubicBezTo>
                  <a:cubicBezTo>
                    <a:pt x="250554" y="289932"/>
                    <a:pt x="263920" y="290049"/>
                    <a:pt x="272330" y="281927"/>
                  </a:cubicBezTo>
                  <a:lnTo>
                    <a:pt x="315192" y="239064"/>
                  </a:lnTo>
                  <a:cubicBezTo>
                    <a:pt x="323558" y="230695"/>
                    <a:pt x="323558" y="217129"/>
                    <a:pt x="315192" y="2087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54558" y="1303020"/>
              <a:ext cx="79632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Hello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54558" y="1664970"/>
              <a:ext cx="16316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C++ World</a:t>
              </a:r>
              <a:endParaRPr lang="zh-CN" sz="2400" b="1" dirty="0">
                <a:solidFill>
                  <a:schemeClr val="accent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552450" y="23812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82485" y="25650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初次见面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08610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82485" y="32699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输出魔法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3790950"/>
              <a:ext cx="180975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82485" y="39747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图案工坊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9892" y="5664518"/>
              <a:ext cx="2094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选择 → 代码 → 运行 → 结果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845308" y="560070"/>
            <a:ext cx="4812792" cy="1177481"/>
            <a:chOff x="2845308" y="560070"/>
            <a:chExt cx="4812792" cy="1177481"/>
          </a:xfrm>
        </p:grpSpPr>
        <p:sp>
          <p:nvSpPr>
            <p:cNvPr id="15" name="TextBox 15"/>
            <p:cNvSpPr txBox="1"/>
            <p:nvPr/>
          </p:nvSpPr>
          <p:spPr>
            <a:xfrm>
              <a:off x="2845308" y="560070"/>
              <a:ext cx="341680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今天想让电脑做什么？</a:t>
              </a:r>
              <a:endParaRPr lang="zh-CN" sz="24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575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75800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运行示例代码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44958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826127" y="12287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输出多行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96600" y="14735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《静夜思》</a:t>
              </a:r>
              <a:endParaRPr lang="zh-CN" sz="13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34100" y="1104900"/>
              <a:ext cx="1524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52401" y="132397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输出一个图案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857500" y="2381250"/>
            <a:ext cx="4914900" cy="3829050"/>
            <a:chOff x="2857500" y="2381250"/>
            <a:chExt cx="4914900" cy="3829050"/>
          </a:xfrm>
        </p:grpSpPr>
        <p:sp>
          <p:nvSpPr>
            <p:cNvPr id="24" name="Rectangle 24"/>
            <p:cNvSpPr/>
            <p:nvPr/>
          </p:nvSpPr>
          <p:spPr>
            <a:xfrm>
              <a:off x="2857500" y="2381250"/>
              <a:ext cx="4914900" cy="3162300"/>
            </a:xfrm>
            <a:prstGeom prst="roundRect">
              <a:avLst>
                <a:gd name="adj" fmla="val 10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3086100" y="26098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3333750" y="26098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3581400" y="26098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155442" y="3092768"/>
              <a:ext cx="17674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#include &lt;iostream&gt;</a:t>
              </a:r>
              <a:endParaRPr lang="zh-CN" sz="135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55442" y="351186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 namespace std;</a:t>
              </a:r>
              <a:endParaRPr lang="zh-CN" sz="135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5442" y="3930968"/>
              <a:ext cx="10677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 main() {</a:t>
              </a:r>
              <a:endParaRPr lang="zh-CN" sz="13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048000" y="4248150"/>
              <a:ext cx="4400550" cy="495300"/>
            </a:xfrm>
            <a:prstGeom prst="roundRect">
              <a:avLst>
                <a:gd name="adj" fmla="val 2692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268218" y="4393882"/>
              <a:ext cx="19525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"*****";</a:t>
              </a:r>
              <a:endParaRPr lang="zh-CN" sz="16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155442" y="497871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 0; }</a:t>
              </a:r>
              <a:endParaRPr lang="zh-CN" sz="1350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905500" y="5676900"/>
              <a:ext cx="1866900" cy="533400"/>
            </a:xfrm>
            <a:prstGeom prst="roundRect">
              <a:avLst>
                <a:gd name="adj" fmla="val 35714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264987" y="5851208"/>
              <a:ext cx="11479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▶ 运行代码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020050" y="381000"/>
            <a:ext cx="3848100" cy="6096000"/>
            <a:chOff x="8020050" y="381000"/>
            <a:chExt cx="3848100" cy="6096000"/>
          </a:xfrm>
        </p:grpSpPr>
        <p:sp>
          <p:nvSpPr>
            <p:cNvPr id="37" name="Rectangle 37"/>
            <p:cNvSpPr/>
            <p:nvPr/>
          </p:nvSpPr>
          <p:spPr>
            <a:xfrm>
              <a:off x="8020050" y="381000"/>
              <a:ext cx="3848100" cy="6096000"/>
            </a:xfrm>
            <a:prstGeom prst="roundRect">
              <a:avLst>
                <a:gd name="adj" fmla="val 940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83629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677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89725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9277350" y="8382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83629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86677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89725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9277350" y="114300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8305800" y="1524000"/>
              <a:ext cx="3276600" cy="2114550"/>
            </a:xfrm>
            <a:prstGeom prst="roundRect">
              <a:avLst>
                <a:gd name="adj" fmla="val 1261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64880" y="1762125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终端输出</a:t>
              </a:r>
              <a:endParaRPr lang="zh-CN" sz="150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285956" y="2425065"/>
              <a:ext cx="131628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306050" y="3257550"/>
              <a:ext cx="933450" cy="2667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575093" y="3302318"/>
              <a:ext cx="395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</a:t>
              </a:r>
              <a:endParaRPr lang="zh-CN" sz="13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51" name="Image 5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915400" y="3397299"/>
              <a:ext cx="2190750" cy="2863752"/>
            </a:xfrm>
            <a:prstGeom prst="rect">
              <a:avLst/>
            </a:prstGeom>
          </p:spPr>
        </p:pic>
        <p:sp>
          <p:nvSpPr>
            <p:cNvPr id="52" name="Rectangle 52"/>
            <p:cNvSpPr/>
            <p:nvPr/>
          </p:nvSpPr>
          <p:spPr>
            <a:xfrm>
              <a:off x="8248650" y="4171950"/>
              <a:ext cx="1885950" cy="781050"/>
            </a:xfrm>
            <a:prstGeom prst="roundRect">
              <a:avLst>
                <a:gd name="adj" fmla="val 3170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653939" y="4333875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先看代码，</a:t>
              </a:r>
              <a:endPara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679180" y="4600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再猜输出！</a:t>
              </a:r>
              <a:endParaRPr lang="zh-CN" sz="150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514350" y="361950"/>
            <a:ext cx="6881889" cy="708279"/>
            <a:chOff x="514350" y="361950"/>
            <a:chExt cx="6881889" cy="708279"/>
          </a:xfrm>
        </p:grpSpPr>
        <p:sp>
          <p:nvSpPr>
            <p:cNvPr id="2" name="Rectangle 2"/>
            <p:cNvSpPr/>
            <p:nvPr/>
          </p:nvSpPr>
          <p:spPr>
            <a:xfrm>
              <a:off x="514350" y="361950"/>
              <a:ext cx="2381250" cy="5334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3191" y="545782"/>
              <a:ext cx="19635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N6690 · 五星连珠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164586" y="4248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一行完成第一个图案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1619250"/>
            <a:ext cx="10629900" cy="1371600"/>
            <a:chOff x="781050" y="1619250"/>
            <a:chExt cx="10629900" cy="1371600"/>
          </a:xfrm>
        </p:grpSpPr>
        <p:sp>
          <p:nvSpPr>
            <p:cNvPr id="6" name="Rectangle 6"/>
            <p:cNvSpPr/>
            <p:nvPr/>
          </p:nvSpPr>
          <p:spPr>
            <a:xfrm>
              <a:off x="781050" y="1619250"/>
              <a:ext cx="10629900" cy="1371600"/>
            </a:xfrm>
            <a:prstGeom prst="roundRect">
              <a:avLst>
                <a:gd name="adj" fmla="val 2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811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8171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30289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649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768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128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72465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36066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0" y="1924050"/>
              <a:ext cx="1562100" cy="762000"/>
            </a:xfrm>
            <a:prstGeom prst="roundRect">
              <a:avLst>
                <a:gd name="adj" fmla="val 325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08510" y="2072640"/>
              <a:ext cx="290080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*</a:t>
              </a:r>
              <a:endPara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" y="3409950"/>
            <a:ext cx="6419850" cy="2095500"/>
            <a:chOff x="781050" y="3409950"/>
            <a:chExt cx="6419850" cy="2095500"/>
          </a:xfrm>
        </p:grpSpPr>
        <p:sp>
          <p:nvSpPr>
            <p:cNvPr id="18" name="Rectangle 18"/>
            <p:cNvSpPr/>
            <p:nvPr/>
          </p:nvSpPr>
          <p:spPr>
            <a:xfrm>
              <a:off x="781050" y="3409950"/>
              <a:ext cx="6419850" cy="2095500"/>
            </a:xfrm>
            <a:prstGeom prst="roundRect">
              <a:avLst>
                <a:gd name="adj" fmla="val 17273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1047750" y="36766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1295400" y="36766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543050" y="36766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079257" y="4424362"/>
              <a:ext cx="38234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"*****" &lt;&lt; endl;</a:t>
              </a:r>
              <a:endParaRPr lang="zh-CN" sz="22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39050" y="3409950"/>
            <a:ext cx="3771900" cy="2095500"/>
            <a:chOff x="7639050" y="3409950"/>
            <a:chExt cx="37719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7639050" y="3409950"/>
              <a:ext cx="3771900" cy="2095500"/>
            </a:xfrm>
            <a:prstGeom prst="roundRect">
              <a:avLst>
                <a:gd name="adj" fmla="val 1727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72372" y="37652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输出结果</a:t>
              </a:r>
              <a:endParaRPr lang="zh-CN" sz="16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573033" y="4415790"/>
              <a:ext cx="19039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8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48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3415322" y="6015990"/>
            <a:ext cx="536135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8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五个连续星号，可以放进一个字符串一次输出。</a:t>
            </a:r>
            <a:endParaRPr lang="zh-CN" sz="1800" b="1" dirty="0">
              <a:solidFill>
                <a:schemeClr val="dk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23850"/>
            <a:ext cx="6786639" cy="708279"/>
            <a:chOff x="476250" y="323850"/>
            <a:chExt cx="6786639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2385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0682" y="50768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86715"/>
              <a:ext cx="423165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先看目标，再动手写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76250" y="1390650"/>
            <a:ext cx="4762500" cy="4686300"/>
            <a:chOff x="476250" y="1390650"/>
            <a:chExt cx="4762500" cy="4686300"/>
          </a:xfrm>
        </p:grpSpPr>
        <p:sp>
          <p:nvSpPr>
            <p:cNvPr id="6" name="Rectangle 6"/>
            <p:cNvSpPr/>
            <p:nvPr/>
          </p:nvSpPr>
          <p:spPr>
            <a:xfrm>
              <a:off x="476250" y="1390650"/>
              <a:ext cx="4762500" cy="4686300"/>
            </a:xfrm>
            <a:prstGeom prst="roundRect">
              <a:avLst>
                <a:gd name="adj" fmla="val 8130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7918" y="172688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目标图案</a:t>
              </a:r>
              <a:endParaRPr lang="zh-CN" sz="1650" b="1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762774" y="2328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96182" y="2805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29589" y="3281362"/>
              <a:ext cx="85582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262997" y="3757612"/>
              <a:ext cx="11890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62774" y="4233862"/>
              <a:ext cx="1894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182" y="4710112"/>
              <a:ext cx="52263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225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941957" y="53978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先用手指数，再写代码</a:t>
              </a:r>
              <a:endParaRPr lang="zh-CN" sz="1350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57850" y="1390650"/>
            <a:ext cx="6057900" cy="4686300"/>
            <a:chOff x="5657850" y="1390650"/>
            <a:chExt cx="6057900" cy="4686300"/>
          </a:xfrm>
        </p:grpSpPr>
        <p:sp>
          <p:nvSpPr>
            <p:cNvPr id="16" name="Rectangle 16"/>
            <p:cNvSpPr/>
            <p:nvPr/>
          </p:nvSpPr>
          <p:spPr>
            <a:xfrm>
              <a:off x="5657850" y="1390650"/>
              <a:ext cx="6057900" cy="4686300"/>
            </a:xfrm>
            <a:prstGeom prst="roundRect">
              <a:avLst>
                <a:gd name="adj" fmla="val 813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28182" y="1678305"/>
              <a:ext cx="15055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观察四件事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038850" y="2266950"/>
              <a:ext cx="5295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73368" y="25460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树冠有几层？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3124200"/>
              <a:ext cx="50101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659118" y="340328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每层有几个星号？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610350" y="3981450"/>
              <a:ext cx="47244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44868" y="42605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左侧有几个空格？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96100" y="4838700"/>
              <a:ext cx="44386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30618" y="5117782"/>
              <a:ext cx="20108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树干在哪一列？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031992" y="57407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家长只提问，不替孩子数。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476250" y="304800"/>
            <a:ext cx="6553410" cy="708279"/>
            <a:chOff x="476250" y="304800"/>
            <a:chExt cx="6553410" cy="708279"/>
          </a:xfrm>
        </p:grpSpPr>
        <p:sp>
          <p:nvSpPr>
            <p:cNvPr id="2" name="Rectangle 2"/>
            <p:cNvSpPr/>
            <p:nvPr/>
          </p:nvSpPr>
          <p:spPr>
            <a:xfrm>
              <a:off x="476250" y="304800"/>
              <a:ext cx="2286000" cy="5334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60682" y="488632"/>
              <a:ext cx="17171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C5002 · 智慧树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031236" y="367665"/>
              <a:ext cx="399842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一行对应一条 cout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76250" y="1295400"/>
            <a:ext cx="7715250" cy="5048250"/>
            <a:chOff x="476250" y="1295400"/>
            <a:chExt cx="7715250" cy="5048250"/>
          </a:xfrm>
        </p:grpSpPr>
        <p:sp>
          <p:nvSpPr>
            <p:cNvPr id="6" name="Rectangle 6"/>
            <p:cNvSpPr/>
            <p:nvPr/>
          </p:nvSpPr>
          <p:spPr>
            <a:xfrm>
              <a:off x="476250" y="1295400"/>
              <a:ext cx="7715250" cy="5048250"/>
            </a:xfrm>
            <a:prstGeom prst="roundRect">
              <a:avLst>
                <a:gd name="adj" fmla="val 754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15430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90600" y="15430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238250" y="15430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9630" y="20669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26955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9630" y="3324225"/>
              <a:ext cx="24888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*****" &lt;&lt; endl;</a:t>
              </a:r>
              <a:endParaRPr lang="zh-CN" sz="150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9630" y="3952875"/>
              <a:ext cx="26504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"*******" &lt;&lt; endl;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581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*" &lt;&lt; endl;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9630" y="5210175"/>
              <a:ext cx="2266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 &lt;&lt; " ***" &lt;&lt; endl;</a:t>
              </a:r>
              <a:endParaRPr lang="zh-CN" sz="1500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0392" y="58550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字符串中的空格必须完整保留。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610600" y="1295400"/>
            <a:ext cx="3105150" cy="5048250"/>
            <a:chOff x="8610600" y="1295400"/>
            <a:chExt cx="3105150" cy="5048250"/>
          </a:xfrm>
        </p:grpSpPr>
        <p:sp>
          <p:nvSpPr>
            <p:cNvPr id="18" name="Rectangle 18"/>
            <p:cNvSpPr/>
            <p:nvPr/>
          </p:nvSpPr>
          <p:spPr>
            <a:xfrm>
              <a:off x="8610600" y="1295400"/>
              <a:ext cx="3105150" cy="5048250"/>
            </a:xfrm>
            <a:prstGeom prst="roundRect">
              <a:avLst>
                <a:gd name="adj" fmla="val 1227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88335" y="16697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同步预览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081079" y="23612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36699" y="27993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792319" y="3237548"/>
              <a:ext cx="7417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647939" y="3675698"/>
              <a:ext cx="103047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*******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081079" y="4113848"/>
              <a:ext cx="16419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936699" y="4551998"/>
              <a:ext cx="45295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***</a:t>
              </a:r>
              <a:endParaRPr lang="zh-CN" sz="1950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9353550" y="5353050"/>
              <a:ext cx="1619250" cy="533400"/>
            </a:xfrm>
            <a:prstGeom prst="roundRect">
              <a:avLst>
                <a:gd name="adj" fmla="val 39286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731502" y="554355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对齐完成</a:t>
              </a:r>
              <a:endParaRPr lang="zh-CN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9239250" y="-9525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02</a:t>
              </a:r>
              <a:endParaRPr lang="zh-CN" sz="14250" b="1" dirty="0">
                <a:solidFill>
                  <a:srgbClr val="FFFFFF">
                    <a:alphaMod val="18000"/>
                  </a:srgb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知识梳理</a:t>
              </a:r>
              <a:endParaRPr lang="zh-CN" sz="43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把代码整理成可复用模板</a:t>
              </a:r>
              <a:endParaRPr lang="zh-CN" sz="18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591050" y="1447800"/>
            <a:ext cx="4743450" cy="3486150"/>
            <a:chOff x="4591050" y="1447800"/>
            <a:chExt cx="4743450" cy="3486150"/>
          </a:xfrm>
        </p:grpSpPr>
        <p:sp>
          <p:nvSpPr>
            <p:cNvPr id="7" name="Rectangle 7"/>
            <p:cNvSpPr/>
            <p:nvPr/>
          </p:nvSpPr>
          <p:spPr>
            <a:xfrm>
              <a:off x="4591050" y="14478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51999" y="1745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头文件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838950" y="1905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383285" y="22031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命名空间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048250" y="27241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40108" y="3022282"/>
              <a:ext cx="10546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main 正门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296150" y="318135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782177" y="3479482"/>
              <a:ext cx="1066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cout 输出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943600" y="4191000"/>
              <a:ext cx="2038350" cy="742950"/>
            </a:xfrm>
            <a:prstGeom prst="roundRect">
              <a:avLst>
                <a:gd name="adj" fmla="val 33333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70443" y="4489132"/>
              <a:ext cx="98466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return 0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8572500" y="1104900"/>
            <a:ext cx="2857500" cy="4262172"/>
            <a:chOff x="8572500" y="1104900"/>
            <a:chExt cx="2857500" cy="4262172"/>
          </a:xfrm>
        </p:grpSpPr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58250" y="2005277"/>
              <a:ext cx="2571750" cy="3361795"/>
            </a:xfrm>
            <a:prstGeom prst="rect">
              <a:avLst/>
            </a:prstGeom>
          </p:spPr>
        </p:pic>
        <p:sp>
          <p:nvSpPr>
            <p:cNvPr id="19" name="Rectangle 19"/>
            <p:cNvSpPr/>
            <p:nvPr/>
          </p:nvSpPr>
          <p:spPr>
            <a:xfrm>
              <a:off x="8572500" y="1104900"/>
              <a:ext cx="266700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64701" y="140303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把五块重新归位！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14756" y="5825490"/>
            <a:ext cx="4750719" cy="352044"/>
            <a:chOff x="714756" y="5825490"/>
            <a:chExt cx="4750719" cy="352044"/>
          </a:xfrm>
        </p:grpSpPr>
        <p:sp>
          <p:nvSpPr>
            <p:cNvPr id="22" name="TextBox 22"/>
            <p:cNvSpPr txBox="1"/>
            <p:nvPr/>
          </p:nvSpPr>
          <p:spPr>
            <a:xfrm>
              <a:off x="714756" y="5825490"/>
              <a:ext cx="47507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程序模板　/　cout 规则　/　关键词词典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9326270" cy="645414"/>
            <a:chOff x="459486" y="405765"/>
            <a:chExt cx="9326270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一张可复用的程序模板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25818" y="564832"/>
              <a:ext cx="285993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固定框架，只替换 cout 内容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6250" y="1257300"/>
            <a:ext cx="6343650" cy="5010150"/>
            <a:chOff x="476250" y="1257300"/>
            <a:chExt cx="6343650" cy="5010150"/>
          </a:xfrm>
        </p:grpSpPr>
        <p:sp>
          <p:nvSpPr>
            <p:cNvPr id="5" name="Rectangle 5"/>
            <p:cNvSpPr/>
            <p:nvPr/>
          </p:nvSpPr>
          <p:spPr>
            <a:xfrm>
              <a:off x="476250" y="1257300"/>
              <a:ext cx="6343650" cy="5010150"/>
            </a:xfrm>
            <a:prstGeom prst="roundRect">
              <a:avLst>
                <a:gd name="adj" fmla="val 7605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>
              <a:off x="742950" y="1504950"/>
              <a:ext cx="152400" cy="1524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990600" y="1504950"/>
              <a:ext cx="1524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1238250" y="150495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9630" y="202882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#include &lt;iostream&gt; // 输入输出工具</a:t>
              </a:r>
              <a:endParaRPr lang="zh-CN" sz="1500" dirty="0">
                <a:solidFill>
                  <a:schemeClr val="accent1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26193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using namespace std; // 标准库名字</a:t>
              </a:r>
              <a:endParaRPr lang="zh-CN" sz="1500" dirty="0">
                <a:solidFill>
                  <a:schemeClr val="accent2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9630" y="3209925"/>
              <a:ext cx="23374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int main() { // 程序入口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4430" y="3800475"/>
              <a:ext cx="28245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3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cout &lt;&lt; "内容"; // 替换这里</a:t>
              </a:r>
              <a:endParaRPr lang="zh-CN" sz="1500" b="1" dirty="0">
                <a:solidFill>
                  <a:schemeClr val="accent3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4430" y="439102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22C55E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return 0; // 正常结束</a:t>
              </a:r>
              <a:endParaRPr lang="zh-CN" sz="1500" dirty="0">
                <a:solidFill>
                  <a:srgbClr val="22C55E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9630" y="4981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}</a:t>
              </a:r>
              <a:endParaRPr lang="zh-CN" sz="1500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0392" y="57026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口述五块作用，再遮住模板默写。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219950" y="1257300"/>
            <a:ext cx="4495800" cy="5010150"/>
            <a:chOff x="7219950" y="1257300"/>
            <a:chExt cx="4495800" cy="5010150"/>
          </a:xfrm>
        </p:grpSpPr>
        <p:sp>
          <p:nvSpPr>
            <p:cNvPr id="17" name="Rectangle 17"/>
            <p:cNvSpPr/>
            <p:nvPr/>
          </p:nvSpPr>
          <p:spPr>
            <a:xfrm>
              <a:off x="7219950" y="1257300"/>
              <a:ext cx="4495800" cy="5010150"/>
            </a:xfrm>
            <a:prstGeom prst="roundRect">
              <a:avLst>
                <a:gd name="adj" fmla="val 847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552182" y="1564005"/>
              <a:ext cx="19507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cout 五条规则</a:t>
              </a:r>
              <a:endParaRPr lang="zh-CN" sz="21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562850" y="21145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840980" y="2333625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单行输出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562850" y="28575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40980" y="30765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输出后用 endl 换行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562850" y="36004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40980" y="3819525"/>
              <a:ext cx="20446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多行就写多条 cout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562850" y="434340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840980" y="456247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文字放在双引号里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562850" y="5086350"/>
              <a:ext cx="3810000" cy="590550"/>
            </a:xfrm>
            <a:prstGeom prst="roundRect">
              <a:avLst>
                <a:gd name="adj" fmla="val 3548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40980" y="53054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表达式不加引号会计算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5992" y="58740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家长：只提问，不直接报答案。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345299" cy="645414"/>
            <a:chOff x="459486" y="405765"/>
            <a:chExt cx="7345299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025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上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46011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看懂词根，代码不再陌生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71500" y="1371600"/>
            <a:ext cx="3333750" cy="1238250"/>
            <a:chOff x="571500" y="1371600"/>
            <a:chExt cx="3333750" cy="1238250"/>
          </a:xfrm>
        </p:grpSpPr>
        <p:sp>
          <p:nvSpPr>
            <p:cNvPr id="5" name="Rectangle 5"/>
            <p:cNvSpPr/>
            <p:nvPr/>
          </p:nvSpPr>
          <p:spPr>
            <a:xfrm>
              <a:off x="5715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5632" y="1621155"/>
              <a:ext cx="1015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047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包含：把工具引进来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86250" y="1371600"/>
            <a:ext cx="3573590" cy="1238250"/>
            <a:chOff x="4286250" y="1371600"/>
            <a:chExt cx="3573590" cy="1238250"/>
          </a:xfrm>
        </p:grpSpPr>
        <p:sp>
          <p:nvSpPr>
            <p:cNvPr id="9" name="Rectangle 9"/>
            <p:cNvSpPr/>
            <p:nvPr/>
          </p:nvSpPr>
          <p:spPr>
            <a:xfrm>
              <a:off x="428625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580382" y="1621155"/>
              <a:ext cx="131257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iostream</a:t>
              </a:r>
              <a:endParaRPr lang="zh-CN" sz="210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583430" y="2047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input/output stream：输入输出流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001000" y="1371600"/>
            <a:ext cx="3333750" cy="1238250"/>
            <a:chOff x="8001000" y="1371600"/>
            <a:chExt cx="3333750" cy="1238250"/>
          </a:xfrm>
        </p:grpSpPr>
        <p:sp>
          <p:nvSpPr>
            <p:cNvPr id="13" name="Rectangle 13"/>
            <p:cNvSpPr/>
            <p:nvPr/>
          </p:nvSpPr>
          <p:spPr>
            <a:xfrm>
              <a:off x="8001000" y="13716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295132" y="1621155"/>
              <a:ext cx="76342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using</a:t>
              </a:r>
              <a:endParaRPr lang="zh-CN" sz="21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8180" y="20478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使用：开始采用某个名字</a:t>
              </a:r>
              <a:endParaRPr lang="zh-CN" sz="150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43000" y="3086100"/>
            <a:ext cx="3333750" cy="1238250"/>
            <a:chOff x="1143000" y="3086100"/>
            <a:chExt cx="3333750" cy="1238250"/>
          </a:xfrm>
        </p:grpSpPr>
        <p:sp>
          <p:nvSpPr>
            <p:cNvPr id="17" name="Rectangle 17"/>
            <p:cNvSpPr/>
            <p:nvPr/>
          </p:nvSpPr>
          <p:spPr>
            <a:xfrm>
              <a:off x="114300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37132" y="3335655"/>
              <a:ext cx="155004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namespace</a:t>
              </a:r>
              <a:endParaRPr lang="zh-CN" sz="210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0180" y="3762375"/>
              <a:ext cx="2297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name + space：名字空间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857750" y="3086100"/>
            <a:ext cx="3333750" cy="1238250"/>
            <a:chOff x="4857750" y="3086100"/>
            <a:chExt cx="3333750" cy="1238250"/>
          </a:xfrm>
        </p:grpSpPr>
        <p:sp>
          <p:nvSpPr>
            <p:cNvPr id="21" name="Rectangle 21"/>
            <p:cNvSpPr/>
            <p:nvPr/>
          </p:nvSpPr>
          <p:spPr>
            <a:xfrm>
              <a:off x="4857750" y="3086100"/>
              <a:ext cx="3333750" cy="1238250"/>
            </a:xfrm>
            <a:prstGeom prst="roundRect">
              <a:avLst>
                <a:gd name="adj" fmla="val 23077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151882" y="333565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std</a:t>
              </a:r>
              <a:endParaRPr lang="zh-CN" sz="210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54930" y="3762375"/>
              <a:ext cx="21153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standard：标准库简称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572500" y="3086100"/>
            <a:ext cx="2762250" cy="1238250"/>
            <a:chOff x="8572500" y="3086100"/>
            <a:chExt cx="2762250" cy="1238250"/>
          </a:xfrm>
        </p:grpSpPr>
        <p:sp>
          <p:nvSpPr>
            <p:cNvPr id="25" name="Rectangle 25"/>
            <p:cNvSpPr/>
            <p:nvPr/>
          </p:nvSpPr>
          <p:spPr>
            <a:xfrm>
              <a:off x="8572500" y="3086100"/>
              <a:ext cx="2762250" cy="1238250"/>
            </a:xfrm>
            <a:prstGeom prst="roundRect">
              <a:avLst>
                <a:gd name="adj" fmla="val 23077"/>
              </a:avLst>
            </a:prstGeom>
            <a:solidFill>
              <a:srgbClr val="FFFFFF"/>
            </a:solidFill>
            <a:ln w="28575">
              <a:solidFill>
                <a:schemeClr val="accent6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866632" y="3335655"/>
              <a:ext cx="6595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main</a:t>
              </a:r>
              <a:endParaRPr lang="zh-CN" sz="2100" b="1" dirty="0">
                <a:solidFill>
                  <a:schemeClr val="dk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869680" y="37623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主要的：程序入口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714500" y="5010150"/>
            <a:ext cx="8763000" cy="1066800"/>
            <a:chOff x="1714500" y="5010150"/>
            <a:chExt cx="8763000" cy="1066800"/>
          </a:xfrm>
        </p:grpSpPr>
        <p:sp>
          <p:nvSpPr>
            <p:cNvPr id="29" name="Rectangle 29"/>
            <p:cNvSpPr/>
            <p:nvPr/>
          </p:nvSpPr>
          <p:spPr>
            <a:xfrm>
              <a:off x="1714500" y="5010150"/>
              <a:ext cx="8763000" cy="106680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078730" y="53054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按代码出现顺序读一遍</a:t>
              </a:r>
              <a:endParaRPr lang="zh-CN" sz="15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83915" y="5670232"/>
              <a:ext cx="58241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include → iostream → using → namespace → std → main</a:t>
              </a:r>
              <a:endParaRPr lang="zh-CN" sz="165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459486" y="405765"/>
            <a:ext cx="7789545" cy="645414"/>
            <a:chOff x="459486" y="405765"/>
            <a:chExt cx="7789545" cy="645414"/>
          </a:xfrm>
        </p:grpSpPr>
        <p:sp>
          <p:nvSpPr>
            <p:cNvPr id="2" name="TextBox 2"/>
            <p:cNvSpPr txBox="1"/>
            <p:nvPr/>
          </p:nvSpPr>
          <p:spPr>
            <a:xfrm>
              <a:off x="459486" y="405765"/>
              <a:ext cx="402570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C++ 词汇积木 · 下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344668" y="564832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输出、换行、返回、整数类型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476750" y="1809750"/>
            <a:ext cx="3238500" cy="3238500"/>
            <a:chOff x="4476750" y="1809750"/>
            <a:chExt cx="3238500" cy="3238500"/>
          </a:xfrm>
        </p:grpSpPr>
        <p:sp>
          <p:nvSpPr>
            <p:cNvPr id="5" name="Ellipse 5"/>
            <p:cNvSpPr/>
            <p:nvPr/>
          </p:nvSpPr>
          <p:spPr>
            <a:xfrm>
              <a:off x="4476750" y="1809750"/>
              <a:ext cx="3238500" cy="3238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Freeform 6"/>
            <p:cNvSpPr/>
            <p:nvPr/>
          </p:nvSpPr>
          <p:spPr>
            <a:xfrm>
              <a:off x="5664200" y="2603500"/>
              <a:ext cx="863601" cy="1079501"/>
            </a:xfrm>
            <a:custGeom>
              <a:avLst/>
              <a:gdLst/>
              <a:ahLst/>
              <a:cxnLst/>
              <a:rect l="l" t="t" r="r" b="b"/>
              <a:pathLst>
                <a:path w="863601" h="1079501">
                  <a:moveTo>
                    <a:pt x="701675" y="0"/>
                  </a:moveTo>
                  <a:cubicBezTo>
                    <a:pt x="791104" y="0"/>
                    <a:pt x="863601" y="72496"/>
                    <a:pt x="863601" y="161925"/>
                  </a:cubicBezTo>
                  <a:lnTo>
                    <a:pt x="863601" y="917576"/>
                  </a:lnTo>
                  <a:cubicBezTo>
                    <a:pt x="863601" y="1007004"/>
                    <a:pt x="791104" y="1079501"/>
                    <a:pt x="701675" y="1079501"/>
                  </a:cubicBezTo>
                  <a:lnTo>
                    <a:pt x="161925" y="1079501"/>
                  </a:lnTo>
                  <a:cubicBezTo>
                    <a:pt x="72496" y="1079501"/>
                    <a:pt x="0" y="1007004"/>
                    <a:pt x="0" y="917576"/>
                  </a:cubicBezTo>
                  <a:lnTo>
                    <a:pt x="0" y="161925"/>
                  </a:lnTo>
                  <a:cubicBezTo>
                    <a:pt x="0" y="72496"/>
                    <a:pt x="72496" y="0"/>
                    <a:pt x="161925" y="0"/>
                  </a:cubicBezTo>
                  <a:close/>
                  <a:moveTo>
                    <a:pt x="431800" y="485775"/>
                  </a:moveTo>
                  <a:cubicBezTo>
                    <a:pt x="316758" y="485775"/>
                    <a:pt x="221922" y="575982"/>
                    <a:pt x="216170" y="690880"/>
                  </a:cubicBezTo>
                  <a:lnTo>
                    <a:pt x="215900" y="701675"/>
                  </a:lnTo>
                  <a:cubicBezTo>
                    <a:pt x="215900" y="820914"/>
                    <a:pt x="312562" y="917576"/>
                    <a:pt x="431800" y="917576"/>
                  </a:cubicBezTo>
                  <a:cubicBezTo>
                    <a:pt x="551039" y="917576"/>
                    <a:pt x="647700" y="820914"/>
                    <a:pt x="647700" y="701675"/>
                  </a:cubicBezTo>
                  <a:cubicBezTo>
                    <a:pt x="647700" y="582437"/>
                    <a:pt x="551039" y="485775"/>
                    <a:pt x="431800" y="485775"/>
                  </a:cubicBezTo>
                  <a:moveTo>
                    <a:pt x="431800" y="215900"/>
                  </a:moveTo>
                  <a:cubicBezTo>
                    <a:pt x="401991" y="215900"/>
                    <a:pt x="377825" y="240066"/>
                    <a:pt x="377825" y="269875"/>
                  </a:cubicBezTo>
                  <a:lnTo>
                    <a:pt x="377825" y="270415"/>
                  </a:lnTo>
                  <a:cubicBezTo>
                    <a:pt x="377825" y="300224"/>
                    <a:pt x="401991" y="324390"/>
                    <a:pt x="431800" y="324390"/>
                  </a:cubicBezTo>
                  <a:cubicBezTo>
                    <a:pt x="461610" y="324390"/>
                    <a:pt x="485775" y="300224"/>
                    <a:pt x="485775" y="270415"/>
                  </a:cubicBezTo>
                  <a:lnTo>
                    <a:pt x="485775" y="269875"/>
                  </a:lnTo>
                  <a:cubicBezTo>
                    <a:pt x="485775" y="240066"/>
                    <a:pt x="461610" y="215900"/>
                    <a:pt x="431800" y="21590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566132" y="3968115"/>
              <a:ext cx="105973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300" b="1" dirty="0">
                  <a:solidFill>
                    <a:srgbClr val="FFFFFF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3300" b="1" dirty="0">
                <a:solidFill>
                  <a:srgbClr val="FFFFFF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43931" y="45405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标准输出对象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66750" y="1447800"/>
            <a:ext cx="3143250" cy="1485900"/>
            <a:chOff x="666750" y="1447800"/>
            <a:chExt cx="3143250" cy="1485900"/>
          </a:xfrm>
        </p:grpSpPr>
        <p:sp>
          <p:nvSpPr>
            <p:cNvPr id="10" name="Rectangle 10"/>
            <p:cNvSpPr/>
            <p:nvPr/>
          </p:nvSpPr>
          <p:spPr>
            <a:xfrm>
              <a:off x="66675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79170" y="1738312"/>
              <a:ext cx="72254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1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cout</a:t>
              </a:r>
              <a:endParaRPr lang="zh-CN" sz="2250" b="1" dirty="0">
                <a:solidFill>
                  <a:schemeClr val="accent1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2980" y="2219325"/>
              <a:ext cx="23475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character output：输出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83742" y="2540318"/>
              <a:ext cx="16675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“喇叭”只是记忆比喻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6750" y="3924300"/>
            <a:ext cx="3143250" cy="1485900"/>
            <a:chOff x="666750" y="3924300"/>
            <a:chExt cx="3143250" cy="1485900"/>
          </a:xfrm>
        </p:grpSpPr>
        <p:sp>
          <p:nvSpPr>
            <p:cNvPr id="15" name="Rectangle 15"/>
            <p:cNvSpPr/>
            <p:nvPr/>
          </p:nvSpPr>
          <p:spPr>
            <a:xfrm>
              <a:off x="66675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F0D6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79170" y="4214812"/>
              <a:ext cx="64303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endl</a:t>
              </a:r>
              <a:endParaRPr lang="zh-CN" sz="2250" b="1" dirty="0">
                <a:solidFill>
                  <a:schemeClr val="accent2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82980" y="4695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end line：结束这一行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3742" y="50168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让光标到下一行</a:t>
              </a:r>
              <a:endParaRPr lang="zh-CN" sz="1350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382000" y="1447800"/>
            <a:ext cx="3143250" cy="1485900"/>
            <a:chOff x="8382000" y="1447800"/>
            <a:chExt cx="3143250" cy="1485900"/>
          </a:xfrm>
        </p:grpSpPr>
        <p:sp>
          <p:nvSpPr>
            <p:cNvPr id="20" name="Rectangle 20"/>
            <p:cNvSpPr/>
            <p:nvPr/>
          </p:nvSpPr>
          <p:spPr>
            <a:xfrm>
              <a:off x="8382000" y="14478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E9FB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94420" y="1738312"/>
              <a:ext cx="107239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2C55E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return</a:t>
              </a:r>
              <a:endParaRPr lang="zh-CN" sz="2250" b="1" dirty="0">
                <a:solidFill>
                  <a:srgbClr val="22C55E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8230" y="221932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返回：报告程序结束状态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98992" y="2540318"/>
              <a:ext cx="19128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22C55E"/>
                  </a:solidFill>
                  <a:latin typeface="+mn-lt"/>
                  <a:ea typeface="+mn-ea"/>
                  <a:cs typeface="+mn-cs"/>
                </a:rPr>
                <a:t>return 0 表示正常结束</a:t>
              </a:r>
              <a:endParaRPr lang="zh-CN" sz="1350" dirty="0">
                <a:solidFill>
                  <a:srgbClr val="22C55E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382000" y="3924300"/>
            <a:ext cx="3143250" cy="1485900"/>
            <a:chOff x="8382000" y="3924300"/>
            <a:chExt cx="3143250" cy="1485900"/>
          </a:xfrm>
        </p:grpSpPr>
        <p:sp>
          <p:nvSpPr>
            <p:cNvPr id="25" name="Rectangle 25"/>
            <p:cNvSpPr/>
            <p:nvPr/>
          </p:nvSpPr>
          <p:spPr>
            <a:xfrm>
              <a:off x="8382000" y="3924300"/>
              <a:ext cx="3143250" cy="1485900"/>
            </a:xfrm>
            <a:prstGeom prst="roundRect">
              <a:avLst>
                <a:gd name="adj" fmla="val 21795"/>
              </a:avLst>
            </a:prstGeom>
            <a:solidFill>
              <a:srgbClr val="FFE2ED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94420" y="4214812"/>
              <a:ext cx="46811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3"/>
                  </a:solidFill>
                  <a:latin typeface="Consolas" panose="020B0609020204030204"/>
                  <a:ea typeface="Consolas" panose="020B0609020204030204"/>
                  <a:cs typeface="Consolas" panose="020B0609020204030204"/>
                </a:rPr>
                <a:t>int</a:t>
              </a:r>
              <a:endParaRPr lang="zh-CN" sz="2250" b="1" dirty="0">
                <a:solidFill>
                  <a:schemeClr val="accent3"/>
                </a:solidFill>
                <a:latin typeface="Consolas" panose="020B0609020204030204"/>
                <a:ea typeface="Consolas" panose="020B0609020204030204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98230" y="4695825"/>
              <a:ext cx="17518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integer：整数类型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8992" y="5016818"/>
              <a:ext cx="13676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main 的返回类型</a:t>
              </a:r>
              <a:endPara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05170" y="6070282"/>
            <a:ext cx="3981660" cy="322707"/>
            <a:chOff x="4105170" y="6070282"/>
            <a:chExt cx="3981660" cy="322707"/>
          </a:xfrm>
        </p:grpSpPr>
        <p:sp>
          <p:nvSpPr>
            <p:cNvPr id="30" name="TextBox 30"/>
            <p:cNvSpPr txBox="1"/>
            <p:nvPr/>
          </p:nvSpPr>
          <p:spPr>
            <a:xfrm>
              <a:off x="4105170" y="6070282"/>
              <a:ext cx="39816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先用比喻记住，再用技术作用说准确。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8953500" y="-800100"/>
            <a:ext cx="3238500" cy="3238500"/>
          </a:xfrm>
          <a:prstGeom prst="ellipse">
            <a:avLst/>
          </a:prstGeom>
          <a:solidFill>
            <a:srgbClr val="FFFFFF">
              <a:alpha val="12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33400" y="1376362"/>
            <a:ext cx="2865120" cy="3067622"/>
            <a:chOff x="533400" y="1376362"/>
            <a:chExt cx="2865120" cy="3067622"/>
          </a:xfrm>
        </p:grpSpPr>
        <p:sp>
          <p:nvSpPr>
            <p:cNvPr id="3" name="TextBox 3"/>
            <p:cNvSpPr txBox="1"/>
            <p:nvPr/>
          </p:nvSpPr>
          <p:spPr>
            <a:xfrm>
              <a:off x="533400" y="1376362"/>
              <a:ext cx="2253777" cy="27336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0" b="1" dirty="0">
                  <a:solidFill>
                    <a:srgbClr val="FFFFFF">
                      <a:alphaMod val="18000"/>
                    </a:srgbClr>
                  </a:solidFill>
                  <a:latin typeface="+mj-lt"/>
                  <a:ea typeface="+mj-ea"/>
                  <a:cs typeface="+mj-cs"/>
                </a:rPr>
                <a:t>03</a:t>
              </a:r>
              <a:endParaRPr lang="zh-CN" sz="14250" b="1" dirty="0">
                <a:solidFill>
                  <a:srgbClr val="FFFFFF">
                    <a:alphaMod val="18000"/>
                  </a:srgbClr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04850" y="3321368"/>
              <a:ext cx="2497607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综合精练</a:t>
              </a:r>
              <a:endParaRPr lang="zh-CN" sz="4350" b="1" dirty="0">
                <a:solidFill>
                  <a:srgbClr val="FFFFFF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14756" y="409194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不看示范，独立解决新题</a:t>
              </a:r>
              <a:endParaRPr lang="zh-CN" sz="180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362450" y="1619250"/>
            <a:ext cx="4495800" cy="3352800"/>
            <a:chOff x="4362450" y="1619250"/>
            <a:chExt cx="4495800" cy="3352800"/>
          </a:xfrm>
        </p:grpSpPr>
        <p:sp>
          <p:nvSpPr>
            <p:cNvPr id="7" name="Rectangle 7"/>
            <p:cNvSpPr/>
            <p:nvPr/>
          </p:nvSpPr>
          <p:spPr>
            <a:xfrm>
              <a:off x="4362450" y="16192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25739" y="1898332"/>
              <a:ext cx="48322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读题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6191250" y="24955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821310" y="27746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设计输出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819650" y="33718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566324" y="3650932"/>
              <a:ext cx="71645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写代码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648450" y="4248150"/>
              <a:ext cx="2209800" cy="723900"/>
            </a:xfrm>
            <a:prstGeom prst="roundRect">
              <a:avLst>
                <a:gd name="adj" fmla="val 34211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278510" y="4527232"/>
              <a:ext cx="94968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运行检查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72500" y="1047750"/>
            <a:ext cx="2895600" cy="4281222"/>
            <a:chOff x="8572500" y="1047750"/>
            <a:chExt cx="2895600" cy="4281222"/>
          </a:xfrm>
        </p:grpSpPr>
        <p:pic>
          <p:nvPicPr>
            <p:cNvPr id="16" name="Image 1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896350" y="1967177"/>
              <a:ext cx="2571750" cy="3361795"/>
            </a:xfrm>
            <a:prstGeom prst="rect">
              <a:avLst/>
            </a:prstGeom>
          </p:spPr>
        </p:pic>
        <p:sp>
          <p:nvSpPr>
            <p:cNvPr id="17" name="Rectangle 17"/>
            <p:cNvSpPr/>
            <p:nvPr/>
          </p:nvSpPr>
          <p:spPr>
            <a:xfrm>
              <a:off x="8572500" y="1047750"/>
              <a:ext cx="2686050" cy="762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974226" y="1345882"/>
              <a:ext cx="188259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出发，自己闯关！</a:t>
              </a:r>
              <a:endParaRPr lang="zh-CN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23900" y="5505450"/>
            <a:ext cx="8001000" cy="685800"/>
            <a:chOff x="723900" y="5505450"/>
            <a:chExt cx="8001000" cy="685800"/>
          </a:xfrm>
        </p:grpSpPr>
        <p:sp>
          <p:nvSpPr>
            <p:cNvPr id="20" name="Rectangle 20"/>
            <p:cNvSpPr/>
            <p:nvPr/>
          </p:nvSpPr>
          <p:spPr>
            <a:xfrm>
              <a:off x="723900" y="5505450"/>
              <a:ext cx="8001000" cy="685800"/>
            </a:xfrm>
            <a:prstGeom prst="roundRect">
              <a:avLst>
                <a:gd name="adj" fmla="val 3611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622554" y="5749290"/>
              <a:ext cx="42036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读题 → 设计输出 → 写代码 → 运行检查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10"/>
          <p:cNvGrpSpPr/>
          <p:nvPr/>
        </p:nvGrpSpPr>
        <p:grpSpPr>
          <a:xfrm>
            <a:off x="526070" y="375022"/>
            <a:ext cx="5317327" cy="657107"/>
            <a:chOff x="526070" y="375022"/>
            <a:chExt cx="5317327" cy="657107"/>
          </a:xfrm>
        </p:grpSpPr>
        <p:grpSp>
          <p:nvGrpSpPr>
            <p:cNvPr id="8" name="Group 8"/>
            <p:cNvGrpSpPr/>
            <p:nvPr/>
          </p:nvGrpSpPr>
          <p:grpSpPr>
            <a:xfrm>
              <a:off x="526070" y="375022"/>
              <a:ext cx="383568" cy="344538"/>
              <a:chOff x="526070" y="375022"/>
              <a:chExt cx="383568" cy="344538"/>
            </a:xfrm>
          </p:grpSpPr>
          <p:sp>
            <p:nvSpPr>
              <p:cNvPr id="2" name="Freeform 2"/>
              <p:cNvSpPr/>
              <p:nvPr/>
            </p:nvSpPr>
            <p:spPr>
              <a:xfrm>
                <a:off x="526070" y="37502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3" name="Freeform 3"/>
              <p:cNvSpPr/>
              <p:nvPr/>
            </p:nvSpPr>
            <p:spPr>
              <a:xfrm>
                <a:off x="526070" y="498847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4" name="Freeform 4"/>
              <p:cNvSpPr/>
              <p:nvPr/>
            </p:nvSpPr>
            <p:spPr>
              <a:xfrm>
                <a:off x="526070" y="622672"/>
                <a:ext cx="127609" cy="96888"/>
              </a:xfrm>
              <a:custGeom>
                <a:avLst/>
                <a:gdLst/>
                <a:ahLst/>
                <a:cxnLst/>
                <a:rect l="l" t="t" r="r" b="b"/>
                <a:pathLst>
                  <a:path w="127609" h="96888">
                    <a:moveTo>
                      <a:pt x="119553" y="8057"/>
                    </a:moveTo>
                    <a:cubicBezTo>
                      <a:pt x="127609" y="16115"/>
                      <a:pt x="127609" y="29179"/>
                      <a:pt x="119553" y="37238"/>
                    </a:cubicBezTo>
                    <a:lnTo>
                      <a:pt x="67959" y="88832"/>
                    </a:lnTo>
                    <a:cubicBezTo>
                      <a:pt x="59900" y="96888"/>
                      <a:pt x="46836" y="96888"/>
                      <a:pt x="38777" y="88832"/>
                    </a:cubicBezTo>
                    <a:lnTo>
                      <a:pt x="7821" y="57876"/>
                    </a:lnTo>
                    <a:cubicBezTo>
                      <a:pt x="0" y="49778"/>
                      <a:pt x="112" y="36906"/>
                      <a:pt x="8072" y="28945"/>
                    </a:cubicBezTo>
                    <a:cubicBezTo>
                      <a:pt x="16033" y="20985"/>
                      <a:pt x="28905" y="20873"/>
                      <a:pt x="37003" y="28694"/>
                    </a:cubicBezTo>
                    <a:lnTo>
                      <a:pt x="53368" y="45060"/>
                    </a:lnTo>
                    <a:lnTo>
                      <a:pt x="90371" y="8057"/>
                    </a:lnTo>
                    <a:cubicBezTo>
                      <a:pt x="98430" y="0"/>
                      <a:pt x="111494" y="0"/>
                      <a:pt x="119553" y="8057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5" name="Freeform 5"/>
              <p:cNvSpPr/>
              <p:nvPr/>
            </p:nvSpPr>
            <p:spPr>
              <a:xfrm>
                <a:off x="682625" y="40798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" name="Freeform 6"/>
              <p:cNvSpPr/>
              <p:nvPr/>
            </p:nvSpPr>
            <p:spPr>
              <a:xfrm>
                <a:off x="682625" y="531813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682625" y="655638"/>
                <a:ext cx="227013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227013" h="41275">
                    <a:moveTo>
                      <a:pt x="227013" y="20638"/>
                    </a:moveTo>
                    <a:cubicBezTo>
                      <a:pt x="227013" y="32035"/>
                      <a:pt x="217773" y="41275"/>
                      <a:pt x="206375" y="41275"/>
                    </a:cubicBezTo>
                    <a:lnTo>
                      <a:pt x="20638" y="41275"/>
                    </a:lnTo>
                    <a:cubicBezTo>
                      <a:pt x="9240" y="41275"/>
                      <a:pt x="0" y="32035"/>
                      <a:pt x="0" y="20638"/>
                    </a:cubicBezTo>
                    <a:cubicBezTo>
                      <a:pt x="0" y="9240"/>
                      <a:pt x="9240" y="0"/>
                      <a:pt x="20638" y="0"/>
                    </a:cubicBezTo>
                    <a:lnTo>
                      <a:pt x="206375" y="0"/>
                    </a:lnTo>
                    <a:cubicBezTo>
                      <a:pt x="217773" y="0"/>
                      <a:pt x="227013" y="9240"/>
                      <a:pt x="227013" y="20638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  <p:sp>
          <p:nvSpPr>
            <p:cNvPr id="9" name="TextBox 9"/>
            <p:cNvSpPr txBox="1"/>
            <p:nvPr/>
          </p:nvSpPr>
          <p:spPr>
            <a:xfrm>
              <a:off x="1145286" y="386715"/>
              <a:ext cx="469811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综合精练 · 8 道编程题</a:t>
              </a:r>
              <a:endParaRPr lang="zh-CN" sz="330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6250" y="1219200"/>
            <a:ext cx="7239000" cy="5105400"/>
            <a:chOff x="476250" y="1219200"/>
            <a:chExt cx="7239000" cy="5105400"/>
          </a:xfrm>
        </p:grpSpPr>
        <p:sp>
          <p:nvSpPr>
            <p:cNvPr id="11" name="Rectangle 11"/>
            <p:cNvSpPr/>
            <p:nvPr/>
          </p:nvSpPr>
          <p:spPr>
            <a:xfrm>
              <a:off x="476250" y="1219200"/>
              <a:ext cx="7239000" cy="5105400"/>
            </a:xfrm>
            <a:prstGeom prst="roundRect">
              <a:avLst>
                <a:gd name="adj" fmla="val 746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29056" y="1520190"/>
              <a:ext cx="397470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按“文字 → 数字 → 图案 → 综合”闯关</a:t>
              </a:r>
              <a:endParaRPr lang="zh-CN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38200" y="20383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59180" y="2314575"/>
              <a:ext cx="20634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N3113　废话上代码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057650" y="20383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278630" y="2314575"/>
              <a:ext cx="22768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N6648　输出英文单词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8200" y="29146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5918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N6685　输出偶数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057650" y="29146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278630" y="31908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C5000　自我介绍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838200" y="37909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59180" y="40671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C5003　输出菱形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057650" y="37909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278630" y="4067175"/>
              <a:ext cx="14660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Q3008　雪花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667250"/>
              <a:ext cx="300990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9180" y="4943475"/>
              <a:ext cx="16794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Q3006　长方形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057650" y="4667250"/>
              <a:ext cx="3257550" cy="723900"/>
            </a:xfrm>
            <a:prstGeom prst="roundRect">
              <a:avLst>
                <a:gd name="adj" fmla="val 3157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278630" y="4943475"/>
              <a:ext cx="18501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□ N6691　背诵诗词</a:t>
              </a:r>
              <a:endParaRPr lang="zh-CN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30580" y="5724525"/>
              <a:ext cx="32910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每题：读题 → 写代码 → 运行 → 找错</a:t>
              </a:r>
              <a:endParaRPr lang="zh-CN" sz="15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096250" y="1219200"/>
            <a:ext cx="3619500" cy="5105400"/>
            <a:chOff x="8096250" y="1219200"/>
            <a:chExt cx="3619500" cy="5105400"/>
          </a:xfrm>
        </p:grpSpPr>
        <p:sp>
          <p:nvSpPr>
            <p:cNvPr id="31" name="Rectangle 31"/>
            <p:cNvSpPr/>
            <p:nvPr/>
          </p:nvSpPr>
          <p:spPr>
            <a:xfrm>
              <a:off x="8096250" y="1219200"/>
              <a:ext cx="3619500" cy="5105400"/>
            </a:xfrm>
            <a:prstGeom prst="roundRect">
              <a:avLst>
                <a:gd name="adj" fmla="val 10526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466582" y="1525905"/>
              <a:ext cx="18023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家长怎么陪？</a:t>
              </a:r>
              <a:endParaRPr lang="zh-CN" sz="21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477250" y="21336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754618" y="2355532"/>
              <a:ext cx="17776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　只问检查问题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756142" y="27308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不直接报答案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477250" y="33528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754618" y="3574732"/>
              <a:ext cx="22441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　让孩子口述五要素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56142" y="395001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说比喻，也说技术作用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477250" y="4572000"/>
              <a:ext cx="2857500" cy="990600"/>
            </a:xfrm>
            <a:prstGeom prst="roundRect">
              <a:avLst>
                <a:gd name="adj" fmla="val 26923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754618" y="4793932"/>
              <a:ext cx="15444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　完成后勾选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56142" y="516921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说出遇到的错误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693202" y="5750753"/>
              <a:ext cx="368264" cy="350983"/>
            </a:xfrm>
            <a:custGeom>
              <a:avLst/>
              <a:gdLst/>
              <a:ahLst/>
              <a:cxnLst/>
              <a:rect l="l" t="t" r="r" b="b"/>
              <a:pathLst>
                <a:path w="368264" h="350983">
                  <a:moveTo>
                    <a:pt x="121599" y="105646"/>
                  </a:moveTo>
                  <a:lnTo>
                    <a:pt x="15252" y="121065"/>
                  </a:lnTo>
                  <a:lnTo>
                    <a:pt x="13369" y="121448"/>
                  </a:lnTo>
                  <a:cubicBezTo>
                    <a:pt x="7564" y="122989"/>
                    <a:pt x="3037" y="127534"/>
                    <a:pt x="1518" y="133345"/>
                  </a:cubicBezTo>
                  <a:cubicBezTo>
                    <a:pt x="0" y="139156"/>
                    <a:pt x="1725" y="145334"/>
                    <a:pt x="6035" y="149518"/>
                  </a:cubicBezTo>
                  <a:lnTo>
                    <a:pt x="83077" y="224511"/>
                  </a:lnTo>
                  <a:lnTo>
                    <a:pt x="64909" y="330441"/>
                  </a:lnTo>
                  <a:lnTo>
                    <a:pt x="64692" y="332274"/>
                  </a:lnTo>
                  <a:cubicBezTo>
                    <a:pt x="64336" y="338279"/>
                    <a:pt x="67243" y="344009"/>
                    <a:pt x="72298" y="347268"/>
                  </a:cubicBezTo>
                  <a:cubicBezTo>
                    <a:pt x="77353" y="350528"/>
                    <a:pt x="83772" y="350811"/>
                    <a:pt x="89095" y="348010"/>
                  </a:cubicBezTo>
                  <a:lnTo>
                    <a:pt x="184207" y="298003"/>
                  </a:lnTo>
                  <a:lnTo>
                    <a:pt x="279102" y="348010"/>
                  </a:lnTo>
                  <a:lnTo>
                    <a:pt x="280769" y="348776"/>
                  </a:lnTo>
                  <a:cubicBezTo>
                    <a:pt x="286371" y="350983"/>
                    <a:pt x="292727" y="349997"/>
                    <a:pt x="297397" y="346197"/>
                  </a:cubicBezTo>
                  <a:cubicBezTo>
                    <a:pt x="302068" y="342397"/>
                    <a:pt x="304326" y="336374"/>
                    <a:pt x="303305" y="330441"/>
                  </a:cubicBezTo>
                  <a:lnTo>
                    <a:pt x="285119" y="224511"/>
                  </a:lnTo>
                  <a:lnTo>
                    <a:pt x="362196" y="149502"/>
                  </a:lnTo>
                  <a:lnTo>
                    <a:pt x="363496" y="148085"/>
                  </a:lnTo>
                  <a:cubicBezTo>
                    <a:pt x="367277" y="143428"/>
                    <a:pt x="368264" y="137099"/>
                    <a:pt x="366081" y="131511"/>
                  </a:cubicBezTo>
                  <a:cubicBezTo>
                    <a:pt x="363898" y="125924"/>
                    <a:pt x="358881" y="121941"/>
                    <a:pt x="352945" y="121081"/>
                  </a:cubicBezTo>
                  <a:lnTo>
                    <a:pt x="246598" y="105646"/>
                  </a:lnTo>
                  <a:lnTo>
                    <a:pt x="199059" y="9301"/>
                  </a:lnTo>
                  <a:cubicBezTo>
                    <a:pt x="196252" y="3606"/>
                    <a:pt x="190455" y="0"/>
                    <a:pt x="184107" y="0"/>
                  </a:cubicBezTo>
                  <a:cubicBezTo>
                    <a:pt x="177758" y="0"/>
                    <a:pt x="171961" y="3606"/>
                    <a:pt x="169155" y="9301"/>
                  </a:cubicBezTo>
                  <a:lnTo>
                    <a:pt x="121599" y="105646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09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5" name="Group 5"/>
          <p:cNvGrpSpPr/>
          <p:nvPr/>
        </p:nvGrpSpPr>
        <p:grpSpPr>
          <a:xfrm>
            <a:off x="495300" y="597218"/>
            <a:ext cx="3887838" cy="1192911"/>
            <a:chOff x="495300" y="597218"/>
            <a:chExt cx="3887838" cy="1192911"/>
          </a:xfrm>
        </p:grpSpPr>
        <p:sp>
          <p:nvSpPr>
            <p:cNvPr id="3" name="TextBox 3"/>
            <p:cNvSpPr txBox="1"/>
            <p:nvPr/>
          </p:nvSpPr>
          <p:spPr>
            <a:xfrm>
              <a:off x="495300" y="597218"/>
              <a:ext cx="3727361" cy="8477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3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下节课再见！</a:t>
              </a:r>
              <a:endParaRPr lang="zh-CN" sz="4350" b="1" dirty="0">
                <a:solidFill>
                  <a:schemeClr val="dk1"/>
                </a:solidFill>
                <a:latin typeface="+mj-lt"/>
                <a:ea typeface="+mj-ea"/>
                <a:cs typeface="+mj-cs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04444" y="1408748"/>
              <a:ext cx="387869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今天，你已经能让电脑开口了。</a:t>
              </a:r>
              <a:endParaRPr lang="zh-CN" sz="19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514350" y="2343150"/>
            <a:ext cx="6629400" cy="1847850"/>
            <a:chOff x="514350" y="2343150"/>
            <a:chExt cx="6629400" cy="1847850"/>
          </a:xfrm>
        </p:grpSpPr>
        <p:sp>
          <p:nvSpPr>
            <p:cNvPr id="6" name="Rectangle 6"/>
            <p:cNvSpPr/>
            <p:nvPr/>
          </p:nvSpPr>
          <p:spPr>
            <a:xfrm>
              <a:off x="514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55657" y="2684461"/>
              <a:ext cx="366031" cy="365133"/>
            </a:xfrm>
            <a:custGeom>
              <a:avLst/>
              <a:gdLst/>
              <a:ahLst/>
              <a:cxnLst/>
              <a:rect l="l" t="t" r="r" b="b"/>
              <a:pathLst>
                <a:path w="366031" h="365133">
                  <a:moveTo>
                    <a:pt x="146056" y="2"/>
                  </a:moveTo>
                  <a:cubicBezTo>
                    <a:pt x="175057" y="0"/>
                    <a:pt x="199032" y="22606"/>
                    <a:pt x="200734" y="51557"/>
                  </a:cubicBezTo>
                  <a:lnTo>
                    <a:pt x="200825" y="54770"/>
                  </a:lnTo>
                  <a:lnTo>
                    <a:pt x="200825" y="73027"/>
                  </a:lnTo>
                  <a:lnTo>
                    <a:pt x="255594" y="73027"/>
                  </a:lnTo>
                  <a:cubicBezTo>
                    <a:pt x="274701" y="73021"/>
                    <a:pt x="290582" y="87747"/>
                    <a:pt x="292015" y="106801"/>
                  </a:cubicBezTo>
                  <a:lnTo>
                    <a:pt x="292107" y="109539"/>
                  </a:lnTo>
                  <a:lnTo>
                    <a:pt x="292107" y="164308"/>
                  </a:lnTo>
                  <a:lnTo>
                    <a:pt x="310363" y="164308"/>
                  </a:lnTo>
                  <a:cubicBezTo>
                    <a:pt x="340005" y="164280"/>
                    <a:pt x="364291" y="187840"/>
                    <a:pt x="365161" y="217470"/>
                  </a:cubicBezTo>
                  <a:cubicBezTo>
                    <a:pt x="366031" y="247100"/>
                    <a:pt x="343169" y="272044"/>
                    <a:pt x="313576" y="273755"/>
                  </a:cubicBezTo>
                  <a:lnTo>
                    <a:pt x="310363" y="273846"/>
                  </a:lnTo>
                  <a:lnTo>
                    <a:pt x="292107" y="273846"/>
                  </a:lnTo>
                  <a:lnTo>
                    <a:pt x="292107" y="328615"/>
                  </a:lnTo>
                  <a:cubicBezTo>
                    <a:pt x="292113" y="347722"/>
                    <a:pt x="277386" y="363603"/>
                    <a:pt x="258332" y="365036"/>
                  </a:cubicBezTo>
                  <a:lnTo>
                    <a:pt x="255594" y="365127"/>
                  </a:lnTo>
                  <a:lnTo>
                    <a:pt x="200825" y="365127"/>
                  </a:lnTo>
                  <a:cubicBezTo>
                    <a:pt x="181718" y="365133"/>
                    <a:pt x="165837" y="350407"/>
                    <a:pt x="164404" y="331353"/>
                  </a:cubicBezTo>
                  <a:lnTo>
                    <a:pt x="164313" y="328615"/>
                  </a:lnTo>
                  <a:lnTo>
                    <a:pt x="164313" y="310358"/>
                  </a:lnTo>
                  <a:cubicBezTo>
                    <a:pt x="164302" y="300699"/>
                    <a:pt x="156769" y="292720"/>
                    <a:pt x="147126" y="292154"/>
                  </a:cubicBezTo>
                  <a:cubicBezTo>
                    <a:pt x="137484" y="291588"/>
                    <a:pt x="129069" y="298631"/>
                    <a:pt x="127928" y="308222"/>
                  </a:cubicBezTo>
                  <a:lnTo>
                    <a:pt x="127800" y="310358"/>
                  </a:lnTo>
                  <a:lnTo>
                    <a:pt x="127800" y="328615"/>
                  </a:lnTo>
                  <a:cubicBezTo>
                    <a:pt x="127806" y="347722"/>
                    <a:pt x="113080" y="363603"/>
                    <a:pt x="94026" y="365036"/>
                  </a:cubicBezTo>
                  <a:lnTo>
                    <a:pt x="91287" y="365127"/>
                  </a:lnTo>
                  <a:lnTo>
                    <a:pt x="36519" y="365127"/>
                  </a:lnTo>
                  <a:cubicBezTo>
                    <a:pt x="17411" y="365133"/>
                    <a:pt x="1530" y="350407"/>
                    <a:pt x="97" y="331353"/>
                  </a:cubicBezTo>
                  <a:lnTo>
                    <a:pt x="6" y="328615"/>
                  </a:lnTo>
                  <a:lnTo>
                    <a:pt x="6" y="273846"/>
                  </a:lnTo>
                  <a:cubicBezTo>
                    <a:pt x="0" y="254738"/>
                    <a:pt x="14727" y="238858"/>
                    <a:pt x="33780" y="237425"/>
                  </a:cubicBezTo>
                  <a:lnTo>
                    <a:pt x="36519" y="237333"/>
                  </a:lnTo>
                  <a:lnTo>
                    <a:pt x="54775" y="237333"/>
                  </a:lnTo>
                  <a:cubicBezTo>
                    <a:pt x="64434" y="237323"/>
                    <a:pt x="72413" y="229790"/>
                    <a:pt x="72980" y="220147"/>
                  </a:cubicBezTo>
                  <a:cubicBezTo>
                    <a:pt x="73546" y="210504"/>
                    <a:pt x="66503" y="202089"/>
                    <a:pt x="56911" y="200949"/>
                  </a:cubicBezTo>
                  <a:lnTo>
                    <a:pt x="54775" y="200821"/>
                  </a:lnTo>
                  <a:lnTo>
                    <a:pt x="36519" y="200821"/>
                  </a:lnTo>
                  <a:cubicBezTo>
                    <a:pt x="17411" y="200827"/>
                    <a:pt x="1530" y="186100"/>
                    <a:pt x="97" y="167047"/>
                  </a:cubicBezTo>
                  <a:lnTo>
                    <a:pt x="6" y="164308"/>
                  </a:lnTo>
                  <a:lnTo>
                    <a:pt x="6" y="109539"/>
                  </a:lnTo>
                  <a:cubicBezTo>
                    <a:pt x="0" y="90432"/>
                    <a:pt x="14727" y="74551"/>
                    <a:pt x="33780" y="73118"/>
                  </a:cubicBezTo>
                  <a:lnTo>
                    <a:pt x="36519" y="73027"/>
                  </a:lnTo>
                  <a:lnTo>
                    <a:pt x="91287" y="73027"/>
                  </a:lnTo>
                  <a:lnTo>
                    <a:pt x="91287" y="54770"/>
                  </a:lnTo>
                  <a:cubicBezTo>
                    <a:pt x="91287" y="24522"/>
                    <a:pt x="115808" y="2"/>
                    <a:pt x="146056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0768" y="3174682"/>
              <a:ext cx="14161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会解释五要素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2292" y="35690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比喻 + 技术作用</a:t>
              </a:r>
              <a:endParaRPr lang="zh-CN" sz="13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800350" y="25717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178175" y="2913063"/>
              <a:ext cx="292101" cy="365126"/>
            </a:xfrm>
            <a:custGeom>
              <a:avLst/>
              <a:gdLst/>
              <a:ahLst/>
              <a:cxnLst/>
              <a:rect l="l" t="t" r="r" b="b"/>
              <a:pathLst>
                <a:path w="292101" h="365126">
                  <a:moveTo>
                    <a:pt x="237332" y="0"/>
                  </a:moveTo>
                  <a:cubicBezTo>
                    <a:pt x="267580" y="0"/>
                    <a:pt x="292101" y="24521"/>
                    <a:pt x="292101" y="54769"/>
                  </a:cubicBezTo>
                  <a:lnTo>
                    <a:pt x="292101" y="310357"/>
                  </a:lnTo>
                  <a:cubicBezTo>
                    <a:pt x="292101" y="340605"/>
                    <a:pt x="267580" y="365126"/>
                    <a:pt x="237332" y="365126"/>
                  </a:cubicBezTo>
                  <a:lnTo>
                    <a:pt x="54769" y="365126"/>
                  </a:lnTo>
                  <a:cubicBezTo>
                    <a:pt x="24521" y="365126"/>
                    <a:pt x="0" y="340605"/>
                    <a:pt x="0" y="310357"/>
                  </a:cubicBezTo>
                  <a:lnTo>
                    <a:pt x="0" y="54769"/>
                  </a:lnTo>
                  <a:cubicBezTo>
                    <a:pt x="0" y="24521"/>
                    <a:pt x="24521" y="0"/>
                    <a:pt x="54769" y="0"/>
                  </a:cubicBezTo>
                  <a:close/>
                  <a:moveTo>
                    <a:pt x="146050" y="164307"/>
                  </a:moveTo>
                  <a:cubicBezTo>
                    <a:pt x="107139" y="164307"/>
                    <a:pt x="75062" y="194818"/>
                    <a:pt x="73116" y="233680"/>
                  </a:cubicBezTo>
                  <a:lnTo>
                    <a:pt x="73025" y="237332"/>
                  </a:lnTo>
                  <a:cubicBezTo>
                    <a:pt x="73025" y="277662"/>
                    <a:pt x="105720" y="310357"/>
                    <a:pt x="146050" y="310357"/>
                  </a:cubicBezTo>
                  <a:cubicBezTo>
                    <a:pt x="186381" y="310357"/>
                    <a:pt x="219075" y="277662"/>
                    <a:pt x="219075" y="237332"/>
                  </a:cubicBezTo>
                  <a:cubicBezTo>
                    <a:pt x="219075" y="197001"/>
                    <a:pt x="186381" y="164307"/>
                    <a:pt x="146050" y="164307"/>
                  </a:cubicBezTo>
                  <a:moveTo>
                    <a:pt x="146050" y="73025"/>
                  </a:moveTo>
                  <a:cubicBezTo>
                    <a:pt x="135968" y="73025"/>
                    <a:pt x="127794" y="81199"/>
                    <a:pt x="127794" y="91281"/>
                  </a:cubicBezTo>
                  <a:lnTo>
                    <a:pt x="127794" y="91464"/>
                  </a:lnTo>
                  <a:cubicBezTo>
                    <a:pt x="127794" y="101547"/>
                    <a:pt x="135968" y="109720"/>
                    <a:pt x="146050" y="109720"/>
                  </a:cubicBezTo>
                  <a:cubicBezTo>
                    <a:pt x="156133" y="109720"/>
                    <a:pt x="164307" y="101547"/>
                    <a:pt x="164307" y="91464"/>
                  </a:cubicBezTo>
                  <a:lnTo>
                    <a:pt x="164307" y="91281"/>
                  </a:lnTo>
                  <a:cubicBezTo>
                    <a:pt x="164307" y="81199"/>
                    <a:pt x="156133" y="73025"/>
                    <a:pt x="146050" y="730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096768" y="3403282"/>
              <a:ext cx="10662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会写 cout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98292" y="37976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文字 + 计算结果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086350" y="2343150"/>
              <a:ext cx="2057400" cy="1619250"/>
            </a:xfrm>
            <a:prstGeom prst="roundRect">
              <a:avLst>
                <a:gd name="adj" fmla="val 20000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5408456" y="2666243"/>
              <a:ext cx="403338" cy="384411"/>
            </a:xfrm>
            <a:custGeom>
              <a:avLst/>
              <a:gdLst/>
              <a:ahLst/>
              <a:cxnLst/>
              <a:rect l="l" t="t" r="r" b="b"/>
              <a:pathLst>
                <a:path w="403338" h="384411">
                  <a:moveTo>
                    <a:pt x="133180" y="115708"/>
                  </a:moveTo>
                  <a:lnTo>
                    <a:pt x="16705" y="132595"/>
                  </a:lnTo>
                  <a:lnTo>
                    <a:pt x="14642" y="133015"/>
                  </a:lnTo>
                  <a:cubicBezTo>
                    <a:pt x="8284" y="134703"/>
                    <a:pt x="3326" y="139680"/>
                    <a:pt x="1663" y="146045"/>
                  </a:cubicBezTo>
                  <a:cubicBezTo>
                    <a:pt x="0" y="152409"/>
                    <a:pt x="1890" y="159176"/>
                    <a:pt x="6609" y="163758"/>
                  </a:cubicBezTo>
                  <a:lnTo>
                    <a:pt x="90990" y="245893"/>
                  </a:lnTo>
                  <a:lnTo>
                    <a:pt x="71090" y="361912"/>
                  </a:lnTo>
                  <a:lnTo>
                    <a:pt x="70853" y="363920"/>
                  </a:lnTo>
                  <a:cubicBezTo>
                    <a:pt x="70464" y="370496"/>
                    <a:pt x="73648" y="376772"/>
                    <a:pt x="79184" y="380342"/>
                  </a:cubicBezTo>
                  <a:cubicBezTo>
                    <a:pt x="84721" y="383912"/>
                    <a:pt x="91751" y="384222"/>
                    <a:pt x="97580" y="381154"/>
                  </a:cubicBezTo>
                  <a:lnTo>
                    <a:pt x="201751" y="326385"/>
                  </a:lnTo>
                  <a:lnTo>
                    <a:pt x="305684" y="381154"/>
                  </a:lnTo>
                  <a:lnTo>
                    <a:pt x="307509" y="381994"/>
                  </a:lnTo>
                  <a:cubicBezTo>
                    <a:pt x="313645" y="384411"/>
                    <a:pt x="320607" y="383331"/>
                    <a:pt x="325722" y="379169"/>
                  </a:cubicBezTo>
                  <a:cubicBezTo>
                    <a:pt x="330837" y="375007"/>
                    <a:pt x="333310" y="368411"/>
                    <a:pt x="332192" y="361912"/>
                  </a:cubicBezTo>
                  <a:lnTo>
                    <a:pt x="312274" y="245893"/>
                  </a:lnTo>
                  <a:lnTo>
                    <a:pt x="396691" y="163740"/>
                  </a:lnTo>
                  <a:lnTo>
                    <a:pt x="398115" y="162188"/>
                  </a:lnTo>
                  <a:cubicBezTo>
                    <a:pt x="402256" y="157088"/>
                    <a:pt x="403338" y="150156"/>
                    <a:pt x="400947" y="144037"/>
                  </a:cubicBezTo>
                  <a:cubicBezTo>
                    <a:pt x="398556" y="137917"/>
                    <a:pt x="393061" y="133555"/>
                    <a:pt x="386559" y="132613"/>
                  </a:cubicBezTo>
                  <a:lnTo>
                    <a:pt x="270084" y="115708"/>
                  </a:lnTo>
                  <a:lnTo>
                    <a:pt x="218017" y="10186"/>
                  </a:lnTo>
                  <a:cubicBezTo>
                    <a:pt x="214944" y="3950"/>
                    <a:pt x="208594" y="0"/>
                    <a:pt x="201641" y="0"/>
                  </a:cubicBezTo>
                  <a:cubicBezTo>
                    <a:pt x="194688" y="0"/>
                    <a:pt x="188339" y="3950"/>
                    <a:pt x="185265" y="10186"/>
                  </a:cubicBezTo>
                  <a:lnTo>
                    <a:pt x="133180" y="11570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382768" y="3174682"/>
              <a:ext cx="11829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会输出图案</a:t>
              </a:r>
              <a:endParaRPr lang="zh-CN" sz="165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4292" y="3569018"/>
              <a:ext cx="1522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DF5"/>
                  </a:solidFill>
                  <a:latin typeface="+mn-lt"/>
                  <a:ea typeface="+mn-ea"/>
                  <a:cs typeface="+mn-cs"/>
                </a:rPr>
                <a:t>星号 + 空格 + 换行</a:t>
              </a:r>
              <a:endParaRPr lang="zh-CN" sz="1350" dirty="0">
                <a:solidFill>
                  <a:srgbClr val="FFFDF5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14350" y="5048250"/>
            <a:ext cx="7239000" cy="1181100"/>
            <a:chOff x="514350" y="5048250"/>
            <a:chExt cx="7239000" cy="1181100"/>
          </a:xfrm>
        </p:grpSpPr>
        <p:sp>
          <p:nvSpPr>
            <p:cNvPr id="19" name="Rectangle 19"/>
            <p:cNvSpPr/>
            <p:nvPr/>
          </p:nvSpPr>
          <p:spPr>
            <a:xfrm>
              <a:off x="514350" y="5048250"/>
              <a:ext cx="7239000" cy="1181100"/>
            </a:xfrm>
            <a:prstGeom prst="roundRect">
              <a:avLst>
                <a:gd name="adj" fmla="val 27419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31780" y="5427395"/>
              <a:ext cx="393840" cy="382855"/>
            </a:xfrm>
            <a:custGeom>
              <a:avLst/>
              <a:gdLst/>
              <a:ahLst/>
              <a:cxnLst/>
              <a:rect l="l" t="t" r="r" b="b"/>
              <a:pathLst>
                <a:path w="393840" h="382855">
                  <a:moveTo>
                    <a:pt x="210388" y="7437"/>
                  </a:moveTo>
                  <a:lnTo>
                    <a:pt x="381838" y="178887"/>
                  </a:lnTo>
                  <a:cubicBezTo>
                    <a:pt x="393840" y="190888"/>
                    <a:pt x="385343" y="211405"/>
                    <a:pt x="368370" y="211405"/>
                  </a:cubicBezTo>
                  <a:lnTo>
                    <a:pt x="349320" y="211405"/>
                  </a:lnTo>
                  <a:lnTo>
                    <a:pt x="349320" y="325705"/>
                  </a:lnTo>
                  <a:cubicBezTo>
                    <a:pt x="349320" y="357268"/>
                    <a:pt x="323733" y="382855"/>
                    <a:pt x="292170" y="382855"/>
                  </a:cubicBezTo>
                  <a:lnTo>
                    <a:pt x="273120" y="382855"/>
                  </a:lnTo>
                  <a:lnTo>
                    <a:pt x="273120" y="249505"/>
                  </a:lnTo>
                  <a:cubicBezTo>
                    <a:pt x="273122" y="219243"/>
                    <a:pt x="249533" y="194226"/>
                    <a:pt x="219323" y="192450"/>
                  </a:cubicBezTo>
                  <a:lnTo>
                    <a:pt x="215970" y="192355"/>
                  </a:lnTo>
                  <a:lnTo>
                    <a:pt x="177870" y="192355"/>
                  </a:lnTo>
                  <a:cubicBezTo>
                    <a:pt x="146307" y="192355"/>
                    <a:pt x="120720" y="217942"/>
                    <a:pt x="120720" y="249505"/>
                  </a:cubicBezTo>
                  <a:lnTo>
                    <a:pt x="120720" y="382855"/>
                  </a:lnTo>
                  <a:lnTo>
                    <a:pt x="101670" y="382855"/>
                  </a:lnTo>
                  <a:cubicBezTo>
                    <a:pt x="70107" y="382855"/>
                    <a:pt x="44520" y="357268"/>
                    <a:pt x="44520" y="325705"/>
                  </a:cubicBezTo>
                  <a:lnTo>
                    <a:pt x="44520" y="211405"/>
                  </a:lnTo>
                  <a:lnTo>
                    <a:pt x="25470" y="211405"/>
                  </a:lnTo>
                  <a:cubicBezTo>
                    <a:pt x="8515" y="211405"/>
                    <a:pt x="0" y="190888"/>
                    <a:pt x="12002" y="178887"/>
                  </a:cubicBezTo>
                  <a:lnTo>
                    <a:pt x="183452" y="7437"/>
                  </a:lnTo>
                  <a:cubicBezTo>
                    <a:pt x="190891" y="0"/>
                    <a:pt x="202949" y="0"/>
                    <a:pt x="210388" y="7437"/>
                  </a:cubicBezTo>
                  <a:moveTo>
                    <a:pt x="215970" y="230455"/>
                  </a:moveTo>
                  <a:cubicBezTo>
                    <a:pt x="226491" y="230455"/>
                    <a:pt x="235020" y="238984"/>
                    <a:pt x="235020" y="249505"/>
                  </a:cubicBezTo>
                  <a:lnTo>
                    <a:pt x="235020" y="382855"/>
                  </a:lnTo>
                  <a:lnTo>
                    <a:pt x="158820" y="382855"/>
                  </a:lnTo>
                  <a:lnTo>
                    <a:pt x="158820" y="249505"/>
                  </a:lnTo>
                  <a:cubicBezTo>
                    <a:pt x="158821" y="239847"/>
                    <a:pt x="166049" y="231718"/>
                    <a:pt x="175641" y="230588"/>
                  </a:cubicBezTo>
                  <a:lnTo>
                    <a:pt x="177870" y="230455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57706" y="529209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今晚行动</a:t>
              </a:r>
              <a:endParaRPr lang="zh-CN" sz="180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458468" y="5727382"/>
              <a:ext cx="401833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EAF5FF"/>
                  </a:solidFill>
                  <a:latin typeface="+mn-lt"/>
                  <a:ea typeface="+mn-ea"/>
                  <a:cs typeface="+mn-cs"/>
                </a:rPr>
                <a:t>完成 N3113，并向家长讲一遍五要素。</a:t>
              </a:r>
              <a:endParaRPr lang="zh-CN" sz="1650" dirty="0">
                <a:solidFill>
                  <a:srgbClr val="EAF5FF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91450" y="685800"/>
            <a:ext cx="3429000" cy="4868039"/>
            <a:chOff x="7791450" y="685800"/>
            <a:chExt cx="3429000" cy="4868039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286750" y="1818511"/>
              <a:ext cx="2857500" cy="3735328"/>
            </a:xfrm>
            <a:prstGeom prst="rect">
              <a:avLst/>
            </a:prstGeom>
          </p:spPr>
        </p:pic>
        <p:sp>
          <p:nvSpPr>
            <p:cNvPr id="25" name="Rectangle 25"/>
            <p:cNvSpPr/>
            <p:nvPr/>
          </p:nvSpPr>
          <p:spPr>
            <a:xfrm>
              <a:off x="7791450" y="685800"/>
              <a:ext cx="3429000" cy="952500"/>
            </a:xfrm>
            <a:prstGeom prst="roundRect">
              <a:avLst>
                <a:gd name="adj" fmla="val 32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681266" y="9267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编程像搭积木，</a:t>
              </a:r>
              <a:endParaRPr lang="zh-CN" sz="16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609076" y="12506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下一块等你来拼！</a:t>
              </a:r>
              <a:endParaRPr lang="zh-CN" sz="1650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ree Design">
  <a:themeElements>
    <a:clrScheme name="Free Design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Free Design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ee Design">
  <a:themeElements>
    <a:clrScheme name="Free Design">
      <a:dk1>
        <a:srgbClr val="203044"/>
      </a:dk1>
      <a:lt1>
        <a:srgbClr val="FFFDF5"/>
      </a:lt1>
      <a:dk2>
        <a:srgbClr val="1F497D"/>
      </a:dk2>
      <a:lt2>
        <a:srgbClr val="EAF5FF"/>
      </a:lt2>
      <a:accent1>
        <a:srgbClr val="2E9BFF"/>
      </a:accent1>
      <a:accent2>
        <a:srgbClr val="FF9F1C"/>
      </a:accent2>
      <a:accent3>
        <a:srgbClr val="FF6FA5"/>
      </a:accent3>
      <a:accent4>
        <a:srgbClr val="2E9BFF"/>
      </a:accent4>
      <a:accent5>
        <a:srgbClr val="17243A"/>
      </a:accent5>
      <a:accent6>
        <a:srgbClr val="CFE5F8"/>
      </a:accent6>
      <a:hlink>
        <a:srgbClr val="FF9F1C"/>
      </a:hlink>
      <a:folHlink>
        <a:srgbClr val="FF6FA5"/>
      </a:folHlink>
    </a:clrScheme>
    <a:fontScheme name="Free Design">
      <a:majorFont>
        <a:latin typeface="Segoe UI"/>
        <a:ea typeface="YouYuan"/>
        <a:cs typeface="Segoe UI"/>
        <a:font script="Jpan" typeface="YouYuan"/>
        <a:font script="Hang" typeface="YouYuan"/>
        <a:font script="Hans" typeface="YouYuan"/>
        <a:font script="Hant" typeface="YouYua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ree Desig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5731</Words>
  <Application>WPS 演示</Application>
  <PresentationFormat>On-screen Show (16:9)</PresentationFormat>
  <Paragraphs>1194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3" baseType="lpstr">
      <vt:lpstr>Arial</vt:lpstr>
      <vt:lpstr>宋体</vt:lpstr>
      <vt:lpstr>Wingdings</vt:lpstr>
      <vt:lpstr>Arial</vt:lpstr>
      <vt:lpstr>Consolas</vt:lpstr>
      <vt:lpstr>幼圆</vt:lpstr>
      <vt:lpstr>Segoe UI</vt:lpstr>
      <vt:lpstr>微软雅黑</vt:lpstr>
      <vt:lpstr>Arial Unicode MS</vt:lpstr>
      <vt:lpstr>Free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WPS_1647170173</cp:lastModifiedBy>
  <cp:revision>5</cp:revision>
  <dcterms:created xsi:type="dcterms:W3CDTF">2026-08-26T13:31:00Z</dcterms:created>
  <dcterms:modified xsi:type="dcterms:W3CDTF">2026-08-26T13:52:20Z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9CA00B16243645448AA17126A9BCE28E_12</vt:lpwstr>
  </property>
  <property fmtid="{D5CDD505-2E9C-101B-9397-08002B2CF9AE}" pid="3" name="KSOProductBuildVer">
    <vt:lpwstr>2052-12.1.0.28043</vt:lpwstr>
  </property>
</Properties>
</file>