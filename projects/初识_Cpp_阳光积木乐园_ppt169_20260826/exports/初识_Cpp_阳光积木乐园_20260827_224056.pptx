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先从文件菜单新建源代码，得到一张空白的代码纸。孩子只要能独立找到空白编辑区即可，不需要记住每一个菜单。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回到熟悉的交互控制台，先点击“输出文字”，观察双引号里的 3+5 会被原样输出；再点击“输出计算结果”，比较没有双引号时电脑会算出 8。最后点击“✨换行魔法 endl”，运行后终端会先出现 Hello，再换到下一行输出 World。引导孩子用“文字盒子、计算、换行”三个词说出差别。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这道题要求输出 thank you。先核对全部小写和中间的一个空格，再把整句话放进英文双引号，句末补上英文分号。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哪条语句能正确输出 apple？先投票，再按固定顺序检查：小写 cout、两个小于号、英文引号、英文分号。正确答案是 C。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endl 表示结束当前行，并把光标送到下一行。它写在双引号外，通过两个小于号连接；每使用一次 endl，就换一次行。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我们再次回到同一套交互控制台。依次试运行“输出文字”“输出计算结果”和“✨换行魔法 endl”，复习双引号决定原样输出、没有双引号可以计算、endl 能让下一次输出换到新的一行。请孩子先预测终端，再点击运行核对。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标题和四句诗一共需要五条 cout。每句诗要与题目逐字一致，中文标点和换行都属于输出内容的一部分。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去掉双引号后，三加五变成真正的表达式，会先计算再输出八。记住口诀：有引号照抄，没引号计算。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进入图案交互控制台。先点击“五星连珠”看一行五颗星，再依次尝试“❤️ 爱心”“智慧树”和“小房子”。每次先看左侧每一行 cout，再猜右侧会多出哪一层；点击运行后，终端按行把图案搭出来。提醒孩子注意空格也会决定图案的位置。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三道练习先口算，再写进 cout。第二题要留意括号顺序，第三题连续输出三项时先别急着看答案，给孩子一点思考时间。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每执行一条 cout，右侧图案就增加一层。星号画出实体，空格控制位置，endl 负责换到下一行，三者一起决定形状。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最后一次回到图案交互控制台。让孩子独立完成“选任务—看代码—运行—看结果”四步，轮流运行五星连珠、❤️ 爱心、智慧树和小房子。请孩子指出每个 endl 对应终端中的一次换行，并观察星号、斜线、竖线和空格怎样共同搭成图案。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五个连续星号可以放在同一个字符串里一次输出。先让五颗星拼起来，再把它们整体送进终端。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写代码前先观察目标图案。请孩子逐行数树冠层数、星号数量、左侧空格和树干位置；家长只提问，不代替孩子数。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六行目标对应六条 cout，字符串中的空格必须完整保留。每揭示一条代码，就去右侧确认对应的一行是否对齐。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第二幕把刚才用过的代码整理成模板。五块积木重新归位后，我们会复习程序框架、cout 规则和关键词。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第三幕开始独立闯关。每道题都走同一个闭环：读题、设计输出、写代码、运行检查。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  <a:endParaRPr 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初识_Cpp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  <a:endParaRPr lang="zh-CN" sz="43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C++!";</a:t>
              </a:r>
              <a:endParaRPr lang="zh-CN" sz="16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RUN ▶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>
            <a:alphaModFix amt="82000"/>
          </a:blip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24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  <a:endParaRPr lang="zh-CN" sz="16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24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  <a:endParaRPr lang="zh-CN" sz="16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14250" b="1" dirty="0">
                <a:solidFill>
                  <a:schemeClr val="accent2">
                    <a:alphaMod val="18000"/>
                  </a:scheme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  <a:endParaRPr lang="zh-CN" sz="43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zh-CN" sz="21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Dev-C++ 5.11</a:t>
              </a:r>
              <a:endParaRPr lang="zh-CN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  <a:endParaRPr lang="zh-CN" sz="165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231640" y="1728470"/>
              <a:ext cx="342900" cy="2794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043805" y="125730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20411" y="1397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4586605" y="146685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548505" y="164782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  <a:endParaRPr lang="zh-CN" sz="19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 errors / 0 warnings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 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选一个任务，让 cout 开始工作！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运行示例代码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Hello!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让电脑说中文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你好!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 表白程序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❤ Coding!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先读代码，再点击按钮观察终端 ✨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World!";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"I ❤ Coding！";</a:t>
              </a:r>
              <a:endParaRPr lang="zh-CN" sz="158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3" name="Rectangle 6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6" name="Rectangle 6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9" name="Rectangle 69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8" name="TextBox 78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0" name="TextBox 80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2" name="TextBox 82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4" name="TextBox 84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,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104" name="TextBox 104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6" name="TextBox 106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8" name="TextBox 108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!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22" name="TextBox 122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6" name="TextBox 126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30" name="TextBox 130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❤</a:t>
              </a:r>
              <a:endParaRPr lang="zh-CN" sz="24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40" name="TextBox 140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42" name="TextBox 142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</a:t>
              </a:r>
              <a:endParaRPr lang="zh-CN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44" name="TextBox 144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  <a:endParaRPr lang="zh-CN" sz="23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" presetClass="entr" presetSubtype="0" restart="always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" presetClass="entr" presetSubtype="0" restart="always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" presetClass="exit" presetSubtype="0" restart="always" fill="hold" grpId="0" nodeType="withEffect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" presetClass="entr" presetSubtype="0" restart="always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" presetClass="entr" presetSubtype="0" restart="always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ntr" presetSubtype="0" restart="always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1" presetClass="entr" presetSubtype="0" restart="always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1" presetClass="exit" presetSubtype="0" restart="always" fill="hold" grpId="0" nodeType="withEffect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ntr" presetSubtype="0" restart="always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" presetClass="entr" presetSubtype="0" restart="always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1" presetClass="entr" presetSubtype="0" restart="always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6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" presetClass="entr" presetSubtype="0" restart="always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presetID="1" presetClass="entr" presetSubtype="0" restart="always" fill="hold" grpId="0" nodeType="withEffect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54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5" fill="hold">
                      <p:stCondLst>
                        <p:cond delay="0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" presetClass="entr" presetSubtype="0" restart="always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" presetClass="exit" presetSubtype="0" restart="always" fill="hold" grpId="0" nodeType="withEffect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" presetClass="entr" presetSubtype="0" restart="always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1" presetClass="entr" presetSubtype="0" restart="always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" presetClass="entr" presetSubtype="0" restart="always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id="59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1" presetClass="exit" presetSubtype="0" restart="always" fill="hold" grpId="0" nodeType="withEffect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1" presetClass="entr" presetSubtype="0" restart="always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1" presetClass="entr" presetSubtype="0" restart="always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ntr" presetSubtype="0" restart="always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1" presetClass="entr" presetSubtype="0" restart="always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4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　.cpp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　.doc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　.jpg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　.mp3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2019300"/>
            <a:ext cx="5238750" cy="685800"/>
            <a:chOff x="514350" y="2019300"/>
            <a:chExt cx="5238750" cy="685800"/>
          </a:xfrm>
        </p:grpSpPr>
        <p:sp>
          <p:nvSpPr>
            <p:cNvPr id="14" name="Rectangle 14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　.cpp</a:t>
              </a:r>
              <a:endParaRPr lang="zh-CN" sz="19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7" name="Rectangle 17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.cpp</a:t>
              </a:r>
              <a:endParaRPr lang="zh-CN" sz="25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.cxx　部分 UNIX 系统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.cc　部分编译器兼容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.h　常用于头文件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6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zh-CN" sz="16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6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  <a:endPara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cstdio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algorithm</a:t>
              </a:r>
              <a:endParaRPr lang="zh-CN" sz="19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cstring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27" name="Rectangle 27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31" name="Rectangle 31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  <a:endPara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　#include &lt;iosteam&gt;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　using namespace std;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　int main() {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　　cout &lt;&lt; "Hello world!";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　　return 0;</a:t>
              </a:r>
              <a:endParaRPr lang="zh-CN" sz="165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　}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576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　1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43800" y="2114550"/>
            <a:ext cx="1676400" cy="723900"/>
            <a:chOff x="7543800" y="2114550"/>
            <a:chExt cx="1676400" cy="723900"/>
          </a:xfrm>
        </p:grpSpPr>
        <p:sp>
          <p:nvSpPr>
            <p:cNvPr id="30" name="Rectangle 30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43800" y="4152900"/>
            <a:ext cx="3657600" cy="1428750"/>
            <a:chOff x="7543800" y="4152900"/>
            <a:chExt cx="3657600" cy="1428750"/>
          </a:xfrm>
        </p:grpSpPr>
        <p:sp>
          <p:nvSpPr>
            <p:cNvPr id="33" name="Rectangle 33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  <a:endPara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zh-CN" sz="28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25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"文字"</a:t>
              </a:r>
              <a:endParaRPr lang="zh-CN" sz="25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</a:t>
              </a:r>
              <a:endParaRPr lang="zh-CN" sz="30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  <a:endParaRPr lang="zh-CN" sz="16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7989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输出实验室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同样是 3+5，电脑会说出什么？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257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输出文字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08115" y="16640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"3+5"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输出计算结果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2187" y="16640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78940" y="1624965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✨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349" y="1639729"/>
              <a:ext cx="13693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换行魔法 endl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89061" y="1672114"/>
              <a:ext cx="1075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Hello ↵ World</a:t>
              </a:r>
              <a:endParaRPr lang="zh-CN" sz="128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476500"/>
            </a:xfrm>
            <a:prstGeom prst="roundRect">
              <a:avLst>
                <a:gd name="adj" fmla="val 8462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451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071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39690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248150"/>
              <a:ext cx="5905500" cy="838200"/>
            </a:xfrm>
            <a:prstGeom prst="roundRect">
              <a:avLst>
                <a:gd name="adj" fmla="val 170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1692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435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先选任务，再运行看看答案 ✨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535329"/>
            <a:ext cx="1378343" cy="308039"/>
            <a:chOff x="1058799" y="4535329"/>
            <a:chExt cx="1378343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5353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3+5;</a:t>
              </a:r>
              <a:endParaRPr lang="zh-CN" sz="158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9561" y="4399121"/>
            <a:ext cx="2322711" cy="602552"/>
            <a:chOff x="1059561" y="4399121"/>
            <a:chExt cx="2322711" cy="602552"/>
          </a:xfrm>
        </p:grpSpPr>
        <p:sp>
          <p:nvSpPr>
            <p:cNvPr id="55" name="TextBox 55"/>
            <p:cNvSpPr txBox="1"/>
            <p:nvPr/>
          </p:nvSpPr>
          <p:spPr>
            <a:xfrm>
              <a:off x="1059561" y="4399121"/>
              <a:ext cx="2322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 &lt;&lt; endl;</a:t>
              </a:r>
              <a:endParaRPr lang="zh-CN" sz="142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9561" y="4722971"/>
              <a:ext cx="16808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"World";</a:t>
              </a:r>
              <a:endParaRPr lang="zh-CN" sz="142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1" name="Rectangle 6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4" name="Rectangle 6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7" name="Rectangle 6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70" name="Rectangle 70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9" name="TextBox 79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1" name="TextBox 81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3" name="TextBox 83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5" name="TextBox 85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781341" y="3817620"/>
            <a:ext cx="210967" cy="469392"/>
            <a:chOff x="8781341" y="3817620"/>
            <a:chExt cx="210967" cy="469392"/>
          </a:xfrm>
        </p:grpSpPr>
        <p:sp>
          <p:nvSpPr>
            <p:cNvPr id="87" name="TextBox 87"/>
            <p:cNvSpPr txBox="1"/>
            <p:nvPr/>
          </p:nvSpPr>
          <p:spPr>
            <a:xfrm>
              <a:off x="87813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05191" y="3817620"/>
            <a:ext cx="210967" cy="469392"/>
            <a:chOff x="9105191" y="3817620"/>
            <a:chExt cx="210967" cy="469392"/>
          </a:xfrm>
        </p:grpSpPr>
        <p:sp>
          <p:nvSpPr>
            <p:cNvPr id="89" name="TextBox 89"/>
            <p:cNvSpPr txBox="1"/>
            <p:nvPr/>
          </p:nvSpPr>
          <p:spPr>
            <a:xfrm>
              <a:off x="910519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1" name="TextBox 91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5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3" name="TextBox 93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8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751806" y="3735705"/>
            <a:ext cx="193838" cy="410718"/>
            <a:chOff x="8751806" y="3735705"/>
            <a:chExt cx="193838" cy="410718"/>
          </a:xfrm>
        </p:grpSpPr>
        <p:sp>
          <p:nvSpPr>
            <p:cNvPr id="95" name="TextBox 95"/>
            <p:cNvSpPr txBox="1"/>
            <p:nvPr/>
          </p:nvSpPr>
          <p:spPr>
            <a:xfrm>
              <a:off x="8751806" y="37357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080277" y="3735705"/>
            <a:ext cx="184596" cy="410718"/>
            <a:chOff x="9080277" y="3735705"/>
            <a:chExt cx="184596" cy="410718"/>
          </a:xfrm>
        </p:grpSpPr>
        <p:sp>
          <p:nvSpPr>
            <p:cNvPr id="97" name="TextBox 97"/>
            <p:cNvSpPr txBox="1"/>
            <p:nvPr/>
          </p:nvSpPr>
          <p:spPr>
            <a:xfrm>
              <a:off x="908027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441231" y="3735705"/>
            <a:ext cx="110387" cy="410718"/>
            <a:chOff x="9441231" y="3735705"/>
            <a:chExt cx="110387" cy="410718"/>
          </a:xfrm>
        </p:grpSpPr>
        <p:sp>
          <p:nvSpPr>
            <p:cNvPr id="99" name="TextBox 99"/>
            <p:cNvSpPr txBox="1"/>
            <p:nvPr/>
          </p:nvSpPr>
          <p:spPr>
            <a:xfrm>
              <a:off x="944123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765081" y="3735705"/>
            <a:ext cx="110387" cy="410718"/>
            <a:chOff x="9765081" y="3735705"/>
            <a:chExt cx="110387" cy="410718"/>
          </a:xfrm>
        </p:grpSpPr>
        <p:sp>
          <p:nvSpPr>
            <p:cNvPr id="101" name="TextBox 101"/>
            <p:cNvSpPr txBox="1"/>
            <p:nvPr/>
          </p:nvSpPr>
          <p:spPr>
            <a:xfrm>
              <a:off x="976508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051827" y="3735705"/>
            <a:ext cx="184596" cy="410718"/>
            <a:chOff x="10051827" y="3735705"/>
            <a:chExt cx="184596" cy="410718"/>
          </a:xfrm>
        </p:grpSpPr>
        <p:sp>
          <p:nvSpPr>
            <p:cNvPr id="103" name="TextBox 103"/>
            <p:cNvSpPr txBox="1"/>
            <p:nvPr/>
          </p:nvSpPr>
          <p:spPr>
            <a:xfrm>
              <a:off x="1005182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720442" y="4192905"/>
            <a:ext cx="256565" cy="410718"/>
            <a:chOff x="8720442" y="4192905"/>
            <a:chExt cx="256565" cy="410718"/>
          </a:xfrm>
        </p:grpSpPr>
        <p:sp>
          <p:nvSpPr>
            <p:cNvPr id="105" name="TextBox 105"/>
            <p:cNvSpPr txBox="1"/>
            <p:nvPr/>
          </p:nvSpPr>
          <p:spPr>
            <a:xfrm>
              <a:off x="8720442" y="4192905"/>
              <a:ext cx="2565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080277" y="4192905"/>
            <a:ext cx="184596" cy="410718"/>
            <a:chOff x="9080277" y="4192905"/>
            <a:chExt cx="184596" cy="410718"/>
          </a:xfrm>
        </p:grpSpPr>
        <p:sp>
          <p:nvSpPr>
            <p:cNvPr id="107" name="TextBox 107"/>
            <p:cNvSpPr txBox="1"/>
            <p:nvPr/>
          </p:nvSpPr>
          <p:spPr>
            <a:xfrm>
              <a:off x="908027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404127" y="4192905"/>
            <a:ext cx="184596" cy="410718"/>
            <a:chOff x="9404127" y="4192905"/>
            <a:chExt cx="184596" cy="410718"/>
          </a:xfrm>
        </p:grpSpPr>
        <p:sp>
          <p:nvSpPr>
            <p:cNvPr id="109" name="TextBox 109"/>
            <p:cNvSpPr txBox="1"/>
            <p:nvPr/>
          </p:nvSpPr>
          <p:spPr>
            <a:xfrm>
              <a:off x="94041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765081" y="4192905"/>
            <a:ext cx="110387" cy="410718"/>
            <a:chOff x="9765081" y="4192905"/>
            <a:chExt cx="110387" cy="410718"/>
          </a:xfrm>
        </p:grpSpPr>
        <p:sp>
          <p:nvSpPr>
            <p:cNvPr id="111" name="TextBox 111"/>
            <p:cNvSpPr txBox="1"/>
            <p:nvPr/>
          </p:nvSpPr>
          <p:spPr>
            <a:xfrm>
              <a:off x="9765081" y="41929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0051827" y="4192905"/>
            <a:ext cx="184596" cy="410718"/>
            <a:chOff x="10051827" y="4192905"/>
            <a:chExt cx="184596" cy="410718"/>
          </a:xfrm>
        </p:grpSpPr>
        <p:sp>
          <p:nvSpPr>
            <p:cNvPr id="113" name="TextBox 113"/>
            <p:cNvSpPr txBox="1"/>
            <p:nvPr/>
          </p:nvSpPr>
          <p:spPr>
            <a:xfrm>
              <a:off x="100518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xit" presetSubtype="0" restart="always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restart="always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xit" presetSubtype="0" restart="always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ntr" presetSubtype="0" restart="always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ntr" presetSubtype="0" restart="always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ntr" presetSubtype="0" restart="always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" presetClass="entr" presetSubtype="0" restart="always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ntr" presetSubtype="0" restart="always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xit" presetSubtype="0" restart="always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ntr" presetSubtype="0" restart="always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zh-CN" sz="27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"________________";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"thank you";</a:t>
              </a:r>
              <a:endParaRPr lang="zh-CN" sz="1800" dirty="0">
                <a:solidFill>
                  <a:srgbClr val="EAF5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  <a:endParaRPr lang="zh-CN" sz="30000" b="1" dirty="0">
              <a:solidFill>
                <a:schemeClr val="accent2">
                  <a:alpha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</a:t>
              </a:r>
              <a:endParaRPr lang="zh-CN" sz="27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b=19%</a:t>
              </a:r>
              <a:endParaRPr lang="zh-CN" sz="27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"a=10%,b=19%";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a=10%,b=19%</a:t>
              </a:r>
              <a:endParaRPr lang="zh-CN" sz="25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rgbClr val="D9E8F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7" name="Rectangle 17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rgbClr val="D9E8F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2" name="Rectangle 22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D9E8F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29918" y="3650932"/>
              <a:ext cx="18048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27" name="Rectangle 27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8FBFF"/>
            </a:solidFill>
            <a:ln w="19050">
              <a:solidFill>
                <a:srgbClr val="D9E8F5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rgbClr val="D9E8F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“apple”；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32" name="Rectangle 3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  <a:endPara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38" name="Rectangle 3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  <a:endPara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44" name="Rectangle 4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zh-CN" sz="16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50" name="Rectangle 5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“apple”；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  <a:endPara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56" name="Rectangle 5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21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zh-CN" sz="21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"World!";</a:t>
              </a:r>
              <a:endParaRPr lang="zh-CN" sz="21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HelloWorld!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143250" y="5867400"/>
            <a:ext cx="8096250" cy="552450"/>
            <a:chOff x="3143250" y="5867400"/>
            <a:chExt cx="8096250" cy="552450"/>
          </a:xfrm>
        </p:grpSpPr>
        <p:sp>
          <p:nvSpPr>
            <p:cNvPr id="16" name="Rectangle 16"/>
            <p:cNvSpPr/>
            <p:nvPr/>
          </p:nvSpPr>
          <p:spPr>
            <a:xfrm>
              <a:off x="3143250" y="5867400"/>
              <a:ext cx="8096250" cy="552450"/>
            </a:xfrm>
            <a:prstGeom prst="roundRect">
              <a:avLst>
                <a:gd name="adj" fmla="val 3793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99856" y="6051232"/>
              <a:ext cx="33830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结论：两条输出会“粘”在同一行。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 &lt;&lt; endl;</a:t>
              </a:r>
              <a:endParaRPr lang="zh-CN" sz="19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 &lt;&lt; endl;</a:t>
              </a:r>
              <a:endParaRPr lang="zh-CN" sz="19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World!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  <a:endParaRPr lang="zh-CN" sz="16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 &lt;&lt; endl</a:t>
              </a:r>
              <a:endParaRPr lang="zh-CN" sz="18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&lt;&lt; "123456" &lt;&lt; endl</a:t>
              </a:r>
              <a:endParaRPr lang="zh-CN" sz="18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"你好世界!";</a:t>
              </a:r>
              <a:endParaRPr lang="zh-CN" sz="180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zh-CN" sz="22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123456</a:t>
              </a:r>
              <a:endParaRPr lang="zh-CN" sz="22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你好世界!</a:t>
              </a:r>
              <a:endParaRPr lang="zh-CN" sz="225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7989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输出实验室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同样是 3+5，电脑会说出什么？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9257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输出文字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08115" y="16640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"3+5"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输出计算结果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32187" y="16640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78940" y="1624965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✨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349" y="1639729"/>
              <a:ext cx="13693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换行魔法 endl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89061" y="1672114"/>
              <a:ext cx="1075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Hello ↵ World</a:t>
              </a:r>
              <a:endParaRPr lang="zh-CN" sz="128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476500"/>
            </a:xfrm>
            <a:prstGeom prst="roundRect">
              <a:avLst>
                <a:gd name="adj" fmla="val 8462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451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071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39690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248150"/>
              <a:ext cx="5905500" cy="838200"/>
            </a:xfrm>
            <a:prstGeom prst="roundRect">
              <a:avLst>
                <a:gd name="adj" fmla="val 170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1692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435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先选任务，再运行看看答案 ✨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535329"/>
            <a:ext cx="1624011" cy="308039"/>
            <a:chOff x="1058799" y="4535329"/>
            <a:chExt cx="1624011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535329"/>
              <a:ext cx="16240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535329"/>
            <a:ext cx="1378343" cy="308039"/>
            <a:chOff x="1058799" y="4535329"/>
            <a:chExt cx="1378343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535329"/>
              <a:ext cx="1378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3+5;</a:t>
              </a:r>
              <a:endParaRPr lang="zh-CN" sz="158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059561" y="4399121"/>
            <a:ext cx="2322711" cy="602552"/>
            <a:chOff x="1059561" y="4399121"/>
            <a:chExt cx="2322711" cy="602552"/>
          </a:xfrm>
        </p:grpSpPr>
        <p:sp>
          <p:nvSpPr>
            <p:cNvPr id="55" name="TextBox 55"/>
            <p:cNvSpPr txBox="1"/>
            <p:nvPr/>
          </p:nvSpPr>
          <p:spPr>
            <a:xfrm>
              <a:off x="1059561" y="4399121"/>
              <a:ext cx="2322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 &lt;&lt; endl;</a:t>
              </a:r>
              <a:endParaRPr lang="zh-CN" sz="142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9561" y="4722971"/>
              <a:ext cx="16808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"World";</a:t>
              </a:r>
              <a:endParaRPr lang="zh-CN" sz="142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8" name="Rectangle 58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1" name="Rectangle 6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4" name="Rectangle 6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7" name="Rectangle 6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70" name="Rectangle 70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9" name="TextBox 79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1" name="TextBox 81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3" name="TextBox 83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5" name="TextBox 85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781341" y="3817620"/>
            <a:ext cx="210967" cy="469392"/>
            <a:chOff x="8781341" y="3817620"/>
            <a:chExt cx="210967" cy="469392"/>
          </a:xfrm>
        </p:grpSpPr>
        <p:sp>
          <p:nvSpPr>
            <p:cNvPr id="87" name="TextBox 87"/>
            <p:cNvSpPr txBox="1"/>
            <p:nvPr/>
          </p:nvSpPr>
          <p:spPr>
            <a:xfrm>
              <a:off x="87813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05191" y="3817620"/>
            <a:ext cx="210967" cy="469392"/>
            <a:chOff x="9105191" y="3817620"/>
            <a:chExt cx="210967" cy="469392"/>
          </a:xfrm>
        </p:grpSpPr>
        <p:sp>
          <p:nvSpPr>
            <p:cNvPr id="89" name="TextBox 89"/>
            <p:cNvSpPr txBox="1"/>
            <p:nvPr/>
          </p:nvSpPr>
          <p:spPr>
            <a:xfrm>
              <a:off x="910519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1" name="TextBox 91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5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429041" y="3817620"/>
            <a:ext cx="210967" cy="469392"/>
            <a:chOff x="9429041" y="3817620"/>
            <a:chExt cx="210967" cy="469392"/>
          </a:xfrm>
        </p:grpSpPr>
        <p:sp>
          <p:nvSpPr>
            <p:cNvPr id="93" name="TextBox 93"/>
            <p:cNvSpPr txBox="1"/>
            <p:nvPr/>
          </p:nvSpPr>
          <p:spPr>
            <a:xfrm>
              <a:off x="9429041" y="38176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8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751806" y="3735705"/>
            <a:ext cx="193838" cy="410718"/>
            <a:chOff x="8751806" y="3735705"/>
            <a:chExt cx="193838" cy="410718"/>
          </a:xfrm>
        </p:grpSpPr>
        <p:sp>
          <p:nvSpPr>
            <p:cNvPr id="95" name="TextBox 95"/>
            <p:cNvSpPr txBox="1"/>
            <p:nvPr/>
          </p:nvSpPr>
          <p:spPr>
            <a:xfrm>
              <a:off x="8751806" y="3735705"/>
              <a:ext cx="1938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080277" y="3735705"/>
            <a:ext cx="184596" cy="410718"/>
            <a:chOff x="9080277" y="3735705"/>
            <a:chExt cx="184596" cy="410718"/>
          </a:xfrm>
        </p:grpSpPr>
        <p:sp>
          <p:nvSpPr>
            <p:cNvPr id="97" name="TextBox 97"/>
            <p:cNvSpPr txBox="1"/>
            <p:nvPr/>
          </p:nvSpPr>
          <p:spPr>
            <a:xfrm>
              <a:off x="908027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441231" y="3735705"/>
            <a:ext cx="110387" cy="410718"/>
            <a:chOff x="9441231" y="3735705"/>
            <a:chExt cx="110387" cy="410718"/>
          </a:xfrm>
        </p:grpSpPr>
        <p:sp>
          <p:nvSpPr>
            <p:cNvPr id="99" name="TextBox 99"/>
            <p:cNvSpPr txBox="1"/>
            <p:nvPr/>
          </p:nvSpPr>
          <p:spPr>
            <a:xfrm>
              <a:off x="944123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765081" y="3735705"/>
            <a:ext cx="110387" cy="410718"/>
            <a:chOff x="9765081" y="3735705"/>
            <a:chExt cx="110387" cy="410718"/>
          </a:xfrm>
        </p:grpSpPr>
        <p:sp>
          <p:nvSpPr>
            <p:cNvPr id="101" name="TextBox 101"/>
            <p:cNvSpPr txBox="1"/>
            <p:nvPr/>
          </p:nvSpPr>
          <p:spPr>
            <a:xfrm>
              <a:off x="9765081" y="37357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0051827" y="3735705"/>
            <a:ext cx="184596" cy="410718"/>
            <a:chOff x="10051827" y="3735705"/>
            <a:chExt cx="184596" cy="410718"/>
          </a:xfrm>
        </p:grpSpPr>
        <p:sp>
          <p:nvSpPr>
            <p:cNvPr id="103" name="TextBox 103"/>
            <p:cNvSpPr txBox="1"/>
            <p:nvPr/>
          </p:nvSpPr>
          <p:spPr>
            <a:xfrm>
              <a:off x="10051827" y="3735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8720442" y="4192905"/>
            <a:ext cx="256565" cy="410718"/>
            <a:chOff x="8720442" y="4192905"/>
            <a:chExt cx="256565" cy="410718"/>
          </a:xfrm>
        </p:grpSpPr>
        <p:sp>
          <p:nvSpPr>
            <p:cNvPr id="105" name="TextBox 105"/>
            <p:cNvSpPr txBox="1"/>
            <p:nvPr/>
          </p:nvSpPr>
          <p:spPr>
            <a:xfrm>
              <a:off x="8720442" y="4192905"/>
              <a:ext cx="2565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9080277" y="4192905"/>
            <a:ext cx="184596" cy="410718"/>
            <a:chOff x="9080277" y="4192905"/>
            <a:chExt cx="184596" cy="410718"/>
          </a:xfrm>
        </p:grpSpPr>
        <p:sp>
          <p:nvSpPr>
            <p:cNvPr id="107" name="TextBox 107"/>
            <p:cNvSpPr txBox="1"/>
            <p:nvPr/>
          </p:nvSpPr>
          <p:spPr>
            <a:xfrm>
              <a:off x="908027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404127" y="4192905"/>
            <a:ext cx="184596" cy="410718"/>
            <a:chOff x="9404127" y="4192905"/>
            <a:chExt cx="184596" cy="410718"/>
          </a:xfrm>
        </p:grpSpPr>
        <p:sp>
          <p:nvSpPr>
            <p:cNvPr id="109" name="TextBox 109"/>
            <p:cNvSpPr txBox="1"/>
            <p:nvPr/>
          </p:nvSpPr>
          <p:spPr>
            <a:xfrm>
              <a:off x="94041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9765081" y="4192905"/>
            <a:ext cx="110387" cy="410718"/>
            <a:chOff x="9765081" y="4192905"/>
            <a:chExt cx="110387" cy="410718"/>
          </a:xfrm>
        </p:grpSpPr>
        <p:sp>
          <p:nvSpPr>
            <p:cNvPr id="111" name="TextBox 111"/>
            <p:cNvSpPr txBox="1"/>
            <p:nvPr/>
          </p:nvSpPr>
          <p:spPr>
            <a:xfrm>
              <a:off x="9765081" y="4192905"/>
              <a:ext cx="1103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0051827" y="4192905"/>
            <a:ext cx="184596" cy="410718"/>
            <a:chOff x="10051827" y="4192905"/>
            <a:chExt cx="184596" cy="410718"/>
          </a:xfrm>
        </p:grpSpPr>
        <p:sp>
          <p:nvSpPr>
            <p:cNvPr id="113" name="TextBox 113"/>
            <p:cNvSpPr txBox="1"/>
            <p:nvPr/>
          </p:nvSpPr>
          <p:spPr>
            <a:xfrm>
              <a:off x="10051827" y="41929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xit" presetSubtype="0" restart="always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restart="always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xit" presetSubtype="0" restart="always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ntr" presetSubtype="0" restart="always" fill="hold" grpId="0" nodeType="withEffect">
                                  <p:stCondLst>
                                    <p:cond delay="679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ntr" presetSubtype="0" restart="always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ntr" presetSubtype="0" restart="always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ntr" presetSubtype="0" restart="always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ntr" presetSubtype="0" restart="always" fill="hold" grpId="0" nodeType="withEffect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" presetClass="entr" presetSubtype="0" restart="always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ntr" presetSubtype="0" restart="always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ntr" presetSubtype="0" restart="always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ntr" presetSubtype="0" restart="always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xit" presetSubtype="0" restart="always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ntr" presetSubtype="0" restart="always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"静夜思" &lt;&lt; endl;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"床前明月光，"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"疑是地上霜。"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"举头望明月，"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"低头思故乡。"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　1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　0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;　: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*　x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 , ( ) " "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  <a:endParaRPr lang="zh-CN" sz="21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  <a:endParaRPr lang="zh-CN" sz="1650" b="1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  <a:endPara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英文：; , ( ) " "</a:t>
              </a:r>
              <a:endParaRPr lang="zh-CN" sz="1800" b="1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 )　{ }　" "</a:t>
              </a:r>
              <a:endParaRPr lang="zh-CN" sz="25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 said \"Hi\"";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mian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i0stream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printf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end1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3+5</a:t>
              </a:r>
              <a:endParaRPr lang="zh-CN" sz="42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3 + 5;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28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4354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图案工坊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选一个图案，看星号和符号怎样搭积木！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0275" y="1633061"/>
              <a:ext cx="2606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★</a:t>
              </a:r>
              <a:endParaRPr lang="zh-CN" sz="17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639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五星连珠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16" name="Rectangle 16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242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14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68699" y="1639729"/>
              <a:ext cx="7317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❤️ 爱心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21" name="Rectangle 21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2674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6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♣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118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智慧树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26" name="Rectangle 26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EAF8EC"/>
            </a:solidFill>
            <a:ln w="19050">
              <a:solidFill>
                <a:srgbClr val="A7E2B0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010650" y="152400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44578" y="1623536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⌂</a:t>
              </a:r>
              <a:endParaRPr lang="zh-CN" sz="17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550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小房子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31" name="Rectangle 3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33" name="Rectangle 33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37" name="Rectangle 37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9" name="Rectangle 3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5800" y="3048000"/>
              <a:ext cx="6210300" cy="2895600"/>
            </a:xfrm>
            <a:prstGeom prst="roundRect">
              <a:avLst>
                <a:gd name="adj" fmla="val 723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8685" y="3193256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12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685" y="34599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12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685" y="37266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1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" y="3943350"/>
              <a:ext cx="5905500" cy="1428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685" y="546020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12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8685" y="5726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1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7423" y="6034564"/>
              <a:ext cx="273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每一行 cout，都是一块图案积木 ✨</a:t>
              </a:r>
              <a:endParaRPr lang="zh-CN" sz="12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23366" y="4058602"/>
            <a:ext cx="1992056" cy="1253109"/>
            <a:chOff x="1023366" y="4058602"/>
            <a:chExt cx="1992056" cy="1253109"/>
          </a:xfrm>
        </p:grpSpPr>
        <p:sp>
          <p:nvSpPr>
            <p:cNvPr id="57" name="TextBox 57"/>
            <p:cNvSpPr txBox="1"/>
            <p:nvPr/>
          </p:nvSpPr>
          <p:spPr>
            <a:xfrm>
              <a:off x="1023366" y="40586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3366" y="42681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3366" y="4477702"/>
              <a:ext cx="1828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3366" y="4687252"/>
              <a:ext cx="1992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3366" y="48968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3366" y="510635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23747" y="3990499"/>
            <a:ext cx="2046209" cy="1390840"/>
            <a:chOff x="1023747" y="3990499"/>
            <a:chExt cx="2046209" cy="1390840"/>
          </a:xfrm>
        </p:grpSpPr>
        <p:sp>
          <p:nvSpPr>
            <p:cNvPr id="64" name="TextBox 64"/>
            <p:cNvSpPr txBox="1"/>
            <p:nvPr/>
          </p:nvSpPr>
          <p:spPr>
            <a:xfrm>
              <a:off x="1023747" y="3990499"/>
              <a:ext cx="16721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 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3747" y="419052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 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3747" y="4390549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3747" y="459057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3747" y="4790599"/>
              <a:ext cx="1706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3747" y="4990624"/>
              <a:ext cx="1554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3747" y="5190649"/>
              <a:ext cx="1402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23747" y="3990499"/>
            <a:ext cx="2198585" cy="1390840"/>
            <a:chOff x="1023747" y="3990499"/>
            <a:chExt cx="2198585" cy="1390840"/>
          </a:xfrm>
        </p:grpSpPr>
        <p:sp>
          <p:nvSpPr>
            <p:cNvPr id="72" name="TextBox 72"/>
            <p:cNvSpPr txBox="1"/>
            <p:nvPr/>
          </p:nvSpPr>
          <p:spPr>
            <a:xfrm>
              <a:off x="1023747" y="3990499"/>
              <a:ext cx="1893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    /\\"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23747" y="4190524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  /    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3747" y="43905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/        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3747" y="4590574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"+----------+"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3747" y="4790599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"|          |"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23747" y="4990624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"|   0  0   |"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23747" y="51906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"+----------+"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0" name="Rectangle 8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3" name="Rectangle 8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6" name="Rectangle 8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9" name="Rectangle 89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92" name="Rectangle 92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95" name="Rectangle 95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4" name="TextBox 10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6" name="TextBox 106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108" name="TextBox 108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绘制中...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110" name="TextBox 110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图案完成啦！！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155147" y="3828098"/>
            <a:ext cx="777807" cy="381381"/>
            <a:chOff x="9155147" y="3828098"/>
            <a:chExt cx="777807" cy="381381"/>
          </a:xfrm>
        </p:grpSpPr>
        <p:sp>
          <p:nvSpPr>
            <p:cNvPr id="112" name="TextBox 112"/>
            <p:cNvSpPr txBox="1"/>
            <p:nvPr/>
          </p:nvSpPr>
          <p:spPr>
            <a:xfrm>
              <a:off x="9155147" y="3828098"/>
              <a:ext cx="777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9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474632" y="3601879"/>
            <a:ext cx="138836" cy="308039"/>
            <a:chOff x="9474632" y="3601879"/>
            <a:chExt cx="138836" cy="308039"/>
          </a:xfrm>
        </p:grpSpPr>
        <p:sp>
          <p:nvSpPr>
            <p:cNvPr id="114" name="TextBox 114"/>
            <p:cNvSpPr txBox="1"/>
            <p:nvPr/>
          </p:nvSpPr>
          <p:spPr>
            <a:xfrm>
              <a:off x="9474632" y="3601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351798" y="3830479"/>
            <a:ext cx="384504" cy="308039"/>
            <a:chOff x="9351798" y="3830479"/>
            <a:chExt cx="384504" cy="308039"/>
          </a:xfrm>
        </p:grpSpPr>
        <p:sp>
          <p:nvSpPr>
            <p:cNvPr id="116" name="TextBox 116"/>
            <p:cNvSpPr txBox="1"/>
            <p:nvPr/>
          </p:nvSpPr>
          <p:spPr>
            <a:xfrm>
              <a:off x="9351798" y="3830479"/>
              <a:ext cx="3845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28964" y="4059079"/>
            <a:ext cx="630172" cy="308039"/>
            <a:chOff x="9228964" y="4059079"/>
            <a:chExt cx="630172" cy="308039"/>
          </a:xfrm>
        </p:grpSpPr>
        <p:sp>
          <p:nvSpPr>
            <p:cNvPr id="118" name="TextBox 118"/>
            <p:cNvSpPr txBox="1"/>
            <p:nvPr/>
          </p:nvSpPr>
          <p:spPr>
            <a:xfrm>
              <a:off x="9228964" y="4059079"/>
              <a:ext cx="6301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106130" y="4287679"/>
            <a:ext cx="875840" cy="308039"/>
            <a:chOff x="9106130" y="4287679"/>
            <a:chExt cx="875840" cy="308039"/>
          </a:xfrm>
        </p:grpSpPr>
        <p:sp>
          <p:nvSpPr>
            <p:cNvPr id="120" name="TextBox 120"/>
            <p:cNvSpPr txBox="1"/>
            <p:nvPr/>
          </p:nvSpPr>
          <p:spPr>
            <a:xfrm>
              <a:off x="9106130" y="4287679"/>
              <a:ext cx="8758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474632" y="4516279"/>
            <a:ext cx="138836" cy="308039"/>
            <a:chOff x="9474632" y="4516279"/>
            <a:chExt cx="138836" cy="308039"/>
          </a:xfrm>
        </p:grpSpPr>
        <p:sp>
          <p:nvSpPr>
            <p:cNvPr id="122" name="TextBox 122"/>
            <p:cNvSpPr txBox="1"/>
            <p:nvPr/>
          </p:nvSpPr>
          <p:spPr>
            <a:xfrm>
              <a:off x="9474632" y="45162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474632" y="4744879"/>
            <a:ext cx="138836" cy="308039"/>
            <a:chOff x="9474632" y="4744879"/>
            <a:chExt cx="138836" cy="308039"/>
          </a:xfrm>
        </p:grpSpPr>
        <p:sp>
          <p:nvSpPr>
            <p:cNvPr id="124" name="TextBox 124"/>
            <p:cNvSpPr txBox="1"/>
            <p:nvPr/>
          </p:nvSpPr>
          <p:spPr>
            <a:xfrm>
              <a:off x="9474632" y="4744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9271397" y="3609975"/>
            <a:ext cx="545306" cy="293370"/>
            <a:chOff x="9271397" y="3609975"/>
            <a:chExt cx="545306" cy="293370"/>
          </a:xfrm>
        </p:grpSpPr>
        <p:sp>
          <p:nvSpPr>
            <p:cNvPr id="126" name="TextBox 126"/>
            <p:cNvSpPr txBox="1"/>
            <p:nvPr/>
          </p:nvSpPr>
          <p:spPr>
            <a:xfrm>
              <a:off x="9271397" y="3609975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 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038168" y="3838575"/>
            <a:ext cx="1011765" cy="293370"/>
            <a:chOff x="9038168" y="3838575"/>
            <a:chExt cx="1011765" cy="293370"/>
          </a:xfrm>
        </p:grpSpPr>
        <p:sp>
          <p:nvSpPr>
            <p:cNvPr id="128" name="TextBox 128"/>
            <p:cNvSpPr txBox="1"/>
            <p:nvPr/>
          </p:nvSpPr>
          <p:spPr>
            <a:xfrm>
              <a:off x="9038168" y="38385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 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30" name="TextBox 130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069972" y="4295775"/>
            <a:ext cx="948157" cy="293370"/>
            <a:chOff x="9069972" y="4295775"/>
            <a:chExt cx="948157" cy="293370"/>
          </a:xfrm>
        </p:grpSpPr>
        <p:sp>
          <p:nvSpPr>
            <p:cNvPr id="132" name="TextBox 132"/>
            <p:cNvSpPr txBox="1"/>
            <p:nvPr/>
          </p:nvSpPr>
          <p:spPr>
            <a:xfrm>
              <a:off x="9069972" y="42957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44894" y="4524375"/>
            <a:ext cx="598313" cy="293370"/>
            <a:chOff x="9244894" y="4524375"/>
            <a:chExt cx="598313" cy="293370"/>
          </a:xfrm>
        </p:grpSpPr>
        <p:sp>
          <p:nvSpPr>
            <p:cNvPr id="134" name="TextBox 134"/>
            <p:cNvSpPr txBox="1"/>
            <p:nvPr/>
          </p:nvSpPr>
          <p:spPr>
            <a:xfrm>
              <a:off x="9244894" y="452437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361508" y="4752975"/>
            <a:ext cx="365084" cy="293370"/>
            <a:chOff x="9361508" y="4752975"/>
            <a:chExt cx="365084" cy="293370"/>
          </a:xfrm>
        </p:grpSpPr>
        <p:sp>
          <p:nvSpPr>
            <p:cNvPr id="136" name="TextBox 136"/>
            <p:cNvSpPr txBox="1"/>
            <p:nvPr/>
          </p:nvSpPr>
          <p:spPr>
            <a:xfrm>
              <a:off x="9361508" y="475297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478123" y="4981575"/>
            <a:ext cx="131855" cy="293370"/>
            <a:chOff x="9478123" y="4981575"/>
            <a:chExt cx="131855" cy="293370"/>
          </a:xfrm>
        </p:grpSpPr>
        <p:sp>
          <p:nvSpPr>
            <p:cNvPr id="138" name="TextBox 138"/>
            <p:cNvSpPr txBox="1"/>
            <p:nvPr/>
          </p:nvSpPr>
          <p:spPr>
            <a:xfrm>
              <a:off x="9478123" y="4981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9419815" y="3609975"/>
            <a:ext cx="248469" cy="293370"/>
            <a:chOff x="9419815" y="3609975"/>
            <a:chExt cx="248469" cy="293370"/>
          </a:xfrm>
        </p:grpSpPr>
        <p:sp>
          <p:nvSpPr>
            <p:cNvPr id="140" name="TextBox 140"/>
            <p:cNvSpPr txBox="1"/>
            <p:nvPr/>
          </p:nvSpPr>
          <p:spPr>
            <a:xfrm>
              <a:off x="94198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9186586" y="3838575"/>
            <a:ext cx="714927" cy="293370"/>
            <a:chOff x="9186586" y="3838575"/>
            <a:chExt cx="714927" cy="293370"/>
          </a:xfrm>
        </p:grpSpPr>
        <p:sp>
          <p:nvSpPr>
            <p:cNvPr id="142" name="TextBox 142"/>
            <p:cNvSpPr txBox="1"/>
            <p:nvPr/>
          </p:nvSpPr>
          <p:spPr>
            <a:xfrm>
              <a:off x="9186586" y="3838575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    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44" name="TextBox 144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        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8836743" y="4295775"/>
            <a:ext cx="1414615" cy="293370"/>
            <a:chOff x="8836743" y="4295775"/>
            <a:chExt cx="1414615" cy="293370"/>
          </a:xfrm>
        </p:grpSpPr>
        <p:sp>
          <p:nvSpPr>
            <p:cNvPr id="146" name="TextBox 146"/>
            <p:cNvSpPr txBox="1"/>
            <p:nvPr/>
          </p:nvSpPr>
          <p:spPr>
            <a:xfrm>
              <a:off x="8836743" y="42957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+----------+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889749" y="4524375"/>
            <a:ext cx="1308602" cy="293370"/>
            <a:chOff x="8889749" y="4524375"/>
            <a:chExt cx="1308602" cy="293370"/>
          </a:xfrm>
        </p:grpSpPr>
        <p:sp>
          <p:nvSpPr>
            <p:cNvPr id="148" name="TextBox 148"/>
            <p:cNvSpPr txBox="1"/>
            <p:nvPr/>
          </p:nvSpPr>
          <p:spPr>
            <a:xfrm>
              <a:off x="8889749" y="45243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|          |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8889749" y="4752975"/>
            <a:ext cx="1308602" cy="293370"/>
            <a:chOff x="8889749" y="4752975"/>
            <a:chExt cx="1308602" cy="293370"/>
          </a:xfrm>
        </p:grpSpPr>
        <p:sp>
          <p:nvSpPr>
            <p:cNvPr id="150" name="TextBox 150"/>
            <p:cNvSpPr txBox="1"/>
            <p:nvPr/>
          </p:nvSpPr>
          <p:spPr>
            <a:xfrm>
              <a:off x="8889749" y="47529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|   0  0   |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8836743" y="4981575"/>
            <a:ext cx="1414615" cy="293370"/>
            <a:chOff x="8836743" y="4981575"/>
            <a:chExt cx="1414615" cy="293370"/>
          </a:xfrm>
        </p:grpSpPr>
        <p:sp>
          <p:nvSpPr>
            <p:cNvPr id="152" name="TextBox 152"/>
            <p:cNvSpPr txBox="1"/>
            <p:nvPr/>
          </p:nvSpPr>
          <p:spPr>
            <a:xfrm>
              <a:off x="8836743" y="49815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+----------+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xit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ntr" presetSubtype="0" restart="always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1" presetClass="exit" presetSubtype="0" restart="always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7" presetID="1" presetClass="entr" presetSubtype="0" restart="always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709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id="71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0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2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4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0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2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4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6" presetID="1" presetClass="exit" presetSubtype="0" restart="always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ntr" presetSubtype="0" restart="always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7 - 2</a:t>
              </a:r>
              <a:endParaRPr lang="zh-CN" sz="27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7 - 2;</a:t>
              </a:r>
              <a:endParaRPr lang="zh-CN" sz="15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(8 + 3) * 2</a:t>
              </a:r>
              <a:endParaRPr lang="zh-CN" sz="24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 + 2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 * 4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2 * 2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  <a:endParaRPr lang="zh-CN" sz="18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 * 5678 =</a:t>
              </a:r>
              <a:endParaRPr lang="zh-CN" sz="24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7006652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"1234 * 5678 = " &lt;&lt; 1234 * 5678 &lt;&lt; endl;</a:t>
              </a:r>
              <a:endParaRPr lang="zh-CN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6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40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4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40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  <a:endParaRPr lang="zh-CN" sz="18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306042" cy="708660"/>
            <a:chOff x="500060" y="432435"/>
            <a:chExt cx="11306042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4354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cout 图案工坊</a:t>
              </a:r>
              <a:endParaRPr lang="zh-CN" sz="27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选一个图案，看星号和符号怎样搭积木！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810500" y="438150"/>
              <a:ext cx="392430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39197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0275" y="1633061"/>
              <a:ext cx="2606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★</a:t>
              </a:r>
              <a:endParaRPr lang="zh-CN" sz="17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5499" y="1639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五星连珠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16" name="Rectangle 16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242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914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68699" y="1639729"/>
              <a:ext cx="7317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❤️ 爱心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21" name="Rectangle 21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2674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605" y="1616869"/>
              <a:ext cx="2847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♣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118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智慧树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26" name="Rectangle 26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EAF8EC"/>
            </a:solidFill>
            <a:ln w="19050">
              <a:solidFill>
                <a:srgbClr val="A7E2B0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010650" y="152400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44578" y="1623536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⌂</a:t>
              </a:r>
              <a:endParaRPr lang="zh-CN" sz="17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55099" y="1639729"/>
              <a:ext cx="6541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小房子</a:t>
              </a:r>
              <a:endParaRPr lang="zh-CN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7700" y="1390650"/>
            <a:ext cx="2628900" cy="685800"/>
            <a:chOff x="647700" y="1390650"/>
            <a:chExt cx="2628900" cy="685800"/>
          </a:xfrm>
        </p:grpSpPr>
        <p:sp>
          <p:nvSpPr>
            <p:cNvPr id="31" name="Rectangle 31"/>
            <p:cNvSpPr/>
            <p:nvPr/>
          </p:nvSpPr>
          <p:spPr>
            <a:xfrm>
              <a:off x="6477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90900" y="1390650"/>
            <a:ext cx="2628900" cy="685800"/>
            <a:chOff x="3390900" y="1390650"/>
            <a:chExt cx="2628900" cy="685800"/>
          </a:xfrm>
        </p:grpSpPr>
        <p:sp>
          <p:nvSpPr>
            <p:cNvPr id="33" name="Rectangle 33"/>
            <p:cNvSpPr/>
            <p:nvPr/>
          </p:nvSpPr>
          <p:spPr>
            <a:xfrm>
              <a:off x="33909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134100" y="1390650"/>
            <a:ext cx="2628900" cy="685800"/>
            <a:chOff x="6134100" y="1390650"/>
            <a:chExt cx="26289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134100" y="1390650"/>
              <a:ext cx="26289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8877300" y="1390650"/>
            <a:ext cx="2667000" cy="685800"/>
            <a:chOff x="8877300" y="1390650"/>
            <a:chExt cx="2667000" cy="685800"/>
          </a:xfrm>
        </p:grpSpPr>
        <p:sp>
          <p:nvSpPr>
            <p:cNvPr id="37" name="Rectangle 37"/>
            <p:cNvSpPr/>
            <p:nvPr/>
          </p:nvSpPr>
          <p:spPr>
            <a:xfrm>
              <a:off x="8877300" y="1390650"/>
              <a:ext cx="2667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9" name="Rectangle 3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5800" y="3048000"/>
              <a:ext cx="6210300" cy="2895600"/>
            </a:xfrm>
            <a:prstGeom prst="roundRect">
              <a:avLst>
                <a:gd name="adj" fmla="val 7237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8685" y="3193256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12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685" y="3459956"/>
              <a:ext cx="1587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12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685" y="3726656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1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19150" y="3943350"/>
              <a:ext cx="5905500" cy="1428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8685" y="546020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12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8685" y="57269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1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7423" y="6034564"/>
              <a:ext cx="2735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每一行 cout，都是一块图案积木 ✨</a:t>
              </a:r>
              <a:endParaRPr lang="zh-CN" sz="128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20699" y="4535329"/>
            <a:ext cx="1869679" cy="308039"/>
            <a:chOff x="1020699" y="4535329"/>
            <a:chExt cx="1869679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20699" y="4535329"/>
              <a:ext cx="18696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58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23366" y="4058602"/>
            <a:ext cx="1992056" cy="1253109"/>
            <a:chOff x="1023366" y="4058602"/>
            <a:chExt cx="1992056" cy="1253109"/>
          </a:xfrm>
        </p:grpSpPr>
        <p:sp>
          <p:nvSpPr>
            <p:cNvPr id="57" name="TextBox 57"/>
            <p:cNvSpPr txBox="1"/>
            <p:nvPr/>
          </p:nvSpPr>
          <p:spPr>
            <a:xfrm>
              <a:off x="1023366" y="40586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3366" y="42681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3366" y="4477702"/>
              <a:ext cx="18287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3366" y="4687252"/>
              <a:ext cx="1992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*******"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23366" y="489680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3366" y="5106352"/>
              <a:ext cx="15022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23747" y="3990499"/>
            <a:ext cx="2046209" cy="1390840"/>
            <a:chOff x="1023747" y="3990499"/>
            <a:chExt cx="2046209" cy="1390840"/>
          </a:xfrm>
        </p:grpSpPr>
        <p:sp>
          <p:nvSpPr>
            <p:cNvPr id="64" name="TextBox 64"/>
            <p:cNvSpPr txBox="1"/>
            <p:nvPr/>
          </p:nvSpPr>
          <p:spPr>
            <a:xfrm>
              <a:off x="1023747" y="3990499"/>
              <a:ext cx="16721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 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3747" y="419052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 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3747" y="4390549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3747" y="4590574"/>
              <a:ext cx="19353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3747" y="4790599"/>
              <a:ext cx="1706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3747" y="4990624"/>
              <a:ext cx="15544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3747" y="5190649"/>
              <a:ext cx="14020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98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23747" y="3990499"/>
            <a:ext cx="2198585" cy="1390840"/>
            <a:chOff x="1023747" y="3990499"/>
            <a:chExt cx="2198585" cy="1390840"/>
          </a:xfrm>
        </p:grpSpPr>
        <p:sp>
          <p:nvSpPr>
            <p:cNvPr id="72" name="TextBox 72"/>
            <p:cNvSpPr txBox="1"/>
            <p:nvPr/>
          </p:nvSpPr>
          <p:spPr>
            <a:xfrm>
              <a:off x="1023747" y="3990499"/>
              <a:ext cx="18938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    /\\"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23747" y="4190524"/>
              <a:ext cx="20462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  /    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3747" y="43905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 /        \\"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3747" y="4590574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"+----------+"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3747" y="4790599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"|          |"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23747" y="4990624"/>
              <a:ext cx="21293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"|   0  0   |"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23747" y="5190649"/>
              <a:ext cx="2198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"+----------+" &lt;&lt; endl;</a:t>
              </a:r>
              <a:endParaRPr lang="zh-CN" sz="98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0" name="Rectangle 8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3" name="Rectangle 8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6" name="Rectangle 8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89" name="Rectangle 89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92" name="Rectangle 92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95" name="Rectangle 95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4" name="TextBox 10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106" name="TextBox 106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点击运行，让电脑画出图案!</a:t>
              </a:r>
              <a:endParaRPr lang="zh-CN" sz="14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108" name="TextBox 108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绘制中...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110" name="TextBox 110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图案完成啦！！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155147" y="3828098"/>
            <a:ext cx="777807" cy="381381"/>
            <a:chOff x="9155147" y="3828098"/>
            <a:chExt cx="777807" cy="381381"/>
          </a:xfrm>
        </p:grpSpPr>
        <p:sp>
          <p:nvSpPr>
            <p:cNvPr id="112" name="TextBox 112"/>
            <p:cNvSpPr txBox="1"/>
            <p:nvPr/>
          </p:nvSpPr>
          <p:spPr>
            <a:xfrm>
              <a:off x="9155147" y="3828098"/>
              <a:ext cx="777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9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474632" y="3601879"/>
            <a:ext cx="138836" cy="308039"/>
            <a:chOff x="9474632" y="3601879"/>
            <a:chExt cx="138836" cy="308039"/>
          </a:xfrm>
        </p:grpSpPr>
        <p:sp>
          <p:nvSpPr>
            <p:cNvPr id="114" name="TextBox 114"/>
            <p:cNvSpPr txBox="1"/>
            <p:nvPr/>
          </p:nvSpPr>
          <p:spPr>
            <a:xfrm>
              <a:off x="9474632" y="3601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351798" y="3830479"/>
            <a:ext cx="384504" cy="308039"/>
            <a:chOff x="9351798" y="3830479"/>
            <a:chExt cx="384504" cy="308039"/>
          </a:xfrm>
        </p:grpSpPr>
        <p:sp>
          <p:nvSpPr>
            <p:cNvPr id="116" name="TextBox 116"/>
            <p:cNvSpPr txBox="1"/>
            <p:nvPr/>
          </p:nvSpPr>
          <p:spPr>
            <a:xfrm>
              <a:off x="9351798" y="3830479"/>
              <a:ext cx="3845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28964" y="4059079"/>
            <a:ext cx="630172" cy="308039"/>
            <a:chOff x="9228964" y="4059079"/>
            <a:chExt cx="630172" cy="308039"/>
          </a:xfrm>
        </p:grpSpPr>
        <p:sp>
          <p:nvSpPr>
            <p:cNvPr id="118" name="TextBox 118"/>
            <p:cNvSpPr txBox="1"/>
            <p:nvPr/>
          </p:nvSpPr>
          <p:spPr>
            <a:xfrm>
              <a:off x="9228964" y="4059079"/>
              <a:ext cx="6301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106130" y="4287679"/>
            <a:ext cx="875840" cy="308039"/>
            <a:chOff x="9106130" y="4287679"/>
            <a:chExt cx="875840" cy="308039"/>
          </a:xfrm>
        </p:grpSpPr>
        <p:sp>
          <p:nvSpPr>
            <p:cNvPr id="120" name="TextBox 120"/>
            <p:cNvSpPr txBox="1"/>
            <p:nvPr/>
          </p:nvSpPr>
          <p:spPr>
            <a:xfrm>
              <a:off x="9106130" y="4287679"/>
              <a:ext cx="8758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474632" y="4516279"/>
            <a:ext cx="138836" cy="308039"/>
            <a:chOff x="9474632" y="4516279"/>
            <a:chExt cx="138836" cy="308039"/>
          </a:xfrm>
        </p:grpSpPr>
        <p:sp>
          <p:nvSpPr>
            <p:cNvPr id="122" name="TextBox 122"/>
            <p:cNvSpPr txBox="1"/>
            <p:nvPr/>
          </p:nvSpPr>
          <p:spPr>
            <a:xfrm>
              <a:off x="9474632" y="45162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9474632" y="4744879"/>
            <a:ext cx="138836" cy="308039"/>
            <a:chOff x="9474632" y="4744879"/>
            <a:chExt cx="138836" cy="308039"/>
          </a:xfrm>
        </p:grpSpPr>
        <p:sp>
          <p:nvSpPr>
            <p:cNvPr id="124" name="TextBox 124"/>
            <p:cNvSpPr txBox="1"/>
            <p:nvPr/>
          </p:nvSpPr>
          <p:spPr>
            <a:xfrm>
              <a:off x="9474632" y="4744879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8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9271397" y="3609975"/>
            <a:ext cx="545306" cy="293370"/>
            <a:chOff x="9271397" y="3609975"/>
            <a:chExt cx="545306" cy="293370"/>
          </a:xfrm>
        </p:grpSpPr>
        <p:sp>
          <p:nvSpPr>
            <p:cNvPr id="126" name="TextBox 126"/>
            <p:cNvSpPr txBox="1"/>
            <p:nvPr/>
          </p:nvSpPr>
          <p:spPr>
            <a:xfrm>
              <a:off x="9271397" y="3609975"/>
              <a:ext cx="545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 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038168" y="3838575"/>
            <a:ext cx="1011765" cy="293370"/>
            <a:chOff x="9038168" y="3838575"/>
            <a:chExt cx="1011765" cy="293370"/>
          </a:xfrm>
        </p:grpSpPr>
        <p:sp>
          <p:nvSpPr>
            <p:cNvPr id="128" name="TextBox 128"/>
            <p:cNvSpPr txBox="1"/>
            <p:nvPr/>
          </p:nvSpPr>
          <p:spPr>
            <a:xfrm>
              <a:off x="9038168" y="383857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 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30" name="TextBox 130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069972" y="4295775"/>
            <a:ext cx="948157" cy="293370"/>
            <a:chOff x="9069972" y="4295775"/>
            <a:chExt cx="948157" cy="293370"/>
          </a:xfrm>
        </p:grpSpPr>
        <p:sp>
          <p:nvSpPr>
            <p:cNvPr id="132" name="TextBox 132"/>
            <p:cNvSpPr txBox="1"/>
            <p:nvPr/>
          </p:nvSpPr>
          <p:spPr>
            <a:xfrm>
              <a:off x="9069972" y="4295775"/>
              <a:ext cx="948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44894" y="4524375"/>
            <a:ext cx="598313" cy="293370"/>
            <a:chOff x="9244894" y="4524375"/>
            <a:chExt cx="598313" cy="293370"/>
          </a:xfrm>
        </p:grpSpPr>
        <p:sp>
          <p:nvSpPr>
            <p:cNvPr id="134" name="TextBox 134"/>
            <p:cNvSpPr txBox="1"/>
            <p:nvPr/>
          </p:nvSpPr>
          <p:spPr>
            <a:xfrm>
              <a:off x="9244894" y="452437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361508" y="4752975"/>
            <a:ext cx="365084" cy="293370"/>
            <a:chOff x="9361508" y="4752975"/>
            <a:chExt cx="365084" cy="293370"/>
          </a:xfrm>
        </p:grpSpPr>
        <p:sp>
          <p:nvSpPr>
            <p:cNvPr id="136" name="TextBox 136"/>
            <p:cNvSpPr txBox="1"/>
            <p:nvPr/>
          </p:nvSpPr>
          <p:spPr>
            <a:xfrm>
              <a:off x="9361508" y="475297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478123" y="4981575"/>
            <a:ext cx="131855" cy="293370"/>
            <a:chOff x="9478123" y="4981575"/>
            <a:chExt cx="131855" cy="293370"/>
          </a:xfrm>
        </p:grpSpPr>
        <p:sp>
          <p:nvSpPr>
            <p:cNvPr id="138" name="TextBox 138"/>
            <p:cNvSpPr txBox="1"/>
            <p:nvPr/>
          </p:nvSpPr>
          <p:spPr>
            <a:xfrm>
              <a:off x="9478123" y="4981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9419815" y="3609975"/>
            <a:ext cx="248469" cy="293370"/>
            <a:chOff x="9419815" y="3609975"/>
            <a:chExt cx="248469" cy="293370"/>
          </a:xfrm>
        </p:grpSpPr>
        <p:sp>
          <p:nvSpPr>
            <p:cNvPr id="140" name="TextBox 140"/>
            <p:cNvSpPr txBox="1"/>
            <p:nvPr/>
          </p:nvSpPr>
          <p:spPr>
            <a:xfrm>
              <a:off x="94198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9186586" y="3838575"/>
            <a:ext cx="714927" cy="293370"/>
            <a:chOff x="9186586" y="3838575"/>
            <a:chExt cx="714927" cy="293370"/>
          </a:xfrm>
        </p:grpSpPr>
        <p:sp>
          <p:nvSpPr>
            <p:cNvPr id="142" name="TextBox 142"/>
            <p:cNvSpPr txBox="1"/>
            <p:nvPr/>
          </p:nvSpPr>
          <p:spPr>
            <a:xfrm>
              <a:off x="9186586" y="3838575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    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8953357" y="4067175"/>
            <a:ext cx="1181386" cy="293370"/>
            <a:chOff x="8953357" y="4067175"/>
            <a:chExt cx="1181386" cy="293370"/>
          </a:xfrm>
        </p:grpSpPr>
        <p:sp>
          <p:nvSpPr>
            <p:cNvPr id="144" name="TextBox 144"/>
            <p:cNvSpPr txBox="1"/>
            <p:nvPr/>
          </p:nvSpPr>
          <p:spPr>
            <a:xfrm>
              <a:off x="8953357" y="40671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        \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8836743" y="4295775"/>
            <a:ext cx="1414615" cy="293370"/>
            <a:chOff x="8836743" y="4295775"/>
            <a:chExt cx="1414615" cy="293370"/>
          </a:xfrm>
        </p:grpSpPr>
        <p:sp>
          <p:nvSpPr>
            <p:cNvPr id="146" name="TextBox 146"/>
            <p:cNvSpPr txBox="1"/>
            <p:nvPr/>
          </p:nvSpPr>
          <p:spPr>
            <a:xfrm>
              <a:off x="8836743" y="42957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+----------+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8889749" y="4524375"/>
            <a:ext cx="1308602" cy="293370"/>
            <a:chOff x="8889749" y="4524375"/>
            <a:chExt cx="1308602" cy="293370"/>
          </a:xfrm>
        </p:grpSpPr>
        <p:sp>
          <p:nvSpPr>
            <p:cNvPr id="148" name="TextBox 148"/>
            <p:cNvSpPr txBox="1"/>
            <p:nvPr/>
          </p:nvSpPr>
          <p:spPr>
            <a:xfrm>
              <a:off x="8889749" y="45243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|          |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8889749" y="4752975"/>
            <a:ext cx="1308602" cy="293370"/>
            <a:chOff x="8889749" y="4752975"/>
            <a:chExt cx="1308602" cy="293370"/>
          </a:xfrm>
        </p:grpSpPr>
        <p:sp>
          <p:nvSpPr>
            <p:cNvPr id="150" name="TextBox 150"/>
            <p:cNvSpPr txBox="1"/>
            <p:nvPr/>
          </p:nvSpPr>
          <p:spPr>
            <a:xfrm>
              <a:off x="8889749" y="4752975"/>
              <a:ext cx="1308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|   0  0   |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8836743" y="4981575"/>
            <a:ext cx="1414615" cy="293370"/>
            <a:chOff x="8836743" y="4981575"/>
            <a:chExt cx="1414615" cy="293370"/>
          </a:xfrm>
        </p:grpSpPr>
        <p:sp>
          <p:nvSpPr>
            <p:cNvPr id="152" name="TextBox 152"/>
            <p:cNvSpPr txBox="1"/>
            <p:nvPr/>
          </p:nvSpPr>
          <p:spPr>
            <a:xfrm>
              <a:off x="8836743" y="4981575"/>
              <a:ext cx="14146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+----------+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" presetClass="entr" presetSubtype="0" restart="always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" presetClass="entr" presetSubtype="0" restart="always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" presetClass="exit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" presetClass="entr" presetSubtype="0" restart="always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xit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ntr" presetSubtype="0" restart="always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1" presetClass="exit" presetSubtype="0" restart="always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7" presetID="1" presetClass="entr" presetSubtype="0" restart="always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709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0" fill="hold">
                      <p:stCondLst>
                        <p:cond delay="0"/>
                      </p:stCondLst>
                      <p:childTnLst>
                        <p:par>
                          <p:cTn id="711" fill="hold">
                            <p:stCondLst>
                              <p:cond delay="0"/>
                            </p:stCondLst>
                            <p:childTnLst>
                              <p:par>
                                <p:cTn id="712" presetID="1" presetClass="exit" presetSubtype="0" restart="always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0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2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4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0" presetID="1" presetClass="entr" presetSubtype="0" restart="always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2" presetID="1" presetClass="entr" presetSubtype="0" restart="always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4" presetID="1" presetClass="entr" presetSubtype="0" restart="always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ntr" presetSubtype="0" restart="always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1" presetClass="entr" presetSubtype="0" restart="always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0" presetID="1" presetClass="entr" presetSubtype="0" restart="always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2" presetID="1" presetClass="entr" presetSubtype="0" restart="always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4" presetID="1" presetClass="entr" presetSubtype="0" restart="always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6" presetID="1" presetClass="exit" presetSubtype="0" restart="always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ntr" presetSubtype="0" restart="always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48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  <a:endParaRPr lang="zh-CN" sz="18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  <a:endParaRPr lang="zh-CN" sz="1350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zh-CN" sz="150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"*******" &lt;&lt; endl;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50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14250" b="1" dirty="0">
                <a:solidFill>
                  <a:srgbClr val="FFFFFF">
                    <a:alphaMod val="18000"/>
                  </a:srgb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  <a:endParaRPr lang="zh-CN" sz="43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  <a:endParaRPr lang="zh-CN" sz="18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#include &lt;iostream&gt; // 输入输出工具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using namespace std; // 标准库名字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int main() { // 程序入口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"内容"; // 替换这里</a:t>
              </a:r>
              <a:endParaRPr lang="zh-CN" sz="150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return 0; // 正常结束</a:t>
              </a:r>
              <a:endParaRPr lang="zh-CN" sz="150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21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namespace</a:t>
              </a:r>
              <a:endParaRPr lang="zh-CN" sz="21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std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 → iostream → using → namespace → std → main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22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zh-CN" sz="22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</a:t>
              </a:r>
              <a:endParaRPr lang="zh-CN" sz="225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  <a:endParaRPr lang="zh-CN" sz="1350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</a:t>
              </a:r>
              <a:endParaRPr lang="zh-CN" sz="22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14250" b="1" dirty="0">
                <a:solidFill>
                  <a:srgbClr val="FFFFFF">
                    <a:alphaMod val="18000"/>
                  </a:srgb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  <a:endParaRPr lang="zh-CN" sz="43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  <a:endParaRPr lang="zh-CN" sz="18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  <a:endParaRPr lang="zh-CN" sz="43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7824</Words>
  <Application>WPS 演示</Application>
  <PresentationFormat>On-screen Show (16:9)</PresentationFormat>
  <Paragraphs>1604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Arial</vt:lpstr>
      <vt:lpstr>宋体</vt:lpstr>
      <vt:lpstr>Wingdings</vt:lpstr>
      <vt:lpstr>Arial</vt:lpstr>
      <vt:lpstr>Consolas</vt:lpstr>
      <vt:lpstr>微软雅黑</vt:lpstr>
      <vt:lpstr>幼圆</vt:lpstr>
      <vt:lpstr>Segoe UI</vt:lpstr>
      <vt:lpstr>Arial Unicode MS</vt:lpstr>
      <vt:lpstr>初识_Cpp_阳光积木乐园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WPS_1647170173</cp:lastModifiedBy>
  <cp:revision>2</cp:revision>
  <dcterms:created xsi:type="dcterms:W3CDTF">2026-08-27T14:41:00Z</dcterms:created>
  <dcterms:modified xsi:type="dcterms:W3CDTF">2026-08-27T14:47:45Z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52C0B2ED1E0B4AC6BF7424F1D3795A4C_12</vt:lpwstr>
  </property>
  <property fmtid="{D5CDD505-2E9C-101B-9397-08002B2CF9AE}" pid="3" name="KSOProductBuildVer">
    <vt:lpwstr>2052-12.1.0.28043</vt:lpwstr>
  </property>
</Properties>
</file>