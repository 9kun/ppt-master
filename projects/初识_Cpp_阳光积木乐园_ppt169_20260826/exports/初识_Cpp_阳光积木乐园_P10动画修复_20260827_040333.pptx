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0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  <Relationship Id="rId50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0.xml"/>
</Relationships>
</file>

<file path=ppt/notesSlides/_rels/notesSlide2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1.xml"/>
</Relationships>
</file>

<file path=ppt/notesSlides/_rels/notesSlide2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2.xml"/>
</Relationships>
</file>

<file path=ppt/notesSlides/_rels/notesSlide2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3.xml"/>
</Relationships>
</file>

<file path=ppt/notesSlides/_rels/notesSlide2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4.xml"/>
</Relationships>
</file>

<file path=ppt/notesSlides/_rels/notesSlide2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5.xml"/>
</Relationships>
</file>

<file path=ppt/notesSlides/_rels/notesSlide2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6.xml"/>
</Relationships>
</file>

<file path=ppt/notesSlides/_rels/notesSlide2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7.xml"/>
</Relationships>
</file>

<file path=ppt/notesSlides/_rels/notesSlide2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8.xml"/>
</Relationships>
</file>

<file path=ppt/notesSlides/_rels/notesSlide2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9.xml"/>
</Relationships>
</file>

<file path=ppt/notesSlides/_rels/notesSlide3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0.xml"/>
</Relationships>
</file>

<file path=ppt/notesSlides/_rels/notesSlide3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1.xml"/>
</Relationships>
</file>

<file path=ppt/notesSlides/_rels/notesSlide3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2.xml"/>
</Relationships>
</file>

<file path=ppt/notesSlides/_rels/notesSlide3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3.xml"/>
</Relationships>
</file>

<file path=ppt/notesSlides/_rels/notesSlide3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4.xml"/>
</Relationships>
</file>

<file path=ppt/notesSlides/_rels/notesSlide3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5.xml"/>
</Relationships>
</file>

<file path=ppt/notesSlides/_rels/notesSlide3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6.xml"/>
</Relationships>
</file>

<file path=ppt/notesSlides/_rels/notesSlide3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7.xml"/>
</Relationships>
</file>

<file path=ppt/notesSlides/_rels/notesSlide3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8.xml"/>
</Relationships>
</file>

<file path=ppt/notesSlides/_rels/notesSlide3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9.xml"/>
</Relationships>
</file>

<file path=ppt/notesSlides/_rels/notesSlide4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0.xml"/>
</Relationships>
</file>

<file path=ppt/notesSlides/_rels/notesSlide4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1.xml"/>
</Relationships>
</file>

<file path=ppt/notesSlides/_rels/notesSlide4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2.xml"/>
</Relationships>
</file>

<file path=ppt/notesSlides/_rels/notesSlide4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3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欢迎来到亲子 C++ 公开课。今天我们只做一件很酷的事：用一行 cout 让电脑说话，再让它计算和画图。请孩子先猜一猜，电脑真的能听懂我们写下的文字吗？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整堂课分成三幕：先学新知识，再整理规则，最后独立闯关。每一幕结束，家长可以问两个问题：你能解释吗，你能自己写吗？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第一幕先认识开发环境，然后写下第一段程序，最后看见运行结果。我们的第一个目标不是背概念，而是让电脑成功说出第一句话。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第一项任务是让屏幕准确显示 Hello World。请大家注意大小写和感叹号，因为输出题要求逐字一致。点击后，我们把代码送进屏幕，再一起看结果。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本课使用 Dev-C++ 五点一一，它把写代码、编译检查和运行观察放在一起。工具以后可能更换，但读懂和写出 C++ 代码的能力不会变。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先从文件菜单新建源代码，得到一张空白的代码纸。孩子只要能独立找到空白编辑区即可，不需要记住每一个菜单。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先认识 Dev-C++ 的菜单栏、工具栏、项目管理窗口、编辑区和报告窗口，再把六行程序完整搭好。右侧五块比喻帮助孩子先记住结构，后面再逐块解释技术作用。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文件名要以点 cpp 结尾，例如 hello 点 cpp。指向工具栏中的编译运行按钮，再指向下方报告窗口；出现零个错误、零个警告后，再运行观察屏幕结果。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终端第一行显示 Hello World，说明我们的输出成功了。返回值零表示程序正常结束，这是技术事实，不是电脑给我们的分数。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是一座可点击的小实验站。先运行默认的“让电脑说中文”：点击橙色“运行程序”，状态会从“运行中...”变成“电脑说话了！！”，同时右侧逐字符打印“你好，小小程序员！”。再请孩子依次点击“运行示例代码”和“❤ 表白程序”，观察代码行分别切换成 Hello, World! 与 I ❤ Coding！，再运行并核对终端输出。提醒孩子：电脑会把双引号里的内容原样说出来。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先不要看答案，C++ 源程序最常用的扩展名是什么？答案是 A，点 cpp。点 cxx 和点 cc 也可能出现，点 h 通常用来存放头文件；本课统一保存为点 cpp。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请沿彩色箭头把五块积木与对应代码行一一配对。头文件引入输入输出工具，命名空间允许直接使用标准库名字，main 是程序入口，cout 是标准输出对象，return 0 向运行环境报告正常结束。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请先判断哪个头文件负责输入输出。答案是 iostream，其中 io 表示 input 与 output，stream 表示信息流；有了它，程序才认识 cin 和 cout。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先逐行找错。第一行把 iostream 写成了 iosteam，少了字母 r，所以答案是第一行。修好后再读一遍完整框架，确认其他行没有被误改。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沿箭头从代码片段指向解释卡：cout 是标准输出对象，两个小于号把内容送给它，双引号框住要显示的文字，分号结束整条语句。点击时请孩子按顺序用自己的话解释。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回到熟悉的实验站，操作顺序仍然是选择、代码、运行、结果。界面不变，我们就能把注意力留给新的代码规则。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这道题要求输出 thank you。先核对全部小写和中间的一个空格，再把整句话放进英文双引号，句末补上英文分号。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目标是完整输出 a 等于 10 百分号，逗号，b 等于 19 百分号。等号、逗号和百分号都在双引号里，因此会被电脑逐字显示。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哪条语句能正确输出 apple？先投票，再按固定顺序检查：小写 cout、两个小于号、英文引号、英文分号。正确答案是 C。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连续写两条 cout，如果中间没有 endl，第二条会紧接第一条继续输出。这里的结果是 HelloWorld 感叹号，两段文字会粘在同一行。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endl 表示结束当前行，并把光标送到下一行。它写在双引号外，通过两个小于号连接；每使用一次 endl，就换一次行。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一条 cout 也能连续接上多段内容。这里依次输出 Hello World 感叹号、123456 和你好世界感叹号；前两段后接 endl，因此终端得到三行。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我们再次回到同一实验站。请孩子先说出四步操作顺序，再准备把多行输出用到诗词练习里。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标题和四句诗一共需要五条 cout。每句诗要与题目逐字一致，中文标点和换行都属于输出内容的一部分。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编译器逐字符检查，字母 l 和数字一、字母 O 和数字零都不能混用。切到英文输入法后，再核对分号、逗号、括号和引号是否为半角字符。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先检查代码符号是不是英文半角，再检查括号和引号是否成对。字符串内部需要显示双引号时，要在引号前写反斜杠进行转义。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关键单词必须逐字符拼对。重点区分 main 和 mian、iostream 和 i0stream、printf 和 print、endl 和 end1；字母 l 与数字 1 也不能混用。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去掉双引号后，三加五变成真正的表达式，会先计算再输出八。记住口诀：有引号照抄，没引号计算。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实验站仍然没有变化。现在请孩子把注意力放在代码内容上，准备把自然语言写成可以计算的表达式。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三道练习先口算，再写进 cout。第二题要留意括号顺序，第三题连续输出三项时先别急着看答案，给孩子一点思考时间。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这条 cout 同时输出提示文字、乘法结果和换行。点击后依次指出三段，让孩子看到一条输出链可以拼接不同类型的内容。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每执行一条 cout，右侧图案就增加一层。星号画出实体，空格控制位置，endl 负责换到下一行，三者一起决定形状。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最后一次回到固定实验站。请孩子复述选择、代码、运行、结果四步，再进入图案闯关。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五个连续星号可以放在同一个字符串里一次输出。先让五颗星拼起来，再把它们整体送进终端。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写代码前先观察目标图案。请孩子逐行数树冠层数、星号数量、左侧空格和树干位置；家长只提问，不代替孩子数。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六行目标对应六条 cout，字符串中的空格必须完整保留。每揭示一条代码，就去右侧确认对应的一行是否对齐。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第二幕把刚才用过的代码整理成模板。五块积木重新归位后，我们会复习程序框架、cout 规则和关键词。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以后做输出题，可以保留固定框架，只替换 cout 中的内容。家长陪练时，先让孩子口述五块作用，再遮住模板尝试默写。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按代码出现顺序读六个词：include、iostream、using、namespace、std 和 main。英文词根能帮助理解作用，但真正写代码时仍要保证拼写完全正确。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cout 负责标准输出，endl 结束当前行，return 返回结束状态，int 表示整数类型。广播喇叭只是 cout 的课堂比喻，更准确的说法是标准输出对象。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第三幕开始独立闯关。每道题都走同一个闭环：读题、设计输出、写代码、运行检查。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八道题从文字、数字逐步走向图案和综合练习。家长不直接报答案，只问检查问题，让孩子口述五要素；每完成一题就勾选，并说出这次遇到的错误。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今天我们已经会解释五要素，会用 cout 输出文字和计算结果，也会用星号、空格与换行画图案。今晚完成 N3113，并向家长讲一遍五要素；编程像搭积木，下一块等你来拼。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Free Design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Free Design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b374d61e61c593f.pn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547ec0d2362240f6.png"/>
  <Relationship Id="rId3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496862aa57274b1.png"/>
  <Relationship Id="rId3" Type="http://schemas.openxmlformats.org/officeDocument/2006/relationships/image" Target="../media/image_cb374d61e61c593f.png"/>
  <Relationship Id="rId4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36232a94677efaf9.png"/>
  <Relationship Id="rId3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75a38a0273ed1473.png"/>
  <Relationship Id="rId3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2b9da3b1f1879263.png"/>
  <Relationship Id="rId3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f68697543039391b.png"/>
  <Relationship Id="rId3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fac2346544f4c60.png"/>
  <Relationship Id="rId3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b374d61e61c593f.png"/>
  <Relationship Id="rId3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0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1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2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b374d61e61c593f.png"/>
  <Relationship Id="rId3" Type="http://schemas.openxmlformats.org/officeDocument/2006/relationships/notesSlide" Target="../notesSlides/notesSlide23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4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5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6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8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b374d61e61c593f.png"/>
  <Relationship Id="rId3" Type="http://schemas.openxmlformats.org/officeDocument/2006/relationships/notesSlide" Target="../notesSlides/notesSlide29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0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1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2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b374d61e61c593f.png"/>
  <Relationship Id="rId3" Type="http://schemas.openxmlformats.org/officeDocument/2006/relationships/notesSlide" Target="../notesSlides/notesSlide33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4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5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6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b374d61e61c593f.png"/>
  <Relationship Id="rId3" Type="http://schemas.openxmlformats.org/officeDocument/2006/relationships/notesSlide" Target="../notesSlides/notesSlide3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8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9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0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b374d61e61c593f.png"/>
  <Relationship Id="rId3" Type="http://schemas.openxmlformats.org/officeDocument/2006/relationships/notesSlide" Target="../notesSlides/notesSlide41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2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b374d61e61c593f.png"/>
  <Relationship Id="rId3" Type="http://schemas.openxmlformats.org/officeDocument/2006/relationships/notesSlide" Target="../notesSlides/notesSlide43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CF1"/>
            </a:gs>
            <a:gs pos="100000">
              <a:srgbClr val="FFEFCB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209550"/>
          </a:xfrm>
          <a:prstGeom prst="rect">
            <a:avLst/>
          </a:prstGeom>
          <a:solidFill>
            <a:srgbClr val="2E9BFF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068050" y="533400"/>
            <a:ext cx="381000" cy="381000"/>
          </a:xfrm>
          <a:prstGeom prst="ellipse">
            <a:avLst/>
          </a:prstGeom>
          <a:solidFill>
            <a:srgbClr val="2E9BFF">
              <a:alpha val="18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11601450" y="1047750"/>
            <a:ext cx="228600" cy="228600"/>
          </a:xfrm>
          <a:prstGeom prst="ellipse">
            <a:avLst/>
          </a:prstGeom>
          <a:solidFill>
            <a:srgbClr val="FF6FA5">
              <a:alpha val="28000"/>
            </a:srgbClr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90550" y="495300"/>
            <a:ext cx="2533650" cy="495300"/>
            <a:chOff x="590550" y="495300"/>
            <a:chExt cx="2533650" cy="495300"/>
          </a:xfrm>
        </p:grpSpPr>
        <p:sp>
          <p:nvSpPr>
            <p:cNvPr id="5" name="Rectangle 5"/>
            <p:cNvSpPr/>
            <p:nvPr/>
          </p:nvSpPr>
          <p:spPr>
            <a:xfrm>
              <a:off x="590550" y="495300"/>
              <a:ext cx="2533650" cy="495300"/>
            </a:xfrm>
            <a:prstGeom prst="roundRect">
              <a:avLst>
                <a:gd name="adj" fmla="val 50000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782636" y="635140"/>
              <a:ext cx="217280" cy="218128"/>
            </a:xfrm>
            <a:custGeom>
              <a:avLst/>
              <a:gdLst/>
              <a:ahLst/>
              <a:cxnLst/>
              <a:rect l="l" t="t" r="r" b="b"/>
              <a:pathLst>
                <a:path w="217280" h="218128">
                  <a:moveTo>
                    <a:pt x="154782" y="18449"/>
                  </a:moveTo>
                  <a:cubicBezTo>
                    <a:pt x="198149" y="43487"/>
                    <a:pt x="217280" y="96049"/>
                    <a:pt x="200152" y="143105"/>
                  </a:cubicBezTo>
                  <a:cubicBezTo>
                    <a:pt x="183025" y="190161"/>
                    <a:pt x="134584" y="218128"/>
                    <a:pt x="85268" y="209431"/>
                  </a:cubicBezTo>
                  <a:cubicBezTo>
                    <a:pt x="35953" y="200735"/>
                    <a:pt x="0" y="157886"/>
                    <a:pt x="1" y="107809"/>
                  </a:cubicBezTo>
                  <a:lnTo>
                    <a:pt x="53" y="104466"/>
                  </a:lnTo>
                  <a:cubicBezTo>
                    <a:pt x="1228" y="68216"/>
                    <a:pt x="21349" y="35245"/>
                    <a:pt x="53049" y="17623"/>
                  </a:cubicBezTo>
                  <a:cubicBezTo>
                    <a:pt x="84749" y="0"/>
                    <a:pt x="123373" y="314"/>
                    <a:pt x="154782" y="18449"/>
                  </a:cubicBezTo>
                  <a:moveTo>
                    <a:pt x="89846" y="79877"/>
                  </a:moveTo>
                  <a:cubicBezTo>
                    <a:pt x="85817" y="75848"/>
                    <a:pt x="79285" y="75848"/>
                    <a:pt x="75256" y="79877"/>
                  </a:cubicBezTo>
                  <a:lnTo>
                    <a:pt x="54618" y="100514"/>
                  </a:lnTo>
                  <a:cubicBezTo>
                    <a:pt x="50590" y="104543"/>
                    <a:pt x="50590" y="111075"/>
                    <a:pt x="54618" y="115105"/>
                  </a:cubicBezTo>
                  <a:lnTo>
                    <a:pt x="75256" y="135742"/>
                  </a:lnTo>
                  <a:cubicBezTo>
                    <a:pt x="79285" y="139770"/>
                    <a:pt x="85817" y="139770"/>
                    <a:pt x="89846" y="135742"/>
                  </a:cubicBezTo>
                  <a:lnTo>
                    <a:pt x="90703" y="134772"/>
                  </a:lnTo>
                  <a:cubicBezTo>
                    <a:pt x="93889" y="130664"/>
                    <a:pt x="93522" y="124828"/>
                    <a:pt x="89846" y="121151"/>
                  </a:cubicBezTo>
                  <a:lnTo>
                    <a:pt x="76515" y="107809"/>
                  </a:lnTo>
                  <a:lnTo>
                    <a:pt x="89846" y="94467"/>
                  </a:lnTo>
                  <a:cubicBezTo>
                    <a:pt x="93875" y="90438"/>
                    <a:pt x="93875" y="83906"/>
                    <a:pt x="89846" y="79877"/>
                  </a:cubicBezTo>
                  <a:moveTo>
                    <a:pt x="131121" y="79877"/>
                  </a:moveTo>
                  <a:cubicBezTo>
                    <a:pt x="127092" y="75848"/>
                    <a:pt x="120560" y="75848"/>
                    <a:pt x="116531" y="79877"/>
                  </a:cubicBezTo>
                  <a:lnTo>
                    <a:pt x="115674" y="80847"/>
                  </a:lnTo>
                  <a:cubicBezTo>
                    <a:pt x="112488" y="84954"/>
                    <a:pt x="112855" y="90791"/>
                    <a:pt x="116531" y="94467"/>
                  </a:cubicBezTo>
                  <a:lnTo>
                    <a:pt x="129862" y="107809"/>
                  </a:lnTo>
                  <a:lnTo>
                    <a:pt x="116531" y="121151"/>
                  </a:lnTo>
                  <a:cubicBezTo>
                    <a:pt x="112620" y="125200"/>
                    <a:pt x="112676" y="131636"/>
                    <a:pt x="116656" y="135616"/>
                  </a:cubicBezTo>
                  <a:cubicBezTo>
                    <a:pt x="120637" y="139597"/>
                    <a:pt x="127072" y="139653"/>
                    <a:pt x="131121" y="135742"/>
                  </a:cubicBezTo>
                  <a:lnTo>
                    <a:pt x="151759" y="115105"/>
                  </a:lnTo>
                  <a:cubicBezTo>
                    <a:pt x="155787" y="111075"/>
                    <a:pt x="155787" y="104543"/>
                    <a:pt x="151759" y="100514"/>
                  </a:cubicBezTo>
                  <a:close/>
                </a:path>
              </a:pathLst>
            </a:custGeom>
            <a:solidFill>
              <a:srgbClr val="2E9BF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14806" y="634365"/>
              <a:ext cx="19033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E9BFF"/>
                  </a:solidFill>
                  <a:latin typeface="Segoe UI"/>
                  <a:ea typeface="YouYuan"/>
                  <a:cs typeface="Segoe UI"/>
                </a:rPr>
                <a:t>亲子 C++ 公开课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71500" y="1644968"/>
            <a:ext cx="5359146" cy="1751266"/>
            <a:chOff x="571500" y="1644968"/>
            <a:chExt cx="5359146" cy="1751266"/>
          </a:xfrm>
        </p:grpSpPr>
        <p:sp>
          <p:nvSpPr>
            <p:cNvPr id="9" name="TextBox 9"/>
            <p:cNvSpPr txBox="1"/>
            <p:nvPr/>
          </p:nvSpPr>
          <p:spPr>
            <a:xfrm>
              <a:off x="571500" y="1644968"/>
              <a:ext cx="2542466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203044"/>
                  </a:solidFill>
                  <a:latin typeface="Segoe UI"/>
                  <a:ea typeface="YouYuan"/>
                  <a:cs typeface="Segoe UI"/>
                </a:rPr>
                <a:t>初识 C++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78358" y="2503170"/>
              <a:ext cx="345719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E9BFF"/>
                  </a:solidFill>
                  <a:latin typeface="Segoe UI"/>
                  <a:ea typeface="YouYuan"/>
                  <a:cs typeface="Segoe UI"/>
                </a:rPr>
                <a:t>一行 cout，让电脑开口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81406" y="3044190"/>
              <a:ext cx="53492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说话、算结果、画图案，编程像搭积木一样好玩。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90550" y="3638550"/>
            <a:ext cx="5734050" cy="781050"/>
            <a:chOff x="590550" y="3638550"/>
            <a:chExt cx="5734050" cy="781050"/>
          </a:xfrm>
        </p:grpSpPr>
        <p:sp>
          <p:nvSpPr>
            <p:cNvPr id="13" name="Rectangle 13"/>
            <p:cNvSpPr/>
            <p:nvPr/>
          </p:nvSpPr>
          <p:spPr>
            <a:xfrm>
              <a:off x="590550" y="3638550"/>
              <a:ext cx="1847850" cy="666750"/>
            </a:xfrm>
            <a:prstGeom prst="roundRect">
              <a:avLst>
                <a:gd name="adj" fmla="val 31429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793750" y="3844925"/>
              <a:ext cx="203199" cy="253999"/>
            </a:xfrm>
            <a:custGeom>
              <a:avLst/>
              <a:gdLst/>
              <a:ahLst/>
              <a:cxnLst/>
              <a:rect l="l" t="t" r="r" b="b"/>
              <a:pathLst>
                <a:path w="203199" h="253999">
                  <a:moveTo>
                    <a:pt x="165100" y="0"/>
                  </a:moveTo>
                  <a:cubicBezTo>
                    <a:pt x="186142" y="0"/>
                    <a:pt x="203199" y="17058"/>
                    <a:pt x="203199" y="38100"/>
                  </a:cubicBezTo>
                  <a:lnTo>
                    <a:pt x="203199" y="215899"/>
                  </a:lnTo>
                  <a:cubicBezTo>
                    <a:pt x="203199" y="236941"/>
                    <a:pt x="186142" y="253999"/>
                    <a:pt x="165100" y="253999"/>
                  </a:cubicBezTo>
                  <a:lnTo>
                    <a:pt x="38100" y="253999"/>
                  </a:lnTo>
                  <a:cubicBezTo>
                    <a:pt x="17058" y="253999"/>
                    <a:pt x="0" y="236941"/>
                    <a:pt x="0" y="215899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  <a:moveTo>
                    <a:pt x="101600" y="114300"/>
                  </a:moveTo>
                  <a:cubicBezTo>
                    <a:pt x="74531" y="114300"/>
                    <a:pt x="52217" y="135525"/>
                    <a:pt x="50863" y="162560"/>
                  </a:cubicBezTo>
                  <a:lnTo>
                    <a:pt x="50800" y="165100"/>
                  </a:lnTo>
                  <a:cubicBezTo>
                    <a:pt x="50800" y="193156"/>
                    <a:pt x="73544" y="215899"/>
                    <a:pt x="101600" y="215899"/>
                  </a:cubicBezTo>
                  <a:cubicBezTo>
                    <a:pt x="129656" y="215899"/>
                    <a:pt x="152400" y="193156"/>
                    <a:pt x="152400" y="165100"/>
                  </a:cubicBezTo>
                  <a:cubicBezTo>
                    <a:pt x="152400" y="137044"/>
                    <a:pt x="129656" y="114300"/>
                    <a:pt x="101600" y="114300"/>
                  </a:cubicBezTo>
                  <a:moveTo>
                    <a:pt x="101600" y="50800"/>
                  </a:moveTo>
                  <a:cubicBezTo>
                    <a:pt x="94586" y="50800"/>
                    <a:pt x="88900" y="56486"/>
                    <a:pt x="88900" y="63500"/>
                  </a:cubicBezTo>
                  <a:lnTo>
                    <a:pt x="88900" y="63627"/>
                  </a:lnTo>
                  <a:cubicBezTo>
                    <a:pt x="88900" y="70641"/>
                    <a:pt x="94586" y="76327"/>
                    <a:pt x="101600" y="76327"/>
                  </a:cubicBezTo>
                  <a:cubicBezTo>
                    <a:pt x="108614" y="76327"/>
                    <a:pt x="114300" y="70641"/>
                    <a:pt x="114300" y="63627"/>
                  </a:cubicBezTo>
                  <a:lnTo>
                    <a:pt x="114300" y="63500"/>
                  </a:lnTo>
                  <a:cubicBezTo>
                    <a:pt x="114300" y="56486"/>
                    <a:pt x="108614" y="50800"/>
                    <a:pt x="101600" y="5080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15568" y="38985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让电脑说话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533650" y="3752850"/>
              <a:ext cx="1847850" cy="666750"/>
            </a:xfrm>
            <a:prstGeom prst="roundRect">
              <a:avLst>
                <a:gd name="adj" fmla="val 31429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2724150" y="3959225"/>
              <a:ext cx="228599" cy="253999"/>
            </a:xfrm>
            <a:custGeom>
              <a:avLst/>
              <a:gdLst/>
              <a:ahLst/>
              <a:cxnLst/>
              <a:rect l="l" t="t" r="r" b="b"/>
              <a:pathLst>
                <a:path w="228599" h="253999">
                  <a:moveTo>
                    <a:pt x="190500" y="0"/>
                  </a:moveTo>
                  <a:cubicBezTo>
                    <a:pt x="211542" y="0"/>
                    <a:pt x="228599" y="17058"/>
                    <a:pt x="228599" y="38100"/>
                  </a:cubicBezTo>
                  <a:lnTo>
                    <a:pt x="228599" y="215899"/>
                  </a:lnTo>
                  <a:cubicBezTo>
                    <a:pt x="228599" y="236941"/>
                    <a:pt x="211542" y="253999"/>
                    <a:pt x="190500" y="253999"/>
                  </a:cubicBezTo>
                  <a:lnTo>
                    <a:pt x="38100" y="253999"/>
                  </a:lnTo>
                  <a:cubicBezTo>
                    <a:pt x="17058" y="253999"/>
                    <a:pt x="0" y="236941"/>
                    <a:pt x="0" y="215899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  <a:moveTo>
                    <a:pt x="63500" y="190500"/>
                  </a:moveTo>
                  <a:cubicBezTo>
                    <a:pt x="56486" y="190500"/>
                    <a:pt x="50800" y="196185"/>
                    <a:pt x="50800" y="203199"/>
                  </a:cubicBezTo>
                  <a:lnTo>
                    <a:pt x="50889" y="204812"/>
                  </a:lnTo>
                  <a:cubicBezTo>
                    <a:pt x="51682" y="211485"/>
                    <a:pt x="57536" y="216384"/>
                    <a:pt x="64244" y="215991"/>
                  </a:cubicBezTo>
                  <a:cubicBezTo>
                    <a:pt x="70952" y="215597"/>
                    <a:pt x="76192" y="210046"/>
                    <a:pt x="76200" y="203326"/>
                  </a:cubicBezTo>
                  <a:lnTo>
                    <a:pt x="76111" y="201714"/>
                  </a:lnTo>
                  <a:cubicBezTo>
                    <a:pt x="75358" y="195319"/>
                    <a:pt x="69938" y="190500"/>
                    <a:pt x="63500" y="190500"/>
                  </a:cubicBezTo>
                  <a:close/>
                  <a:moveTo>
                    <a:pt x="114300" y="190500"/>
                  </a:moveTo>
                  <a:cubicBezTo>
                    <a:pt x="107286" y="190500"/>
                    <a:pt x="101600" y="196185"/>
                    <a:pt x="101600" y="203199"/>
                  </a:cubicBezTo>
                  <a:lnTo>
                    <a:pt x="101689" y="204812"/>
                  </a:lnTo>
                  <a:cubicBezTo>
                    <a:pt x="102482" y="211485"/>
                    <a:pt x="108336" y="216384"/>
                    <a:pt x="115044" y="215991"/>
                  </a:cubicBezTo>
                  <a:cubicBezTo>
                    <a:pt x="121752" y="215597"/>
                    <a:pt x="126992" y="210046"/>
                    <a:pt x="127000" y="203326"/>
                  </a:cubicBezTo>
                  <a:lnTo>
                    <a:pt x="126911" y="201714"/>
                  </a:lnTo>
                  <a:cubicBezTo>
                    <a:pt x="126157" y="195319"/>
                    <a:pt x="120738" y="190500"/>
                    <a:pt x="114300" y="190500"/>
                  </a:cubicBezTo>
                  <a:close/>
                  <a:moveTo>
                    <a:pt x="165100" y="190500"/>
                  </a:moveTo>
                  <a:cubicBezTo>
                    <a:pt x="158086" y="190500"/>
                    <a:pt x="152400" y="196185"/>
                    <a:pt x="152400" y="203199"/>
                  </a:cubicBezTo>
                  <a:lnTo>
                    <a:pt x="152489" y="204812"/>
                  </a:lnTo>
                  <a:cubicBezTo>
                    <a:pt x="153282" y="211485"/>
                    <a:pt x="159136" y="216384"/>
                    <a:pt x="165844" y="215991"/>
                  </a:cubicBezTo>
                  <a:cubicBezTo>
                    <a:pt x="172552" y="215597"/>
                    <a:pt x="177792" y="210046"/>
                    <a:pt x="177800" y="203326"/>
                  </a:cubicBezTo>
                  <a:lnTo>
                    <a:pt x="177711" y="201714"/>
                  </a:lnTo>
                  <a:cubicBezTo>
                    <a:pt x="176957" y="195319"/>
                    <a:pt x="171538" y="190500"/>
                    <a:pt x="165100" y="190500"/>
                  </a:cubicBezTo>
                  <a:close/>
                  <a:moveTo>
                    <a:pt x="63500" y="139700"/>
                  </a:moveTo>
                  <a:cubicBezTo>
                    <a:pt x="56486" y="139700"/>
                    <a:pt x="50800" y="145386"/>
                    <a:pt x="50800" y="152400"/>
                  </a:cubicBezTo>
                  <a:lnTo>
                    <a:pt x="50889" y="154013"/>
                  </a:lnTo>
                  <a:cubicBezTo>
                    <a:pt x="51682" y="160685"/>
                    <a:pt x="57536" y="165584"/>
                    <a:pt x="64244" y="165191"/>
                  </a:cubicBezTo>
                  <a:cubicBezTo>
                    <a:pt x="70952" y="164797"/>
                    <a:pt x="76192" y="159246"/>
                    <a:pt x="76200" y="152527"/>
                  </a:cubicBezTo>
                  <a:lnTo>
                    <a:pt x="76111" y="150914"/>
                  </a:lnTo>
                  <a:cubicBezTo>
                    <a:pt x="75358" y="144519"/>
                    <a:pt x="69938" y="139701"/>
                    <a:pt x="63500" y="139700"/>
                  </a:cubicBezTo>
                  <a:close/>
                  <a:moveTo>
                    <a:pt x="114300" y="139700"/>
                  </a:moveTo>
                  <a:cubicBezTo>
                    <a:pt x="107286" y="139700"/>
                    <a:pt x="101600" y="145386"/>
                    <a:pt x="101600" y="152400"/>
                  </a:cubicBezTo>
                  <a:lnTo>
                    <a:pt x="101689" y="154013"/>
                  </a:lnTo>
                  <a:cubicBezTo>
                    <a:pt x="102482" y="160685"/>
                    <a:pt x="108336" y="165584"/>
                    <a:pt x="115044" y="165191"/>
                  </a:cubicBezTo>
                  <a:cubicBezTo>
                    <a:pt x="121752" y="164797"/>
                    <a:pt x="126992" y="159246"/>
                    <a:pt x="127000" y="152527"/>
                  </a:cubicBezTo>
                  <a:lnTo>
                    <a:pt x="126911" y="150914"/>
                  </a:lnTo>
                  <a:cubicBezTo>
                    <a:pt x="126157" y="144519"/>
                    <a:pt x="120738" y="139701"/>
                    <a:pt x="114300" y="139700"/>
                  </a:cubicBezTo>
                  <a:close/>
                  <a:moveTo>
                    <a:pt x="165100" y="139700"/>
                  </a:moveTo>
                  <a:cubicBezTo>
                    <a:pt x="158086" y="139700"/>
                    <a:pt x="152400" y="145386"/>
                    <a:pt x="152400" y="152400"/>
                  </a:cubicBezTo>
                  <a:lnTo>
                    <a:pt x="152489" y="154013"/>
                  </a:lnTo>
                  <a:cubicBezTo>
                    <a:pt x="153282" y="160685"/>
                    <a:pt x="159136" y="165584"/>
                    <a:pt x="165844" y="165191"/>
                  </a:cubicBezTo>
                  <a:cubicBezTo>
                    <a:pt x="172552" y="164797"/>
                    <a:pt x="177792" y="159246"/>
                    <a:pt x="177800" y="152527"/>
                  </a:cubicBezTo>
                  <a:lnTo>
                    <a:pt x="177711" y="150914"/>
                  </a:lnTo>
                  <a:cubicBezTo>
                    <a:pt x="176957" y="144519"/>
                    <a:pt x="171538" y="139701"/>
                    <a:pt x="165100" y="139700"/>
                  </a:cubicBezTo>
                  <a:close/>
                  <a:moveTo>
                    <a:pt x="152400" y="50800"/>
                  </a:moveTo>
                  <a:lnTo>
                    <a:pt x="76200" y="50800"/>
                  </a:lnTo>
                  <a:cubicBezTo>
                    <a:pt x="62172" y="50800"/>
                    <a:pt x="50800" y="62172"/>
                    <a:pt x="50800" y="76200"/>
                  </a:cubicBezTo>
                  <a:lnTo>
                    <a:pt x="50800" y="88900"/>
                  </a:lnTo>
                  <a:cubicBezTo>
                    <a:pt x="50800" y="102928"/>
                    <a:pt x="62172" y="114300"/>
                    <a:pt x="76200" y="114300"/>
                  </a:cubicBezTo>
                  <a:lnTo>
                    <a:pt x="152400" y="114300"/>
                  </a:lnTo>
                  <a:cubicBezTo>
                    <a:pt x="166428" y="114300"/>
                    <a:pt x="177800" y="102928"/>
                    <a:pt x="177800" y="88900"/>
                  </a:cubicBezTo>
                  <a:lnTo>
                    <a:pt x="177800" y="76200"/>
                  </a:lnTo>
                  <a:cubicBezTo>
                    <a:pt x="177800" y="62172"/>
                    <a:pt x="166428" y="50800"/>
                    <a:pt x="152400" y="508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058668" y="40128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让电脑计算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476750" y="3638550"/>
              <a:ext cx="1847850" cy="666750"/>
            </a:xfrm>
            <a:prstGeom prst="roundRect">
              <a:avLst>
                <a:gd name="adj" fmla="val 31429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4641189" y="3832251"/>
              <a:ext cx="280581" cy="267415"/>
            </a:xfrm>
            <a:custGeom>
              <a:avLst/>
              <a:gdLst/>
              <a:ahLst/>
              <a:cxnLst/>
              <a:rect l="l" t="t" r="r" b="b"/>
              <a:pathLst>
                <a:path w="280581" h="267415">
                  <a:moveTo>
                    <a:pt x="92647" y="80492"/>
                  </a:moveTo>
                  <a:lnTo>
                    <a:pt x="11621" y="92239"/>
                  </a:lnTo>
                  <a:lnTo>
                    <a:pt x="10186" y="92532"/>
                  </a:lnTo>
                  <a:cubicBezTo>
                    <a:pt x="5763" y="93706"/>
                    <a:pt x="2314" y="97168"/>
                    <a:pt x="1157" y="101596"/>
                  </a:cubicBezTo>
                  <a:cubicBezTo>
                    <a:pt x="0" y="106023"/>
                    <a:pt x="1314" y="110731"/>
                    <a:pt x="4598" y="113918"/>
                  </a:cubicBezTo>
                  <a:lnTo>
                    <a:pt x="63297" y="171055"/>
                  </a:lnTo>
                  <a:lnTo>
                    <a:pt x="49454" y="251764"/>
                  </a:lnTo>
                  <a:lnTo>
                    <a:pt x="49289" y="253161"/>
                  </a:lnTo>
                  <a:cubicBezTo>
                    <a:pt x="49018" y="257735"/>
                    <a:pt x="51233" y="262101"/>
                    <a:pt x="55084" y="264585"/>
                  </a:cubicBezTo>
                  <a:cubicBezTo>
                    <a:pt x="58936" y="267068"/>
                    <a:pt x="63826" y="267284"/>
                    <a:pt x="67882" y="265150"/>
                  </a:cubicBezTo>
                  <a:lnTo>
                    <a:pt x="140348" y="227050"/>
                  </a:lnTo>
                  <a:lnTo>
                    <a:pt x="212649" y="265150"/>
                  </a:lnTo>
                  <a:lnTo>
                    <a:pt x="213919" y="265734"/>
                  </a:lnTo>
                  <a:cubicBezTo>
                    <a:pt x="218187" y="267415"/>
                    <a:pt x="223030" y="266664"/>
                    <a:pt x="226588" y="263769"/>
                  </a:cubicBezTo>
                  <a:cubicBezTo>
                    <a:pt x="230146" y="260874"/>
                    <a:pt x="231867" y="256285"/>
                    <a:pt x="231089" y="251764"/>
                  </a:cubicBezTo>
                  <a:lnTo>
                    <a:pt x="217233" y="171055"/>
                  </a:lnTo>
                  <a:lnTo>
                    <a:pt x="275958" y="113906"/>
                  </a:lnTo>
                  <a:lnTo>
                    <a:pt x="276949" y="112826"/>
                  </a:lnTo>
                  <a:cubicBezTo>
                    <a:pt x="279829" y="109278"/>
                    <a:pt x="280581" y="104456"/>
                    <a:pt x="278918" y="100199"/>
                  </a:cubicBezTo>
                  <a:cubicBezTo>
                    <a:pt x="277255" y="95942"/>
                    <a:pt x="273433" y="92907"/>
                    <a:pt x="268909" y="92252"/>
                  </a:cubicBezTo>
                  <a:lnTo>
                    <a:pt x="187884" y="80492"/>
                  </a:lnTo>
                  <a:lnTo>
                    <a:pt x="151663" y="7086"/>
                  </a:lnTo>
                  <a:cubicBezTo>
                    <a:pt x="149525" y="2748"/>
                    <a:pt x="145108" y="0"/>
                    <a:pt x="140271" y="0"/>
                  </a:cubicBezTo>
                  <a:cubicBezTo>
                    <a:pt x="135435" y="0"/>
                    <a:pt x="131018" y="2748"/>
                    <a:pt x="128880" y="7086"/>
                  </a:cubicBezTo>
                  <a:lnTo>
                    <a:pt x="92647" y="804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001768" y="38985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让电脑画图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90550" y="4953000"/>
            <a:ext cx="6000750" cy="933450"/>
            <a:chOff x="590550" y="4953000"/>
            <a:chExt cx="6000750" cy="933450"/>
          </a:xfrm>
        </p:grpSpPr>
        <p:sp>
          <p:nvSpPr>
            <p:cNvPr id="23" name="Rectangle 23"/>
            <p:cNvSpPr/>
            <p:nvPr/>
          </p:nvSpPr>
          <p:spPr>
            <a:xfrm>
              <a:off x="590550" y="4953000"/>
              <a:ext cx="5048250" cy="933450"/>
            </a:xfrm>
            <a:prstGeom prst="roundRect">
              <a:avLst>
                <a:gd name="adj" fmla="val 26531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771525" y="5095875"/>
              <a:ext cx="133350" cy="13335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981075" y="5095875"/>
              <a:ext cx="133350" cy="13335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1190625" y="5095875"/>
              <a:ext cx="133350" cy="13335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29818" y="5441632"/>
              <a:ext cx="25169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03044"/>
                  </a:solidFill>
                  <a:latin typeface="Consolas"/>
                  <a:ea typeface="Consolas"/>
                  <a:cs typeface="Consolas"/>
                </a:rPr>
                <a:t>cout &lt;&lt; "Hello, C++!";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486400" y="5105400"/>
              <a:ext cx="1104900" cy="628650"/>
            </a:xfrm>
            <a:prstGeom prst="roundRect">
              <a:avLst>
                <a:gd name="adj" fmla="val 30303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751195" y="5353050"/>
              <a:ext cx="5753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RUN ▶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410450" y="1123950"/>
            <a:ext cx="3957385" cy="5124450"/>
            <a:chOff x="7410450" y="1123950"/>
            <a:chExt cx="3957385" cy="5124450"/>
          </a:xfrm>
        </p:grpSpPr>
        <p:sp>
          <p:nvSpPr>
            <p:cNvPr id="31" name="Ellipse 31"/>
            <p:cNvSpPr/>
            <p:nvPr/>
          </p:nvSpPr>
          <p:spPr>
            <a:xfrm>
              <a:off x="7962900" y="5791200"/>
              <a:ext cx="3276600" cy="457200"/>
            </a:xfrm>
            <a:prstGeom prst="ellipse">
              <a:avLst/>
            </a:prstGeom>
            <a:solidFill>
              <a:srgbClr val="2E9BFF">
                <a:alpha val="12000"/>
              </a:srgbClr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410450" y="1123950"/>
              <a:ext cx="2476500" cy="1066800"/>
            </a:xfrm>
            <a:prstGeom prst="roundRect">
              <a:avLst>
                <a:gd name="adj" fmla="val 30357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87056" y="13677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准备好了吗？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87818" y="174593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E9BFF"/>
                  </a:solidFill>
                  <a:latin typeface="Arial"/>
                  <a:ea typeface="Microsoft YaHei"/>
                  <a:cs typeface="Arial"/>
                </a:rPr>
                <a:t>我们一起让电脑开口！</a:t>
              </a:r>
            </a:p>
          </p:txBody>
        </p:sp>
        <p:pic>
          <p:nvPicPr>
            <p:cNvPr id="35" name="Image 3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34615" y="1809750"/>
              <a:ext cx="3133220" cy="4095750"/>
            </a:xfrm>
            <a:prstGeom prst="rect">
              <a:avLst/>
            </a:prstGeom>
          </p:spPr>
        </p:pic>
        <p:sp>
          <p:nvSpPr>
            <p:cNvPr id="36" name="Rectangle 36"/>
            <p:cNvSpPr/>
            <p:nvPr/>
          </p:nvSpPr>
          <p:spPr>
            <a:xfrm>
              <a:off x="9829800" y="5276850"/>
              <a:ext cx="1466850" cy="533400"/>
            </a:xfrm>
            <a:prstGeom prst="roundRect">
              <a:avLst>
                <a:gd name="adj" fmla="val 32143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110597" y="545115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大仙老师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>
            <a:alphaModFix amt="82000"/>
          </a:blip>
          <a:srcRect l="0" t="26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F5">
              <a:alpha val="24000"/>
            </a:srgb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497586" y="520065"/>
            <a:ext cx="2699004" cy="645414"/>
            <a:chOff x="497586" y="520065"/>
            <a:chExt cx="2699004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497586" y="520065"/>
              <a:ext cx="269900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/>
                  <a:ea typeface="YouYuan"/>
                  <a:cs typeface="Segoe UI"/>
                </a:rPr>
                <a:t>今天的三幕课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14350" y="1047750"/>
              <a:ext cx="1790700" cy="95250"/>
            </a:xfrm>
            <a:prstGeom prst="roundRect">
              <a:avLst>
                <a:gd name="adj" fmla="val 50000"/>
              </a:avLst>
            </a:prstGeom>
            <a:solidFill>
              <a:srgbClr val="FF9F1C"/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47700" y="1524000"/>
            <a:ext cx="3219450" cy="2438400"/>
            <a:chOff x="647700" y="1524000"/>
            <a:chExt cx="3219450" cy="2438400"/>
          </a:xfrm>
        </p:grpSpPr>
        <p:sp>
          <p:nvSpPr>
            <p:cNvPr id="7" name="Rectangle 7"/>
            <p:cNvSpPr/>
            <p:nvPr/>
          </p:nvSpPr>
          <p:spPr>
            <a:xfrm>
              <a:off x="647700" y="1962150"/>
              <a:ext cx="3219450" cy="2000250"/>
            </a:xfrm>
            <a:prstGeom prst="roundRect">
              <a:avLst>
                <a:gd name="adj" fmla="val 18095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800100" y="1524000"/>
              <a:ext cx="800100" cy="800100"/>
            </a:xfrm>
            <a:prstGeom prst="ellipse">
              <a:avLst/>
            </a:prstGeom>
            <a:solidFill>
              <a:srgbClr val="FFFFFF"/>
            </a:solidFill>
            <a:ln w="76200">
              <a:solidFill>
                <a:srgbClr val="2E9BFF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94666" y="17983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2E9BFF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993773" y="2489481"/>
              <a:ext cx="434562" cy="436257"/>
            </a:xfrm>
            <a:custGeom>
              <a:avLst/>
              <a:gdLst/>
              <a:ahLst/>
              <a:cxnLst/>
              <a:rect l="l" t="t" r="r" b="b"/>
              <a:pathLst>
                <a:path w="434562" h="436257">
                  <a:moveTo>
                    <a:pt x="309566" y="36899"/>
                  </a:moveTo>
                  <a:cubicBezTo>
                    <a:pt x="396301" y="86975"/>
                    <a:pt x="434562" y="192098"/>
                    <a:pt x="400307" y="286211"/>
                  </a:cubicBezTo>
                  <a:cubicBezTo>
                    <a:pt x="366051" y="380324"/>
                    <a:pt x="269169" y="436257"/>
                    <a:pt x="170538" y="418864"/>
                  </a:cubicBezTo>
                  <a:cubicBezTo>
                    <a:pt x="71906" y="401471"/>
                    <a:pt x="0" y="315773"/>
                    <a:pt x="3" y="215620"/>
                  </a:cubicBezTo>
                  <a:lnTo>
                    <a:pt x="106" y="208933"/>
                  </a:lnTo>
                  <a:cubicBezTo>
                    <a:pt x="2457" y="136433"/>
                    <a:pt x="42698" y="70490"/>
                    <a:pt x="106098" y="35245"/>
                  </a:cubicBezTo>
                  <a:cubicBezTo>
                    <a:pt x="169498" y="0"/>
                    <a:pt x="246747" y="628"/>
                    <a:pt x="309566" y="36899"/>
                  </a:cubicBezTo>
                  <a:moveTo>
                    <a:pt x="179694" y="159754"/>
                  </a:moveTo>
                  <a:cubicBezTo>
                    <a:pt x="171635" y="151697"/>
                    <a:pt x="158571" y="151697"/>
                    <a:pt x="150512" y="159754"/>
                  </a:cubicBezTo>
                  <a:lnTo>
                    <a:pt x="109237" y="201029"/>
                  </a:lnTo>
                  <a:cubicBezTo>
                    <a:pt x="101180" y="209088"/>
                    <a:pt x="101180" y="222151"/>
                    <a:pt x="109237" y="230210"/>
                  </a:cubicBezTo>
                  <a:lnTo>
                    <a:pt x="150512" y="271485"/>
                  </a:lnTo>
                  <a:cubicBezTo>
                    <a:pt x="158571" y="279542"/>
                    <a:pt x="171635" y="279542"/>
                    <a:pt x="179694" y="271485"/>
                  </a:cubicBezTo>
                  <a:lnTo>
                    <a:pt x="181406" y="269546"/>
                  </a:lnTo>
                  <a:cubicBezTo>
                    <a:pt x="187779" y="261330"/>
                    <a:pt x="187045" y="249657"/>
                    <a:pt x="179694" y="242304"/>
                  </a:cubicBezTo>
                  <a:lnTo>
                    <a:pt x="153030" y="215620"/>
                  </a:lnTo>
                  <a:lnTo>
                    <a:pt x="179694" y="188935"/>
                  </a:lnTo>
                  <a:cubicBezTo>
                    <a:pt x="187750" y="180876"/>
                    <a:pt x="187750" y="167813"/>
                    <a:pt x="179694" y="159754"/>
                  </a:cubicBezTo>
                  <a:moveTo>
                    <a:pt x="262244" y="159754"/>
                  </a:moveTo>
                  <a:cubicBezTo>
                    <a:pt x="254185" y="151697"/>
                    <a:pt x="241121" y="151697"/>
                    <a:pt x="233062" y="159754"/>
                  </a:cubicBezTo>
                  <a:lnTo>
                    <a:pt x="231349" y="161694"/>
                  </a:lnTo>
                  <a:cubicBezTo>
                    <a:pt x="224976" y="169909"/>
                    <a:pt x="225710" y="181583"/>
                    <a:pt x="233062" y="188935"/>
                  </a:cubicBezTo>
                  <a:lnTo>
                    <a:pt x="259726" y="215620"/>
                  </a:lnTo>
                  <a:lnTo>
                    <a:pt x="233062" y="242304"/>
                  </a:lnTo>
                  <a:cubicBezTo>
                    <a:pt x="225241" y="250402"/>
                    <a:pt x="225353" y="263273"/>
                    <a:pt x="233314" y="271234"/>
                  </a:cubicBezTo>
                  <a:cubicBezTo>
                    <a:pt x="241274" y="279195"/>
                    <a:pt x="254146" y="279307"/>
                    <a:pt x="262244" y="271485"/>
                  </a:cubicBezTo>
                  <a:lnTo>
                    <a:pt x="303519" y="230210"/>
                  </a:lnTo>
                  <a:cubicBezTo>
                    <a:pt x="311575" y="222151"/>
                    <a:pt x="311575" y="209088"/>
                    <a:pt x="303519" y="20102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645158" y="246507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新知精学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3356" y="3101340"/>
              <a:ext cx="18356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认识环境与 cout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4118" y="349853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AF5FF"/>
                  </a:solidFill>
                  <a:latin typeface="Arial"/>
                  <a:ea typeface="Microsoft YaHei"/>
                  <a:cs typeface="Arial"/>
                </a:rPr>
                <a:t>看见第一声输出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095750" y="1828800"/>
            <a:ext cx="3219450" cy="2438400"/>
            <a:chOff x="4095750" y="1828800"/>
            <a:chExt cx="3219450" cy="2438400"/>
          </a:xfrm>
        </p:grpSpPr>
        <p:sp>
          <p:nvSpPr>
            <p:cNvPr id="15" name="Rectangle 15"/>
            <p:cNvSpPr/>
            <p:nvPr/>
          </p:nvSpPr>
          <p:spPr>
            <a:xfrm>
              <a:off x="4095750" y="2266950"/>
              <a:ext cx="3219450" cy="2000250"/>
            </a:xfrm>
            <a:prstGeom prst="roundRect">
              <a:avLst>
                <a:gd name="adj" fmla="val 18095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4248150" y="1828800"/>
              <a:ext cx="800100" cy="800100"/>
            </a:xfrm>
            <a:prstGeom prst="ellipse">
              <a:avLst/>
            </a:prstGeom>
            <a:solidFill>
              <a:srgbClr val="FFFFFF"/>
            </a:solidFill>
            <a:ln w="76200">
              <a:solidFill>
                <a:srgbClr val="FF9F1C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542716" y="21031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9F1C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4441818" y="2803523"/>
              <a:ext cx="413774" cy="412759"/>
            </a:xfrm>
            <a:custGeom>
              <a:avLst/>
              <a:gdLst/>
              <a:ahLst/>
              <a:cxnLst/>
              <a:rect l="l" t="t" r="r" b="b"/>
              <a:pathLst>
                <a:path w="413774" h="412759">
                  <a:moveTo>
                    <a:pt x="165107" y="2"/>
                  </a:moveTo>
                  <a:cubicBezTo>
                    <a:pt x="197891" y="0"/>
                    <a:pt x="224993" y="25555"/>
                    <a:pt x="226916" y="58282"/>
                  </a:cubicBezTo>
                  <a:lnTo>
                    <a:pt x="227020" y="61914"/>
                  </a:lnTo>
                  <a:lnTo>
                    <a:pt x="227020" y="82552"/>
                  </a:lnTo>
                  <a:lnTo>
                    <a:pt x="288932" y="82552"/>
                  </a:lnTo>
                  <a:cubicBezTo>
                    <a:pt x="310532" y="82545"/>
                    <a:pt x="328484" y="99192"/>
                    <a:pt x="330104" y="120731"/>
                  </a:cubicBezTo>
                  <a:lnTo>
                    <a:pt x="330207" y="123827"/>
                  </a:lnTo>
                  <a:lnTo>
                    <a:pt x="330207" y="185740"/>
                  </a:lnTo>
                  <a:lnTo>
                    <a:pt x="350845" y="185740"/>
                  </a:lnTo>
                  <a:cubicBezTo>
                    <a:pt x="384354" y="185707"/>
                    <a:pt x="411807" y="212341"/>
                    <a:pt x="412790" y="245835"/>
                  </a:cubicBezTo>
                  <a:cubicBezTo>
                    <a:pt x="413774" y="279330"/>
                    <a:pt x="387930" y="307528"/>
                    <a:pt x="354477" y="309462"/>
                  </a:cubicBezTo>
                  <a:lnTo>
                    <a:pt x="350845" y="309565"/>
                  </a:lnTo>
                  <a:lnTo>
                    <a:pt x="330207" y="309565"/>
                  </a:lnTo>
                  <a:lnTo>
                    <a:pt x="330207" y="371477"/>
                  </a:lnTo>
                  <a:cubicBezTo>
                    <a:pt x="330214" y="393077"/>
                    <a:pt x="313567" y="411029"/>
                    <a:pt x="292028" y="412649"/>
                  </a:cubicBezTo>
                  <a:lnTo>
                    <a:pt x="288932" y="412752"/>
                  </a:lnTo>
                  <a:lnTo>
                    <a:pt x="227020" y="412752"/>
                  </a:lnTo>
                  <a:cubicBezTo>
                    <a:pt x="205420" y="412759"/>
                    <a:pt x="187468" y="396112"/>
                    <a:pt x="185848" y="374573"/>
                  </a:cubicBezTo>
                  <a:lnTo>
                    <a:pt x="185745" y="371477"/>
                  </a:lnTo>
                  <a:lnTo>
                    <a:pt x="185745" y="350840"/>
                  </a:lnTo>
                  <a:cubicBezTo>
                    <a:pt x="185733" y="339921"/>
                    <a:pt x="177217" y="330901"/>
                    <a:pt x="166317" y="330261"/>
                  </a:cubicBezTo>
                  <a:cubicBezTo>
                    <a:pt x="155416" y="329621"/>
                    <a:pt x="145904" y="337583"/>
                    <a:pt x="144614" y="348425"/>
                  </a:cubicBezTo>
                  <a:lnTo>
                    <a:pt x="144470" y="350840"/>
                  </a:lnTo>
                  <a:lnTo>
                    <a:pt x="144470" y="371477"/>
                  </a:lnTo>
                  <a:cubicBezTo>
                    <a:pt x="144476" y="393077"/>
                    <a:pt x="127829" y="411029"/>
                    <a:pt x="106290" y="412649"/>
                  </a:cubicBezTo>
                  <a:lnTo>
                    <a:pt x="103194" y="412752"/>
                  </a:lnTo>
                  <a:lnTo>
                    <a:pt x="41282" y="412752"/>
                  </a:lnTo>
                  <a:cubicBezTo>
                    <a:pt x="19682" y="412759"/>
                    <a:pt x="1730" y="396112"/>
                    <a:pt x="110" y="374573"/>
                  </a:cubicBezTo>
                  <a:lnTo>
                    <a:pt x="7" y="371477"/>
                  </a:lnTo>
                  <a:lnTo>
                    <a:pt x="7" y="309565"/>
                  </a:lnTo>
                  <a:cubicBezTo>
                    <a:pt x="0" y="287965"/>
                    <a:pt x="16647" y="270013"/>
                    <a:pt x="38186" y="268393"/>
                  </a:cubicBezTo>
                  <a:lnTo>
                    <a:pt x="41282" y="268290"/>
                  </a:lnTo>
                  <a:lnTo>
                    <a:pt x="61919" y="268290"/>
                  </a:lnTo>
                  <a:cubicBezTo>
                    <a:pt x="72839" y="268278"/>
                    <a:pt x="81859" y="259762"/>
                    <a:pt x="82499" y="248862"/>
                  </a:cubicBezTo>
                  <a:cubicBezTo>
                    <a:pt x="83139" y="237961"/>
                    <a:pt x="75177" y="228449"/>
                    <a:pt x="64334" y="227159"/>
                  </a:cubicBezTo>
                  <a:lnTo>
                    <a:pt x="61919" y="227015"/>
                  </a:lnTo>
                  <a:lnTo>
                    <a:pt x="41282" y="227015"/>
                  </a:lnTo>
                  <a:cubicBezTo>
                    <a:pt x="19682" y="227022"/>
                    <a:pt x="1730" y="210374"/>
                    <a:pt x="110" y="188835"/>
                  </a:cubicBezTo>
                  <a:lnTo>
                    <a:pt x="7" y="185740"/>
                  </a:lnTo>
                  <a:lnTo>
                    <a:pt x="7" y="123827"/>
                  </a:lnTo>
                  <a:cubicBezTo>
                    <a:pt x="0" y="102227"/>
                    <a:pt x="16647" y="84275"/>
                    <a:pt x="38186" y="82655"/>
                  </a:cubicBezTo>
                  <a:lnTo>
                    <a:pt x="41282" y="82552"/>
                  </a:lnTo>
                  <a:lnTo>
                    <a:pt x="103194" y="82552"/>
                  </a:lnTo>
                  <a:lnTo>
                    <a:pt x="103194" y="61914"/>
                  </a:lnTo>
                  <a:cubicBezTo>
                    <a:pt x="103194" y="27721"/>
                    <a:pt x="130914" y="2"/>
                    <a:pt x="165107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093208" y="276987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知识梳理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391406" y="34061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记住五要素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392168" y="38033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DF5"/>
                  </a:solidFill>
                  <a:latin typeface="Arial"/>
                  <a:ea typeface="Microsoft YaHei"/>
                  <a:cs typeface="Arial"/>
                </a:rPr>
                <a:t>整理输出规则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543800" y="2133600"/>
            <a:ext cx="4000500" cy="2438400"/>
            <a:chOff x="7543800" y="2133600"/>
            <a:chExt cx="4000500" cy="2438400"/>
          </a:xfrm>
        </p:grpSpPr>
        <p:sp>
          <p:nvSpPr>
            <p:cNvPr id="23" name="Rectangle 23"/>
            <p:cNvSpPr/>
            <p:nvPr/>
          </p:nvSpPr>
          <p:spPr>
            <a:xfrm>
              <a:off x="7543800" y="2571750"/>
              <a:ext cx="4000500" cy="2000250"/>
            </a:xfrm>
            <a:prstGeom prst="roundRect">
              <a:avLst>
                <a:gd name="adj" fmla="val 18095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7696200" y="2133600"/>
              <a:ext cx="800100" cy="800100"/>
            </a:xfrm>
            <a:prstGeom prst="ellipse">
              <a:avLst/>
            </a:prstGeom>
            <a:solidFill>
              <a:srgbClr val="FFFFFF"/>
            </a:solidFill>
            <a:ln w="76200">
              <a:solidFill>
                <a:srgbClr val="FF6FA5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990766" y="24079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6FA5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grpSp>
          <p:nvGrpSpPr>
            <p:cNvPr id="32" name="Group 32"/>
            <p:cNvGrpSpPr/>
            <p:nvPr/>
          </p:nvGrpSpPr>
          <p:grpSpPr>
            <a:xfrm>
              <a:off x="7898420" y="3137272"/>
              <a:ext cx="383568" cy="344538"/>
              <a:chOff x="7898420" y="3137272"/>
              <a:chExt cx="383568" cy="344538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898420" y="3137272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898420" y="3261097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7898420" y="3384922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054975" y="3170238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054975" y="3294063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054975" y="3417888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8541258" y="307467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综合精练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839456" y="3710940"/>
              <a:ext cx="17508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独立完成 8 道题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840218" y="41081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DF5"/>
                  </a:solidFill>
                  <a:latin typeface="Arial"/>
                  <a:ea typeface="Microsoft YaHei"/>
                  <a:cs typeface="Arial"/>
                </a:rPr>
                <a:t>把方法带回家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47700" y="5219700"/>
            <a:ext cx="10896600" cy="876300"/>
            <a:chOff x="647700" y="5219700"/>
            <a:chExt cx="10896600" cy="876300"/>
          </a:xfrm>
        </p:grpSpPr>
        <p:sp>
          <p:nvSpPr>
            <p:cNvPr id="37" name="Rectangle 37"/>
            <p:cNvSpPr/>
            <p:nvPr/>
          </p:nvSpPr>
          <p:spPr>
            <a:xfrm>
              <a:off x="647700" y="5219700"/>
              <a:ext cx="10896600" cy="876300"/>
            </a:xfrm>
            <a:prstGeom prst="roundRect">
              <a:avLst>
                <a:gd name="adj" fmla="val 30435"/>
              </a:avLst>
            </a:prstGeom>
            <a:solidFill>
              <a:srgbClr val="EAF5FF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928218" y="5462588"/>
              <a:ext cx="334315" cy="333375"/>
              <a:chOff x="928218" y="5462588"/>
              <a:chExt cx="334315" cy="333375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928218" y="5612606"/>
                <a:ext cx="50946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50946" h="33338">
                    <a:moveTo>
                      <a:pt x="33807" y="0"/>
                    </a:moveTo>
                    <a:cubicBezTo>
                      <a:pt x="42627" y="10"/>
                      <a:pt x="49912" y="6888"/>
                      <a:pt x="50429" y="15692"/>
                    </a:cubicBezTo>
                    <a:cubicBezTo>
                      <a:pt x="50946" y="24496"/>
                      <a:pt x="44515" y="32179"/>
                      <a:pt x="35757" y="33221"/>
                    </a:cubicBezTo>
                    <a:lnTo>
                      <a:pt x="33807" y="33338"/>
                    </a:lnTo>
                    <a:lnTo>
                      <a:pt x="17138" y="33338"/>
                    </a:lnTo>
                    <a:cubicBezTo>
                      <a:pt x="8319" y="33328"/>
                      <a:pt x="1034" y="26450"/>
                      <a:pt x="517" y="17646"/>
                    </a:cubicBezTo>
                    <a:cubicBezTo>
                      <a:pt x="0" y="8841"/>
                      <a:pt x="6431" y="1158"/>
                      <a:pt x="15188" y="117"/>
                    </a:cubicBezTo>
                    <a:lnTo>
                      <a:pt x="17138" y="0"/>
                    </a:lnTo>
                    <a:lnTo>
                      <a:pt x="33807" y="0"/>
                    </a:ln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1078706" y="5462588"/>
                <a:ext cx="33338" cy="50476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50476">
                    <a:moveTo>
                      <a:pt x="16669" y="0"/>
                    </a:moveTo>
                    <a:cubicBezTo>
                      <a:pt x="25119" y="1"/>
                      <a:pt x="32232" y="6326"/>
                      <a:pt x="33221" y="14719"/>
                    </a:cubicBezTo>
                    <a:lnTo>
                      <a:pt x="33338" y="16669"/>
                    </a:lnTo>
                    <a:lnTo>
                      <a:pt x="33338" y="33338"/>
                    </a:lnTo>
                    <a:cubicBezTo>
                      <a:pt x="33328" y="42157"/>
                      <a:pt x="26450" y="49442"/>
                      <a:pt x="17646" y="49959"/>
                    </a:cubicBezTo>
                    <a:cubicBezTo>
                      <a:pt x="8841" y="50476"/>
                      <a:pt x="1158" y="44045"/>
                      <a:pt x="117" y="35288"/>
                    </a:cubicBezTo>
                    <a:lnTo>
                      <a:pt x="0" y="33338"/>
                    </a:lnTo>
                    <a:lnTo>
                      <a:pt x="0" y="16669"/>
                    </a:lnTo>
                    <a:cubicBezTo>
                      <a:pt x="0" y="7463"/>
                      <a:pt x="7463" y="0"/>
                      <a:pt x="16669" y="0"/>
                    </a:cubicBez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1211587" y="5612606"/>
                <a:ext cx="50946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50946" h="33338">
                    <a:moveTo>
                      <a:pt x="33807" y="0"/>
                    </a:moveTo>
                    <a:cubicBezTo>
                      <a:pt x="42627" y="10"/>
                      <a:pt x="49912" y="6888"/>
                      <a:pt x="50429" y="15692"/>
                    </a:cubicBezTo>
                    <a:cubicBezTo>
                      <a:pt x="50946" y="24496"/>
                      <a:pt x="44515" y="32179"/>
                      <a:pt x="35757" y="33221"/>
                    </a:cubicBezTo>
                    <a:lnTo>
                      <a:pt x="33807" y="33338"/>
                    </a:lnTo>
                    <a:lnTo>
                      <a:pt x="17138" y="33338"/>
                    </a:lnTo>
                    <a:cubicBezTo>
                      <a:pt x="8319" y="33328"/>
                      <a:pt x="1034" y="26450"/>
                      <a:pt x="517" y="17646"/>
                    </a:cubicBezTo>
                    <a:cubicBezTo>
                      <a:pt x="0" y="8841"/>
                      <a:pt x="6431" y="1158"/>
                      <a:pt x="15188" y="117"/>
                    </a:cubicBezTo>
                    <a:lnTo>
                      <a:pt x="17138" y="0"/>
                    </a:lnTo>
                    <a:lnTo>
                      <a:pt x="33807" y="0"/>
                    </a:ln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970403" y="5504279"/>
                <a:ext cx="48254" cy="48528"/>
              </a:xfrm>
              <a:custGeom>
                <a:avLst/>
                <a:gdLst/>
                <a:ahLst/>
                <a:cxnLst/>
                <a:rect l="l" t="t" r="r" b="b"/>
                <a:pathLst>
                  <a:path w="48254" h="48528">
                    <a:moveTo>
                      <a:pt x="6507" y="6531"/>
                    </a:moveTo>
                    <a:cubicBezTo>
                      <a:pt x="12446" y="593"/>
                      <a:pt x="21874" y="0"/>
                      <a:pt x="28510" y="5147"/>
                    </a:cubicBezTo>
                    <a:lnTo>
                      <a:pt x="30077" y="6531"/>
                    </a:lnTo>
                    <a:lnTo>
                      <a:pt x="41745" y="18199"/>
                    </a:lnTo>
                    <a:cubicBezTo>
                      <a:pt x="47949" y="24424"/>
                      <a:pt x="48254" y="34397"/>
                      <a:pt x="42441" y="40990"/>
                    </a:cubicBezTo>
                    <a:cubicBezTo>
                      <a:pt x="36628" y="47582"/>
                      <a:pt x="26695" y="48528"/>
                      <a:pt x="19742" y="43152"/>
                    </a:cubicBezTo>
                    <a:lnTo>
                      <a:pt x="18175" y="41769"/>
                    </a:lnTo>
                    <a:lnTo>
                      <a:pt x="6507" y="30100"/>
                    </a:lnTo>
                    <a:cubicBezTo>
                      <a:pt x="0" y="23591"/>
                      <a:pt x="0" y="13040"/>
                      <a:pt x="6507" y="6531"/>
                    </a:cubicBez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1171842" y="5504301"/>
                <a:ext cx="48757" cy="48255"/>
              </a:xfrm>
              <a:custGeom>
                <a:avLst/>
                <a:gdLst/>
                <a:ahLst/>
                <a:cxnLst/>
                <a:rect l="l" t="t" r="r" b="b"/>
                <a:pathLst>
                  <a:path w="48757" h="48255">
                    <a:moveTo>
                      <a:pt x="18428" y="6509"/>
                    </a:moveTo>
                    <a:cubicBezTo>
                      <a:pt x="24653" y="305"/>
                      <a:pt x="34626" y="0"/>
                      <a:pt x="41219" y="5813"/>
                    </a:cubicBezTo>
                    <a:cubicBezTo>
                      <a:pt x="47811" y="11626"/>
                      <a:pt x="48757" y="21559"/>
                      <a:pt x="43381" y="28512"/>
                    </a:cubicBezTo>
                    <a:lnTo>
                      <a:pt x="41997" y="30078"/>
                    </a:lnTo>
                    <a:lnTo>
                      <a:pt x="30329" y="41747"/>
                    </a:lnTo>
                    <a:cubicBezTo>
                      <a:pt x="24104" y="47951"/>
                      <a:pt x="14131" y="48255"/>
                      <a:pt x="7539" y="42443"/>
                    </a:cubicBezTo>
                    <a:cubicBezTo>
                      <a:pt x="946" y="36630"/>
                      <a:pt x="0" y="26697"/>
                      <a:pt x="5376" y="19744"/>
                    </a:cubicBezTo>
                    <a:lnTo>
                      <a:pt x="6760" y="18177"/>
                    </a:lnTo>
                    <a:lnTo>
                      <a:pt x="18428" y="6509"/>
                    </a:ln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1045369" y="5729288"/>
                <a:ext cx="100012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66675">
                    <a:moveTo>
                      <a:pt x="83344" y="0"/>
                    </a:moveTo>
                    <a:cubicBezTo>
                      <a:pt x="92550" y="0"/>
                      <a:pt x="100012" y="7463"/>
                      <a:pt x="100012" y="16669"/>
                    </a:cubicBezTo>
                    <a:cubicBezTo>
                      <a:pt x="100012" y="44286"/>
                      <a:pt x="77624" y="66675"/>
                      <a:pt x="50006" y="66675"/>
                    </a:cubicBezTo>
                    <a:cubicBezTo>
                      <a:pt x="22389" y="66675"/>
                      <a:pt x="0" y="44286"/>
                      <a:pt x="0" y="16669"/>
                    </a:cubicBezTo>
                    <a:cubicBezTo>
                      <a:pt x="1" y="8218"/>
                      <a:pt x="6326" y="1105"/>
                      <a:pt x="14719" y="117"/>
                    </a:cubicBezTo>
                    <a:lnTo>
                      <a:pt x="16669" y="0"/>
                    </a:lnTo>
                    <a:lnTo>
                      <a:pt x="83344" y="0"/>
                    </a:ln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986882" y="5529262"/>
                <a:ext cx="216987" cy="183356"/>
              </a:xfrm>
              <a:custGeom>
                <a:avLst/>
                <a:gdLst/>
                <a:ahLst/>
                <a:cxnLst/>
                <a:rect l="l" t="t" r="r" b="b"/>
                <a:pathLst>
                  <a:path w="216987" h="183356">
                    <a:moveTo>
                      <a:pt x="108493" y="0"/>
                    </a:moveTo>
                    <a:cubicBezTo>
                      <a:pt x="151542" y="0"/>
                      <a:pt x="189760" y="27546"/>
                      <a:pt x="203373" y="68386"/>
                    </a:cubicBezTo>
                    <a:cubicBezTo>
                      <a:pt x="216987" y="109225"/>
                      <a:pt x="202940" y="154193"/>
                      <a:pt x="168501" y="180022"/>
                    </a:cubicBezTo>
                    <a:cubicBezTo>
                      <a:pt x="166203" y="181748"/>
                      <a:pt x="163499" y="182851"/>
                      <a:pt x="160650" y="183223"/>
                    </a:cubicBezTo>
                    <a:lnTo>
                      <a:pt x="158500" y="183356"/>
                    </a:lnTo>
                    <a:lnTo>
                      <a:pt x="58487" y="183356"/>
                    </a:lnTo>
                    <a:cubicBezTo>
                      <a:pt x="54880" y="183356"/>
                      <a:pt x="51371" y="182186"/>
                      <a:pt x="48486" y="180022"/>
                    </a:cubicBezTo>
                    <a:cubicBezTo>
                      <a:pt x="14047" y="154193"/>
                      <a:pt x="0" y="109225"/>
                      <a:pt x="13613" y="68386"/>
                    </a:cubicBezTo>
                    <a:cubicBezTo>
                      <a:pt x="27226" y="27546"/>
                      <a:pt x="65445" y="0"/>
                      <a:pt x="108493" y="0"/>
                    </a:cubicBez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1457706" y="53873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家长陪练提示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458468" y="5746432"/>
              <a:ext cx="514780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每幕结束，问孩子：“你能解释吗？你能自己写吗？”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0" t="26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DF5">
              <a:alpha val="12000"/>
            </a:srgbClr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71500" y="1319212"/>
            <a:ext cx="2603754" cy="3029522"/>
            <a:chOff x="571500" y="1319212"/>
            <a:chExt cx="2603754" cy="3029522"/>
          </a:xfrm>
        </p:grpSpPr>
        <p:sp>
          <p:nvSpPr>
            <p:cNvPr id="4" name="TextBox 4"/>
            <p:cNvSpPr txBox="1"/>
            <p:nvPr/>
          </p:nvSpPr>
          <p:spPr>
            <a:xfrm>
              <a:off x="571500" y="1319212"/>
              <a:ext cx="2253777" cy="2733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50" b="1" dirty="0">
                  <a:solidFill>
                    <a:srgbClr val="FF9F1C">
                      <a:alphaMod val="18000"/>
                    </a:srgbClr>
                  </a:solidFill>
                  <a:latin typeface="Segoe UI"/>
                  <a:ea typeface="Segoe UI"/>
                  <a:cs typeface="Segoe UI"/>
                </a:rPr>
                <a:t>01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23900" y="3226118"/>
              <a:ext cx="2380488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203044"/>
                  </a:solidFill>
                  <a:latin typeface="Segoe UI"/>
                  <a:ea typeface="YouYuan"/>
                  <a:cs typeface="Segoe UI"/>
                </a:rPr>
                <a:t>新知精学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33806" y="399669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E9BFF"/>
                  </a:solidFill>
                  <a:latin typeface="Arial"/>
                  <a:ea typeface="Microsoft YaHei"/>
                  <a:cs typeface="Arial"/>
                </a:rPr>
                <a:t>先让电脑说出第一句话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686300" y="1600200"/>
            <a:ext cx="4191000" cy="3009900"/>
            <a:chOff x="4686300" y="1600200"/>
            <a:chExt cx="4191000" cy="3009900"/>
          </a:xfrm>
        </p:grpSpPr>
        <p:sp>
          <p:nvSpPr>
            <p:cNvPr id="8" name="Rectangle 8"/>
            <p:cNvSpPr/>
            <p:nvPr/>
          </p:nvSpPr>
          <p:spPr>
            <a:xfrm>
              <a:off x="4686300" y="1600200"/>
              <a:ext cx="2400300" cy="838200"/>
            </a:xfrm>
            <a:prstGeom prst="roundRect">
              <a:avLst>
                <a:gd name="adj" fmla="val 3181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392674" y="191071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认识环境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581650" y="2686050"/>
              <a:ext cx="2400300" cy="838200"/>
            </a:xfrm>
            <a:prstGeom prst="roundRect">
              <a:avLst>
                <a:gd name="adj" fmla="val 31818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166866" y="2996565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写下第一行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477000" y="3771900"/>
              <a:ext cx="2400300" cy="838200"/>
            </a:xfrm>
            <a:prstGeom prst="roundRect">
              <a:avLst>
                <a:gd name="adj" fmla="val 31818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941058" y="4082415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看见运行结果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6724650" y="2438400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/>
            <a:ln w="76200" cap="rnd">
              <a:solidFill>
                <a:srgbClr val="2E9BFF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7620000" y="3524250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/>
            <a:ln w="76200" cap="rnd">
              <a:solidFill>
                <a:srgbClr val="2E9BFF"/>
              </a:solidFill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8402730" y="914400"/>
            <a:ext cx="2987489" cy="4953000"/>
            <a:chOff x="8402730" y="914400"/>
            <a:chExt cx="2987489" cy="4953000"/>
          </a:xfrm>
        </p:grpSpPr>
        <p:pic>
          <p:nvPicPr>
            <p:cNvPr id="17" name="Image 1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02730" y="1962150"/>
              <a:ext cx="2987489" cy="3905250"/>
            </a:xfrm>
            <a:prstGeom prst="rect">
              <a:avLst/>
            </a:prstGeom>
          </p:spPr>
        </p:pic>
        <p:sp>
          <p:nvSpPr>
            <p:cNvPr id="18" name="Rectangle 18"/>
            <p:cNvSpPr/>
            <p:nvPr/>
          </p:nvSpPr>
          <p:spPr>
            <a:xfrm>
              <a:off x="8458200" y="914400"/>
              <a:ext cx="2667000" cy="742950"/>
            </a:xfrm>
            <a:prstGeom prst="roundRect">
              <a:avLst>
                <a:gd name="adj" fmla="val 3589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783764" y="1203008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E9BFF"/>
                  </a:solidFill>
                  <a:latin typeface="Arial"/>
                  <a:ea typeface="Microsoft YaHei"/>
                  <a:cs typeface="Arial"/>
                </a:rPr>
                <a:t>我们从第一声开始！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35686" y="381000"/>
            <a:ext cx="5938127" cy="1298829"/>
            <a:chOff x="535686" y="381000"/>
            <a:chExt cx="5938127" cy="1298829"/>
          </a:xfrm>
        </p:grpSpPr>
        <p:sp>
          <p:nvSpPr>
            <p:cNvPr id="2" name="Rectangle 2"/>
            <p:cNvSpPr/>
            <p:nvPr/>
          </p:nvSpPr>
          <p:spPr>
            <a:xfrm>
              <a:off x="552450" y="381000"/>
              <a:ext cx="3009900" cy="552450"/>
            </a:xfrm>
            <a:prstGeom prst="roundRect">
              <a:avLst>
                <a:gd name="adj" fmla="val 500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83950" y="567690"/>
              <a:ext cx="23468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Y2060 · 计算机输出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35686" y="1034415"/>
              <a:ext cx="5938127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/>
                  <a:ea typeface="YouYuan"/>
                  <a:cs typeface="Segoe UI"/>
                </a:rPr>
                <a:t>任务：让电脑说 Hello World!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52450" y="1809750"/>
            <a:ext cx="3924300" cy="3371850"/>
            <a:chOff x="552450" y="1809750"/>
            <a:chExt cx="3924300" cy="3371850"/>
          </a:xfrm>
        </p:grpSpPr>
        <p:sp>
          <p:nvSpPr>
            <p:cNvPr id="6" name="Rectangle 6"/>
            <p:cNvSpPr/>
            <p:nvPr/>
          </p:nvSpPr>
          <p:spPr>
            <a:xfrm>
              <a:off x="552450" y="1809750"/>
              <a:ext cx="3924300" cy="3371850"/>
            </a:xfrm>
            <a:prstGeom prst="roundRect">
              <a:avLst>
                <a:gd name="adj" fmla="val 10734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893231" y="2238375"/>
              <a:ext cx="475988" cy="342900"/>
            </a:xfrm>
            <a:custGeom>
              <a:avLst/>
              <a:gdLst/>
              <a:ahLst/>
              <a:cxnLst/>
              <a:rect l="l" t="t" r="r" b="b"/>
              <a:pathLst>
                <a:path w="475988" h="342900">
                  <a:moveTo>
                    <a:pt x="390263" y="202118"/>
                  </a:moveTo>
                  <a:lnTo>
                    <a:pt x="390263" y="257175"/>
                  </a:lnTo>
                  <a:cubicBezTo>
                    <a:pt x="390263" y="308567"/>
                    <a:pt x="321576" y="342900"/>
                    <a:pt x="240244" y="342900"/>
                  </a:cubicBezTo>
                  <a:cubicBezTo>
                    <a:pt x="158913" y="342900"/>
                    <a:pt x="90226" y="308567"/>
                    <a:pt x="90226" y="257175"/>
                  </a:cubicBezTo>
                  <a:lnTo>
                    <a:pt x="90226" y="202118"/>
                  </a:lnTo>
                  <a:lnTo>
                    <a:pt x="216370" y="252567"/>
                  </a:lnTo>
                  <a:cubicBezTo>
                    <a:pt x="230115" y="258070"/>
                    <a:pt x="245338" y="258661"/>
                    <a:pt x="259468" y="254239"/>
                  </a:cubicBezTo>
                  <a:lnTo>
                    <a:pt x="264119" y="252567"/>
                  </a:lnTo>
                  <a:close/>
                  <a:moveTo>
                    <a:pt x="433126" y="138789"/>
                  </a:moveTo>
                  <a:lnTo>
                    <a:pt x="248195" y="212769"/>
                  </a:lnTo>
                  <a:cubicBezTo>
                    <a:pt x="243091" y="214809"/>
                    <a:pt x="237398" y="214809"/>
                    <a:pt x="232293" y="212769"/>
                  </a:cubicBezTo>
                  <a:lnTo>
                    <a:pt x="17981" y="127044"/>
                  </a:lnTo>
                  <a:cubicBezTo>
                    <a:pt x="0" y="119865"/>
                    <a:pt x="0" y="94448"/>
                    <a:pt x="17981" y="87268"/>
                  </a:cubicBezTo>
                  <a:lnTo>
                    <a:pt x="232293" y="1543"/>
                  </a:lnTo>
                  <a:cubicBezTo>
                    <a:pt x="233978" y="865"/>
                    <a:pt x="235743" y="404"/>
                    <a:pt x="237544" y="171"/>
                  </a:cubicBezTo>
                  <a:lnTo>
                    <a:pt x="240244" y="0"/>
                  </a:lnTo>
                  <a:lnTo>
                    <a:pt x="242945" y="171"/>
                  </a:lnTo>
                  <a:cubicBezTo>
                    <a:pt x="244746" y="404"/>
                    <a:pt x="246510" y="865"/>
                    <a:pt x="248195" y="1543"/>
                  </a:cubicBezTo>
                  <a:lnTo>
                    <a:pt x="463194" y="87547"/>
                  </a:lnTo>
                  <a:lnTo>
                    <a:pt x="465508" y="88725"/>
                  </a:lnTo>
                  <a:lnTo>
                    <a:pt x="467630" y="90183"/>
                  </a:lnTo>
                  <a:lnTo>
                    <a:pt x="469516" y="91811"/>
                  </a:lnTo>
                  <a:lnTo>
                    <a:pt x="471123" y="93569"/>
                  </a:lnTo>
                  <a:lnTo>
                    <a:pt x="471873" y="94512"/>
                  </a:lnTo>
                  <a:lnTo>
                    <a:pt x="473438" y="96976"/>
                  </a:lnTo>
                  <a:lnTo>
                    <a:pt x="474552" y="99441"/>
                  </a:lnTo>
                  <a:lnTo>
                    <a:pt x="475281" y="101627"/>
                  </a:lnTo>
                  <a:lnTo>
                    <a:pt x="475817" y="104520"/>
                  </a:lnTo>
                  <a:lnTo>
                    <a:pt x="475945" y="105763"/>
                  </a:lnTo>
                  <a:lnTo>
                    <a:pt x="475988" y="235744"/>
                  </a:lnTo>
                  <a:cubicBezTo>
                    <a:pt x="475988" y="247580"/>
                    <a:pt x="466393" y="257175"/>
                    <a:pt x="454557" y="257175"/>
                  </a:cubicBezTo>
                  <a:cubicBezTo>
                    <a:pt x="442721" y="257175"/>
                    <a:pt x="433126" y="247580"/>
                    <a:pt x="433126" y="235744"/>
                  </a:cubicBezTo>
                  <a:close/>
                </a:path>
              </a:pathLst>
            </a:custGeom>
            <a:solidFill>
              <a:srgbClr val="2E9B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68958" y="2217420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今天的第一关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67156" y="29679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让屏幕准确显示：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76300" y="3429000"/>
              <a:ext cx="3276600" cy="800100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670884" y="3697605"/>
              <a:ext cx="168743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FF9F1C"/>
                  </a:solidFill>
                  <a:latin typeface="Consolas"/>
                  <a:ea typeface="Consolas"/>
                  <a:cs typeface="Consolas"/>
                </a:rPr>
                <a:t>Hello World!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7918" y="4584382"/>
              <a:ext cx="2493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大小写一致 · 感叹号不丢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029200" y="1619250"/>
            <a:ext cx="6477000" cy="4076700"/>
            <a:chOff x="5029200" y="1619250"/>
            <a:chExt cx="6477000" cy="4076700"/>
          </a:xfrm>
        </p:grpSpPr>
        <p:sp>
          <p:nvSpPr>
            <p:cNvPr id="14" name="Rectangle 14"/>
            <p:cNvSpPr/>
            <p:nvPr/>
          </p:nvSpPr>
          <p:spPr>
            <a:xfrm>
              <a:off x="5029200" y="1619250"/>
              <a:ext cx="6477000" cy="3848100"/>
            </a:xfrm>
            <a:prstGeom prst="roundRect">
              <a:avLst>
                <a:gd name="adj" fmla="val 9901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295900" y="1905000"/>
              <a:ext cx="5943600" cy="3143250"/>
            </a:xfrm>
            <a:prstGeom prst="roundRect">
              <a:avLst>
                <a:gd name="adj" fmla="val 7273"/>
              </a:avLst>
            </a:prstGeom>
            <a:solidFill>
              <a:srgbClr val="203044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5486400" y="2057400"/>
              <a:ext cx="152400" cy="152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5734050" y="2057400"/>
              <a:ext cx="152400" cy="152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5981700" y="20574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619750" y="2724150"/>
              <a:ext cx="4572000" cy="685800"/>
            </a:xfrm>
            <a:prstGeom prst="roundRect">
              <a:avLst>
                <a:gd name="adj" fmla="val 27778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592479" y="2984182"/>
              <a:ext cx="26265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"Hello World!";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303453" y="3970020"/>
              <a:ext cx="192849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Hello World!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448550" y="5467350"/>
              <a:ext cx="1638300" cy="228600"/>
            </a:xfrm>
            <a:prstGeom prst="roundRect">
              <a:avLst>
                <a:gd name="adj" fmla="val 50000"/>
              </a:avLst>
            </a:prstGeom>
            <a:solidFill>
              <a:srgbClr val="203044"/>
            </a:solidFill>
            <a:ln>
              <a:noFill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614585" y="5977890"/>
            <a:ext cx="6295993" cy="352044"/>
            <a:chOff x="614585" y="5977890"/>
            <a:chExt cx="6295993" cy="352044"/>
          </a:xfrm>
        </p:grpSpPr>
        <p:sp>
          <p:nvSpPr>
            <p:cNvPr id="24" name="Freeform 24"/>
            <p:cNvSpPr/>
            <p:nvPr/>
          </p:nvSpPr>
          <p:spPr>
            <a:xfrm>
              <a:off x="614585" y="5980154"/>
              <a:ext cx="272786" cy="193592"/>
            </a:xfrm>
            <a:custGeom>
              <a:avLst/>
              <a:gdLst/>
              <a:ahLst/>
              <a:cxnLst/>
              <a:rect l="l" t="t" r="r" b="b"/>
              <a:pathLst>
                <a:path w="272786" h="193592">
                  <a:moveTo>
                    <a:pt x="266589" y="6197"/>
                  </a:moveTo>
                  <a:cubicBezTo>
                    <a:pt x="272786" y="12397"/>
                    <a:pt x="272786" y="22445"/>
                    <a:pt x="266589" y="28645"/>
                  </a:cubicBezTo>
                  <a:lnTo>
                    <a:pt x="107839" y="187395"/>
                  </a:lnTo>
                  <a:cubicBezTo>
                    <a:pt x="101639" y="193592"/>
                    <a:pt x="91591" y="193592"/>
                    <a:pt x="85391" y="187395"/>
                  </a:cubicBezTo>
                  <a:lnTo>
                    <a:pt x="6016" y="108020"/>
                  </a:lnTo>
                  <a:cubicBezTo>
                    <a:pt x="0" y="101791"/>
                    <a:pt x="86" y="91889"/>
                    <a:pt x="6210" y="85766"/>
                  </a:cubicBezTo>
                  <a:cubicBezTo>
                    <a:pt x="12333" y="79642"/>
                    <a:pt x="22234" y="79556"/>
                    <a:pt x="28463" y="85572"/>
                  </a:cubicBezTo>
                  <a:lnTo>
                    <a:pt x="96615" y="153724"/>
                  </a:lnTo>
                  <a:lnTo>
                    <a:pt x="244142" y="6197"/>
                  </a:lnTo>
                  <a:cubicBezTo>
                    <a:pt x="250341" y="0"/>
                    <a:pt x="260390" y="0"/>
                    <a:pt x="266589" y="6197"/>
                  </a:cubicBezTo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76706" y="5977890"/>
              <a:ext cx="58338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成功标准：文字完全一致，屏幕就会按你的命令开口。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6636" y="400050"/>
            <a:ext cx="11027664" cy="727329"/>
            <a:chOff x="516636" y="400050"/>
            <a:chExt cx="11027664" cy="727329"/>
          </a:xfrm>
        </p:grpSpPr>
        <p:sp>
          <p:nvSpPr>
            <p:cNvPr id="2" name="TextBox 2"/>
            <p:cNvSpPr txBox="1"/>
            <p:nvPr/>
          </p:nvSpPr>
          <p:spPr>
            <a:xfrm>
              <a:off x="516636" y="481965"/>
              <a:ext cx="416431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/>
                  <a:ea typeface="YouYuan"/>
                  <a:cs typeface="Segoe UI"/>
                </a:rPr>
                <a:t>开发环境：Dev-C++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410700" y="400050"/>
              <a:ext cx="2133600" cy="495300"/>
            </a:xfrm>
            <a:prstGeom prst="roundRect">
              <a:avLst>
                <a:gd name="adj" fmla="val 50000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733336" y="555308"/>
              <a:ext cx="14883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E9BFF"/>
                  </a:solidFill>
                  <a:latin typeface="Arial"/>
                  <a:ea typeface="Microsoft YaHei"/>
                  <a:cs typeface="Arial"/>
                </a:rPr>
                <a:t>本课使用 5.11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2190750" y="1428750"/>
            <a:ext cx="7810500" cy="3638550"/>
            <a:chOff x="2190750" y="1428750"/>
            <a:chExt cx="7810500" cy="3638550"/>
          </a:xfrm>
        </p:grpSpPr>
        <p:sp>
          <p:nvSpPr>
            <p:cNvPr id="6" name="Rectangle 6"/>
            <p:cNvSpPr/>
            <p:nvPr/>
          </p:nvSpPr>
          <p:spPr>
            <a:xfrm>
              <a:off x="2190750" y="1428750"/>
              <a:ext cx="7810500" cy="3638550"/>
            </a:xfrm>
            <a:prstGeom prst="roundRect">
              <a:avLst>
                <a:gd name="adj" fmla="val 9424"/>
              </a:avLst>
            </a:prstGeom>
            <a:solidFill>
              <a:srgbClr val="FFFFFF"/>
            </a:solidFill>
            <a:ln w="28575">
              <a:solidFill>
                <a:srgbClr val="CFE5F8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2190750" y="1428750"/>
              <a:ext cx="7810500" cy="552450"/>
            </a:xfrm>
            <a:prstGeom prst="roundRect">
              <a:avLst>
                <a:gd name="adj" fmla="val 500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2190750" y="1752600"/>
              <a:ext cx="7810500" cy="228600"/>
            </a:xfrm>
            <a:prstGeom prst="rect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2486025" y="1628775"/>
              <a:ext cx="171450" cy="1714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2790825" y="1628775"/>
              <a:ext cx="171450" cy="17145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3095625" y="1628775"/>
              <a:ext cx="171450" cy="17145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2571750" y="2228850"/>
              <a:ext cx="4667250" cy="2552700"/>
            </a:xfrm>
            <a:prstGeom prst="roundRect">
              <a:avLst>
                <a:gd name="adj" fmla="val 8955"/>
              </a:avLst>
            </a:prstGeom>
            <a:solidFill>
              <a:srgbClr val="EAF5FF"/>
            </a:solidFill>
            <a:ln>
              <a:noFill/>
            </a:ln>
          </p:spPr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41558" y="2343150"/>
              <a:ext cx="1994234" cy="1981200"/>
            </a:xfrm>
            <a:prstGeom prst="rect">
              <a:avLst/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4065547" y="4434840"/>
              <a:ext cx="16796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203044"/>
                  </a:solidFill>
                  <a:latin typeface="Consolas"/>
                  <a:ea typeface="Consolas"/>
                  <a:cs typeface="Consolas"/>
                </a:rPr>
                <a:t>Dev-C++ 5.11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524750" y="2324100"/>
              <a:ext cx="2095500" cy="704850"/>
            </a:xfrm>
            <a:prstGeom prst="roundRect">
              <a:avLst>
                <a:gd name="adj" fmla="val 2973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7759698" y="2543836"/>
              <a:ext cx="267422" cy="268465"/>
            </a:xfrm>
            <a:custGeom>
              <a:avLst/>
              <a:gdLst/>
              <a:ahLst/>
              <a:cxnLst/>
              <a:rect l="l" t="t" r="r" b="b"/>
              <a:pathLst>
                <a:path w="267422" h="268465">
                  <a:moveTo>
                    <a:pt x="190501" y="22707"/>
                  </a:moveTo>
                  <a:cubicBezTo>
                    <a:pt x="243876" y="53523"/>
                    <a:pt x="267422" y="118214"/>
                    <a:pt x="246342" y="176129"/>
                  </a:cubicBezTo>
                  <a:cubicBezTo>
                    <a:pt x="225261" y="234045"/>
                    <a:pt x="165642" y="268465"/>
                    <a:pt x="104946" y="257762"/>
                  </a:cubicBezTo>
                  <a:cubicBezTo>
                    <a:pt x="44250" y="247058"/>
                    <a:pt x="0" y="194321"/>
                    <a:pt x="2" y="132688"/>
                  </a:cubicBezTo>
                  <a:lnTo>
                    <a:pt x="65" y="128574"/>
                  </a:lnTo>
                  <a:cubicBezTo>
                    <a:pt x="1512" y="83958"/>
                    <a:pt x="26276" y="43379"/>
                    <a:pt x="65291" y="21689"/>
                  </a:cubicBezTo>
                  <a:cubicBezTo>
                    <a:pt x="104306" y="0"/>
                    <a:pt x="151844" y="386"/>
                    <a:pt x="190501" y="22707"/>
                  </a:cubicBezTo>
                  <a:moveTo>
                    <a:pt x="110580" y="98310"/>
                  </a:moveTo>
                  <a:cubicBezTo>
                    <a:pt x="105621" y="93352"/>
                    <a:pt x="97582" y="93352"/>
                    <a:pt x="92622" y="98310"/>
                  </a:cubicBezTo>
                  <a:lnTo>
                    <a:pt x="67222" y="123710"/>
                  </a:lnTo>
                  <a:cubicBezTo>
                    <a:pt x="62265" y="128669"/>
                    <a:pt x="62265" y="136708"/>
                    <a:pt x="67222" y="141667"/>
                  </a:cubicBezTo>
                  <a:lnTo>
                    <a:pt x="92622" y="167067"/>
                  </a:lnTo>
                  <a:cubicBezTo>
                    <a:pt x="97582" y="172025"/>
                    <a:pt x="105621" y="172025"/>
                    <a:pt x="110580" y="167067"/>
                  </a:cubicBezTo>
                  <a:lnTo>
                    <a:pt x="111634" y="165874"/>
                  </a:lnTo>
                  <a:cubicBezTo>
                    <a:pt x="115556" y="160818"/>
                    <a:pt x="115104" y="153634"/>
                    <a:pt x="110580" y="149110"/>
                  </a:cubicBezTo>
                  <a:lnTo>
                    <a:pt x="94172" y="132688"/>
                  </a:lnTo>
                  <a:lnTo>
                    <a:pt x="110580" y="116267"/>
                  </a:lnTo>
                  <a:cubicBezTo>
                    <a:pt x="115538" y="111308"/>
                    <a:pt x="115538" y="103269"/>
                    <a:pt x="110580" y="98310"/>
                  </a:cubicBezTo>
                  <a:moveTo>
                    <a:pt x="161380" y="98310"/>
                  </a:moveTo>
                  <a:cubicBezTo>
                    <a:pt x="156421" y="93352"/>
                    <a:pt x="148382" y="93352"/>
                    <a:pt x="143422" y="98310"/>
                  </a:cubicBezTo>
                  <a:lnTo>
                    <a:pt x="142368" y="99503"/>
                  </a:lnTo>
                  <a:cubicBezTo>
                    <a:pt x="138446" y="104559"/>
                    <a:pt x="138898" y="111743"/>
                    <a:pt x="143422" y="116267"/>
                  </a:cubicBezTo>
                  <a:lnTo>
                    <a:pt x="159831" y="132688"/>
                  </a:lnTo>
                  <a:lnTo>
                    <a:pt x="143422" y="149110"/>
                  </a:lnTo>
                  <a:cubicBezTo>
                    <a:pt x="138609" y="154093"/>
                    <a:pt x="138678" y="162014"/>
                    <a:pt x="143577" y="166913"/>
                  </a:cubicBezTo>
                  <a:cubicBezTo>
                    <a:pt x="148476" y="171811"/>
                    <a:pt x="156397" y="171880"/>
                    <a:pt x="161380" y="167067"/>
                  </a:cubicBezTo>
                  <a:lnTo>
                    <a:pt x="186780" y="141667"/>
                  </a:lnTo>
                  <a:cubicBezTo>
                    <a:pt x="191738" y="136708"/>
                    <a:pt x="191738" y="128669"/>
                    <a:pt x="186780" y="1237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201406" y="2596515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写代码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524750" y="3200400"/>
              <a:ext cx="2095500" cy="704850"/>
            </a:xfrm>
            <a:prstGeom prst="roundRect">
              <a:avLst>
                <a:gd name="adj" fmla="val 29730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7784008" y="3475388"/>
              <a:ext cx="218228" cy="154873"/>
            </a:xfrm>
            <a:custGeom>
              <a:avLst/>
              <a:gdLst/>
              <a:ahLst/>
              <a:cxnLst/>
              <a:rect l="l" t="t" r="r" b="b"/>
              <a:pathLst>
                <a:path w="218228" h="154873">
                  <a:moveTo>
                    <a:pt x="213270" y="4958"/>
                  </a:moveTo>
                  <a:cubicBezTo>
                    <a:pt x="218228" y="9917"/>
                    <a:pt x="218228" y="17956"/>
                    <a:pt x="213270" y="22916"/>
                  </a:cubicBezTo>
                  <a:lnTo>
                    <a:pt x="86271" y="149915"/>
                  </a:lnTo>
                  <a:cubicBezTo>
                    <a:pt x="81311" y="154873"/>
                    <a:pt x="73272" y="154873"/>
                    <a:pt x="68313" y="149915"/>
                  </a:cubicBezTo>
                  <a:lnTo>
                    <a:pt x="4813" y="86415"/>
                  </a:lnTo>
                  <a:cubicBezTo>
                    <a:pt x="0" y="81432"/>
                    <a:pt x="69" y="73511"/>
                    <a:pt x="4968" y="68612"/>
                  </a:cubicBezTo>
                  <a:cubicBezTo>
                    <a:pt x="9866" y="63714"/>
                    <a:pt x="17787" y="63645"/>
                    <a:pt x="22771" y="68458"/>
                  </a:cubicBezTo>
                  <a:lnTo>
                    <a:pt x="77292" y="122979"/>
                  </a:lnTo>
                  <a:lnTo>
                    <a:pt x="195312" y="4958"/>
                  </a:lnTo>
                  <a:cubicBezTo>
                    <a:pt x="200272" y="0"/>
                    <a:pt x="208311" y="0"/>
                    <a:pt x="213270" y="495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201406" y="347281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编译检查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524750" y="4076700"/>
              <a:ext cx="2095500" cy="704850"/>
            </a:xfrm>
            <a:prstGeom prst="roundRect">
              <a:avLst>
                <a:gd name="adj" fmla="val 29730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7759700" y="4314825"/>
              <a:ext cx="253999" cy="228599"/>
            </a:xfrm>
            <a:custGeom>
              <a:avLst/>
              <a:gdLst/>
              <a:ahLst/>
              <a:cxnLst/>
              <a:rect l="l" t="t" r="r" b="b"/>
              <a:pathLst>
                <a:path w="253999" h="228599">
                  <a:moveTo>
                    <a:pt x="63500" y="228599"/>
                  </a:moveTo>
                  <a:cubicBezTo>
                    <a:pt x="56486" y="228599"/>
                    <a:pt x="50800" y="222913"/>
                    <a:pt x="50800" y="215899"/>
                  </a:cubicBezTo>
                  <a:cubicBezTo>
                    <a:pt x="50800" y="208885"/>
                    <a:pt x="56486" y="203199"/>
                    <a:pt x="63500" y="203199"/>
                  </a:cubicBezTo>
                  <a:lnTo>
                    <a:pt x="76200" y="203199"/>
                  </a:lnTo>
                  <a:lnTo>
                    <a:pt x="76200" y="177800"/>
                  </a:lnTo>
                  <a:lnTo>
                    <a:pt x="25400" y="177800"/>
                  </a:lnTo>
                  <a:cubicBezTo>
                    <a:pt x="11372" y="177800"/>
                    <a:pt x="0" y="166428"/>
                    <a:pt x="0" y="152400"/>
                  </a:cubicBezTo>
                  <a:lnTo>
                    <a:pt x="0" y="25400"/>
                  </a:lnTo>
                  <a:cubicBezTo>
                    <a:pt x="0" y="11372"/>
                    <a:pt x="11372" y="0"/>
                    <a:pt x="25400" y="0"/>
                  </a:cubicBezTo>
                  <a:lnTo>
                    <a:pt x="228599" y="0"/>
                  </a:lnTo>
                  <a:cubicBezTo>
                    <a:pt x="242627" y="0"/>
                    <a:pt x="253999" y="11372"/>
                    <a:pt x="253999" y="25400"/>
                  </a:cubicBezTo>
                  <a:lnTo>
                    <a:pt x="253999" y="152400"/>
                  </a:lnTo>
                  <a:cubicBezTo>
                    <a:pt x="253999" y="166428"/>
                    <a:pt x="242627" y="177800"/>
                    <a:pt x="228599" y="177800"/>
                  </a:cubicBezTo>
                  <a:lnTo>
                    <a:pt x="177800" y="177800"/>
                  </a:lnTo>
                  <a:lnTo>
                    <a:pt x="177800" y="203199"/>
                  </a:lnTo>
                  <a:lnTo>
                    <a:pt x="190500" y="203199"/>
                  </a:lnTo>
                  <a:cubicBezTo>
                    <a:pt x="197514" y="203199"/>
                    <a:pt x="203199" y="208885"/>
                    <a:pt x="203199" y="215899"/>
                  </a:cubicBezTo>
                  <a:cubicBezTo>
                    <a:pt x="203199" y="222913"/>
                    <a:pt x="197514" y="228599"/>
                    <a:pt x="190500" y="228599"/>
                  </a:cubicBezTo>
                  <a:close/>
                  <a:moveTo>
                    <a:pt x="152400" y="177800"/>
                  </a:moveTo>
                  <a:lnTo>
                    <a:pt x="101600" y="177800"/>
                  </a:lnTo>
                  <a:lnTo>
                    <a:pt x="101600" y="203199"/>
                  </a:lnTo>
                  <a:lnTo>
                    <a:pt x="152400" y="20319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201406" y="434911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运行观察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619250" y="5467350"/>
            <a:ext cx="8953500" cy="800100"/>
            <a:chOff x="1619250" y="5467350"/>
            <a:chExt cx="8953500" cy="800100"/>
          </a:xfrm>
        </p:grpSpPr>
        <p:sp>
          <p:nvSpPr>
            <p:cNvPr id="25" name="Rectangle 25"/>
            <p:cNvSpPr/>
            <p:nvPr/>
          </p:nvSpPr>
          <p:spPr>
            <a:xfrm>
              <a:off x="1619250" y="5467350"/>
              <a:ext cx="8953500" cy="800100"/>
            </a:xfrm>
            <a:prstGeom prst="roundRect">
              <a:avLst>
                <a:gd name="adj" fmla="val 33333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854452" y="5768340"/>
              <a:ext cx="64830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工具会更换，但读懂和写出 C++ 代码的核心技能不会变。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4350" y="361950"/>
            <a:ext cx="2727198" cy="708279"/>
            <a:chOff x="514350" y="361950"/>
            <a:chExt cx="2727198" cy="708279"/>
          </a:xfrm>
        </p:grpSpPr>
        <p:sp>
          <p:nvSpPr>
            <p:cNvPr id="2" name="Rectangle 2"/>
            <p:cNvSpPr/>
            <p:nvPr/>
          </p:nvSpPr>
          <p:spPr>
            <a:xfrm>
              <a:off x="514350" y="361950"/>
              <a:ext cx="723900" cy="533400"/>
            </a:xfrm>
            <a:prstGeom prst="roundRect">
              <a:avLst>
                <a:gd name="adj" fmla="val 39286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70816" y="474345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31036" y="424815"/>
              <a:ext cx="181051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/>
                  <a:ea typeface="YouYuan"/>
                  <a:cs typeface="Segoe UI"/>
                </a:rPr>
                <a:t>新建文件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14350" y="1352550"/>
            <a:ext cx="7429500" cy="4457700"/>
            <a:chOff x="514350" y="1352550"/>
            <a:chExt cx="7429500" cy="4457700"/>
          </a:xfrm>
        </p:grpSpPr>
        <p:sp>
          <p:nvSpPr>
            <p:cNvPr id="6" name="Rectangle 6"/>
            <p:cNvSpPr/>
            <p:nvPr/>
          </p:nvSpPr>
          <p:spPr>
            <a:xfrm>
              <a:off x="514350" y="1352550"/>
              <a:ext cx="7429500" cy="4457700"/>
            </a:xfrm>
            <a:prstGeom prst="roundRect">
              <a:avLst>
                <a:gd name="adj" fmla="val 7265"/>
              </a:avLst>
            </a:prstGeom>
            <a:solidFill>
              <a:srgbClr val="FFFFFF"/>
            </a:solidFill>
            <a:ln w="28575">
              <a:solidFill>
                <a:srgbClr val="CFE5F8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6750" y="1504950"/>
              <a:ext cx="7124700" cy="4010025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2495550" y="5353050"/>
              <a:ext cx="3467100" cy="361950"/>
            </a:xfrm>
            <a:prstGeom prst="roundRect">
              <a:avLst>
                <a:gd name="adj" fmla="val 50000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787020" y="5438775"/>
              <a:ext cx="28841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E9BFF"/>
                  </a:solidFill>
                  <a:latin typeface="Arial"/>
                  <a:ea typeface="Microsoft YaHei"/>
                  <a:cs typeface="Arial"/>
                </a:rPr>
                <a:t>找到第 1 行：这就是空白代码纸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666750" y="1676400"/>
              <a:ext cx="419100" cy="4191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3780" y="17840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①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3771900" y="2124075"/>
              <a:ext cx="419100" cy="4191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908930" y="223170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②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315200" y="4933950"/>
              <a:ext cx="419100" cy="4191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452230" y="504158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③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410956" y="1729740"/>
            <a:ext cx="2866644" cy="2918460"/>
            <a:chOff x="8410956" y="1729740"/>
            <a:chExt cx="2866644" cy="2918460"/>
          </a:xfrm>
        </p:grpSpPr>
        <p:sp>
          <p:nvSpPr>
            <p:cNvPr id="17" name="TextBox 17"/>
            <p:cNvSpPr txBox="1"/>
            <p:nvPr/>
          </p:nvSpPr>
          <p:spPr>
            <a:xfrm>
              <a:off x="8410956" y="17297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操作路线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420100" y="2228850"/>
              <a:ext cx="2857500" cy="666750"/>
            </a:xfrm>
            <a:prstGeom prst="roundRect">
              <a:avLst>
                <a:gd name="adj" fmla="val 34286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597390" y="245364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文件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9848850" y="289560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57150">
              <a:solidFill>
                <a:srgbClr val="CFE5F8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8629650" y="3105150"/>
              <a:ext cx="2647950" cy="666750"/>
            </a:xfrm>
            <a:prstGeom prst="roundRect">
              <a:avLst>
                <a:gd name="adj" fmla="val 34286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702165" y="332994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新建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9953625" y="377190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57150">
              <a:solidFill>
                <a:srgbClr val="CFE5F8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8839200" y="3981450"/>
              <a:ext cx="2438400" cy="666750"/>
            </a:xfrm>
            <a:prstGeom prst="roundRect">
              <a:avLst>
                <a:gd name="adj" fmla="val 34286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685782" y="420624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源代码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420100" y="5029200"/>
            <a:ext cx="3162300" cy="895350"/>
            <a:chOff x="8420100" y="5029200"/>
            <a:chExt cx="3162300" cy="895350"/>
          </a:xfrm>
        </p:grpSpPr>
        <p:sp>
          <p:nvSpPr>
            <p:cNvPr id="27" name="Rectangle 27"/>
            <p:cNvSpPr/>
            <p:nvPr/>
          </p:nvSpPr>
          <p:spPr>
            <a:xfrm>
              <a:off x="8420100" y="5029200"/>
              <a:ext cx="3162300" cy="895350"/>
            </a:xfrm>
            <a:prstGeom prst="roundRect">
              <a:avLst>
                <a:gd name="adj" fmla="val 27660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660130" y="52197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9BFF"/>
                  </a:solidFill>
                  <a:latin typeface="Arial"/>
                  <a:ea typeface="Microsoft YaHei"/>
                  <a:cs typeface="Arial"/>
                </a:rPr>
                <a:t>家长提示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660130" y="555307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会找到空白区就够了。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495300" y="323850"/>
            <a:ext cx="6408420" cy="708279"/>
            <a:chOff x="495300" y="323850"/>
            <a:chExt cx="6408420" cy="708279"/>
          </a:xfrm>
        </p:grpSpPr>
        <p:sp>
          <p:nvSpPr>
            <p:cNvPr id="2" name="Rectangle 2"/>
            <p:cNvSpPr/>
            <p:nvPr/>
          </p:nvSpPr>
          <p:spPr>
            <a:xfrm>
              <a:off x="495300" y="323850"/>
              <a:ext cx="723900" cy="533400"/>
            </a:xfrm>
            <a:prstGeom prst="roundRect">
              <a:avLst>
                <a:gd name="adj" fmla="val 39286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51766" y="436245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11986" y="386715"/>
              <a:ext cx="181051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/>
                  <a:ea typeface="YouYuan"/>
                  <a:cs typeface="Segoe UI"/>
                </a:rPr>
                <a:t>编写代码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4219956" y="52959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E9BFF"/>
                  </a:solidFill>
                  <a:latin typeface="Arial"/>
                  <a:ea typeface="Microsoft YaHei"/>
                  <a:cs typeface="Arial"/>
                </a:rPr>
                <a:t>先完整搭好，再逐块理解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95300" y="1295400"/>
            <a:ext cx="7334250" cy="4762500"/>
            <a:chOff x="495300" y="1295400"/>
            <a:chExt cx="7334250" cy="4762500"/>
          </a:xfrm>
        </p:grpSpPr>
        <p:sp>
          <p:nvSpPr>
            <p:cNvPr id="7" name="Rectangle 7"/>
            <p:cNvSpPr/>
            <p:nvPr/>
          </p:nvSpPr>
          <p:spPr>
            <a:xfrm>
              <a:off x="495300" y="1295400"/>
              <a:ext cx="7334250" cy="4762500"/>
            </a:xfrm>
            <a:prstGeom prst="roundRect">
              <a:avLst>
                <a:gd name="adj" fmla="val 6800"/>
              </a:avLst>
            </a:prstGeom>
            <a:solidFill>
              <a:srgbClr val="FFFFFF"/>
            </a:solidFill>
            <a:ln w="28575">
              <a:solidFill>
                <a:srgbClr val="CFE5F8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450916"/>
              <a:ext cx="7029450" cy="3956168"/>
            </a:xfrm>
            <a:prstGeom prst="rect">
              <a:avLst/>
            </a:prstGeom>
          </p:spPr>
        </p:pic>
        <p:sp>
          <p:nvSpPr>
            <p:cNvPr id="9" name="Rectangle 9"/>
            <p:cNvSpPr/>
            <p:nvPr/>
          </p:nvSpPr>
          <p:spPr>
            <a:xfrm>
              <a:off x="666750" y="1619250"/>
              <a:ext cx="6991350" cy="228600"/>
            </a:xfrm>
            <a:prstGeom prst="roundRect">
              <a:avLst>
                <a:gd name="adj" fmla="val 20833"/>
              </a:avLst>
            </a:prstGeom>
            <a:noFill/>
            <a:ln w="19050">
              <a:solidFill>
                <a:srgbClr val="2E9BFF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66750" y="1847850"/>
              <a:ext cx="6991350" cy="361950"/>
            </a:xfrm>
            <a:prstGeom prst="roundRect">
              <a:avLst>
                <a:gd name="adj" fmla="val 13158"/>
              </a:avLst>
            </a:prstGeom>
            <a:noFill/>
            <a:ln w="19050">
              <a:solidFill>
                <a:srgbClr val="2E9BFF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666750" y="2209800"/>
              <a:ext cx="1430083" cy="2087690"/>
            </a:xfrm>
            <a:prstGeom prst="roundRect">
              <a:avLst>
                <a:gd name="adj" fmla="val 3330"/>
              </a:avLst>
            </a:prstGeom>
            <a:noFill/>
            <a:ln w="19050">
              <a:solidFill>
                <a:srgbClr val="FF6FA5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2095500" y="2209800"/>
              <a:ext cx="5563648" cy="2197798"/>
            </a:xfrm>
            <a:prstGeom prst="roundRect">
              <a:avLst>
                <a:gd name="adj" fmla="val 2167"/>
              </a:avLst>
            </a:prstGeom>
            <a:noFill/>
            <a:ln w="19050">
              <a:solidFill>
                <a:srgbClr val="FF6FA5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666750" y="4552950"/>
              <a:ext cx="6991350" cy="838200"/>
            </a:xfrm>
            <a:prstGeom prst="roundRect">
              <a:avLst>
                <a:gd name="adj" fmla="val 5682"/>
              </a:avLst>
            </a:prstGeom>
            <a:noFill/>
            <a:ln w="19050">
              <a:solidFill>
                <a:srgbClr val="FF9F1C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3429000" y="1476375"/>
              <a:ext cx="1066800" cy="323850"/>
            </a:xfrm>
            <a:prstGeom prst="roundRect">
              <a:avLst>
                <a:gd name="adj" fmla="val 38235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682936" y="15497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菜单栏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981700" y="1885950"/>
              <a:ext cx="1066800" cy="323850"/>
            </a:xfrm>
            <a:prstGeom prst="roundRect">
              <a:avLst>
                <a:gd name="adj" fmla="val 38235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35636" y="195929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工具栏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23900" y="3048000"/>
              <a:ext cx="1257300" cy="495300"/>
            </a:xfrm>
            <a:prstGeom prst="roundRect">
              <a:avLst>
                <a:gd name="adj" fmla="val 28846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82218" y="31118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项目管理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63955" y="33213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窗口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619750" y="3067050"/>
              <a:ext cx="1066800" cy="361950"/>
            </a:xfrm>
            <a:prstGeom prst="roundRect">
              <a:avLst>
                <a:gd name="adj" fmla="val 36842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873686" y="31689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编辑区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562600" y="4953000"/>
              <a:ext cx="1200150" cy="342900"/>
            </a:xfrm>
            <a:prstGeom prst="roundRect">
              <a:avLst>
                <a:gd name="adj" fmla="val 38889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792343" y="504539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报告窗口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466850" y="5524500"/>
              <a:ext cx="5391150" cy="400050"/>
            </a:xfrm>
            <a:prstGeom prst="roundRect">
              <a:avLst>
                <a:gd name="adj" fmla="val 50000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337435" y="562927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先认识界面区域，再逐块理解代码作用。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115300" y="1428750"/>
            <a:ext cx="3181350" cy="4019550"/>
            <a:chOff x="8115300" y="1428750"/>
            <a:chExt cx="3181350" cy="4019550"/>
          </a:xfrm>
        </p:grpSpPr>
        <p:sp>
          <p:nvSpPr>
            <p:cNvPr id="28" name="Rectangle 28"/>
            <p:cNvSpPr/>
            <p:nvPr/>
          </p:nvSpPr>
          <p:spPr>
            <a:xfrm>
              <a:off x="8115300" y="1428750"/>
              <a:ext cx="3181350" cy="666750"/>
            </a:xfrm>
            <a:prstGeom prst="roundRect">
              <a:avLst>
                <a:gd name="adj" fmla="val 34286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354568" y="16697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E9BFF"/>
                  </a:solidFill>
                  <a:latin typeface="Arial"/>
                  <a:ea typeface="Microsoft YaHei"/>
                  <a:cs typeface="Arial"/>
                </a:rPr>
                <a:t>工具箱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974580" y="168592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头文件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382000" y="2266950"/>
              <a:ext cx="2914650" cy="666750"/>
            </a:xfrm>
            <a:prstGeom prst="roundRect">
              <a:avLst>
                <a:gd name="adj" fmla="val 34286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602218" y="25079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9F1C"/>
                  </a:solidFill>
                  <a:latin typeface="Arial"/>
                  <a:ea typeface="Microsoft YaHei"/>
                  <a:cs typeface="Arial"/>
                </a:rPr>
                <a:t>标准仓库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184130" y="2524125"/>
              <a:ext cx="3484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203044"/>
                  </a:solidFill>
                  <a:latin typeface="Arial"/>
                  <a:ea typeface="Arial"/>
                  <a:cs typeface="Arial"/>
                </a:rPr>
                <a:t>std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648700" y="3105150"/>
              <a:ext cx="2647950" cy="666750"/>
            </a:xfrm>
            <a:prstGeom prst="roundRect">
              <a:avLst>
                <a:gd name="adj" fmla="val 34286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887968" y="33461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正门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184130" y="3362325"/>
              <a:ext cx="4493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203044"/>
                  </a:solidFill>
                  <a:latin typeface="Arial"/>
                  <a:ea typeface="Arial"/>
                  <a:cs typeface="Arial"/>
                </a:rPr>
                <a:t>main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382000" y="3943350"/>
              <a:ext cx="2914650" cy="666750"/>
            </a:xfrm>
            <a:prstGeom prst="roundRect">
              <a:avLst>
                <a:gd name="adj" fmla="val 34286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602218" y="41843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6FA5"/>
                  </a:solidFill>
                  <a:latin typeface="Arial"/>
                  <a:ea typeface="Microsoft YaHei"/>
                  <a:cs typeface="Arial"/>
                </a:rPr>
                <a:t>广播喇叭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184130" y="420052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203044"/>
                  </a:solidFill>
                  <a:latin typeface="Arial"/>
                  <a:ea typeface="Arial"/>
                  <a:cs typeface="Arial"/>
                </a:rPr>
                <a:t>cout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115300" y="4781550"/>
              <a:ext cx="3181350" cy="666750"/>
            </a:xfrm>
            <a:prstGeom prst="roundRect">
              <a:avLst>
                <a:gd name="adj" fmla="val 34286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354568" y="50225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2C55E"/>
                  </a:solidFill>
                  <a:latin typeface="Arial"/>
                  <a:ea typeface="Microsoft YaHei"/>
                  <a:cs typeface="Arial"/>
                </a:rPr>
                <a:t>完成印章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184130" y="5038725"/>
              <a:ext cx="8532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203044"/>
                  </a:solidFill>
                  <a:latin typeface="Arial"/>
                  <a:ea typeface="Arial"/>
                  <a:cs typeface="Arial"/>
                </a:rPr>
                <a:t>return 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4350" y="361950"/>
            <a:ext cx="4504182" cy="708279"/>
            <a:chOff x="514350" y="361950"/>
            <a:chExt cx="4504182" cy="708279"/>
          </a:xfrm>
        </p:grpSpPr>
        <p:sp>
          <p:nvSpPr>
            <p:cNvPr id="2" name="Rectangle 2"/>
            <p:cNvSpPr/>
            <p:nvPr/>
          </p:nvSpPr>
          <p:spPr>
            <a:xfrm>
              <a:off x="514350" y="361950"/>
              <a:ext cx="723900" cy="533400"/>
            </a:xfrm>
            <a:prstGeom prst="roundRect">
              <a:avLst>
                <a:gd name="adj" fmla="val 39286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70816" y="474345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31036" y="424815"/>
              <a:ext cx="358749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/>
                  <a:ea typeface="YouYuan"/>
                  <a:cs typeface="Segoe UI"/>
                </a:rPr>
                <a:t>保存、编译、运行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14350" y="1257300"/>
            <a:ext cx="7734300" cy="4495800"/>
            <a:chOff x="514350" y="1257300"/>
            <a:chExt cx="7734300" cy="4495800"/>
          </a:xfrm>
        </p:grpSpPr>
        <p:sp>
          <p:nvSpPr>
            <p:cNvPr id="6" name="Rectangle 6"/>
            <p:cNvSpPr/>
            <p:nvPr/>
          </p:nvSpPr>
          <p:spPr>
            <a:xfrm>
              <a:off x="514350" y="1257300"/>
              <a:ext cx="7734300" cy="4495800"/>
            </a:xfrm>
            <a:prstGeom prst="roundRect">
              <a:avLst>
                <a:gd name="adj" fmla="val 6356"/>
              </a:avLst>
            </a:prstGeom>
            <a:solidFill>
              <a:srgbClr val="FFFFFF"/>
            </a:solidFill>
            <a:ln w="28575">
              <a:solidFill>
                <a:srgbClr val="CFE5F8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6750" y="1409700"/>
              <a:ext cx="7429500" cy="4181475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4743450" y="1752600"/>
              <a:ext cx="457200" cy="342900"/>
            </a:xfrm>
            <a:prstGeom prst="roundRect">
              <a:avLst>
                <a:gd name="adj" fmla="val 27778"/>
              </a:avLst>
            </a:prstGeom>
            <a:noFill/>
            <a:ln w="38100">
              <a:solidFill>
                <a:srgbClr val="FF6FA5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4972050" y="1562100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0" y="152400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FF6FA5"/>
              </a:solidFill>
            </a:ln>
          </p:spPr>
        </p:sp>
        <p:sp>
          <p:nvSpPr>
            <p:cNvPr id="10" name="Polygon 10"/>
            <p:cNvSpPr/>
            <p:nvPr/>
          </p:nvSpPr>
          <p:spPr>
            <a:xfrm>
              <a:off x="4914900" y="150495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57150" y="0"/>
                  </a:moveTo>
                  <a:lnTo>
                    <a:pt x="0" y="95250"/>
                  </a:lnTo>
                  <a:lnTo>
                    <a:pt x="114300" y="95250"/>
                  </a:lnTo>
                  <a:close/>
                </a:path>
              </a:pathLst>
            </a:custGeom>
            <a:solidFill>
              <a:srgbClr val="FF6FA5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657850" y="1466850"/>
              <a:ext cx="1657350" cy="419100"/>
            </a:xfrm>
            <a:prstGeom prst="roundRect">
              <a:avLst>
                <a:gd name="adj" fmla="val 36364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934456" y="16068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编译运行按钮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5200650" y="1676400"/>
              <a:ext cx="457200" cy="247650"/>
            </a:xfrm>
            <a:custGeom>
              <a:avLst/>
              <a:gdLst/>
              <a:ahLst/>
              <a:cxnLst/>
              <a:rect l="l" t="t" r="r" b="b"/>
              <a:pathLst>
                <a:path w="457200" h="247650">
                  <a:moveTo>
                    <a:pt x="457200" y="0"/>
                  </a:moveTo>
                  <a:lnTo>
                    <a:pt x="0" y="247650"/>
                  </a:lnTo>
                </a:path>
              </a:pathLst>
            </a:custGeom>
            <a:noFill/>
            <a:ln w="28575">
              <a:solidFill>
                <a:srgbClr val="FF6FA5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5162550" y="1857375"/>
              <a:ext cx="95250" cy="85725"/>
            </a:xfrm>
            <a:custGeom>
              <a:avLst/>
              <a:gdLst/>
              <a:ahLst/>
              <a:cxnLst/>
              <a:rect l="l" t="t" r="r" b="b"/>
              <a:pathLst>
                <a:path w="95250" h="85725">
                  <a:moveTo>
                    <a:pt x="0" y="85725"/>
                  </a:moveTo>
                  <a:lnTo>
                    <a:pt x="95250" y="85725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rgbClr val="FF6FA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20242" y="3997890"/>
              <a:ext cx="7317286" cy="1565758"/>
            </a:xfrm>
            <a:custGeom>
              <a:avLst/>
              <a:gdLst/>
              <a:ahLst/>
              <a:cxnLst/>
              <a:rect l="l" t="t" r="r" b="b"/>
              <a:pathLst>
                <a:path w="7317286" h="1565758">
                  <a:moveTo>
                    <a:pt x="76219" y="0"/>
                  </a:moveTo>
                  <a:lnTo>
                    <a:pt x="7241067" y="0"/>
                  </a:lnTo>
                  <a:cubicBezTo>
                    <a:pt x="7283162" y="0"/>
                    <a:pt x="7317286" y="52905"/>
                    <a:pt x="7317286" y="118167"/>
                  </a:cubicBezTo>
                  <a:lnTo>
                    <a:pt x="7317286" y="1447591"/>
                  </a:lnTo>
                  <a:cubicBezTo>
                    <a:pt x="7317286" y="1512853"/>
                    <a:pt x="7283162" y="1565758"/>
                    <a:pt x="7241067" y="1565758"/>
                  </a:cubicBezTo>
                  <a:lnTo>
                    <a:pt x="76219" y="1565758"/>
                  </a:lnTo>
                  <a:cubicBezTo>
                    <a:pt x="34124" y="1565758"/>
                    <a:pt x="0" y="1512853"/>
                    <a:pt x="0" y="1447591"/>
                  </a:cubicBezTo>
                  <a:lnTo>
                    <a:pt x="0" y="118167"/>
                  </a:lnTo>
                  <a:cubicBezTo>
                    <a:pt x="0" y="52905"/>
                    <a:pt x="34124" y="0"/>
                    <a:pt x="76219" y="0"/>
                  </a:cubicBezTo>
                  <a:close/>
                </a:path>
              </a:pathLst>
            </a:custGeom>
            <a:noFill/>
            <a:ln w="28575">
              <a:solidFill>
                <a:srgbClr val="2E9BFF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715000" y="4857750"/>
              <a:ext cx="1676400" cy="381000"/>
            </a:xfrm>
            <a:prstGeom prst="roundRect">
              <a:avLst>
                <a:gd name="adj" fmla="val 375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001131" y="496919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编译报告窗口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572500" y="1409700"/>
            <a:ext cx="3009900" cy="1009650"/>
            <a:chOff x="8572500" y="1409700"/>
            <a:chExt cx="3009900" cy="1009650"/>
          </a:xfrm>
        </p:grpSpPr>
        <p:sp>
          <p:nvSpPr>
            <p:cNvPr id="19" name="Rectangle 19"/>
            <p:cNvSpPr/>
            <p:nvPr/>
          </p:nvSpPr>
          <p:spPr>
            <a:xfrm>
              <a:off x="8572500" y="1409700"/>
              <a:ext cx="3009900" cy="1009650"/>
            </a:xfrm>
            <a:prstGeom prst="roundRect">
              <a:avLst>
                <a:gd name="adj" fmla="val 26415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8705850" y="1685925"/>
              <a:ext cx="457200" cy="457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861930" y="18221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324594" y="1637348"/>
              <a:ext cx="123391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E9BFF"/>
                  </a:solidFill>
                  <a:latin typeface="Arial"/>
                  <a:ea typeface="Microsoft YaHei"/>
                  <a:cs typeface="Arial"/>
                </a:rPr>
                <a:t>保存 .cpp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327642" y="2006918"/>
              <a:ext cx="13676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示例：hello.cpp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572500" y="2667000"/>
            <a:ext cx="3009900" cy="1009650"/>
            <a:chOff x="8572500" y="2667000"/>
            <a:chExt cx="3009900" cy="1009650"/>
          </a:xfrm>
        </p:grpSpPr>
        <p:sp>
          <p:nvSpPr>
            <p:cNvPr id="25" name="Rectangle 25"/>
            <p:cNvSpPr/>
            <p:nvPr/>
          </p:nvSpPr>
          <p:spPr>
            <a:xfrm>
              <a:off x="8572500" y="2667000"/>
              <a:ext cx="3009900" cy="1009650"/>
            </a:xfrm>
            <a:prstGeom prst="roundRect">
              <a:avLst>
                <a:gd name="adj" fmla="val 26415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8705850" y="2943225"/>
              <a:ext cx="457200" cy="4572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861930" y="30794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324594" y="2894648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9F1C"/>
                  </a:solidFill>
                  <a:latin typeface="Arial"/>
                  <a:ea typeface="Microsoft YaHei"/>
                  <a:cs typeface="Arial"/>
                </a:rPr>
                <a:t>编译检查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327642" y="3264218"/>
              <a:ext cx="11859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看到 0 errors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572500" y="3924300"/>
            <a:ext cx="3009900" cy="1009650"/>
            <a:chOff x="8572500" y="3924300"/>
            <a:chExt cx="3009900" cy="1009650"/>
          </a:xfrm>
        </p:grpSpPr>
        <p:sp>
          <p:nvSpPr>
            <p:cNvPr id="31" name="Rectangle 31"/>
            <p:cNvSpPr/>
            <p:nvPr/>
          </p:nvSpPr>
          <p:spPr>
            <a:xfrm>
              <a:off x="8572500" y="3924300"/>
              <a:ext cx="3009900" cy="1009650"/>
            </a:xfrm>
            <a:prstGeom prst="roundRect">
              <a:avLst>
                <a:gd name="adj" fmla="val 26415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8705850" y="4200525"/>
              <a:ext cx="457200" cy="4572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861930" y="43367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324594" y="4151948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6FA5"/>
                  </a:solidFill>
                  <a:latin typeface="Arial"/>
                  <a:ea typeface="Microsoft YaHei"/>
                  <a:cs typeface="Arial"/>
                </a:rPr>
                <a:t>运行观察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327642" y="45215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核对屏幕输出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390650" y="5924550"/>
            <a:ext cx="9410700" cy="590550"/>
            <a:chOff x="1390650" y="5924550"/>
            <a:chExt cx="9410700" cy="590550"/>
          </a:xfrm>
        </p:grpSpPr>
        <p:sp>
          <p:nvSpPr>
            <p:cNvPr id="37" name="Rectangle 37"/>
            <p:cNvSpPr/>
            <p:nvPr/>
          </p:nvSpPr>
          <p:spPr>
            <a:xfrm>
              <a:off x="1390650" y="5924550"/>
              <a:ext cx="9410700" cy="590550"/>
            </a:xfrm>
            <a:prstGeom prst="roundRect">
              <a:avLst>
                <a:gd name="adj" fmla="val 38710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1688008" y="6142388"/>
              <a:ext cx="218228" cy="154873"/>
            </a:xfrm>
            <a:custGeom>
              <a:avLst/>
              <a:gdLst/>
              <a:ahLst/>
              <a:cxnLst/>
              <a:rect l="l" t="t" r="r" b="b"/>
              <a:pathLst>
                <a:path w="218228" h="154873">
                  <a:moveTo>
                    <a:pt x="213270" y="4958"/>
                  </a:moveTo>
                  <a:cubicBezTo>
                    <a:pt x="218228" y="9917"/>
                    <a:pt x="218228" y="17956"/>
                    <a:pt x="213270" y="22916"/>
                  </a:cubicBezTo>
                  <a:lnTo>
                    <a:pt x="86271" y="149915"/>
                  </a:lnTo>
                  <a:cubicBezTo>
                    <a:pt x="81311" y="154873"/>
                    <a:pt x="73272" y="154873"/>
                    <a:pt x="68313" y="149915"/>
                  </a:cubicBezTo>
                  <a:lnTo>
                    <a:pt x="4813" y="86415"/>
                  </a:lnTo>
                  <a:cubicBezTo>
                    <a:pt x="0" y="81432"/>
                    <a:pt x="69" y="73511"/>
                    <a:pt x="4968" y="68612"/>
                  </a:cubicBezTo>
                  <a:cubicBezTo>
                    <a:pt x="9866" y="63714"/>
                    <a:pt x="17787" y="63645"/>
                    <a:pt x="22771" y="68458"/>
                  </a:cubicBezTo>
                  <a:lnTo>
                    <a:pt x="77292" y="122979"/>
                  </a:lnTo>
                  <a:lnTo>
                    <a:pt x="195312" y="4958"/>
                  </a:lnTo>
                  <a:cubicBezTo>
                    <a:pt x="200272" y="0"/>
                    <a:pt x="208311" y="0"/>
                    <a:pt x="213270" y="4958"/>
                  </a:cubicBezTo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2125218" y="6117908"/>
              <a:ext cx="24656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0 errors / 0 warnings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526530" y="6134100"/>
              <a:ext cx="31047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Arial"/>
                  <a:ea typeface="Microsoft YaHei"/>
                  <a:cs typeface="Arial"/>
                </a:rPr>
                <a:t>保存 → 编译 → 运行，顺序不能乱。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35686" y="462915"/>
            <a:ext cx="4031742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203044"/>
                </a:solidFill>
                <a:latin typeface="Segoe UI"/>
                <a:ea typeface="YouYuan"/>
                <a:cs typeface="Segoe UI"/>
              </a:rPr>
              <a:t>第一声：运行成功！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857250" y="1219200"/>
            <a:ext cx="10477500" cy="4438650"/>
            <a:chOff x="857250" y="1219200"/>
            <a:chExt cx="10477500" cy="4438650"/>
          </a:xfrm>
        </p:grpSpPr>
        <p:sp>
          <p:nvSpPr>
            <p:cNvPr id="3" name="Rectangle 3"/>
            <p:cNvSpPr/>
            <p:nvPr/>
          </p:nvSpPr>
          <p:spPr>
            <a:xfrm>
              <a:off x="857250" y="1219200"/>
              <a:ext cx="10477500" cy="4438650"/>
            </a:xfrm>
            <a:prstGeom prst="roundRect">
              <a:avLst>
                <a:gd name="adj" fmla="val 7296"/>
              </a:avLst>
            </a:prstGeom>
            <a:solidFill>
              <a:srgbClr val="17243A"/>
            </a:solidFill>
            <a:ln>
              <a:noFill/>
            </a:ln>
          </p:spPr>
        </p:sp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6167" y="1390650"/>
              <a:ext cx="10079665" cy="4267200"/>
            </a:xfrm>
            <a:prstGeom prst="rect">
              <a:avLst/>
            </a:prstGeom>
          </p:spPr>
        </p:pic>
      </p:grpSp>
      <p:grpSp>
        <p:nvGrpSpPr>
          <p:cNvPr id="9" name="Group 9"/>
          <p:cNvGrpSpPr/>
          <p:nvPr/>
        </p:nvGrpSpPr>
        <p:grpSpPr>
          <a:xfrm>
            <a:off x="857250" y="5810250"/>
            <a:ext cx="4953000" cy="723900"/>
            <a:chOff x="857250" y="5810250"/>
            <a:chExt cx="4953000" cy="723900"/>
          </a:xfrm>
        </p:grpSpPr>
        <p:sp>
          <p:nvSpPr>
            <p:cNvPr id="6" name="Rectangle 6"/>
            <p:cNvSpPr/>
            <p:nvPr/>
          </p:nvSpPr>
          <p:spPr>
            <a:xfrm>
              <a:off x="857250" y="5810250"/>
              <a:ext cx="4953000" cy="723900"/>
            </a:xfrm>
            <a:prstGeom prst="roundRect">
              <a:avLst>
                <a:gd name="adj" fmla="val 31579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35380" y="5934075"/>
              <a:ext cx="20221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9BFF"/>
                  </a:solidFill>
                  <a:latin typeface="Arial"/>
                  <a:ea typeface="Microsoft YaHei"/>
                  <a:cs typeface="Arial"/>
                </a:rPr>
                <a:t>第一行：Hello World!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35380" y="62198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就是程序输出的内容。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000750" y="5810250"/>
            <a:ext cx="5334000" cy="723900"/>
            <a:chOff x="6000750" y="5810250"/>
            <a:chExt cx="5334000" cy="723900"/>
          </a:xfrm>
        </p:grpSpPr>
        <p:sp>
          <p:nvSpPr>
            <p:cNvPr id="10" name="Rectangle 10"/>
            <p:cNvSpPr/>
            <p:nvPr/>
          </p:nvSpPr>
          <p:spPr>
            <a:xfrm>
              <a:off x="6000750" y="5810250"/>
              <a:ext cx="5334000" cy="723900"/>
            </a:xfrm>
            <a:prstGeom prst="roundRect">
              <a:avLst>
                <a:gd name="adj" fmla="val 31579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8880" y="5934075"/>
              <a:ext cx="14888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2C55E"/>
                  </a:solidFill>
                  <a:latin typeface="Arial"/>
                  <a:ea typeface="Arial"/>
                  <a:cs typeface="Arial"/>
                </a:rPr>
                <a:t>return value 0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278880" y="62198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表示程序正常结束。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2E9BFF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00060" y="432435"/>
            <a:ext cx="11506067" cy="708660"/>
            <a:chOff x="500060" y="432435"/>
            <a:chExt cx="11506067" cy="708660"/>
          </a:xfrm>
        </p:grpSpPr>
        <p:sp>
          <p:nvSpPr>
            <p:cNvPr id="3" name="Freeform 3"/>
            <p:cNvSpPr/>
            <p:nvPr/>
          </p:nvSpPr>
          <p:spPr>
            <a:xfrm>
              <a:off x="500060" y="43331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rgbClr val="2E9BF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29284" y="432435"/>
              <a:ext cx="281979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203044"/>
                  </a:solidFill>
                  <a:latin typeface="Segoe UI"/>
                  <a:ea typeface="Segoe UI"/>
                  <a:cs typeface="Segoe UI"/>
                </a:rPr>
                <a:t xml:space="preserve">Hello </a:t>
              </a:r>
              <a:r>
                <a:rPr lang="en-US" sz="2700" b="1" dirty="0">
                  <a:solidFill>
                    <a:srgbClr val="2E9BFF"/>
                  </a:solidFill>
                  <a:latin typeface="Segoe UI"/>
                  <a:ea typeface="Segoe UI"/>
                  <a:cs typeface="Segoe UI"/>
                </a:rPr>
                <a:t>C++ World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35380" y="847725"/>
              <a:ext cx="30038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E9BFF"/>
                  </a:solidFill>
                  <a:latin typeface="Arial"/>
                  <a:ea typeface="Microsoft YaHei"/>
                  <a:cs typeface="Arial"/>
                </a:rPr>
                <a:t>选一个任务，让 cout 开始工作！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8210550" y="438150"/>
              <a:ext cx="3524250" cy="514350"/>
            </a:xfrm>
            <a:prstGeom prst="roundRect">
              <a:avLst>
                <a:gd name="adj" fmla="val 50000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939222" y="616268"/>
              <a:ext cx="40669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① 选任务　→　② 看代码　→　③ 运行　→　④ 看结果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57200" y="1200150"/>
            <a:ext cx="11277600" cy="1066800"/>
            <a:chOff x="457200" y="1200150"/>
            <a:chExt cx="11277600" cy="1066800"/>
          </a:xfrm>
        </p:grpSpPr>
        <p:sp>
          <p:nvSpPr>
            <p:cNvPr id="9" name="Rectangle 9"/>
            <p:cNvSpPr/>
            <p:nvPr/>
          </p:nvSpPr>
          <p:spPr>
            <a:xfrm>
              <a:off x="457200" y="1200150"/>
              <a:ext cx="11277600" cy="1066800"/>
            </a:xfrm>
            <a:prstGeom prst="roundRect">
              <a:avLst>
                <a:gd name="adj" fmla="val 26786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647700" y="1390650"/>
            <a:ext cx="3352800" cy="685800"/>
            <a:chOff x="647700" y="1390650"/>
            <a:chExt cx="3352800" cy="685800"/>
          </a:xfrm>
        </p:grpSpPr>
        <p:sp>
          <p:nvSpPr>
            <p:cNvPr id="11" name="Rectangle 11"/>
            <p:cNvSpPr/>
            <p:nvPr/>
          </p:nvSpPr>
          <p:spPr>
            <a:xfrm>
              <a:off x="647700" y="1390650"/>
              <a:ext cx="3352800" cy="685800"/>
            </a:xfrm>
            <a:prstGeom prst="roundRect">
              <a:avLst>
                <a:gd name="adj" fmla="val 30556"/>
              </a:avLst>
            </a:prstGeom>
            <a:solidFill>
              <a:srgbClr val="EAF5FF"/>
            </a:solidFill>
            <a:ln w="19050">
              <a:solidFill>
                <a:srgbClr val="A8D5FF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819150" y="1524000"/>
              <a:ext cx="419100" cy="4191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56180" y="16316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▶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20368" y="16316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运行示例代码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239216" y="1664018"/>
              <a:ext cx="4823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rgbClr val="2E9BFF"/>
                  </a:solidFill>
                  <a:latin typeface="Arial"/>
                  <a:ea typeface="Arial"/>
                  <a:cs typeface="Arial"/>
                </a:rPr>
                <a:t>Hello!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191000" y="1390650"/>
            <a:ext cx="3352800" cy="685800"/>
            <a:chOff x="4191000" y="1390650"/>
            <a:chExt cx="3352800" cy="685800"/>
          </a:xfrm>
        </p:grpSpPr>
        <p:sp>
          <p:nvSpPr>
            <p:cNvPr id="17" name="Rectangle 17"/>
            <p:cNvSpPr/>
            <p:nvPr/>
          </p:nvSpPr>
          <p:spPr>
            <a:xfrm>
              <a:off x="4191000" y="1390650"/>
              <a:ext cx="3352800" cy="685800"/>
            </a:xfrm>
            <a:prstGeom prst="roundRect">
              <a:avLst>
                <a:gd name="adj" fmla="val 30556"/>
              </a:avLst>
            </a:prstGeom>
            <a:solidFill>
              <a:srgbClr val="FFF2DC"/>
            </a:solidFill>
            <a:ln w="19050">
              <a:solidFill>
                <a:srgbClr val="FFD08A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4362450" y="1524000"/>
              <a:ext cx="419100" cy="4191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452556" y="1631632"/>
              <a:ext cx="2388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中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963668" y="16316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让电脑说中文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814147" y="1664018"/>
              <a:ext cx="4317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FF9F1C"/>
                  </a:solidFill>
                  <a:latin typeface="Arial"/>
                  <a:ea typeface="Microsoft YaHei"/>
                  <a:cs typeface="Arial"/>
                </a:rPr>
                <a:t>你好!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734300" y="1390650"/>
            <a:ext cx="3810000" cy="685800"/>
            <a:chOff x="7734300" y="1390650"/>
            <a:chExt cx="3810000" cy="685800"/>
          </a:xfrm>
        </p:grpSpPr>
        <p:sp>
          <p:nvSpPr>
            <p:cNvPr id="23" name="Rectangle 23"/>
            <p:cNvSpPr/>
            <p:nvPr/>
          </p:nvSpPr>
          <p:spPr>
            <a:xfrm>
              <a:off x="7734300" y="1390650"/>
              <a:ext cx="3810000" cy="685800"/>
            </a:xfrm>
            <a:prstGeom prst="roundRect">
              <a:avLst>
                <a:gd name="adj" fmla="val 30556"/>
              </a:avLst>
            </a:prstGeom>
            <a:solidFill>
              <a:srgbClr val="FFE2ED"/>
            </a:solidFill>
            <a:ln w="19050">
              <a:solidFill>
                <a:srgbClr val="FFB7D1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7905750" y="1524000"/>
              <a:ext cx="419100" cy="4191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956213" y="1592580"/>
              <a:ext cx="31817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❤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06968" y="1631632"/>
              <a:ext cx="12084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❤ 表白程序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282142" y="1664018"/>
              <a:ext cx="9832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rgbClr val="FF6FA5"/>
                  </a:solidFill>
                  <a:latin typeface="Arial"/>
                  <a:ea typeface="Arial"/>
                  <a:cs typeface="Arial"/>
                </a:rPr>
                <a:t>I ❤ Coding!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457200" y="2457450"/>
            <a:ext cx="6667500" cy="3848100"/>
            <a:chOff x="457200" y="2457450"/>
            <a:chExt cx="6667500" cy="3848100"/>
          </a:xfrm>
        </p:grpSpPr>
        <p:sp>
          <p:nvSpPr>
            <p:cNvPr id="29" name="Rectangle 29"/>
            <p:cNvSpPr/>
            <p:nvPr/>
          </p:nvSpPr>
          <p:spPr>
            <a:xfrm>
              <a:off x="457200" y="2457450"/>
              <a:ext cx="6667500" cy="3848100"/>
            </a:xfrm>
            <a:prstGeom prst="roundRect">
              <a:avLst>
                <a:gd name="adj" fmla="val 8416"/>
              </a:avLst>
            </a:prstGeom>
            <a:solidFill>
              <a:srgbClr val="FFFFFF"/>
            </a:solidFill>
            <a:ln w="28575">
              <a:solidFill>
                <a:srgbClr val="CFE5F8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704850" y="2705100"/>
              <a:ext cx="152400" cy="152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952500" y="2705100"/>
              <a:ext cx="152400" cy="152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1200150" y="27051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649730" y="2695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代码编辑器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85800" y="3048000"/>
              <a:ext cx="6210300" cy="2343150"/>
            </a:xfrm>
            <a:prstGeom prst="roundRect">
              <a:avLst>
                <a:gd name="adj" fmla="val 8943"/>
              </a:avLst>
            </a:prstGeom>
            <a:solidFill>
              <a:srgbClr val="F8FBF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07542" y="32832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E9BFF"/>
                  </a:solidFill>
                  <a:latin typeface="Consolas"/>
                  <a:ea typeface="Consolas"/>
                  <a:cs typeface="Consolas"/>
                </a:rPr>
                <a:t>#include &lt;iostream&gt;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07542" y="36642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FF9F1C"/>
                  </a:solidFill>
                  <a:latin typeface="Consolas"/>
                  <a:ea typeface="Consolas"/>
                  <a:cs typeface="Consolas"/>
                </a:rPr>
                <a:t>using namespace std;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07542" y="40452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03044"/>
                  </a:solidFill>
                  <a:latin typeface="Consolas"/>
                  <a:ea typeface="Consolas"/>
                  <a:cs typeface="Consolas"/>
                </a:rPr>
                <a:t>int main() {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19150" y="4343400"/>
              <a:ext cx="5905500" cy="514350"/>
            </a:xfrm>
            <a:prstGeom prst="roundRect">
              <a:avLst>
                <a:gd name="adj" fmla="val 27778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07542" y="5035868"/>
              <a:ext cx="8678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 0;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07542" y="53787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03044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17042" y="5950268"/>
              <a:ext cx="27942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E9BFF"/>
                  </a:solidFill>
                  <a:latin typeface="Arial"/>
                  <a:ea typeface="Microsoft YaHei"/>
                  <a:cs typeface="Arial"/>
                </a:rPr>
                <a:t>先读代码，再点击按钮观察终端 ✨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058799" y="4497229"/>
            <a:ext cx="3169805" cy="308039"/>
            <a:chOff x="1058799" y="4497229"/>
            <a:chExt cx="3169805" cy="308039"/>
          </a:xfrm>
        </p:grpSpPr>
        <p:sp>
          <p:nvSpPr>
            <p:cNvPr id="43" name="TextBox 43"/>
            <p:cNvSpPr txBox="1"/>
            <p:nvPr/>
          </p:nvSpPr>
          <p:spPr>
            <a:xfrm>
              <a:off x="1058799" y="4497229"/>
              <a:ext cx="316980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F6FA5"/>
                  </a:solidFill>
                  <a:latin typeface="Consolas"/>
                  <a:ea typeface="Microsoft YaHei"/>
                  <a:cs typeface="Consolas"/>
                </a:rPr>
                <a:t>cout &lt;&lt; "你好，小小程序员！";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058799" y="4497229"/>
            <a:ext cx="2638889" cy="308039"/>
            <a:chOff x="1058799" y="4497229"/>
            <a:chExt cx="2638889" cy="308039"/>
          </a:xfrm>
        </p:grpSpPr>
        <p:sp>
          <p:nvSpPr>
            <p:cNvPr id="45" name="TextBox 45"/>
            <p:cNvSpPr txBox="1"/>
            <p:nvPr/>
          </p:nvSpPr>
          <p:spPr>
            <a:xfrm>
              <a:off x="1058799" y="4497229"/>
              <a:ext cx="263888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rgbClr val="2E9BFF"/>
                  </a:solidFill>
                  <a:latin typeface="Consolas"/>
                  <a:ea typeface="Consolas"/>
                  <a:cs typeface="Consolas"/>
                </a:rPr>
                <a:t>cout &lt;&lt; "Hello, World!";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058799" y="4497229"/>
            <a:ext cx="3169805" cy="308039"/>
            <a:chOff x="1058799" y="4497229"/>
            <a:chExt cx="3169805" cy="308039"/>
          </a:xfrm>
        </p:grpSpPr>
        <p:sp>
          <p:nvSpPr>
            <p:cNvPr id="47" name="TextBox 47"/>
            <p:cNvSpPr txBox="1"/>
            <p:nvPr/>
          </p:nvSpPr>
          <p:spPr>
            <a:xfrm>
              <a:off x="1058799" y="4497229"/>
              <a:ext cx="316980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F6FA5"/>
                  </a:solidFill>
                  <a:latin typeface="Consolas"/>
                  <a:ea typeface="Microsoft YaHei"/>
                  <a:cs typeface="Consolas"/>
                </a:rPr>
                <a:t>cout &lt;&lt; "你好，小小程序员！";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058799" y="4497229"/>
            <a:ext cx="2600038" cy="308039"/>
            <a:chOff x="1058799" y="4497229"/>
            <a:chExt cx="2600038" cy="308039"/>
          </a:xfrm>
        </p:grpSpPr>
        <p:sp>
          <p:nvSpPr>
            <p:cNvPr id="49" name="TextBox 49"/>
            <p:cNvSpPr txBox="1"/>
            <p:nvPr/>
          </p:nvSpPr>
          <p:spPr>
            <a:xfrm>
              <a:off x="1058799" y="4497229"/>
              <a:ext cx="260003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F6FA5"/>
                  </a:solidFill>
                  <a:latin typeface="Consolas"/>
                  <a:ea typeface="Microsoft YaHei"/>
                  <a:cs typeface="Consolas"/>
                </a:rPr>
                <a:t>cout &lt;&lt; "I ❤ Coding！";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51" name="Rectangle 51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▶ 运行程序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54" name="Rectangle 54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▶ 运行程序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57" name="Rectangle 57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▶ 运行程序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60" name="Rectangle 60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▶ 运行程序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7353300" y="2457450"/>
            <a:ext cx="4381500" cy="3848100"/>
            <a:chOff x="7353300" y="2457450"/>
            <a:chExt cx="4381500" cy="3848100"/>
          </a:xfrm>
        </p:grpSpPr>
        <p:sp>
          <p:nvSpPr>
            <p:cNvPr id="63" name="Rectangle 63"/>
            <p:cNvSpPr/>
            <p:nvPr/>
          </p:nvSpPr>
          <p:spPr>
            <a:xfrm>
              <a:off x="7353300" y="2457450"/>
              <a:ext cx="4381500" cy="3848100"/>
            </a:xfrm>
            <a:prstGeom prst="roundRect">
              <a:avLst>
                <a:gd name="adj" fmla="val 8416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687056" y="26822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运行结果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7581900" y="3067050"/>
              <a:ext cx="3924300" cy="2247900"/>
            </a:xfrm>
            <a:prstGeom prst="roundRect">
              <a:avLst>
                <a:gd name="adj" fmla="val 11017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66" name="Ellipse 66"/>
            <p:cNvSpPr/>
            <p:nvPr/>
          </p:nvSpPr>
          <p:spPr>
            <a:xfrm>
              <a:off x="7800975" y="3286125"/>
              <a:ext cx="133350" cy="13335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67" name="Ellipse 67"/>
            <p:cNvSpPr/>
            <p:nvPr/>
          </p:nvSpPr>
          <p:spPr>
            <a:xfrm>
              <a:off x="8029575" y="3286125"/>
              <a:ext cx="133350" cy="13335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68" name="Ellipse 68"/>
            <p:cNvSpPr/>
            <p:nvPr/>
          </p:nvSpPr>
          <p:spPr>
            <a:xfrm>
              <a:off x="8258175" y="3286125"/>
              <a:ext cx="133350" cy="13335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8565642" y="32642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AF5FF"/>
                  </a:solidFill>
                  <a:latin typeface="Arial"/>
                  <a:ea typeface="Microsoft YaHei"/>
                  <a:cs typeface="Arial"/>
                </a:rPr>
                <a:t>终端输出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7620000" y="5505450"/>
              <a:ext cx="3848100" cy="552450"/>
            </a:xfrm>
            <a:prstGeom prst="roundRect">
              <a:avLst>
                <a:gd name="adj" fmla="val 34483"/>
              </a:avLst>
            </a:pr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73" name="Group 73"/>
          <p:cNvGrpSpPr/>
          <p:nvPr/>
        </p:nvGrpSpPr>
        <p:grpSpPr>
          <a:xfrm>
            <a:off x="8359741" y="5694521"/>
            <a:ext cx="2368618" cy="278702"/>
            <a:chOff x="8359741" y="5694521"/>
            <a:chExt cx="2368618" cy="278702"/>
          </a:xfrm>
        </p:grpSpPr>
        <p:sp>
          <p:nvSpPr>
            <p:cNvPr id="72" name="TextBox 72"/>
            <p:cNvSpPr txBox="1"/>
            <p:nvPr/>
          </p:nvSpPr>
          <p:spPr>
            <a:xfrm>
              <a:off x="8359741" y="5694521"/>
              <a:ext cx="23686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2E9BFF"/>
                  </a:solidFill>
                  <a:latin typeface="Arial"/>
                  <a:ea typeface="Microsoft YaHei"/>
                  <a:cs typeface="Arial"/>
                </a:rPr>
                <a:t>点击运行，让电脑开口说话!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8359741" y="5694521"/>
            <a:ext cx="2368618" cy="278702"/>
            <a:chOff x="8359741" y="5694521"/>
            <a:chExt cx="2368618" cy="278702"/>
          </a:xfrm>
        </p:grpSpPr>
        <p:sp>
          <p:nvSpPr>
            <p:cNvPr id="74" name="TextBox 74"/>
            <p:cNvSpPr txBox="1"/>
            <p:nvPr/>
          </p:nvSpPr>
          <p:spPr>
            <a:xfrm>
              <a:off x="8359741" y="5694521"/>
              <a:ext cx="23686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2E9BFF"/>
                  </a:solidFill>
                  <a:latin typeface="Arial"/>
                  <a:ea typeface="Microsoft YaHei"/>
                  <a:cs typeface="Arial"/>
                </a:rPr>
                <a:t>点击运行，让电脑开口说话!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9058613" y="5686425"/>
            <a:ext cx="970874" cy="293370"/>
            <a:chOff x="9058613" y="5686425"/>
            <a:chExt cx="970874" cy="293370"/>
          </a:xfrm>
        </p:grpSpPr>
        <p:sp>
          <p:nvSpPr>
            <p:cNvPr id="76" name="TextBox 76"/>
            <p:cNvSpPr txBox="1"/>
            <p:nvPr/>
          </p:nvSpPr>
          <p:spPr>
            <a:xfrm>
              <a:off x="9058613" y="5686425"/>
              <a:ext cx="9708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9F1C"/>
                  </a:solidFill>
                  <a:latin typeface="Arial"/>
                  <a:ea typeface="Microsoft YaHei"/>
                  <a:cs typeface="Arial"/>
                </a:rPr>
                <a:t>运行中...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8829675" y="5686425"/>
            <a:ext cx="1428750" cy="293370"/>
            <a:chOff x="8829675" y="5686425"/>
            <a:chExt cx="1428750" cy="293370"/>
          </a:xfrm>
        </p:grpSpPr>
        <p:sp>
          <p:nvSpPr>
            <p:cNvPr id="78" name="TextBox 78"/>
            <p:cNvSpPr txBox="1"/>
            <p:nvPr/>
          </p:nvSpPr>
          <p:spPr>
            <a:xfrm>
              <a:off x="8829675" y="56864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2C55E"/>
                  </a:solidFill>
                  <a:latin typeface="Arial"/>
                  <a:ea typeface="Microsoft YaHei"/>
                  <a:cs typeface="Arial"/>
                </a:rPr>
                <a:t>电脑说话了！！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7782858" y="3833812"/>
            <a:ext cx="207683" cy="440055"/>
            <a:chOff x="7782858" y="3833812"/>
            <a:chExt cx="207683" cy="440055"/>
          </a:xfrm>
        </p:grpSpPr>
        <p:sp>
          <p:nvSpPr>
            <p:cNvPr id="80" name="TextBox 80"/>
            <p:cNvSpPr txBox="1"/>
            <p:nvPr/>
          </p:nvSpPr>
          <p:spPr>
            <a:xfrm>
              <a:off x="7782858" y="3833812"/>
              <a:ext cx="20768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H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8054509" y="3833812"/>
            <a:ext cx="197782" cy="440055"/>
            <a:chOff x="8054509" y="3833812"/>
            <a:chExt cx="197782" cy="440055"/>
          </a:xfrm>
        </p:grpSpPr>
        <p:sp>
          <p:nvSpPr>
            <p:cNvPr id="82" name="TextBox 82"/>
            <p:cNvSpPr txBox="1"/>
            <p:nvPr/>
          </p:nvSpPr>
          <p:spPr>
            <a:xfrm>
              <a:off x="80545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e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8360964" y="3833812"/>
            <a:ext cx="118272" cy="440055"/>
            <a:chOff x="8360964" y="3833812"/>
            <a:chExt cx="118272" cy="440055"/>
          </a:xfrm>
        </p:grpSpPr>
        <p:sp>
          <p:nvSpPr>
            <p:cNvPr id="84" name="TextBox 84"/>
            <p:cNvSpPr txBox="1"/>
            <p:nvPr/>
          </p:nvSpPr>
          <p:spPr>
            <a:xfrm>
              <a:off x="8360964" y="3833812"/>
              <a:ext cx="11827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8627664" y="3833812"/>
            <a:ext cx="118272" cy="440055"/>
            <a:chOff x="8627664" y="3833812"/>
            <a:chExt cx="118272" cy="440055"/>
          </a:xfrm>
        </p:grpSpPr>
        <p:sp>
          <p:nvSpPr>
            <p:cNvPr id="86" name="TextBox 86"/>
            <p:cNvSpPr txBox="1"/>
            <p:nvPr/>
          </p:nvSpPr>
          <p:spPr>
            <a:xfrm>
              <a:off x="8627664" y="3833812"/>
              <a:ext cx="11827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8854609" y="3833812"/>
            <a:ext cx="197782" cy="440055"/>
            <a:chOff x="8854609" y="3833812"/>
            <a:chExt cx="197782" cy="440055"/>
          </a:xfrm>
        </p:grpSpPr>
        <p:sp>
          <p:nvSpPr>
            <p:cNvPr id="88" name="TextBox 88"/>
            <p:cNvSpPr txBox="1"/>
            <p:nvPr/>
          </p:nvSpPr>
          <p:spPr>
            <a:xfrm>
              <a:off x="88546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o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9121309" y="3833812"/>
            <a:ext cx="197782" cy="440055"/>
            <a:chOff x="9121309" y="3833812"/>
            <a:chExt cx="197782" cy="440055"/>
          </a:xfrm>
        </p:grpSpPr>
        <p:sp>
          <p:nvSpPr>
            <p:cNvPr id="90" name="TextBox 90"/>
            <p:cNvSpPr txBox="1"/>
            <p:nvPr/>
          </p:nvSpPr>
          <p:spPr>
            <a:xfrm>
              <a:off x="91213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,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9425654" y="3833812"/>
            <a:ext cx="274892" cy="440055"/>
            <a:chOff x="9425654" y="3833812"/>
            <a:chExt cx="274892" cy="440055"/>
          </a:xfrm>
        </p:grpSpPr>
        <p:sp>
          <p:nvSpPr>
            <p:cNvPr id="92" name="TextBox 92"/>
            <p:cNvSpPr txBox="1"/>
            <p:nvPr/>
          </p:nvSpPr>
          <p:spPr>
            <a:xfrm>
              <a:off x="9425654" y="3833812"/>
              <a:ext cx="27489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W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9730909" y="3833812"/>
            <a:ext cx="197782" cy="440055"/>
            <a:chOff x="9730909" y="3833812"/>
            <a:chExt cx="197782" cy="440055"/>
          </a:xfrm>
        </p:grpSpPr>
        <p:sp>
          <p:nvSpPr>
            <p:cNvPr id="94" name="TextBox 94"/>
            <p:cNvSpPr txBox="1"/>
            <p:nvPr/>
          </p:nvSpPr>
          <p:spPr>
            <a:xfrm>
              <a:off x="97309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o</a:t>
              </a: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9997609" y="3833812"/>
            <a:ext cx="197782" cy="440055"/>
            <a:chOff x="9997609" y="3833812"/>
            <a:chExt cx="197782" cy="440055"/>
          </a:xfrm>
        </p:grpSpPr>
        <p:sp>
          <p:nvSpPr>
            <p:cNvPr id="96" name="TextBox 96"/>
            <p:cNvSpPr txBox="1"/>
            <p:nvPr/>
          </p:nvSpPr>
          <p:spPr>
            <a:xfrm>
              <a:off x="99976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10304064" y="3833812"/>
            <a:ext cx="118272" cy="440055"/>
            <a:chOff x="10304064" y="3833812"/>
            <a:chExt cx="118272" cy="440055"/>
          </a:xfrm>
        </p:grpSpPr>
        <p:sp>
          <p:nvSpPr>
            <p:cNvPr id="98" name="TextBox 98"/>
            <p:cNvSpPr txBox="1"/>
            <p:nvPr/>
          </p:nvSpPr>
          <p:spPr>
            <a:xfrm>
              <a:off x="10304064" y="3833812"/>
              <a:ext cx="11827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</a:t>
              </a: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10531009" y="3833812"/>
            <a:ext cx="197782" cy="440055"/>
            <a:chOff x="10531009" y="3833812"/>
            <a:chExt cx="197782" cy="440055"/>
          </a:xfrm>
        </p:grpSpPr>
        <p:sp>
          <p:nvSpPr>
            <p:cNvPr id="100" name="TextBox 100"/>
            <p:cNvSpPr txBox="1"/>
            <p:nvPr/>
          </p:nvSpPr>
          <p:spPr>
            <a:xfrm>
              <a:off x="105310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d</a:t>
              </a:r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10837464" y="3833812"/>
            <a:ext cx="118272" cy="440055"/>
            <a:chOff x="10837464" y="3833812"/>
            <a:chExt cx="118272" cy="440055"/>
          </a:xfrm>
        </p:grpSpPr>
        <p:sp>
          <p:nvSpPr>
            <p:cNvPr id="102" name="TextBox 102"/>
            <p:cNvSpPr txBox="1"/>
            <p:nvPr/>
          </p:nvSpPr>
          <p:spPr>
            <a:xfrm>
              <a:off x="10837464" y="3833812"/>
              <a:ext cx="11827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!</a:t>
              </a:r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7846314" y="3817620"/>
            <a:ext cx="347472" cy="469392"/>
            <a:chOff x="7846314" y="3817620"/>
            <a:chExt cx="347472" cy="469392"/>
          </a:xfrm>
        </p:grpSpPr>
        <p:sp>
          <p:nvSpPr>
            <p:cNvPr id="104" name="TextBox 104"/>
            <p:cNvSpPr txBox="1"/>
            <p:nvPr/>
          </p:nvSpPr>
          <p:spPr>
            <a:xfrm>
              <a:off x="78463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你</a:t>
              </a:r>
            </a:p>
          </p:txBody>
        </p:sp>
      </p:grpSp>
      <p:grpSp>
        <p:nvGrpSpPr>
          <p:cNvPr id="107" name="Group 107"/>
          <p:cNvGrpSpPr/>
          <p:nvPr/>
        </p:nvGrpSpPr>
        <p:grpSpPr>
          <a:xfrm>
            <a:off x="8189214" y="3817620"/>
            <a:ext cx="347472" cy="469392"/>
            <a:chOff x="8189214" y="3817620"/>
            <a:chExt cx="347472" cy="469392"/>
          </a:xfrm>
        </p:grpSpPr>
        <p:sp>
          <p:nvSpPr>
            <p:cNvPr id="106" name="TextBox 106"/>
            <p:cNvSpPr txBox="1"/>
            <p:nvPr/>
          </p:nvSpPr>
          <p:spPr>
            <a:xfrm>
              <a:off x="81892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好</a:t>
              </a:r>
            </a:p>
          </p:txBody>
        </p:sp>
      </p:grpSp>
      <p:grpSp>
        <p:nvGrpSpPr>
          <p:cNvPr id="109" name="Group 109"/>
          <p:cNvGrpSpPr/>
          <p:nvPr/>
        </p:nvGrpSpPr>
        <p:grpSpPr>
          <a:xfrm>
            <a:off x="8532114" y="3817620"/>
            <a:ext cx="347472" cy="469392"/>
            <a:chOff x="8532114" y="3817620"/>
            <a:chExt cx="347472" cy="469392"/>
          </a:xfrm>
        </p:grpSpPr>
        <p:sp>
          <p:nvSpPr>
            <p:cNvPr id="108" name="TextBox 108"/>
            <p:cNvSpPr txBox="1"/>
            <p:nvPr/>
          </p:nvSpPr>
          <p:spPr>
            <a:xfrm>
              <a:off x="85321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，</a:t>
              </a:r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8875014" y="3817620"/>
            <a:ext cx="347472" cy="469392"/>
            <a:chOff x="8875014" y="3817620"/>
            <a:chExt cx="347472" cy="469392"/>
          </a:xfrm>
        </p:grpSpPr>
        <p:sp>
          <p:nvSpPr>
            <p:cNvPr id="110" name="TextBox 110"/>
            <p:cNvSpPr txBox="1"/>
            <p:nvPr/>
          </p:nvSpPr>
          <p:spPr>
            <a:xfrm>
              <a:off x="88750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小</a:t>
              </a:r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9217914" y="3817620"/>
            <a:ext cx="347472" cy="469392"/>
            <a:chOff x="9217914" y="3817620"/>
            <a:chExt cx="347472" cy="469392"/>
          </a:xfrm>
        </p:grpSpPr>
        <p:sp>
          <p:nvSpPr>
            <p:cNvPr id="112" name="TextBox 112"/>
            <p:cNvSpPr txBox="1"/>
            <p:nvPr/>
          </p:nvSpPr>
          <p:spPr>
            <a:xfrm>
              <a:off x="92179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小</a:t>
              </a:r>
            </a:p>
          </p:txBody>
        </p:sp>
      </p:grpSp>
      <p:grpSp>
        <p:nvGrpSpPr>
          <p:cNvPr id="115" name="Group 115"/>
          <p:cNvGrpSpPr/>
          <p:nvPr/>
        </p:nvGrpSpPr>
        <p:grpSpPr>
          <a:xfrm>
            <a:off x="9560814" y="3817620"/>
            <a:ext cx="347472" cy="469392"/>
            <a:chOff x="9560814" y="3817620"/>
            <a:chExt cx="347472" cy="469392"/>
          </a:xfrm>
        </p:grpSpPr>
        <p:sp>
          <p:nvSpPr>
            <p:cNvPr id="114" name="TextBox 114"/>
            <p:cNvSpPr txBox="1"/>
            <p:nvPr/>
          </p:nvSpPr>
          <p:spPr>
            <a:xfrm>
              <a:off x="95608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程</a:t>
              </a:r>
            </a:p>
          </p:txBody>
        </p:sp>
      </p:grpSp>
      <p:grpSp>
        <p:nvGrpSpPr>
          <p:cNvPr id="117" name="Group 117"/>
          <p:cNvGrpSpPr/>
          <p:nvPr/>
        </p:nvGrpSpPr>
        <p:grpSpPr>
          <a:xfrm>
            <a:off x="9903714" y="3817620"/>
            <a:ext cx="347472" cy="469392"/>
            <a:chOff x="9903714" y="3817620"/>
            <a:chExt cx="347472" cy="469392"/>
          </a:xfrm>
        </p:grpSpPr>
        <p:sp>
          <p:nvSpPr>
            <p:cNvPr id="116" name="TextBox 116"/>
            <p:cNvSpPr txBox="1"/>
            <p:nvPr/>
          </p:nvSpPr>
          <p:spPr>
            <a:xfrm>
              <a:off x="99037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序</a:t>
              </a:r>
            </a:p>
          </p:txBody>
        </p:sp>
      </p:grpSp>
      <p:grpSp>
        <p:nvGrpSpPr>
          <p:cNvPr id="119" name="Group 119"/>
          <p:cNvGrpSpPr/>
          <p:nvPr/>
        </p:nvGrpSpPr>
        <p:grpSpPr>
          <a:xfrm>
            <a:off x="10246614" y="3817620"/>
            <a:ext cx="347472" cy="469392"/>
            <a:chOff x="10246614" y="3817620"/>
            <a:chExt cx="347472" cy="469392"/>
          </a:xfrm>
        </p:grpSpPr>
        <p:sp>
          <p:nvSpPr>
            <p:cNvPr id="118" name="TextBox 118"/>
            <p:cNvSpPr txBox="1"/>
            <p:nvPr/>
          </p:nvSpPr>
          <p:spPr>
            <a:xfrm>
              <a:off x="102466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员</a:t>
              </a:r>
            </a:p>
          </p:txBody>
        </p:sp>
      </p:grpSp>
      <p:grpSp>
        <p:nvGrpSpPr>
          <p:cNvPr id="121" name="Group 121"/>
          <p:cNvGrpSpPr/>
          <p:nvPr/>
        </p:nvGrpSpPr>
        <p:grpSpPr>
          <a:xfrm>
            <a:off x="10589514" y="3817620"/>
            <a:ext cx="347472" cy="469392"/>
            <a:chOff x="10589514" y="3817620"/>
            <a:chExt cx="347472" cy="469392"/>
          </a:xfrm>
        </p:grpSpPr>
        <p:sp>
          <p:nvSpPr>
            <p:cNvPr id="120" name="TextBox 120"/>
            <p:cNvSpPr txBox="1"/>
            <p:nvPr/>
          </p:nvSpPr>
          <p:spPr>
            <a:xfrm>
              <a:off x="105895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！</a:t>
              </a:r>
            </a:p>
          </p:txBody>
        </p:sp>
      </p:grpSp>
      <p:grpSp>
        <p:nvGrpSpPr>
          <p:cNvPr id="123" name="Group 123"/>
          <p:cNvGrpSpPr/>
          <p:nvPr/>
        </p:nvGrpSpPr>
        <p:grpSpPr>
          <a:xfrm>
            <a:off x="7984840" y="3825716"/>
            <a:ext cx="127571" cy="454724"/>
            <a:chOff x="7984840" y="3825716"/>
            <a:chExt cx="127571" cy="454724"/>
          </a:xfrm>
        </p:grpSpPr>
        <p:sp>
          <p:nvSpPr>
            <p:cNvPr id="122" name="TextBox 122"/>
            <p:cNvSpPr txBox="1"/>
            <p:nvPr/>
          </p:nvSpPr>
          <p:spPr>
            <a:xfrm>
              <a:off x="7984840" y="3825716"/>
              <a:ext cx="127571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32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</a:t>
              </a:r>
            </a:p>
          </p:txBody>
        </p:sp>
      </p:grpSp>
      <p:grpSp>
        <p:nvGrpSpPr>
          <p:cNvPr id="125" name="Group 125"/>
          <p:cNvGrpSpPr/>
          <p:nvPr/>
        </p:nvGrpSpPr>
        <p:grpSpPr>
          <a:xfrm>
            <a:off x="8362112" y="3817620"/>
            <a:ext cx="363626" cy="469392"/>
            <a:chOff x="8362112" y="3817620"/>
            <a:chExt cx="363626" cy="469392"/>
          </a:xfrm>
        </p:grpSpPr>
        <p:sp>
          <p:nvSpPr>
            <p:cNvPr id="124" name="TextBox 124"/>
            <p:cNvSpPr txBox="1"/>
            <p:nvPr/>
          </p:nvSpPr>
          <p:spPr>
            <a:xfrm>
              <a:off x="8362112" y="3817620"/>
              <a:ext cx="36362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6FA5"/>
                  </a:solidFill>
                  <a:latin typeface="Arial"/>
                  <a:ea typeface="Arial"/>
                  <a:cs typeface="Arial"/>
                </a:rPr>
                <a:t>❤</a:t>
              </a:r>
            </a:p>
          </p:txBody>
        </p:sp>
      </p:grpSp>
      <p:grpSp>
        <p:nvGrpSpPr>
          <p:cNvPr id="127" name="Group 127"/>
          <p:cNvGrpSpPr/>
          <p:nvPr/>
        </p:nvGrpSpPr>
        <p:grpSpPr>
          <a:xfrm>
            <a:off x="8951177" y="3825716"/>
            <a:ext cx="214195" cy="454724"/>
            <a:chOff x="8951177" y="3825716"/>
            <a:chExt cx="214195" cy="454724"/>
          </a:xfrm>
        </p:grpSpPr>
        <p:sp>
          <p:nvSpPr>
            <p:cNvPr id="126" name="TextBox 126"/>
            <p:cNvSpPr txBox="1"/>
            <p:nvPr/>
          </p:nvSpPr>
          <p:spPr>
            <a:xfrm>
              <a:off x="8951177" y="3825716"/>
              <a:ext cx="214195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32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</a:t>
              </a:r>
            </a:p>
          </p:txBody>
        </p:sp>
      </p:grpSp>
      <p:grpSp>
        <p:nvGrpSpPr>
          <p:cNvPr id="129" name="Group 129"/>
          <p:cNvGrpSpPr/>
          <p:nvPr/>
        </p:nvGrpSpPr>
        <p:grpSpPr>
          <a:xfrm>
            <a:off x="9280132" y="3825716"/>
            <a:ext cx="203986" cy="454724"/>
            <a:chOff x="9280132" y="3825716"/>
            <a:chExt cx="203986" cy="454724"/>
          </a:xfrm>
        </p:grpSpPr>
        <p:sp>
          <p:nvSpPr>
            <p:cNvPr id="128" name="TextBox 128"/>
            <p:cNvSpPr txBox="1"/>
            <p:nvPr/>
          </p:nvSpPr>
          <p:spPr>
            <a:xfrm>
              <a:off x="9280132" y="3825716"/>
              <a:ext cx="20398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32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o</a:t>
              </a:r>
            </a:p>
          </p:txBody>
        </p:sp>
      </p:grpSp>
      <p:grpSp>
        <p:nvGrpSpPr>
          <p:cNvPr id="131" name="Group 131"/>
          <p:cNvGrpSpPr/>
          <p:nvPr/>
        </p:nvGrpSpPr>
        <p:grpSpPr>
          <a:xfrm>
            <a:off x="9603982" y="3825716"/>
            <a:ext cx="203986" cy="454724"/>
            <a:chOff x="9603982" y="3825716"/>
            <a:chExt cx="203986" cy="454724"/>
          </a:xfrm>
        </p:grpSpPr>
        <p:sp>
          <p:nvSpPr>
            <p:cNvPr id="130" name="TextBox 130"/>
            <p:cNvSpPr txBox="1"/>
            <p:nvPr/>
          </p:nvSpPr>
          <p:spPr>
            <a:xfrm>
              <a:off x="9603982" y="3825716"/>
              <a:ext cx="20398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32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d</a:t>
              </a:r>
            </a:p>
          </p:txBody>
        </p:sp>
      </p:grpSp>
      <p:grpSp>
        <p:nvGrpSpPr>
          <p:cNvPr id="133" name="Group 133"/>
          <p:cNvGrpSpPr/>
          <p:nvPr/>
        </p:nvGrpSpPr>
        <p:grpSpPr>
          <a:xfrm>
            <a:off x="9968824" y="3825716"/>
            <a:ext cx="122002" cy="454724"/>
            <a:chOff x="9968824" y="3825716"/>
            <a:chExt cx="122002" cy="454724"/>
          </a:xfrm>
        </p:grpSpPr>
        <p:sp>
          <p:nvSpPr>
            <p:cNvPr id="132" name="TextBox 132"/>
            <p:cNvSpPr txBox="1"/>
            <p:nvPr/>
          </p:nvSpPr>
          <p:spPr>
            <a:xfrm>
              <a:off x="9968824" y="3825716"/>
              <a:ext cx="122002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32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</a:t>
              </a:r>
            </a:p>
          </p:txBody>
        </p:sp>
      </p:grpSp>
      <p:grpSp>
        <p:nvGrpSpPr>
          <p:cNvPr id="135" name="Group 135"/>
          <p:cNvGrpSpPr/>
          <p:nvPr/>
        </p:nvGrpSpPr>
        <p:grpSpPr>
          <a:xfrm>
            <a:off x="10251682" y="3825716"/>
            <a:ext cx="203986" cy="454724"/>
            <a:chOff x="10251682" y="3825716"/>
            <a:chExt cx="203986" cy="454724"/>
          </a:xfrm>
        </p:grpSpPr>
        <p:sp>
          <p:nvSpPr>
            <p:cNvPr id="134" name="TextBox 134"/>
            <p:cNvSpPr txBox="1"/>
            <p:nvPr/>
          </p:nvSpPr>
          <p:spPr>
            <a:xfrm>
              <a:off x="10251682" y="3825716"/>
              <a:ext cx="20398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32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n</a:t>
              </a:r>
            </a:p>
          </p:txBody>
        </p:sp>
      </p:grpSp>
      <p:grpSp>
        <p:nvGrpSpPr>
          <p:cNvPr id="137" name="Group 137"/>
          <p:cNvGrpSpPr/>
          <p:nvPr/>
        </p:nvGrpSpPr>
        <p:grpSpPr>
          <a:xfrm>
            <a:off x="10575532" y="3825716"/>
            <a:ext cx="203986" cy="454724"/>
            <a:chOff x="10575532" y="3825716"/>
            <a:chExt cx="203986" cy="454724"/>
          </a:xfrm>
        </p:grpSpPr>
        <p:sp>
          <p:nvSpPr>
            <p:cNvPr id="136" name="TextBox 136"/>
            <p:cNvSpPr txBox="1"/>
            <p:nvPr/>
          </p:nvSpPr>
          <p:spPr>
            <a:xfrm>
              <a:off x="10575532" y="3825716"/>
              <a:ext cx="20398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32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g</a:t>
              </a:r>
            </a:p>
          </p:txBody>
        </p:sp>
      </p:grpSp>
      <p:grpSp>
        <p:nvGrpSpPr>
          <p:cNvPr id="139" name="Group 139"/>
          <p:cNvGrpSpPr/>
          <p:nvPr/>
        </p:nvGrpSpPr>
        <p:grpSpPr>
          <a:xfrm>
            <a:off x="10871505" y="3825716"/>
            <a:ext cx="335940" cy="454724"/>
            <a:chOff x="10871505" y="3825716"/>
            <a:chExt cx="335940" cy="454724"/>
          </a:xfrm>
        </p:grpSpPr>
        <p:sp>
          <p:nvSpPr>
            <p:cNvPr id="138" name="TextBox 138"/>
            <p:cNvSpPr txBox="1"/>
            <p:nvPr/>
          </p:nvSpPr>
          <p:spPr>
            <a:xfrm>
              <a:off x="10871505" y="3825716"/>
              <a:ext cx="335940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61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2" fill="hold">
                      <p:stCondLst>
                        <p:cond delay="0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2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2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2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2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2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2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2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2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4" presetID="1" presetClass="entr" presetSubtype="0" fill="hold" grpId="0" nodeType="click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6" presetID="1" presetClass="entr" presetSubtype="0" fill="hold" grpId="0" nodeType="click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8" presetID="1" presetClass="entr" presetSubtype="0" fill="hold" grpId="0" nodeType="clickEffect" restart="always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250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1" fill="hold">
                      <p:stCondLst>
                        <p:cond delay="0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7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7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7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8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8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8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87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8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7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0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0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0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07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0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7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2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2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2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27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2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3" presetID="1" presetClass="entr" presetSubtype="0" fill="hold" grpId="0" nodeType="click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5" presetID="1" presetClass="entr" presetSubtype="0" fill="hold" grpId="0" nodeType="click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7" presetID="1" presetClass="entr" presetSubtype="0" fill="hold" grpId="0" nodeType="clickEffect" restart="always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339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0" fill="hold">
                      <p:stCondLst>
                        <p:cond delay="0"/>
                      </p:stCondLst>
                      <p:childTnLst>
                        <p:par>
                          <p:cTn id="341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42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4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4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4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2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6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62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6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6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6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2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8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82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8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8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8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2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0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02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0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0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0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2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2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22" presetID="1" presetClass="entr" presetSubtype="0" fill="hold" grpId="0" nodeType="click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24" presetID="1" presetClass="entr" presetSubtype="0" fill="hold" grpId="0" nodeType="click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26" presetID="1" presetClass="entr" presetSubtype="0" fill="hold" grpId="0" nodeType="clickEffect" restart="always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428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9" fill="hold">
                      <p:stCondLst>
                        <p:cond delay="0"/>
                      </p:stCondLst>
                      <p:childTnLst>
                        <p:par>
                          <p:cTn id="43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3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7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4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4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4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47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4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7" presetID="1" presetClass="entr" presetSubtype="0" fill="hold" grpId="0" nodeType="click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9" presetID="1" presetClass="entr" presetSubtype="0" fill="hold" grpId="0" nodeType="click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61" presetID="1" presetClass="entr" presetSubtype="0" fill="hold" grpId="0" nodeType="clickEffect" restart="always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63" presetID="1" presetClass="entr" presetSubtype="0" fill="hold" grpId="0" nodeType="clickEffect" restart="always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65" presetID="1" presetClass="entr" presetSubtype="0" fill="hold" grpId="0" nodeType="clickEffect" restart="always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67" presetID="1" presetClass="exit" presetSubtype="0" fill="hold" grpId="0" nodeType="clickEffect" restart="always">
                                  <p:stCondLst>
                                    <p:cond delay="1339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69" presetID="1" presetClass="entr" presetSubtype="0" fill="hold" grpId="0" nodeType="clickEffect" restart="always">
                                  <p:stCondLst>
                                    <p:cond delay="659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1" presetID="1" presetClass="entr" presetSubtype="0" fill="hold" grpId="0" nodeType="clickEffect" restart="always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3" presetID="1" presetClass="entr" presetSubtype="0" fill="hold" grpId="0" nodeType="clickEffect" restart="always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5" presetID="1" presetClass="entr" presetSubtype="0" fill="hold" grpId="0" nodeType="clickEffect" restart="always">
                                  <p:stCondLst>
                                    <p:cond delay="899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7" presetID="1" presetClass="entr" presetSubtype="0" fill="hold" grpId="0" nodeType="clickEffect" restart="always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4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9" presetID="1" presetClass="entr" presetSubtype="0" fill="hold" grpId="0" nodeType="clickEffect" restart="always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481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2" fill="hold">
                      <p:stCondLst>
                        <p:cond delay="0"/>
                      </p:stCondLst>
                      <p:childTnLst>
                        <p:par>
                          <p:cTn id="48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8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8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8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2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0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02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0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0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0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1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12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14" presetID="1" presetClass="entr" presetSubtype="0" fill="hold" grpId="0" nodeType="click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16" presetID="1" presetClass="entr" presetSubtype="0" fill="hold" grpId="0" nodeType="click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18" presetID="1" presetClass="entr" presetSubtype="0" fill="hold" grpId="0" nodeType="clickEffect" restart="always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20" presetID="1" presetClass="entr" presetSubtype="0" fill="hold" grpId="0" nodeType="clickEffect" restart="always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5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22" presetID="1" presetClass="entr" presetSubtype="0" fill="hold" grpId="0" nodeType="clickEffect" restart="always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5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24" presetID="1" presetClass="exit" presetSubtype="0" fill="hold" grpId="0" nodeType="clickEffect" restart="always">
                                  <p:stCondLst>
                                    <p:cond delay="1670"/>
                                  </p:stCondLst>
                                  <p:childTnLst>
                                    <p:set>
                                      <p:cBhvr>
                                        <p:cTn id="5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26" presetID="1" presetClass="entr" presetSubtype="0" fill="hold" grpId="0" nodeType="clickEffect" restart="always">
                                  <p:stCondLst>
                                    <p:cond delay="659"/>
                                  </p:stCondLst>
                                  <p:childTnLst>
                                    <p:set>
                                      <p:cBhvr>
                                        <p:cTn id="5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28" presetID="1" presetClass="entr" presetSubtype="0" fill="hold" grpId="0" nodeType="clickEffect" restart="always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5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0" presetID="1" presetClass="entr" presetSubtype="0" fill="hold" grpId="0" nodeType="clickEffect" restart="always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2" presetID="1" presetClass="entr" presetSubtype="0" fill="hold" grpId="0" nodeType="clickEffect" restart="always">
                                  <p:stCondLst>
                                    <p:cond delay="899"/>
                                  </p:stCondLst>
                                  <p:childTnLst>
                                    <p:set>
                                      <p:cBhvr>
                                        <p:cTn id="5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4" presetID="1" presetClass="entr" presetSubtype="0" fill="hold" grpId="0" nodeType="clickEffect" restart="always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6" presetID="1" presetClass="entr" presetSubtype="0" fill="hold" grpId="0" nodeType="clickEffect" restart="always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5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8" presetID="1" presetClass="entr" presetSubtype="0" fill="hold" grpId="0" nodeType="clickEffect" restart="always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5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40" presetID="1" presetClass="entr" presetSubtype="0" fill="hold" grpId="0" nodeType="clickEffect" restart="always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5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42" presetID="1" presetClass="entr" presetSubtype="0" fill="hold" grpId="0" nodeType="clickEffect" restart="always">
                                  <p:stCondLst>
                                    <p:cond delay="1499"/>
                                  </p:stCondLst>
                                  <p:childTnLst>
                                    <p:set>
                                      <p:cBhvr>
                                        <p:cTn id="5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544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5" fill="hold">
                      <p:stCondLst>
                        <p:cond delay="0"/>
                      </p:stCondLst>
                      <p:childTnLst>
                        <p:par>
                          <p:cTn id="546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47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4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7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6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6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6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67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69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71" presetID="1" presetClass="entr" presetSubtype="0" fill="hold" grpId="0" nodeType="click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73" presetID="1" presetClass="entr" presetSubtype="0" fill="hold" grpId="0" nodeType="click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75" presetID="1" presetClass="entr" presetSubtype="0" fill="hold" grpId="0" nodeType="clickEffect" restart="always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77" presetID="1" presetClass="entr" presetSubtype="0" fill="hold" grpId="0" nodeType="clickEffect" restart="always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5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79" presetID="1" presetClass="entr" presetSubtype="0" fill="hold" grpId="0" nodeType="clickEffect" restart="always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81" presetID="1" presetClass="exit" presetSubtype="0" fill="hold" grpId="0" nodeType="clickEffect" restart="always">
                                  <p:stCondLst>
                                    <p:cond delay="1339"/>
                                  </p:stCondLst>
                                  <p:childTnLs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83" presetID="1" presetClass="entr" presetSubtype="0" fill="hold" grpId="0" nodeType="clickEffect" restart="always">
                                  <p:stCondLst>
                                    <p:cond delay="659"/>
                                  </p:stCondLst>
                                  <p:childTnLst>
                                    <p:set>
                                      <p:cBhvr>
                                        <p:cTn id="5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85" presetID="1" presetClass="entr" presetSubtype="0" fill="hold" grpId="0" nodeType="clickEffect" restart="always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5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87" presetID="1" presetClass="entr" presetSubtype="0" fill="hold" grpId="0" nodeType="clickEffect" restart="always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89" presetID="1" presetClass="entr" presetSubtype="0" fill="hold" grpId="0" nodeType="clickEffect" restart="always">
                                  <p:stCondLst>
                                    <p:cond delay="899"/>
                                  </p:stCondLst>
                                  <p:childTnLst>
                                    <p:set>
                                      <p:cBhvr>
                                        <p:cTn id="5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91" presetID="1" presetClass="entr" presetSubtype="0" fill="hold" grpId="0" nodeType="clickEffect" restart="always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93" presetID="1" presetClass="entr" presetSubtype="0" fill="hold" grpId="0" nodeType="clickEffect" restart="always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595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6" fill="hold">
                      <p:stCondLst>
                        <p:cond delay="0"/>
                      </p:stCondLst>
                      <p:childTnLst>
                        <p:par>
                          <p:cTn id="59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9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0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02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0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0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0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1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12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1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1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1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2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22" presetID="1" presetClass="entr" presetSubtype="0" fill="hold" grpId="0" nodeType="click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24" presetID="1" presetClass="entr" presetSubtype="0" fill="hold" grpId="0" nodeType="click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26" presetID="1" presetClass="entr" presetSubtype="0" fill="hold" grpId="0" nodeType="clickEffect" restart="always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6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28" presetID="1" presetClass="exit" presetSubtype="0" fill="hold" grpId="0" nodeType="clickEffect" restart="always">
                                  <p:stCondLst>
                                    <p:cond delay="1559"/>
                                  </p:stCondLst>
                                  <p:childTnLst>
                                    <p:set>
                                      <p:cBhvr>
                                        <p:cTn id="6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30" presetID="1" presetClass="entr" presetSubtype="0" fill="hold" grpId="0" nodeType="clickEffect" restart="always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32" presetID="1" presetClass="entr" presetSubtype="0" fill="hold" grpId="0" nodeType="clickEffect" restart="always">
                                  <p:stCondLst>
                                    <p:cond delay="1640"/>
                                  </p:stCondLst>
                                  <p:childTnLst>
                                    <p:set>
                                      <p:cBhvr>
                                        <p:cTn id="6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34" presetID="1" presetClass="entr" presetSubtype="0" fill="hold" grpId="0" nodeType="clickEffect" restart="always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6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36" presetID="1" presetClass="entr" presetSubtype="0" fill="hold" grpId="0" nodeType="clickEffect" restart="always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38" presetID="1" presetClass="entr" presetSubtype="0" fill="hold" grpId="0" nodeType="clickEffect" restart="always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40" presetID="1" presetClass="entr" presetSubtype="0" fill="hold" grpId="0" nodeType="clickEffect" restart="always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6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42" presetID="1" presetClass="entr" presetSubtype="0" fill="hold" grpId="0" nodeType="clickEffect" restart="always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6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44" presetID="1" presetClass="entr" presetSubtype="0" fill="hold" grpId="0" nodeType="clickEffect" restart="always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6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498348" y="438150"/>
            <a:ext cx="5254752" cy="4781550"/>
            <a:chOff x="498348" y="438150"/>
            <a:chExt cx="5254752" cy="4781550"/>
          </a:xfrm>
        </p:grpSpPr>
        <p:sp>
          <p:nvSpPr>
            <p:cNvPr id="2" name="Rectangle 2"/>
            <p:cNvSpPr/>
            <p:nvPr/>
          </p:nvSpPr>
          <p:spPr>
            <a:xfrm>
              <a:off x="514350" y="438150"/>
              <a:ext cx="2095500" cy="514350"/>
            </a:xfrm>
            <a:prstGeom prst="roundRect">
              <a:avLst>
                <a:gd name="adj" fmla="val 50000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89482" y="596265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思考题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98348" y="1241108"/>
              <a:ext cx="453384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203044"/>
                  </a:solidFill>
                  <a:latin typeface="Segoe UI"/>
                  <a:ea typeface="YouYuan"/>
                  <a:cs typeface="Segoe UI"/>
                </a:rPr>
                <a:t>C++ 源程序扩展名是？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14350" y="2019300"/>
              <a:ext cx="5238750" cy="685800"/>
            </a:xfrm>
            <a:prstGeom prst="roundRect">
              <a:avLst>
                <a:gd name="adj" fmla="val 33333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71144" y="2237422"/>
              <a:ext cx="105475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A　.cpp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14350" y="2857500"/>
              <a:ext cx="5238750" cy="685800"/>
            </a:xfrm>
            <a:prstGeom prst="roundRect">
              <a:avLst>
                <a:gd name="adj" fmla="val 33333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71144" y="3075622"/>
              <a:ext cx="101815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203044"/>
                  </a:solidFill>
                  <a:latin typeface="Consolas"/>
                  <a:ea typeface="Microsoft YaHei"/>
                  <a:cs typeface="Consolas"/>
                </a:rPr>
                <a:t>B　.doc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14350" y="3695700"/>
              <a:ext cx="5238750" cy="685800"/>
            </a:xfrm>
            <a:prstGeom prst="roundRect">
              <a:avLst>
                <a:gd name="adj" fmla="val 33333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71144" y="3913822"/>
              <a:ext cx="95159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203044"/>
                  </a:solidFill>
                  <a:latin typeface="Consolas"/>
                  <a:ea typeface="Microsoft YaHei"/>
                  <a:cs typeface="Consolas"/>
                </a:rPr>
                <a:t>C　.jpg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14350" y="4533900"/>
              <a:ext cx="5238750" cy="685800"/>
            </a:xfrm>
            <a:prstGeom prst="roundRect">
              <a:avLst>
                <a:gd name="adj" fmla="val 33333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71144" y="4752022"/>
              <a:ext cx="107628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203044"/>
                  </a:solidFill>
                  <a:latin typeface="Consolas"/>
                  <a:ea typeface="Microsoft YaHei"/>
                  <a:cs typeface="Consolas"/>
                </a:rPr>
                <a:t>D　.mp3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591300" y="1066800"/>
            <a:ext cx="4953000" cy="4572000"/>
            <a:chOff x="6591300" y="1066800"/>
            <a:chExt cx="4953000" cy="4572000"/>
          </a:xfrm>
        </p:grpSpPr>
        <p:sp>
          <p:nvSpPr>
            <p:cNvPr id="14" name="Rectangle 14"/>
            <p:cNvSpPr/>
            <p:nvPr/>
          </p:nvSpPr>
          <p:spPr>
            <a:xfrm>
              <a:off x="6591300" y="1066800"/>
              <a:ext cx="4953000" cy="4572000"/>
            </a:xfrm>
            <a:prstGeom prst="roundRect">
              <a:avLst>
                <a:gd name="adj" fmla="val 8333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7048496" y="1606450"/>
              <a:ext cx="601700" cy="604048"/>
            </a:xfrm>
            <a:custGeom>
              <a:avLst/>
              <a:gdLst/>
              <a:ahLst/>
              <a:cxnLst/>
              <a:rect l="l" t="t" r="r" b="b"/>
              <a:pathLst>
                <a:path w="601700" h="604048">
                  <a:moveTo>
                    <a:pt x="428629" y="51090"/>
                  </a:moveTo>
                  <a:cubicBezTo>
                    <a:pt x="548723" y="120427"/>
                    <a:pt x="601700" y="265982"/>
                    <a:pt x="554270" y="396292"/>
                  </a:cubicBezTo>
                  <a:cubicBezTo>
                    <a:pt x="506840" y="526602"/>
                    <a:pt x="372695" y="604048"/>
                    <a:pt x="236129" y="579965"/>
                  </a:cubicBezTo>
                  <a:cubicBezTo>
                    <a:pt x="99562" y="555882"/>
                    <a:pt x="0" y="437223"/>
                    <a:pt x="4" y="298550"/>
                  </a:cubicBezTo>
                  <a:lnTo>
                    <a:pt x="146" y="289292"/>
                  </a:lnTo>
                  <a:cubicBezTo>
                    <a:pt x="3402" y="188907"/>
                    <a:pt x="59120" y="97602"/>
                    <a:pt x="146905" y="48801"/>
                  </a:cubicBezTo>
                  <a:cubicBezTo>
                    <a:pt x="234689" y="0"/>
                    <a:pt x="341649" y="869"/>
                    <a:pt x="428629" y="51090"/>
                  </a:cubicBezTo>
                  <a:moveTo>
                    <a:pt x="248806" y="221197"/>
                  </a:moveTo>
                  <a:cubicBezTo>
                    <a:pt x="237648" y="210042"/>
                    <a:pt x="219560" y="210042"/>
                    <a:pt x="208401" y="221197"/>
                  </a:cubicBezTo>
                  <a:lnTo>
                    <a:pt x="151251" y="278347"/>
                  </a:lnTo>
                  <a:cubicBezTo>
                    <a:pt x="140096" y="289506"/>
                    <a:pt x="140096" y="307594"/>
                    <a:pt x="151251" y="318752"/>
                  </a:cubicBezTo>
                  <a:lnTo>
                    <a:pt x="208401" y="375902"/>
                  </a:lnTo>
                  <a:cubicBezTo>
                    <a:pt x="219560" y="387058"/>
                    <a:pt x="237648" y="387058"/>
                    <a:pt x="248806" y="375902"/>
                  </a:cubicBezTo>
                  <a:lnTo>
                    <a:pt x="251178" y="373216"/>
                  </a:lnTo>
                  <a:cubicBezTo>
                    <a:pt x="260002" y="361841"/>
                    <a:pt x="258985" y="345678"/>
                    <a:pt x="248806" y="335497"/>
                  </a:cubicBezTo>
                  <a:lnTo>
                    <a:pt x="211887" y="298550"/>
                  </a:lnTo>
                  <a:lnTo>
                    <a:pt x="248806" y="261602"/>
                  </a:lnTo>
                  <a:cubicBezTo>
                    <a:pt x="259961" y="250444"/>
                    <a:pt x="259961" y="232356"/>
                    <a:pt x="248806" y="221197"/>
                  </a:cubicBezTo>
                  <a:moveTo>
                    <a:pt x="363106" y="221197"/>
                  </a:moveTo>
                  <a:cubicBezTo>
                    <a:pt x="351948" y="210042"/>
                    <a:pt x="333860" y="210042"/>
                    <a:pt x="322701" y="221197"/>
                  </a:cubicBezTo>
                  <a:lnTo>
                    <a:pt x="320329" y="223883"/>
                  </a:lnTo>
                  <a:cubicBezTo>
                    <a:pt x="311505" y="235259"/>
                    <a:pt x="312522" y="251422"/>
                    <a:pt x="322701" y="261602"/>
                  </a:cubicBezTo>
                  <a:lnTo>
                    <a:pt x="359620" y="298550"/>
                  </a:lnTo>
                  <a:lnTo>
                    <a:pt x="322701" y="335497"/>
                  </a:lnTo>
                  <a:cubicBezTo>
                    <a:pt x="311872" y="346710"/>
                    <a:pt x="312027" y="364532"/>
                    <a:pt x="323049" y="375554"/>
                  </a:cubicBezTo>
                  <a:cubicBezTo>
                    <a:pt x="334071" y="386577"/>
                    <a:pt x="351894" y="386732"/>
                    <a:pt x="363106" y="375902"/>
                  </a:cubicBezTo>
                  <a:lnTo>
                    <a:pt x="420256" y="318752"/>
                  </a:lnTo>
                  <a:cubicBezTo>
                    <a:pt x="431411" y="307594"/>
                    <a:pt x="431411" y="289506"/>
                    <a:pt x="420256" y="278347"/>
                  </a:cubicBezTo>
                  <a:close/>
                </a:path>
              </a:pathLst>
            </a:custGeom>
            <a:solidFill>
              <a:srgbClr val="2E9B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893558" y="1722120"/>
              <a:ext cx="124565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答案：A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978396" y="2467928"/>
              <a:ext cx="81888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rgbClr val="FF9F1C"/>
                  </a:solidFill>
                  <a:latin typeface="Consolas"/>
                  <a:ea typeface="Consolas"/>
                  <a:cs typeface="Consolas"/>
                </a:rPr>
                <a:t>.cpp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10906" y="254889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最常用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991350" y="3086100"/>
              <a:ext cx="4133850" cy="9525"/>
            </a:xfrm>
            <a:custGeom>
              <a:avLst/>
              <a:gdLst/>
              <a:ahLst/>
              <a:cxnLst/>
              <a:rect l="l" t="t" r="r" b="b"/>
              <a:pathLst>
                <a:path w="4133850" h="9525">
                  <a:moveTo>
                    <a:pt x="0" y="0"/>
                  </a:moveTo>
                  <a:lnTo>
                    <a:pt x="4133850" y="0"/>
                  </a:lnTo>
                </a:path>
              </a:pathLst>
            </a:custGeom>
            <a:noFill/>
            <a:ln w="28575">
              <a:solidFill>
                <a:srgbClr val="2E9BFF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982968" y="33651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AF5FF"/>
                  </a:solidFill>
                  <a:latin typeface="Arial"/>
                  <a:ea typeface="Microsoft YaHei"/>
                  <a:cs typeface="Arial"/>
                </a:rPr>
                <a:t>补充知识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982968" y="3784282"/>
              <a:ext cx="22525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.cxx　部分 UNIX 系统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982968" y="4203382"/>
              <a:ext cx="21602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.cc　部分编译器兼容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982968" y="4622482"/>
              <a:ext cx="18159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.h　常用于头文件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983730" y="513397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Arial"/>
                  <a:ea typeface="Microsoft YaHei"/>
                  <a:cs typeface="Arial"/>
                </a:rPr>
                <a:t>保存时先看文件名最后一段。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9486" y="400050"/>
            <a:ext cx="11161014" cy="670179"/>
            <a:chOff x="459486" y="400050"/>
            <a:chExt cx="11161014" cy="670179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24815"/>
              <a:ext cx="269900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/>
                  <a:ea typeface="YouYuan"/>
                  <a:cs typeface="Segoe UI"/>
                </a:rPr>
                <a:t>代码框架解析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105900" y="400050"/>
              <a:ext cx="2514600" cy="495300"/>
            </a:xfrm>
            <a:prstGeom prst="roundRect">
              <a:avLst>
                <a:gd name="adj" fmla="val 50000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265920" y="587692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6FA5"/>
                  </a:solidFill>
                  <a:latin typeface="Arial"/>
                  <a:ea typeface="Microsoft YaHei"/>
                  <a:cs typeface="Arial"/>
                </a:rPr>
                <a:t>比喻帮助记忆，说明更准确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333750" y="1352550"/>
            <a:ext cx="5524500" cy="4457700"/>
            <a:chOff x="3333750" y="1352550"/>
            <a:chExt cx="5524500" cy="4457700"/>
          </a:xfrm>
        </p:grpSpPr>
        <p:sp>
          <p:nvSpPr>
            <p:cNvPr id="6" name="Rectangle 6"/>
            <p:cNvSpPr/>
            <p:nvPr/>
          </p:nvSpPr>
          <p:spPr>
            <a:xfrm>
              <a:off x="3333750" y="1352550"/>
              <a:ext cx="5524500" cy="4457700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28575">
              <a:solidFill>
                <a:srgbClr val="CFE5F8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3562350" y="1581150"/>
              <a:ext cx="152400" cy="152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3810000" y="1581150"/>
              <a:ext cx="152400" cy="152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4057650" y="15811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706368" y="2165032"/>
              <a:ext cx="21602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2E9BFF"/>
                  </a:solidFill>
                  <a:latin typeface="Consolas"/>
                  <a:ea typeface="Consolas"/>
                  <a:cs typeface="Consolas"/>
                </a:rPr>
                <a:t>#include &lt;iostream&gt;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706368" y="2736532"/>
              <a:ext cx="23379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9F1C"/>
                  </a:solidFill>
                  <a:latin typeface="Consolas"/>
                  <a:ea typeface="Consolas"/>
                  <a:cs typeface="Consolas"/>
                </a:rPr>
                <a:t>using namespace std;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706368" y="3308032"/>
              <a:ext cx="13050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203044"/>
                  </a:solidFill>
                  <a:latin typeface="Consolas"/>
                  <a:ea typeface="Consolas"/>
                  <a:cs typeface="Consolas"/>
                </a:rPr>
                <a:t>int main() {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011168" y="3879532"/>
              <a:ext cx="18473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6FA5"/>
                  </a:solidFill>
                  <a:latin typeface="Consolas"/>
                  <a:ea typeface="Consolas"/>
                  <a:cs typeface="Consolas"/>
                </a:rPr>
                <a:t>cout &lt;&lt; "Hello";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011168" y="4451032"/>
              <a:ext cx="10607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 0;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706368" y="5022532"/>
              <a:ext cx="138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203044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857500" y="1847850"/>
            <a:ext cx="6477000" cy="2819400"/>
            <a:chOff x="2857500" y="1847850"/>
            <a:chExt cx="6477000" cy="2819400"/>
          </a:xfrm>
        </p:grpSpPr>
        <p:sp>
          <p:nvSpPr>
            <p:cNvPr id="17" name="Polyline 17"/>
            <p:cNvSpPr/>
            <p:nvPr/>
          </p:nvSpPr>
          <p:spPr>
            <a:xfrm>
              <a:off x="2857500" y="1847850"/>
              <a:ext cx="781050" cy="419100"/>
            </a:xfrm>
            <a:custGeom>
              <a:avLst/>
              <a:gdLst/>
              <a:ahLst/>
              <a:cxnLst/>
              <a:rect l="l" t="t" r="r" b="b"/>
              <a:pathLst>
                <a:path w="781050" h="419100">
                  <a:moveTo>
                    <a:pt x="0" y="0"/>
                  </a:moveTo>
                  <a:lnTo>
                    <a:pt x="304800" y="0"/>
                  </a:lnTo>
                  <a:lnTo>
                    <a:pt x="304800" y="419100"/>
                  </a:lnTo>
                  <a:lnTo>
                    <a:pt x="781050" y="419100"/>
                  </a:lnTo>
                </a:path>
              </a:pathLst>
            </a:custGeom>
            <a:noFill/>
            <a:ln w="28575">
              <a:solidFill>
                <a:srgbClr val="2E9BFF"/>
              </a:solidFill>
            </a:ln>
          </p:spPr>
        </p:sp>
        <p:sp>
          <p:nvSpPr>
            <p:cNvPr id="18" name="Polygon 18"/>
            <p:cNvSpPr/>
            <p:nvPr/>
          </p:nvSpPr>
          <p:spPr>
            <a:xfrm>
              <a:off x="3524250" y="220027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2E9BFF"/>
            </a:solidFill>
            <a:ln>
              <a:noFill/>
            </a:ln>
          </p:spPr>
        </p:sp>
        <p:sp>
          <p:nvSpPr>
            <p:cNvPr id="19" name="Polyline 19"/>
            <p:cNvSpPr/>
            <p:nvPr/>
          </p:nvSpPr>
          <p:spPr>
            <a:xfrm>
              <a:off x="2857500" y="2876550"/>
              <a:ext cx="781050" cy="228600"/>
            </a:xfrm>
            <a:custGeom>
              <a:avLst/>
              <a:gdLst/>
              <a:ahLst/>
              <a:cxnLst/>
              <a:rect l="l" t="t" r="r" b="b"/>
              <a:pathLst>
                <a:path w="781050" h="228600">
                  <a:moveTo>
                    <a:pt x="0" y="228600"/>
                  </a:moveTo>
                  <a:lnTo>
                    <a:pt x="323850" y="228600"/>
                  </a:lnTo>
                  <a:lnTo>
                    <a:pt x="323850" y="0"/>
                  </a:lnTo>
                  <a:lnTo>
                    <a:pt x="781050" y="0"/>
                  </a:lnTo>
                </a:path>
              </a:pathLst>
            </a:custGeom>
            <a:noFill/>
            <a:ln w="28575">
              <a:solidFill>
                <a:srgbClr val="FF9F1C"/>
              </a:solidFill>
            </a:ln>
          </p:spPr>
        </p:sp>
        <p:sp>
          <p:nvSpPr>
            <p:cNvPr id="20" name="Polygon 20"/>
            <p:cNvSpPr/>
            <p:nvPr/>
          </p:nvSpPr>
          <p:spPr>
            <a:xfrm>
              <a:off x="3524250" y="280987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</p:sp>
        <p:sp>
          <p:nvSpPr>
            <p:cNvPr id="21" name="Polyline 21"/>
            <p:cNvSpPr/>
            <p:nvPr/>
          </p:nvSpPr>
          <p:spPr>
            <a:xfrm>
              <a:off x="2857500" y="3448050"/>
              <a:ext cx="781050" cy="914400"/>
            </a:xfrm>
            <a:custGeom>
              <a:avLst/>
              <a:gdLst/>
              <a:ahLst/>
              <a:cxnLst/>
              <a:rect l="l" t="t" r="r" b="b"/>
              <a:pathLst>
                <a:path w="781050" h="914400">
                  <a:moveTo>
                    <a:pt x="0" y="914400"/>
                  </a:moveTo>
                  <a:lnTo>
                    <a:pt x="247650" y="914400"/>
                  </a:lnTo>
                  <a:lnTo>
                    <a:pt x="247650" y="0"/>
                  </a:lnTo>
                  <a:lnTo>
                    <a:pt x="781050" y="0"/>
                  </a:lnTo>
                </a:path>
              </a:pathLst>
            </a:custGeom>
            <a:noFill/>
            <a:ln w="28575">
              <a:solidFill>
                <a:srgbClr val="203044"/>
              </a:solidFill>
            </a:ln>
          </p:spPr>
        </p:sp>
        <p:sp>
          <p:nvSpPr>
            <p:cNvPr id="22" name="Polygon 22"/>
            <p:cNvSpPr/>
            <p:nvPr/>
          </p:nvSpPr>
          <p:spPr>
            <a:xfrm>
              <a:off x="3524250" y="338137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203044"/>
            </a:solidFill>
            <a:ln>
              <a:noFill/>
            </a:ln>
          </p:spPr>
        </p:sp>
        <p:sp>
          <p:nvSpPr>
            <p:cNvPr id="23" name="Polyline 23"/>
            <p:cNvSpPr/>
            <p:nvPr/>
          </p:nvSpPr>
          <p:spPr>
            <a:xfrm>
              <a:off x="6191250" y="2476500"/>
              <a:ext cx="3143250" cy="1543050"/>
            </a:xfrm>
            <a:custGeom>
              <a:avLst/>
              <a:gdLst/>
              <a:ahLst/>
              <a:cxnLst/>
              <a:rect l="l" t="t" r="r" b="b"/>
              <a:pathLst>
                <a:path w="3143250" h="1543050">
                  <a:moveTo>
                    <a:pt x="3143250" y="0"/>
                  </a:moveTo>
                  <a:lnTo>
                    <a:pt x="2876550" y="0"/>
                  </a:lnTo>
                  <a:lnTo>
                    <a:pt x="2876550" y="1543050"/>
                  </a:lnTo>
                  <a:lnTo>
                    <a:pt x="0" y="1543050"/>
                  </a:lnTo>
                </a:path>
              </a:pathLst>
            </a:custGeom>
            <a:noFill/>
            <a:ln w="28575">
              <a:solidFill>
                <a:srgbClr val="FF6FA5"/>
              </a:solidFill>
            </a:ln>
          </p:spPr>
        </p:sp>
        <p:sp>
          <p:nvSpPr>
            <p:cNvPr id="24" name="Polygon 24"/>
            <p:cNvSpPr/>
            <p:nvPr/>
          </p:nvSpPr>
          <p:spPr>
            <a:xfrm>
              <a:off x="6191250" y="39433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0" y="76200"/>
                  </a:moveTo>
                  <a:lnTo>
                    <a:pt x="133350" y="0"/>
                  </a:lnTo>
                  <a:lnTo>
                    <a:pt x="133350" y="152400"/>
                  </a:lnTo>
                  <a:close/>
                </a:path>
              </a:pathLst>
            </a:custGeom>
            <a:solidFill>
              <a:srgbClr val="FF6FA5"/>
            </a:solidFill>
            <a:ln>
              <a:noFill/>
            </a:ln>
          </p:spPr>
        </p:sp>
        <p:sp>
          <p:nvSpPr>
            <p:cNvPr id="25" name="Polyline 25"/>
            <p:cNvSpPr/>
            <p:nvPr/>
          </p:nvSpPr>
          <p:spPr>
            <a:xfrm>
              <a:off x="5476875" y="4191000"/>
              <a:ext cx="3857625" cy="400050"/>
            </a:xfrm>
            <a:custGeom>
              <a:avLst/>
              <a:gdLst/>
              <a:ahLst/>
              <a:cxnLst/>
              <a:rect l="l" t="t" r="r" b="b"/>
              <a:pathLst>
                <a:path w="3857625" h="400050">
                  <a:moveTo>
                    <a:pt x="3857625" y="0"/>
                  </a:moveTo>
                  <a:lnTo>
                    <a:pt x="3609975" y="0"/>
                  </a:lnTo>
                  <a:lnTo>
                    <a:pt x="3609975" y="400050"/>
                  </a:lnTo>
                  <a:lnTo>
                    <a:pt x="0" y="400050"/>
                  </a:lnTo>
                </a:path>
              </a:pathLst>
            </a:custGeom>
            <a:noFill/>
            <a:ln w="28575">
              <a:solidFill>
                <a:srgbClr val="22C55E"/>
              </a:solidFill>
            </a:ln>
          </p:spPr>
        </p:sp>
        <p:sp>
          <p:nvSpPr>
            <p:cNvPr id="26" name="Polygon 26"/>
            <p:cNvSpPr/>
            <p:nvPr/>
          </p:nvSpPr>
          <p:spPr>
            <a:xfrm>
              <a:off x="5476875" y="45148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0" y="76200"/>
                  </a:moveTo>
                  <a:lnTo>
                    <a:pt x="133350" y="0"/>
                  </a:lnTo>
                  <a:lnTo>
                    <a:pt x="133350" y="152400"/>
                  </a:ln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476250" y="1352550"/>
            <a:ext cx="2381250" cy="990600"/>
            <a:chOff x="476250" y="1352550"/>
            <a:chExt cx="2381250" cy="990600"/>
          </a:xfrm>
        </p:grpSpPr>
        <p:sp>
          <p:nvSpPr>
            <p:cNvPr id="28" name="Rectangle 28"/>
            <p:cNvSpPr/>
            <p:nvPr/>
          </p:nvSpPr>
          <p:spPr>
            <a:xfrm>
              <a:off x="476250" y="135255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95706" y="153924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工具箱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97992" y="19307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引入输入输出工具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76250" y="2609850"/>
            <a:ext cx="2381250" cy="990600"/>
            <a:chOff x="476250" y="2609850"/>
            <a:chExt cx="2381250" cy="990600"/>
          </a:xfrm>
        </p:grpSpPr>
        <p:sp>
          <p:nvSpPr>
            <p:cNvPr id="32" name="Rectangle 32"/>
            <p:cNvSpPr/>
            <p:nvPr/>
          </p:nvSpPr>
          <p:spPr>
            <a:xfrm>
              <a:off x="476250" y="260985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95706" y="27965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标准仓库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97992" y="31880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直接使用标准库名字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476250" y="3867150"/>
            <a:ext cx="2381250" cy="990600"/>
            <a:chOff x="476250" y="3867150"/>
            <a:chExt cx="2381250" cy="990600"/>
          </a:xfrm>
        </p:grpSpPr>
        <p:sp>
          <p:nvSpPr>
            <p:cNvPr id="36" name="Rectangle 36"/>
            <p:cNvSpPr/>
            <p:nvPr/>
          </p:nvSpPr>
          <p:spPr>
            <a:xfrm>
              <a:off x="476250" y="386715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 w="28575">
              <a:solidFill>
                <a:srgbClr val="CFE5F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95706" y="4053840"/>
              <a:ext cx="11262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正门 main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97992" y="44453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程序从这里开始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334500" y="1981200"/>
            <a:ext cx="2381250" cy="990600"/>
            <a:chOff x="9334500" y="1981200"/>
            <a:chExt cx="2381250" cy="990600"/>
          </a:xfrm>
        </p:grpSpPr>
        <p:sp>
          <p:nvSpPr>
            <p:cNvPr id="40" name="Rectangle 40"/>
            <p:cNvSpPr/>
            <p:nvPr/>
          </p:nvSpPr>
          <p:spPr>
            <a:xfrm>
              <a:off x="9334500" y="198120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553956" y="21678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广播喇叭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556242" y="2559368"/>
              <a:ext cx="18674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cout 与 &lt;&lt; 把内容送出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334500" y="3695700"/>
            <a:ext cx="2381250" cy="990600"/>
            <a:chOff x="9334500" y="3695700"/>
            <a:chExt cx="2381250" cy="990600"/>
          </a:xfrm>
        </p:grpSpPr>
        <p:sp>
          <p:nvSpPr>
            <p:cNvPr id="44" name="Rectangle 44"/>
            <p:cNvSpPr/>
            <p:nvPr/>
          </p:nvSpPr>
          <p:spPr>
            <a:xfrm>
              <a:off x="9334500" y="369570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553956" y="38823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完成印章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556242" y="42738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向环境报告正常结束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4453509" y="6197918"/>
            <a:ext cx="3284982" cy="264033"/>
            <a:chOff x="4453509" y="6197918"/>
            <a:chExt cx="3284982" cy="264033"/>
          </a:xfrm>
        </p:grpSpPr>
        <p:sp>
          <p:nvSpPr>
            <p:cNvPr id="48" name="TextBox 48"/>
            <p:cNvSpPr txBox="1"/>
            <p:nvPr/>
          </p:nvSpPr>
          <p:spPr>
            <a:xfrm>
              <a:off x="4453509" y="6197918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比喻不是正式定义；小字才是技术作用。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97586" y="400050"/>
            <a:ext cx="11046714" cy="727329"/>
            <a:chOff x="497586" y="400050"/>
            <a:chExt cx="11046714" cy="727329"/>
          </a:xfrm>
        </p:grpSpPr>
        <p:sp>
          <p:nvSpPr>
            <p:cNvPr id="2" name="TextBox 2"/>
            <p:cNvSpPr txBox="1"/>
            <p:nvPr/>
          </p:nvSpPr>
          <p:spPr>
            <a:xfrm>
              <a:off x="497586" y="481965"/>
              <a:ext cx="181051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/>
                  <a:ea typeface="YouYuan"/>
                  <a:cs typeface="Segoe UI"/>
                </a:rPr>
                <a:t>选择判断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410700" y="400050"/>
              <a:ext cx="2133600" cy="495300"/>
            </a:xfrm>
            <a:prstGeom prst="roundRect">
              <a:avLst>
                <a:gd name="adj" fmla="val 50000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691688" y="555308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E9BFF"/>
                  </a:solidFill>
                  <a:latin typeface="Arial"/>
                  <a:ea typeface="Microsoft YaHei"/>
                  <a:cs typeface="Arial"/>
                </a:rPr>
                <a:t>输入输出头文件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00100" y="1352550"/>
            <a:ext cx="10591800" cy="1638300"/>
            <a:chOff x="800100" y="1352550"/>
            <a:chExt cx="10591800" cy="1638300"/>
          </a:xfrm>
        </p:grpSpPr>
        <p:sp>
          <p:nvSpPr>
            <p:cNvPr id="6" name="Rectangle 6"/>
            <p:cNvSpPr/>
            <p:nvPr/>
          </p:nvSpPr>
          <p:spPr>
            <a:xfrm>
              <a:off x="800100" y="1352550"/>
              <a:ext cx="10591800" cy="1638300"/>
            </a:xfrm>
            <a:prstGeom prst="roundRect">
              <a:avLst>
                <a:gd name="adj" fmla="val 22093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1184275" y="1860480"/>
              <a:ext cx="412751" cy="343891"/>
            </a:xfrm>
            <a:custGeom>
              <a:avLst/>
              <a:gdLst/>
              <a:ahLst/>
              <a:cxnLst/>
              <a:rect l="l" t="t" r="r" b="b"/>
              <a:pathLst>
                <a:path w="412751" h="343891">
                  <a:moveTo>
                    <a:pt x="402432" y="36173"/>
                  </a:moveTo>
                  <a:cubicBezTo>
                    <a:pt x="408067" y="39426"/>
                    <a:pt x="411838" y="45148"/>
                    <a:pt x="412606" y="51610"/>
                  </a:cubicBezTo>
                  <a:lnTo>
                    <a:pt x="412751" y="54045"/>
                  </a:lnTo>
                  <a:lnTo>
                    <a:pt x="412751" y="322333"/>
                  </a:lnTo>
                  <a:cubicBezTo>
                    <a:pt x="412750" y="329706"/>
                    <a:pt x="408817" y="336519"/>
                    <a:pt x="402432" y="340205"/>
                  </a:cubicBezTo>
                  <a:cubicBezTo>
                    <a:pt x="396046" y="343891"/>
                    <a:pt x="388180" y="343891"/>
                    <a:pt x="381794" y="340205"/>
                  </a:cubicBezTo>
                  <a:cubicBezTo>
                    <a:pt x="334313" y="312787"/>
                    <a:pt x="276318" y="310730"/>
                    <a:pt x="227013" y="334715"/>
                  </a:cubicBezTo>
                  <a:lnTo>
                    <a:pt x="227013" y="21561"/>
                  </a:lnTo>
                  <a:cubicBezTo>
                    <a:pt x="284735" y="0"/>
                    <a:pt x="349072" y="5359"/>
                    <a:pt x="402432" y="36173"/>
                  </a:cubicBezTo>
                  <a:moveTo>
                    <a:pt x="185738" y="21582"/>
                  </a:moveTo>
                  <a:lnTo>
                    <a:pt x="185758" y="334736"/>
                  </a:lnTo>
                  <a:cubicBezTo>
                    <a:pt x="138452" y="311707"/>
                    <a:pt x="83003" y="312604"/>
                    <a:pt x="36467" y="337150"/>
                  </a:cubicBezTo>
                  <a:lnTo>
                    <a:pt x="29718" y="340865"/>
                  </a:lnTo>
                  <a:lnTo>
                    <a:pt x="27592" y="341773"/>
                  </a:lnTo>
                  <a:lnTo>
                    <a:pt x="26581" y="342103"/>
                  </a:lnTo>
                  <a:lnTo>
                    <a:pt x="24311" y="342640"/>
                  </a:lnTo>
                  <a:lnTo>
                    <a:pt x="23052" y="342846"/>
                  </a:lnTo>
                  <a:lnTo>
                    <a:pt x="20638" y="342970"/>
                  </a:lnTo>
                  <a:lnTo>
                    <a:pt x="19771" y="342970"/>
                  </a:lnTo>
                  <a:lnTo>
                    <a:pt x="17501" y="342723"/>
                  </a:lnTo>
                  <a:lnTo>
                    <a:pt x="15912" y="342434"/>
                  </a:lnTo>
                  <a:lnTo>
                    <a:pt x="13683" y="341773"/>
                  </a:lnTo>
                  <a:lnTo>
                    <a:pt x="11082" y="340618"/>
                  </a:lnTo>
                  <a:lnTo>
                    <a:pt x="9122" y="339462"/>
                  </a:lnTo>
                  <a:lnTo>
                    <a:pt x="7285" y="338079"/>
                  </a:lnTo>
                  <a:lnTo>
                    <a:pt x="6047" y="336923"/>
                  </a:lnTo>
                  <a:lnTo>
                    <a:pt x="4540" y="335231"/>
                  </a:lnTo>
                  <a:lnTo>
                    <a:pt x="3219" y="333394"/>
                  </a:lnTo>
                  <a:lnTo>
                    <a:pt x="2765" y="332651"/>
                  </a:lnTo>
                  <a:lnTo>
                    <a:pt x="2105" y="331413"/>
                  </a:lnTo>
                  <a:lnTo>
                    <a:pt x="1197" y="329288"/>
                  </a:lnTo>
                  <a:lnTo>
                    <a:pt x="867" y="328276"/>
                  </a:lnTo>
                  <a:lnTo>
                    <a:pt x="330" y="326006"/>
                  </a:lnTo>
                  <a:lnTo>
                    <a:pt x="124" y="324747"/>
                  </a:lnTo>
                  <a:lnTo>
                    <a:pt x="41" y="323736"/>
                  </a:lnTo>
                  <a:lnTo>
                    <a:pt x="0" y="54045"/>
                  </a:lnTo>
                  <a:cubicBezTo>
                    <a:pt x="0" y="46672"/>
                    <a:pt x="3934" y="39859"/>
                    <a:pt x="10319" y="36173"/>
                  </a:cubicBezTo>
                  <a:cubicBezTo>
                    <a:pt x="63682" y="5366"/>
                    <a:pt x="128019" y="14"/>
                    <a:pt x="185738" y="21582"/>
                  </a:cubicBezTo>
                </a:path>
              </a:pathLst>
            </a:custGeom>
            <a:solidFill>
              <a:srgbClr val="2E9B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55470" y="1700212"/>
              <a:ext cx="696052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在 C++ 编程中，流输入输出对应的头文件是（ 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858518" y="2279332"/>
              <a:ext cx="41482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AF5FF"/>
                  </a:solidFill>
                  <a:latin typeface="Arial"/>
                  <a:ea typeface="Microsoft YaHei"/>
                  <a:cs typeface="Arial"/>
                </a:rPr>
                <a:t>先回忆：哪只“工具箱”提供 cin 和 cout？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00100" y="3371850"/>
            <a:ext cx="2247900" cy="1466850"/>
            <a:chOff x="800100" y="3371850"/>
            <a:chExt cx="2247900" cy="1466850"/>
          </a:xfrm>
        </p:grpSpPr>
        <p:sp>
          <p:nvSpPr>
            <p:cNvPr id="11" name="Rectangle 11"/>
            <p:cNvSpPr/>
            <p:nvPr/>
          </p:nvSpPr>
          <p:spPr>
            <a:xfrm>
              <a:off x="800100" y="3371850"/>
              <a:ext cx="2247900" cy="1466850"/>
            </a:xfrm>
            <a:prstGeom prst="roundRect">
              <a:avLst>
                <a:gd name="adj" fmla="val 19481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57656" y="37109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2E9BFF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60705" y="4116705"/>
              <a:ext cx="92668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203044"/>
                  </a:solidFill>
                  <a:latin typeface="Consolas"/>
                  <a:ea typeface="Consolas"/>
                  <a:cs typeface="Consolas"/>
                </a:rPr>
                <a:t>cstdio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581400" y="3371850"/>
            <a:ext cx="2247900" cy="1466850"/>
            <a:chOff x="3581400" y="3371850"/>
            <a:chExt cx="2247900" cy="1466850"/>
          </a:xfrm>
        </p:grpSpPr>
        <p:sp>
          <p:nvSpPr>
            <p:cNvPr id="15" name="Rectangle 15"/>
            <p:cNvSpPr/>
            <p:nvPr/>
          </p:nvSpPr>
          <p:spPr>
            <a:xfrm>
              <a:off x="3581400" y="3371850"/>
              <a:ext cx="2247900" cy="1466850"/>
            </a:xfrm>
            <a:prstGeom prst="roundRect">
              <a:avLst>
                <a:gd name="adj" fmla="val 19481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838956" y="37109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B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049061" y="4116705"/>
              <a:ext cx="13125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iostream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362700" y="3371850"/>
            <a:ext cx="2247900" cy="1466850"/>
            <a:chOff x="6362700" y="3371850"/>
            <a:chExt cx="2247900" cy="1466850"/>
          </a:xfrm>
        </p:grpSpPr>
        <p:sp>
          <p:nvSpPr>
            <p:cNvPr id="19" name="Rectangle 19"/>
            <p:cNvSpPr/>
            <p:nvPr/>
          </p:nvSpPr>
          <p:spPr>
            <a:xfrm>
              <a:off x="6362700" y="3371850"/>
              <a:ext cx="2247900" cy="1466850"/>
            </a:xfrm>
            <a:prstGeom prst="roundRect">
              <a:avLst>
                <a:gd name="adj" fmla="val 19481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620256" y="37109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6FA5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835894" y="4132898"/>
              <a:ext cx="130151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rgbClr val="203044"/>
                  </a:solidFill>
                  <a:latin typeface="Consolas"/>
                  <a:ea typeface="Consolas"/>
                  <a:cs typeface="Consolas"/>
                </a:rPr>
                <a:t>algorithm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144000" y="3371850"/>
            <a:ext cx="2247900" cy="1466850"/>
            <a:chOff x="9144000" y="3371850"/>
            <a:chExt cx="2247900" cy="1466850"/>
          </a:xfrm>
        </p:grpSpPr>
        <p:sp>
          <p:nvSpPr>
            <p:cNvPr id="23" name="Rectangle 23"/>
            <p:cNvSpPr/>
            <p:nvPr/>
          </p:nvSpPr>
          <p:spPr>
            <a:xfrm>
              <a:off x="9144000" y="3371850"/>
              <a:ext cx="2247900" cy="1466850"/>
            </a:xfrm>
            <a:prstGeom prst="roundRect">
              <a:avLst>
                <a:gd name="adj" fmla="val 19481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401556" y="37109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9F1C"/>
                  </a:solidFill>
                  <a:latin typeface="Arial"/>
                  <a:ea typeface="Arial"/>
                  <a:cs typeface="Arial"/>
                </a:rPr>
                <a:t>D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722975" y="4116705"/>
              <a:ext cx="10899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203044"/>
                  </a:solidFill>
                  <a:latin typeface="Consolas"/>
                  <a:ea typeface="Consolas"/>
                  <a:cs typeface="Consolas"/>
                </a:rPr>
                <a:t>cstring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504950" y="5391150"/>
            <a:ext cx="9182100" cy="914400"/>
            <a:chOff x="1504950" y="5391150"/>
            <a:chExt cx="9182100" cy="914400"/>
          </a:xfrm>
        </p:grpSpPr>
        <p:sp>
          <p:nvSpPr>
            <p:cNvPr id="27" name="Rectangle 27"/>
            <p:cNvSpPr/>
            <p:nvPr/>
          </p:nvSpPr>
          <p:spPr>
            <a:xfrm>
              <a:off x="1504950" y="5391150"/>
              <a:ext cx="9182100" cy="914400"/>
            </a:xfrm>
            <a:prstGeom prst="roundRect">
              <a:avLst>
                <a:gd name="adj" fmla="val 29167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876806" y="5587365"/>
              <a:ext cx="9342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C55E"/>
                  </a:solidFill>
                  <a:latin typeface="Arial"/>
                  <a:ea typeface="Microsoft YaHei"/>
                  <a:cs typeface="Arial"/>
                </a:rPr>
                <a:t>答案：B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324606" y="5587365"/>
              <a:ext cx="11250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203044"/>
                  </a:solidFill>
                  <a:latin typeface="Consolas"/>
                  <a:ea typeface="Consolas"/>
                  <a:cs typeface="Consolas"/>
                </a:rPr>
                <a:t>iostream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849368" y="5603558"/>
              <a:ext cx="4126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包含标准输入流 cin 和标准输出流 cout。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878330" y="5972175"/>
              <a:ext cx="47000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记忆：输入 input + 输出 output + stream（流）。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8536" y="361950"/>
            <a:ext cx="11122914" cy="708279"/>
            <a:chOff x="478536" y="361950"/>
            <a:chExt cx="11122914" cy="708279"/>
          </a:xfrm>
        </p:grpSpPr>
        <p:sp>
          <p:nvSpPr>
            <p:cNvPr id="2" name="TextBox 2"/>
            <p:cNvSpPr txBox="1"/>
            <p:nvPr/>
          </p:nvSpPr>
          <p:spPr>
            <a:xfrm>
              <a:off x="478536" y="424815"/>
              <a:ext cx="44759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/>
                  <a:ea typeface="YouYuan"/>
                  <a:cs typeface="Segoe UI"/>
                </a:rPr>
                <a:t>选择判断：找出错误行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658350" y="361950"/>
              <a:ext cx="1943100" cy="495300"/>
            </a:xfrm>
            <a:prstGeom prst="roundRect">
              <a:avLst>
                <a:gd name="adj" fmla="val 50000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0177272" y="51720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6FA5"/>
                  </a:solidFill>
                  <a:latin typeface="Arial"/>
                  <a:ea typeface="Microsoft YaHei"/>
                  <a:cs typeface="Arial"/>
                </a:rPr>
                <a:t>拼写侦探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95300" y="1257300"/>
            <a:ext cx="6324600" cy="4953000"/>
            <a:chOff x="495300" y="1257300"/>
            <a:chExt cx="6324600" cy="4953000"/>
          </a:xfrm>
        </p:grpSpPr>
        <p:sp>
          <p:nvSpPr>
            <p:cNvPr id="6" name="Rectangle 6"/>
            <p:cNvSpPr/>
            <p:nvPr/>
          </p:nvSpPr>
          <p:spPr>
            <a:xfrm>
              <a:off x="495300" y="1257300"/>
              <a:ext cx="6324600" cy="4953000"/>
            </a:xfrm>
            <a:prstGeom prst="roundRect">
              <a:avLst>
                <a:gd name="adj" fmla="val 7308"/>
              </a:avLst>
            </a:prstGeom>
            <a:solidFill>
              <a:srgbClr val="FFFFFF"/>
            </a:solidFill>
            <a:ln w="28575">
              <a:solidFill>
                <a:srgbClr val="CFE5F8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742950" y="1524000"/>
              <a:ext cx="152400" cy="152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990600" y="1524000"/>
              <a:ext cx="152400" cy="152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238250" y="15240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9818" y="1955482"/>
              <a:ext cx="2382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6FA5"/>
                  </a:solidFill>
                  <a:latin typeface="Consolas"/>
                  <a:ea typeface="Microsoft YaHei"/>
                  <a:cs typeface="Consolas"/>
                </a:rPr>
                <a:t>1　#include &lt;iosteam&gt;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9818" y="252698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E9BFF"/>
                  </a:solidFill>
                  <a:latin typeface="Consolas"/>
                  <a:ea typeface="Microsoft YaHei"/>
                  <a:cs typeface="Consolas"/>
                </a:rPr>
                <a:t>2　using namespace std;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9818" y="3098482"/>
              <a:ext cx="16493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Consolas"/>
                  <a:ea typeface="Microsoft YaHei"/>
                  <a:cs typeface="Consolas"/>
                </a:rPr>
                <a:t>3　int main() {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29818" y="3669982"/>
              <a:ext cx="30610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Consolas"/>
                  <a:ea typeface="Microsoft YaHei"/>
                  <a:cs typeface="Consolas"/>
                </a:rPr>
                <a:t>4　　cout &lt;&lt; "Hello world!";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29818" y="4241482"/>
              <a:ext cx="16271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2C55E"/>
                  </a:solidFill>
                  <a:latin typeface="Consolas"/>
                  <a:ea typeface="Microsoft YaHei"/>
                  <a:cs typeface="Consolas"/>
                </a:rPr>
                <a:t>5　　return 0;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9818" y="4812982"/>
              <a:ext cx="4832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Consolas"/>
                  <a:ea typeface="Microsoft YaHei"/>
                  <a:cs typeface="Consolas"/>
                </a:rPr>
                <a:t>6　}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42950" y="5314950"/>
              <a:ext cx="5829300" cy="628650"/>
            </a:xfrm>
            <a:prstGeom prst="roundRect">
              <a:avLst>
                <a:gd name="adj" fmla="val 33333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205418" y="5536882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6FA5"/>
                  </a:solidFill>
                  <a:latin typeface="Arial"/>
                  <a:ea typeface="Microsoft YaHei"/>
                  <a:cs typeface="Arial"/>
                </a:rPr>
                <a:t>哪一行的单词少了一个字母？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200900" y="1257300"/>
            <a:ext cx="4419600" cy="4953000"/>
            <a:chOff x="7200900" y="1257300"/>
            <a:chExt cx="4419600" cy="4953000"/>
          </a:xfrm>
        </p:grpSpPr>
        <p:sp>
          <p:nvSpPr>
            <p:cNvPr id="19" name="Rectangle 19"/>
            <p:cNvSpPr/>
            <p:nvPr/>
          </p:nvSpPr>
          <p:spPr>
            <a:xfrm>
              <a:off x="7200900" y="1257300"/>
              <a:ext cx="4419600" cy="4953000"/>
            </a:xfrm>
            <a:prstGeom prst="roundRect">
              <a:avLst>
                <a:gd name="adj" fmla="val 8190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533132" y="1583055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E9BFF"/>
                  </a:solidFill>
                  <a:latin typeface="Arial"/>
                  <a:ea typeface="Microsoft YaHei"/>
                  <a:cs typeface="Arial"/>
                </a:rPr>
                <a:t>请选择错误行号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543800" y="2114550"/>
              <a:ext cx="1676400" cy="723900"/>
            </a:xfrm>
            <a:prstGeom prst="roundRect">
              <a:avLst>
                <a:gd name="adj" fmla="val 31579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049478" y="2345055"/>
              <a:ext cx="66504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A　1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9525000" y="2114550"/>
              <a:ext cx="16764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038893" y="2345055"/>
              <a:ext cx="6486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B　2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543800" y="3048000"/>
              <a:ext cx="16764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057693" y="3278505"/>
              <a:ext cx="6486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C　3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9525000" y="3048000"/>
              <a:ext cx="16764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038893" y="3278505"/>
              <a:ext cx="6486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D　5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543800" y="4152900"/>
              <a:ext cx="3657600" cy="1428750"/>
            </a:xfrm>
            <a:prstGeom prst="roundRect">
              <a:avLst>
                <a:gd name="adj" fmla="val 18667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839456" y="4434840"/>
              <a:ext cx="9342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C55E"/>
                  </a:solidFill>
                  <a:latin typeface="Arial"/>
                  <a:ea typeface="Microsoft YaHei"/>
                  <a:cs typeface="Arial"/>
                </a:rPr>
                <a:t>答案：A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839456" y="4853940"/>
              <a:ext cx="11250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iostream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840980" y="52292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Arial"/>
                  <a:ea typeface="Microsoft YaHei"/>
                  <a:cs typeface="Arial"/>
                </a:rPr>
                <a:t>第 1 行缺少字母 r。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24815"/>
            <a:ext cx="4449333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203044"/>
                </a:solidFill>
                <a:latin typeface="Segoe UI"/>
                <a:ea typeface="YouYuan"/>
                <a:cs typeface="Segoe UI"/>
              </a:rPr>
              <a:t>拆开 cout 语句看一看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619250" y="1200150"/>
            <a:ext cx="8953500" cy="990600"/>
            <a:chOff x="1619250" y="1200150"/>
            <a:chExt cx="8953500" cy="990600"/>
          </a:xfrm>
        </p:grpSpPr>
        <p:sp>
          <p:nvSpPr>
            <p:cNvPr id="3" name="Rectangle 3"/>
            <p:cNvSpPr/>
            <p:nvPr/>
          </p:nvSpPr>
          <p:spPr>
            <a:xfrm>
              <a:off x="1619250" y="1200150"/>
              <a:ext cx="8953500" cy="990600"/>
            </a:xfrm>
            <a:prstGeom prst="roundRect">
              <a:avLst>
                <a:gd name="adj" fmla="val 32692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1905000" y="1447800"/>
              <a:ext cx="152400" cy="152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2152650" y="1447800"/>
              <a:ext cx="152400" cy="152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2400300" y="14478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3827623" y="1540192"/>
              <a:ext cx="453675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8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"Hello World!";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143125" y="2133600"/>
            <a:ext cx="8020050" cy="514350"/>
            <a:chOff x="2143125" y="2133600"/>
            <a:chExt cx="8020050" cy="514350"/>
          </a:xfrm>
        </p:grpSpPr>
        <p:sp>
          <p:nvSpPr>
            <p:cNvPr id="9" name="Polyline 9"/>
            <p:cNvSpPr/>
            <p:nvPr/>
          </p:nvSpPr>
          <p:spPr>
            <a:xfrm>
              <a:off x="2209800" y="2133600"/>
              <a:ext cx="1828800" cy="514350"/>
            </a:xfrm>
            <a:custGeom>
              <a:avLst/>
              <a:gdLst/>
              <a:ahLst/>
              <a:cxnLst/>
              <a:rect l="l" t="t" r="r" b="b"/>
              <a:pathLst>
                <a:path w="1828800" h="514350">
                  <a:moveTo>
                    <a:pt x="1828800" y="0"/>
                  </a:moveTo>
                  <a:lnTo>
                    <a:pt x="1828800" y="266700"/>
                  </a:lnTo>
                  <a:lnTo>
                    <a:pt x="0" y="266700"/>
                  </a:lnTo>
                  <a:lnTo>
                    <a:pt x="0" y="514350"/>
                  </a:lnTo>
                </a:path>
              </a:pathLst>
            </a:custGeom>
            <a:noFill/>
            <a:ln w="28575">
              <a:solidFill>
                <a:srgbClr val="2E9BFF"/>
              </a:solidFill>
            </a:ln>
          </p:spPr>
        </p:sp>
        <p:sp>
          <p:nvSpPr>
            <p:cNvPr id="10" name="Polygon 10"/>
            <p:cNvSpPr/>
            <p:nvPr/>
          </p:nvSpPr>
          <p:spPr>
            <a:xfrm>
              <a:off x="2143125" y="2533650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66675" y="11430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2E9BFF"/>
            </a:solidFill>
            <a:ln>
              <a:noFill/>
            </a:ln>
          </p:spPr>
        </p:sp>
        <p:sp>
          <p:nvSpPr>
            <p:cNvPr id="11" name="Polyline 11"/>
            <p:cNvSpPr/>
            <p:nvPr/>
          </p:nvSpPr>
          <p:spPr>
            <a:xfrm>
              <a:off x="4953000" y="2133600"/>
              <a:ext cx="857250" cy="514350"/>
            </a:xfrm>
            <a:custGeom>
              <a:avLst/>
              <a:gdLst/>
              <a:ahLst/>
              <a:cxnLst/>
              <a:rect l="l" t="t" r="r" b="b"/>
              <a:pathLst>
                <a:path w="857250" h="514350">
                  <a:moveTo>
                    <a:pt x="0" y="0"/>
                  </a:moveTo>
                  <a:lnTo>
                    <a:pt x="0" y="285750"/>
                  </a:lnTo>
                  <a:lnTo>
                    <a:pt x="857250" y="285750"/>
                  </a:lnTo>
                  <a:lnTo>
                    <a:pt x="857250" y="514350"/>
                  </a:lnTo>
                </a:path>
              </a:pathLst>
            </a:custGeom>
            <a:noFill/>
            <a:ln w="28575">
              <a:solidFill>
                <a:srgbClr val="FF9F1C"/>
              </a:solidFill>
            </a:ln>
          </p:spPr>
        </p:sp>
        <p:sp>
          <p:nvSpPr>
            <p:cNvPr id="12" name="Polygon 12"/>
            <p:cNvSpPr/>
            <p:nvPr/>
          </p:nvSpPr>
          <p:spPr>
            <a:xfrm>
              <a:off x="5743575" y="2533650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66675" y="11430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</p:sp>
        <p:sp>
          <p:nvSpPr>
            <p:cNvPr id="13" name="Polyline 13"/>
            <p:cNvSpPr/>
            <p:nvPr/>
          </p:nvSpPr>
          <p:spPr>
            <a:xfrm>
              <a:off x="6610350" y="2133600"/>
              <a:ext cx="247650" cy="514350"/>
            </a:xfrm>
            <a:custGeom>
              <a:avLst/>
              <a:gdLst/>
              <a:ahLst/>
              <a:cxnLst/>
              <a:rect l="l" t="t" r="r" b="b"/>
              <a:pathLst>
                <a:path w="247650" h="514350">
                  <a:moveTo>
                    <a:pt x="247650" y="0"/>
                  </a:moveTo>
                  <a:lnTo>
                    <a:pt x="247650" y="285750"/>
                  </a:lnTo>
                  <a:lnTo>
                    <a:pt x="0" y="285750"/>
                  </a:lnTo>
                  <a:lnTo>
                    <a:pt x="0" y="514350"/>
                  </a:lnTo>
                </a:path>
              </a:pathLst>
            </a:custGeom>
            <a:noFill/>
            <a:ln w="28575">
              <a:solidFill>
                <a:srgbClr val="FF9F1C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6543675" y="2533650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66675" y="11430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</p:sp>
        <p:sp>
          <p:nvSpPr>
            <p:cNvPr id="15" name="Polyline 15"/>
            <p:cNvSpPr/>
            <p:nvPr/>
          </p:nvSpPr>
          <p:spPr>
            <a:xfrm>
              <a:off x="8477250" y="2133600"/>
              <a:ext cx="1619250" cy="514350"/>
            </a:xfrm>
            <a:custGeom>
              <a:avLst/>
              <a:gdLst/>
              <a:ahLst/>
              <a:cxnLst/>
              <a:rect l="l" t="t" r="r" b="b"/>
              <a:pathLst>
                <a:path w="1619250" h="514350">
                  <a:moveTo>
                    <a:pt x="0" y="0"/>
                  </a:moveTo>
                  <a:lnTo>
                    <a:pt x="0" y="266700"/>
                  </a:lnTo>
                  <a:lnTo>
                    <a:pt x="1619250" y="266700"/>
                  </a:lnTo>
                  <a:lnTo>
                    <a:pt x="1619250" y="514350"/>
                  </a:lnTo>
                </a:path>
              </a:pathLst>
            </a:custGeom>
            <a:noFill/>
            <a:ln w="28575">
              <a:solidFill>
                <a:srgbClr val="FF6FA5"/>
              </a:solidFill>
            </a:ln>
          </p:spPr>
        </p:sp>
        <p:sp>
          <p:nvSpPr>
            <p:cNvPr id="16" name="Polygon 16"/>
            <p:cNvSpPr/>
            <p:nvPr/>
          </p:nvSpPr>
          <p:spPr>
            <a:xfrm>
              <a:off x="10029825" y="2533650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66675" y="11430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FF6FA5"/>
            </a:solidFill>
            <a:ln>
              <a:noFill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495300" y="2647950"/>
            <a:ext cx="3429000" cy="2857500"/>
            <a:chOff x="495300" y="2647950"/>
            <a:chExt cx="3429000" cy="2857500"/>
          </a:xfrm>
        </p:grpSpPr>
        <p:sp>
          <p:nvSpPr>
            <p:cNvPr id="18" name="Rectangle 18"/>
            <p:cNvSpPr/>
            <p:nvPr/>
          </p:nvSpPr>
          <p:spPr>
            <a:xfrm>
              <a:off x="495300" y="2647950"/>
              <a:ext cx="3429000" cy="2857500"/>
            </a:xfrm>
            <a:prstGeom prst="roundRect">
              <a:avLst>
                <a:gd name="adj" fmla="val 12667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838200" y="2990850"/>
              <a:ext cx="2705100" cy="704850"/>
            </a:xfrm>
            <a:prstGeom prst="roundRect">
              <a:avLst>
                <a:gd name="adj" fmla="val 35135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781306" y="3182302"/>
              <a:ext cx="81888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5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9056" y="3996690"/>
              <a:ext cx="27277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Console Output 的缩写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9818" y="4470082"/>
              <a:ext cx="18159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像“小喇叭”一样，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29818" y="483203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命令电脑把内容说出来。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305300" y="2647950"/>
            <a:ext cx="3810000" cy="2857500"/>
            <a:chOff x="4305300" y="2647950"/>
            <a:chExt cx="3810000" cy="2857500"/>
          </a:xfrm>
        </p:grpSpPr>
        <p:sp>
          <p:nvSpPr>
            <p:cNvPr id="25" name="Rectangle 25"/>
            <p:cNvSpPr/>
            <p:nvPr/>
          </p:nvSpPr>
          <p:spPr>
            <a:xfrm>
              <a:off x="4305300" y="2647950"/>
              <a:ext cx="3810000" cy="2857500"/>
            </a:xfrm>
            <a:prstGeom prst="roundRect">
              <a:avLst>
                <a:gd name="adj" fmla="val 12667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667250" y="2990850"/>
              <a:ext cx="3086100" cy="704850"/>
            </a:xfrm>
            <a:prstGeom prst="roundRect">
              <a:avLst>
                <a:gd name="adj" fmla="val 35135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403509" y="3182302"/>
              <a:ext cx="161358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&lt;&lt; "文字"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58106" y="3996690"/>
              <a:ext cx="2222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&lt;&lt; 把内容送给 cout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58868" y="447008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双引号把文字框起来，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58868" y="483203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里面写什么，就显示什么。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496300" y="2647950"/>
            <a:ext cx="3200400" cy="2857500"/>
            <a:chOff x="8496300" y="2647950"/>
            <a:chExt cx="3200400" cy="2857500"/>
          </a:xfrm>
        </p:grpSpPr>
        <p:sp>
          <p:nvSpPr>
            <p:cNvPr id="32" name="Rectangle 32"/>
            <p:cNvSpPr/>
            <p:nvPr/>
          </p:nvSpPr>
          <p:spPr>
            <a:xfrm>
              <a:off x="8496300" y="2647950"/>
              <a:ext cx="3200400" cy="2857500"/>
            </a:xfrm>
            <a:prstGeom prst="roundRect">
              <a:avLst>
                <a:gd name="adj" fmla="val 12667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8858250" y="2990850"/>
              <a:ext cx="2476500" cy="704850"/>
            </a:xfrm>
            <a:prstGeom prst="roundRect">
              <a:avLst>
                <a:gd name="adj" fmla="val 35135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964645" y="3133725"/>
              <a:ext cx="26370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0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;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849106" y="39966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分号是语句结束符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849868" y="447008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像一句话的句号，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849868" y="483203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每句代码都要收好尾。</a:t>
              </a:r>
            </a:p>
          </p:txBody>
        </p:sp>
      </p:grpSp>
      <p:sp>
        <p:nvSpPr>
          <p:cNvPr id="39" name="Rectangle 39"/>
          <p:cNvSpPr/>
          <p:nvPr/>
        </p:nvSpPr>
        <p:spPr>
          <a:xfrm>
            <a:off x="2076450" y="5867400"/>
            <a:ext cx="8039100" cy="590550"/>
          </a:xfrm>
          <a:prstGeom prst="roundRect">
            <a:avLst>
              <a:gd name="adj" fmla="val 38710"/>
            </a:avLst>
          </a:prstGeom>
          <a:solidFill>
            <a:srgbClr val="EAF5FF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3598730" y="6079808"/>
            <a:ext cx="49945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2E9BFF"/>
                </a:solidFill>
                <a:latin typeface="Arial"/>
                <a:ea typeface="Microsoft YaHei"/>
                <a:cs typeface="Arial"/>
              </a:rPr>
              <a:t>想一想：如果把 &lt;&lt; 写成 &gt;&gt;，电脑还能“说话”吗？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2E9BFF"/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323850" y="381000"/>
            <a:ext cx="2430647" cy="6096000"/>
            <a:chOff x="323850" y="381000"/>
            <a:chExt cx="2430647" cy="6096000"/>
          </a:xfrm>
        </p:grpSpPr>
        <p:sp>
          <p:nvSpPr>
            <p:cNvPr id="3" name="Rectangle 3"/>
            <p:cNvSpPr/>
            <p:nvPr/>
          </p:nvSpPr>
          <p:spPr>
            <a:xfrm>
              <a:off x="323850" y="381000"/>
              <a:ext cx="2266950" cy="6096000"/>
            </a:xfrm>
            <a:prstGeom prst="roundRect">
              <a:avLst>
                <a:gd name="adj" fmla="val 15966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709610" y="75716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rgbClr val="2E9BFF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54558" y="1303020"/>
              <a:ext cx="7963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203044"/>
                  </a:solidFill>
                  <a:latin typeface="Segoe UI"/>
                  <a:ea typeface="Segoe UI"/>
                  <a:cs typeface="Segoe UI"/>
                </a:rPr>
                <a:t>Hello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54558" y="1664970"/>
              <a:ext cx="163162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2E9BFF"/>
                  </a:solidFill>
                  <a:latin typeface="Segoe UI"/>
                  <a:ea typeface="Segoe UI"/>
                  <a:cs typeface="Segoe UI"/>
                </a:rPr>
                <a:t>C++ World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52450" y="23812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04697" y="2565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初次见面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08610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4697" y="32699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输出魔法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7909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04697" y="39747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图案工坊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9892" y="5664518"/>
              <a:ext cx="2094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E9BFF"/>
                  </a:solidFill>
                  <a:latin typeface="Arial"/>
                  <a:ea typeface="Microsoft YaHei"/>
                  <a:cs typeface="Arial"/>
                </a:rPr>
                <a:t>选择 → 代码 → 运行 → 结果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845308" y="560070"/>
            <a:ext cx="4812792" cy="1177481"/>
            <a:chOff x="2845308" y="560070"/>
            <a:chExt cx="4812792" cy="1177481"/>
          </a:xfrm>
        </p:grpSpPr>
        <p:sp>
          <p:nvSpPr>
            <p:cNvPr id="15" name="TextBox 15"/>
            <p:cNvSpPr txBox="1"/>
            <p:nvPr/>
          </p:nvSpPr>
          <p:spPr>
            <a:xfrm>
              <a:off x="2845308" y="560070"/>
              <a:ext cx="3255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03044"/>
                  </a:solidFill>
                  <a:latin typeface="Segoe UI"/>
                  <a:ea typeface="YouYuan"/>
                  <a:cs typeface="Segoe UI"/>
                </a:rPr>
                <a:t>今天想让电脑做什么？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8575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006090" y="13239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运行示例代码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4958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846320" y="12287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输出多行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96600" y="14735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E9BFF"/>
                  </a:solidFill>
                  <a:latin typeface="Arial"/>
                  <a:ea typeface="Microsoft YaHei"/>
                  <a:cs typeface="Arial"/>
                </a:rPr>
                <a:t>《静夜思》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1341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82690" y="13239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输出一个图案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857500" y="2381250"/>
            <a:ext cx="4914900" cy="3829050"/>
            <a:chOff x="2857500" y="2381250"/>
            <a:chExt cx="4914900" cy="3829050"/>
          </a:xfrm>
        </p:grpSpPr>
        <p:sp>
          <p:nvSpPr>
            <p:cNvPr id="24" name="Rectangle 24"/>
            <p:cNvSpPr/>
            <p:nvPr/>
          </p:nvSpPr>
          <p:spPr>
            <a:xfrm>
              <a:off x="2857500" y="2381250"/>
              <a:ext cx="4914900" cy="3162300"/>
            </a:xfrm>
            <a:prstGeom prst="roundRect">
              <a:avLst>
                <a:gd name="adj" fmla="val 10241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3086100" y="2609850"/>
              <a:ext cx="152400" cy="152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333750" y="2609850"/>
              <a:ext cx="152400" cy="152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581400" y="26098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155442" y="30927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E9BFF"/>
                  </a:solidFill>
                  <a:latin typeface="Consolas"/>
                  <a:ea typeface="Consolas"/>
                  <a:cs typeface="Consolas"/>
                </a:rPr>
                <a:t>#include &lt;iostream&gt;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55442" y="35118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FF9F1C"/>
                  </a:solidFill>
                  <a:latin typeface="Consolas"/>
                  <a:ea typeface="Consolas"/>
                  <a:cs typeface="Consolas"/>
                </a:rPr>
                <a:t>using namespace std;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55442" y="39309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03044"/>
                  </a:solidFill>
                  <a:latin typeface="Consolas"/>
                  <a:ea typeface="Consolas"/>
                  <a:cs typeface="Consolas"/>
                </a:rPr>
                <a:t>int main() {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048000" y="4248150"/>
              <a:ext cx="4400550" cy="495300"/>
            </a:xfrm>
            <a:prstGeom prst="roundRect">
              <a:avLst>
                <a:gd name="adj" fmla="val 26923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268218" y="4393882"/>
              <a:ext cx="19525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6FA5"/>
                  </a:solidFill>
                  <a:latin typeface="Consolas"/>
                  <a:ea typeface="Consolas"/>
                  <a:cs typeface="Consolas"/>
                </a:rPr>
                <a:t>cout &lt;&lt; "*****";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155442" y="4978718"/>
              <a:ext cx="10223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 0; }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905500" y="5676900"/>
              <a:ext cx="1866900" cy="533400"/>
            </a:xfrm>
            <a:prstGeom prst="roundRect">
              <a:avLst>
                <a:gd name="adj" fmla="val 35714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87200" y="5851208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▶ 运行代码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020050" y="381000"/>
            <a:ext cx="3848100" cy="6155581"/>
            <a:chOff x="8020050" y="381000"/>
            <a:chExt cx="3848100" cy="6155581"/>
          </a:xfrm>
        </p:grpSpPr>
        <p:sp>
          <p:nvSpPr>
            <p:cNvPr id="37" name="Rectangle 37"/>
            <p:cNvSpPr/>
            <p:nvPr/>
          </p:nvSpPr>
          <p:spPr>
            <a:xfrm>
              <a:off x="8020050" y="381000"/>
              <a:ext cx="3848100" cy="6096000"/>
            </a:xfrm>
            <a:prstGeom prst="roundRect">
              <a:avLst>
                <a:gd name="adj" fmla="val 9406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8362950" y="8382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8667750" y="8382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8972550" y="8382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277350" y="8382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8362950" y="11430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8667750" y="11430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8972550" y="11430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9277350" y="11430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305800" y="1524000"/>
              <a:ext cx="3276600" cy="2114550"/>
            </a:xfrm>
            <a:prstGeom prst="roundRect">
              <a:avLst>
                <a:gd name="adj" fmla="val 12613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564880" y="17621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AF5FF"/>
                  </a:solidFill>
                  <a:latin typeface="Arial"/>
                  <a:ea typeface="Microsoft YaHei"/>
                  <a:cs typeface="Arial"/>
                </a:rPr>
                <a:t>终端输出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85956" y="2425065"/>
              <a:ext cx="13162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306050" y="3257550"/>
              <a:ext cx="933450" cy="2667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584180" y="33023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成功</a:t>
              </a:r>
            </a:p>
          </p:txBody>
        </p:sp>
        <p:pic>
          <p:nvPicPr>
            <p:cNvPr id="51" name="Image 5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5103" y="3672829"/>
              <a:ext cx="2190750" cy="2863752"/>
            </a:xfrm>
            <a:prstGeom prst="rect">
              <a:avLst/>
            </a:prstGeom>
          </p:spPr>
        </p:pic>
        <p:sp>
          <p:nvSpPr>
            <p:cNvPr id="52" name="Rectangle 52"/>
            <p:cNvSpPr/>
            <p:nvPr/>
          </p:nvSpPr>
          <p:spPr>
            <a:xfrm>
              <a:off x="9718129" y="4022703"/>
              <a:ext cx="1885950" cy="781050"/>
            </a:xfrm>
            <a:prstGeom prst="roundRect">
              <a:avLst>
                <a:gd name="adj" fmla="val 3170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0137181" y="419611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先看代码，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148659" y="4451328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2E9BFF"/>
                  </a:solidFill>
                  <a:latin typeface="Arial"/>
                  <a:ea typeface="Microsoft YaHei"/>
                  <a:cs typeface="Arial"/>
                </a:rPr>
                <a:t>再猜输出！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95300" y="323850"/>
            <a:ext cx="6869240" cy="708279"/>
            <a:chOff x="495300" y="323850"/>
            <a:chExt cx="6869240" cy="708279"/>
          </a:xfrm>
        </p:grpSpPr>
        <p:sp>
          <p:nvSpPr>
            <p:cNvPr id="2" name="Rectangle 2"/>
            <p:cNvSpPr/>
            <p:nvPr/>
          </p:nvSpPr>
          <p:spPr>
            <a:xfrm>
              <a:off x="495300" y="323850"/>
              <a:ext cx="2476500" cy="533400"/>
            </a:xfrm>
            <a:prstGeom prst="roundRect">
              <a:avLst>
                <a:gd name="adj" fmla="val 500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75236" y="507682"/>
              <a:ext cx="19166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N6713 · 短句输出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221736" y="386715"/>
              <a:ext cx="414280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/>
                  <a:ea typeface="YouYuan"/>
                  <a:cs typeface="Segoe UI"/>
                </a:rPr>
                <a:t>让电脑说 thank you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95300" y="1466850"/>
            <a:ext cx="4857750" cy="4248150"/>
            <a:chOff x="495300" y="1466850"/>
            <a:chExt cx="4857750" cy="4248150"/>
          </a:xfrm>
        </p:grpSpPr>
        <p:sp>
          <p:nvSpPr>
            <p:cNvPr id="6" name="Rectangle 6"/>
            <p:cNvSpPr/>
            <p:nvPr/>
          </p:nvSpPr>
          <p:spPr>
            <a:xfrm>
              <a:off x="495300" y="1466850"/>
              <a:ext cx="4857750" cy="4248150"/>
            </a:xfrm>
            <a:prstGeom prst="roundRect">
              <a:avLst>
                <a:gd name="adj" fmla="val 8520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27532" y="1773555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E9BFF"/>
                  </a:solidFill>
                  <a:latin typeface="Arial"/>
                  <a:ea typeface="Microsoft YaHei"/>
                  <a:cs typeface="Arial"/>
                </a:rPr>
                <a:t>题目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29056" y="2358390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输出指定短句，要求逐字一致。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38200" y="2933700"/>
              <a:ext cx="4171950" cy="876300"/>
            </a:xfrm>
            <a:prstGeom prst="roundRect">
              <a:avLst>
                <a:gd name="adj" fmla="val 2826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013587" y="3194685"/>
              <a:ext cx="182117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700" b="1" dirty="0">
                  <a:solidFill>
                    <a:srgbClr val="203044"/>
                  </a:solidFill>
                  <a:latin typeface="Consolas"/>
                  <a:ea typeface="Consolas"/>
                  <a:cs typeface="Consolas"/>
                </a:rPr>
                <a:t>thank you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9818" y="42795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成功标准：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0580" y="471487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全部小写，中间保留一个空格。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61482" y="1678305"/>
            <a:ext cx="5820918" cy="3503295"/>
            <a:chOff x="5761482" y="1678305"/>
            <a:chExt cx="5820918" cy="3503295"/>
          </a:xfrm>
        </p:grpSpPr>
        <p:sp>
          <p:nvSpPr>
            <p:cNvPr id="14" name="TextBox 14"/>
            <p:cNvSpPr txBox="1"/>
            <p:nvPr/>
          </p:nvSpPr>
          <p:spPr>
            <a:xfrm>
              <a:off x="5761482" y="1678305"/>
              <a:ext cx="240027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读题 → 抄准 → 运行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772150" y="2247900"/>
              <a:ext cx="5810250" cy="120015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087618" y="2507932"/>
              <a:ext cx="32042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2E9BFF"/>
                  </a:solidFill>
                  <a:latin typeface="Consolas"/>
                  <a:ea typeface="Consolas"/>
                  <a:cs typeface="Consolas"/>
                </a:rPr>
                <a:t>cout &lt;&lt; "________________";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088380" y="296227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先把题目文字完整放进双引号。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772150" y="3657600"/>
              <a:ext cx="5810250" cy="1524000"/>
            </a:xfrm>
            <a:prstGeom prst="roundRect">
              <a:avLst>
                <a:gd name="adj" fmla="val 18750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086856" y="3901440"/>
              <a:ext cx="250202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EAF5FF"/>
                  </a:solidFill>
                  <a:latin typeface="Consolas"/>
                  <a:ea typeface="Consolas"/>
                  <a:cs typeface="Consolas"/>
                </a:rPr>
                <a:t>cout &lt;&lt; "thank you";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083808" y="4503420"/>
              <a:ext cx="161882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thank you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9753600" y="4552950"/>
              <a:ext cx="1466850" cy="419100"/>
            </a:xfrm>
            <a:prstGeom prst="roundRect">
              <a:avLst>
                <a:gd name="adj" fmla="val 40909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116693" y="46929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逐字一致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677751" y="2000250"/>
            <a:ext cx="3218498" cy="5734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30000" b="1" dirty="0">
                <a:solidFill>
                  <a:srgbClr val="FF9F1C">
                    <a:alphaMod val="10000"/>
                  </a:srgbClr>
                </a:solidFill>
                <a:latin typeface="Arial"/>
                <a:ea typeface="Arial"/>
                <a:cs typeface="Arial"/>
              </a:rPr>
              <a:t>%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535686" y="400050"/>
            <a:ext cx="4965769" cy="1470279"/>
            <a:chOff x="535686" y="400050"/>
            <a:chExt cx="4965769" cy="1470279"/>
          </a:xfrm>
        </p:grpSpPr>
        <p:sp>
          <p:nvSpPr>
            <p:cNvPr id="3" name="Rectangle 3"/>
            <p:cNvSpPr/>
            <p:nvPr/>
          </p:nvSpPr>
          <p:spPr>
            <a:xfrm>
              <a:off x="552450" y="400050"/>
              <a:ext cx="2514600" cy="533400"/>
            </a:xfrm>
            <a:prstGeom prst="roundRect">
              <a:avLst>
                <a:gd name="adj" fmla="val 50000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4088" y="583882"/>
              <a:ext cx="21513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P1067 · 输出百分号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5686" y="1224915"/>
              <a:ext cx="496576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/>
                  <a:ea typeface="YouYuan"/>
                  <a:cs typeface="Segoe UI"/>
                </a:rPr>
                <a:t>双引号里，% 会原样显示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52450" y="2190750"/>
            <a:ext cx="3429000" cy="2952750"/>
            <a:chOff x="552450" y="2190750"/>
            <a:chExt cx="3429000" cy="2952750"/>
          </a:xfrm>
        </p:grpSpPr>
        <p:sp>
          <p:nvSpPr>
            <p:cNvPr id="7" name="Rectangle 7"/>
            <p:cNvSpPr/>
            <p:nvPr/>
          </p:nvSpPr>
          <p:spPr>
            <a:xfrm>
              <a:off x="552450" y="2190750"/>
              <a:ext cx="3429000" cy="2952750"/>
            </a:xfrm>
            <a:prstGeom prst="roundRect">
              <a:avLst>
                <a:gd name="adj" fmla="val 14194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773174" y="26060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E9BFF"/>
                  </a:solidFill>
                  <a:latin typeface="Arial"/>
                  <a:ea typeface="Microsoft YaHei"/>
                  <a:cs typeface="Arial"/>
                </a:rPr>
                <a:t>目标输出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585351" y="3613785"/>
              <a:ext cx="136319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700" b="1" dirty="0">
                  <a:solidFill>
                    <a:srgbClr val="FF9F1C"/>
                  </a:solidFill>
                  <a:latin typeface="Consolas"/>
                  <a:ea typeface="Consolas"/>
                  <a:cs typeface="Consolas"/>
                </a:rPr>
                <a:t>a=10%,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90304" y="4147185"/>
              <a:ext cx="115329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700" b="1" dirty="0">
                  <a:solidFill>
                    <a:srgbClr val="FF9F1C"/>
                  </a:solidFill>
                  <a:latin typeface="Consolas"/>
                  <a:ea typeface="Consolas"/>
                  <a:cs typeface="Consolas"/>
                </a:rPr>
                <a:t>b=19%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476750" y="2190750"/>
            <a:ext cx="6572250" cy="2952750"/>
            <a:chOff x="4476750" y="2190750"/>
            <a:chExt cx="6572250" cy="2952750"/>
          </a:xfrm>
        </p:grpSpPr>
        <p:sp>
          <p:nvSpPr>
            <p:cNvPr id="12" name="Rectangle 12"/>
            <p:cNvSpPr/>
            <p:nvPr/>
          </p:nvSpPr>
          <p:spPr>
            <a:xfrm>
              <a:off x="4476750" y="2190750"/>
              <a:ext cx="6572250" cy="1200150"/>
            </a:xfrm>
            <a:prstGeom prst="roundRect">
              <a:avLst>
                <a:gd name="adj" fmla="val 26984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843206" y="2709862"/>
              <a:ext cx="383933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"a=10%,b=19%";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7762875" y="3524250"/>
              <a:ext cx="9525" cy="476250"/>
            </a:xfrm>
            <a:custGeom>
              <a:avLst/>
              <a:gdLst/>
              <a:ahLst/>
              <a:cxnLst/>
              <a:rect l="l" t="t" r="r" b="b"/>
              <a:pathLst>
                <a:path w="9525" h="476250">
                  <a:moveTo>
                    <a:pt x="0" y="0"/>
                  </a:moveTo>
                  <a:lnTo>
                    <a:pt x="0" y="476250"/>
                  </a:lnTo>
                </a:path>
              </a:pathLst>
            </a:custGeom>
            <a:noFill/>
            <a:ln w="76200" cap="rnd">
              <a:solidFill>
                <a:srgbClr val="FF9F1C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6096000" y="4114800"/>
              <a:ext cx="3333750" cy="1028700"/>
            </a:xfrm>
            <a:prstGeom prst="roundRect">
              <a:avLst>
                <a:gd name="adj" fmla="val 27778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587486" y="4487228"/>
              <a:ext cx="235077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550" b="1" dirty="0">
                  <a:solidFill>
                    <a:srgbClr val="FF9F1C"/>
                  </a:solidFill>
                  <a:latin typeface="Consolas"/>
                  <a:ea typeface="Consolas"/>
                  <a:cs typeface="Consolas"/>
                </a:rPr>
                <a:t>a=10%,b=19%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695450" y="5657850"/>
            <a:ext cx="8801100" cy="647700"/>
            <a:chOff x="1695450" y="5657850"/>
            <a:chExt cx="8801100" cy="647700"/>
          </a:xfrm>
        </p:grpSpPr>
        <p:sp>
          <p:nvSpPr>
            <p:cNvPr id="18" name="Rectangle 18"/>
            <p:cNvSpPr/>
            <p:nvPr/>
          </p:nvSpPr>
          <p:spPr>
            <a:xfrm>
              <a:off x="1695450" y="5657850"/>
              <a:ext cx="8801100" cy="647700"/>
            </a:xfrm>
            <a:prstGeom prst="roundRect">
              <a:avLst>
                <a:gd name="adj" fmla="val 35294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977450" y="5898832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等号、逗号、百分号都要放进英文双引号。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459486" y="424815"/>
            <a:ext cx="10264635" cy="645414"/>
            <a:chOff x="459486" y="424815"/>
            <a:chExt cx="10264635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24815"/>
              <a:ext cx="578207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/>
                  <a:ea typeface="YouYuan"/>
                  <a:cs typeface="Segoe UI"/>
                </a:rPr>
                <a:t>哪条语句能正确输出 apple？</a:t>
              </a: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10326128" y="458787"/>
              <a:ext cx="397993" cy="396875"/>
              <a:chOff x="10326128" y="458787"/>
              <a:chExt cx="397993" cy="396875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10326128" y="637381"/>
                <a:ext cx="60650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60650" h="39687">
                    <a:moveTo>
                      <a:pt x="40247" y="0"/>
                    </a:moveTo>
                    <a:cubicBezTo>
                      <a:pt x="50746" y="12"/>
                      <a:pt x="59419" y="8200"/>
                      <a:pt x="60034" y="18681"/>
                    </a:cubicBezTo>
                    <a:cubicBezTo>
                      <a:pt x="60650" y="29162"/>
                      <a:pt x="52994" y="38308"/>
                      <a:pt x="42568" y="39549"/>
                    </a:cubicBezTo>
                    <a:lnTo>
                      <a:pt x="40247" y="39687"/>
                    </a:lnTo>
                    <a:lnTo>
                      <a:pt x="20403" y="39687"/>
                    </a:lnTo>
                    <a:cubicBezTo>
                      <a:pt x="9904" y="39676"/>
                      <a:pt x="1231" y="31488"/>
                      <a:pt x="615" y="21007"/>
                    </a:cubicBezTo>
                    <a:cubicBezTo>
                      <a:pt x="0" y="10526"/>
                      <a:pt x="7655" y="1379"/>
                      <a:pt x="18081" y="139"/>
                    </a:cubicBezTo>
                    <a:lnTo>
                      <a:pt x="20403" y="0"/>
                    </a:lnTo>
                    <a:lnTo>
                      <a:pt x="40247" y="0"/>
                    </a:ln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10505281" y="458787"/>
                <a:ext cx="39687" cy="60090"/>
              </a:xfrm>
              <a:custGeom>
                <a:avLst/>
                <a:gdLst/>
                <a:ahLst/>
                <a:cxnLst/>
                <a:rect l="l" t="t" r="r" b="b"/>
                <a:pathLst>
                  <a:path w="39687" h="60090">
                    <a:moveTo>
                      <a:pt x="19844" y="0"/>
                    </a:moveTo>
                    <a:cubicBezTo>
                      <a:pt x="29904" y="1"/>
                      <a:pt x="38371" y="7531"/>
                      <a:pt x="39549" y="17522"/>
                    </a:cubicBezTo>
                    <a:lnTo>
                      <a:pt x="39687" y="19844"/>
                    </a:lnTo>
                    <a:lnTo>
                      <a:pt x="39687" y="39687"/>
                    </a:lnTo>
                    <a:cubicBezTo>
                      <a:pt x="39676" y="50187"/>
                      <a:pt x="31488" y="58860"/>
                      <a:pt x="21007" y="59475"/>
                    </a:cubicBezTo>
                    <a:cubicBezTo>
                      <a:pt x="10526" y="60090"/>
                      <a:pt x="1379" y="52435"/>
                      <a:pt x="139" y="42009"/>
                    </a:cubicBezTo>
                    <a:lnTo>
                      <a:pt x="0" y="39687"/>
                    </a:lnTo>
                    <a:lnTo>
                      <a:pt x="0" y="19844"/>
                    </a:lnTo>
                    <a:cubicBezTo>
                      <a:pt x="0" y="8884"/>
                      <a:pt x="8884" y="0"/>
                      <a:pt x="19844" y="0"/>
                    </a:cubicBez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10663471" y="637381"/>
                <a:ext cx="60650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60650" h="39687">
                    <a:moveTo>
                      <a:pt x="40247" y="0"/>
                    </a:moveTo>
                    <a:cubicBezTo>
                      <a:pt x="50746" y="12"/>
                      <a:pt x="59419" y="8200"/>
                      <a:pt x="60034" y="18681"/>
                    </a:cubicBezTo>
                    <a:cubicBezTo>
                      <a:pt x="60650" y="29162"/>
                      <a:pt x="52994" y="38308"/>
                      <a:pt x="42568" y="39549"/>
                    </a:cubicBezTo>
                    <a:lnTo>
                      <a:pt x="40247" y="39687"/>
                    </a:lnTo>
                    <a:lnTo>
                      <a:pt x="20403" y="39687"/>
                    </a:lnTo>
                    <a:cubicBezTo>
                      <a:pt x="9904" y="39676"/>
                      <a:pt x="1231" y="31488"/>
                      <a:pt x="615" y="21007"/>
                    </a:cubicBezTo>
                    <a:cubicBezTo>
                      <a:pt x="0" y="10526"/>
                      <a:pt x="7655" y="1379"/>
                      <a:pt x="18081" y="139"/>
                    </a:cubicBezTo>
                    <a:lnTo>
                      <a:pt x="20403" y="0"/>
                    </a:lnTo>
                    <a:lnTo>
                      <a:pt x="40247" y="0"/>
                    </a:ln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10376349" y="508421"/>
                <a:ext cx="57445" cy="57772"/>
              </a:xfrm>
              <a:custGeom>
                <a:avLst/>
                <a:gdLst/>
                <a:ahLst/>
                <a:cxnLst/>
                <a:rect l="l" t="t" r="r" b="b"/>
                <a:pathLst>
                  <a:path w="57445" h="57772">
                    <a:moveTo>
                      <a:pt x="7747" y="7775"/>
                    </a:moveTo>
                    <a:cubicBezTo>
                      <a:pt x="14816" y="706"/>
                      <a:pt x="26041" y="0"/>
                      <a:pt x="33940" y="6128"/>
                    </a:cubicBezTo>
                    <a:lnTo>
                      <a:pt x="35806" y="7775"/>
                    </a:lnTo>
                    <a:lnTo>
                      <a:pt x="49696" y="21665"/>
                    </a:lnTo>
                    <a:cubicBezTo>
                      <a:pt x="57082" y="29077"/>
                      <a:pt x="57445" y="40949"/>
                      <a:pt x="50525" y="48797"/>
                    </a:cubicBezTo>
                    <a:cubicBezTo>
                      <a:pt x="43605" y="56645"/>
                      <a:pt x="31780" y="57772"/>
                      <a:pt x="23503" y="51371"/>
                    </a:cubicBezTo>
                    <a:lnTo>
                      <a:pt x="21637" y="49724"/>
                    </a:lnTo>
                    <a:lnTo>
                      <a:pt x="7747" y="35834"/>
                    </a:lnTo>
                    <a:cubicBezTo>
                      <a:pt x="0" y="28085"/>
                      <a:pt x="0" y="15524"/>
                      <a:pt x="7747" y="7775"/>
                    </a:cubicBez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0616157" y="508447"/>
                <a:ext cx="58044" cy="57447"/>
              </a:xfrm>
              <a:custGeom>
                <a:avLst/>
                <a:gdLst/>
                <a:ahLst/>
                <a:cxnLst/>
                <a:rect l="l" t="t" r="r" b="b"/>
                <a:pathLst>
                  <a:path w="58044" h="57447">
                    <a:moveTo>
                      <a:pt x="21938" y="7749"/>
                    </a:moveTo>
                    <a:cubicBezTo>
                      <a:pt x="29349" y="363"/>
                      <a:pt x="41222" y="0"/>
                      <a:pt x="49070" y="6920"/>
                    </a:cubicBezTo>
                    <a:cubicBezTo>
                      <a:pt x="56918" y="13840"/>
                      <a:pt x="58044" y="25665"/>
                      <a:pt x="51644" y="33942"/>
                    </a:cubicBezTo>
                    <a:lnTo>
                      <a:pt x="49997" y="35808"/>
                    </a:lnTo>
                    <a:lnTo>
                      <a:pt x="36106" y="49698"/>
                    </a:lnTo>
                    <a:cubicBezTo>
                      <a:pt x="28695" y="57084"/>
                      <a:pt x="16822" y="57447"/>
                      <a:pt x="8974" y="50527"/>
                    </a:cubicBezTo>
                    <a:cubicBezTo>
                      <a:pt x="1126" y="43607"/>
                      <a:pt x="0" y="31782"/>
                      <a:pt x="6400" y="23505"/>
                    </a:cubicBezTo>
                    <a:lnTo>
                      <a:pt x="8047" y="21639"/>
                    </a:lnTo>
                    <a:lnTo>
                      <a:pt x="21938" y="7749"/>
                    </a:ln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0465593" y="776287"/>
                <a:ext cx="119062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79375">
                    <a:moveTo>
                      <a:pt x="99219" y="0"/>
                    </a:moveTo>
                    <a:cubicBezTo>
                      <a:pt x="110178" y="0"/>
                      <a:pt x="119062" y="8884"/>
                      <a:pt x="119062" y="19844"/>
                    </a:cubicBezTo>
                    <a:cubicBezTo>
                      <a:pt x="119062" y="52722"/>
                      <a:pt x="92409" y="79375"/>
                      <a:pt x="59531" y="79375"/>
                    </a:cubicBezTo>
                    <a:cubicBezTo>
                      <a:pt x="26653" y="79375"/>
                      <a:pt x="0" y="52722"/>
                      <a:pt x="0" y="19844"/>
                    </a:cubicBezTo>
                    <a:cubicBezTo>
                      <a:pt x="1" y="9783"/>
                      <a:pt x="7531" y="1316"/>
                      <a:pt x="17522" y="139"/>
                    </a:cubicBezTo>
                    <a:lnTo>
                      <a:pt x="19844" y="0"/>
                    </a:lnTo>
                    <a:lnTo>
                      <a:pt x="99219" y="0"/>
                    </a:ln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0395966" y="538162"/>
                <a:ext cx="258317" cy="218281"/>
              </a:xfrm>
              <a:custGeom>
                <a:avLst/>
                <a:gdLst/>
                <a:ahLst/>
                <a:cxnLst/>
                <a:rect l="l" t="t" r="r" b="b"/>
                <a:pathLst>
                  <a:path w="258317" h="218281">
                    <a:moveTo>
                      <a:pt x="129158" y="0"/>
                    </a:moveTo>
                    <a:cubicBezTo>
                      <a:pt x="180407" y="0"/>
                      <a:pt x="225905" y="32793"/>
                      <a:pt x="242111" y="81412"/>
                    </a:cubicBezTo>
                    <a:cubicBezTo>
                      <a:pt x="258317" y="130030"/>
                      <a:pt x="241594" y="183563"/>
                      <a:pt x="200596" y="214312"/>
                    </a:cubicBezTo>
                    <a:cubicBezTo>
                      <a:pt x="197861" y="216366"/>
                      <a:pt x="194641" y="217679"/>
                      <a:pt x="191249" y="218122"/>
                    </a:cubicBezTo>
                    <a:lnTo>
                      <a:pt x="188690" y="218281"/>
                    </a:lnTo>
                    <a:lnTo>
                      <a:pt x="69627" y="218281"/>
                    </a:lnTo>
                    <a:cubicBezTo>
                      <a:pt x="65334" y="218281"/>
                      <a:pt x="61156" y="216888"/>
                      <a:pt x="57721" y="214312"/>
                    </a:cubicBezTo>
                    <a:cubicBezTo>
                      <a:pt x="16723" y="183563"/>
                      <a:pt x="0" y="130030"/>
                      <a:pt x="16206" y="81412"/>
                    </a:cubicBezTo>
                    <a:cubicBezTo>
                      <a:pt x="32412" y="32793"/>
                      <a:pt x="77910" y="0"/>
                      <a:pt x="129158" y="0"/>
                    </a:cubicBezTo>
                    <a:close/>
                  </a:path>
                </a:pathLst>
              </a:custGeom>
              <a:solidFill>
                <a:srgbClr val="FF9F1C"/>
              </a:solidFill>
              <a:ln>
                <a:noFill/>
              </a:ln>
            </p:spPr>
          </p:sp>
        </p:grpSp>
      </p:grpSp>
      <p:grpSp>
        <p:nvGrpSpPr>
          <p:cNvPr id="17" name="Group 17"/>
          <p:cNvGrpSpPr/>
          <p:nvPr/>
        </p:nvGrpSpPr>
        <p:grpSpPr>
          <a:xfrm>
            <a:off x="666750" y="1466850"/>
            <a:ext cx="4857750" cy="1466850"/>
            <a:chOff x="666750" y="1466850"/>
            <a:chExt cx="4857750" cy="1466850"/>
          </a:xfrm>
        </p:grpSpPr>
        <p:sp>
          <p:nvSpPr>
            <p:cNvPr id="12" name="Rectangle 12"/>
            <p:cNvSpPr/>
            <p:nvPr/>
          </p:nvSpPr>
          <p:spPr>
            <a:xfrm>
              <a:off x="666750" y="1466850"/>
              <a:ext cx="4857750" cy="1466850"/>
            </a:xfrm>
            <a:prstGeom prst="roundRect">
              <a:avLst>
                <a:gd name="adj" fmla="val 19481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895350" y="1676400"/>
              <a:ext cx="533400" cy="533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78977" y="18440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629918" y="1879282"/>
              <a:ext cx="16826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203044"/>
                  </a:solidFill>
                  <a:latin typeface="Consolas"/>
                  <a:ea typeface="Consolas"/>
                  <a:cs typeface="Consolas"/>
                </a:rPr>
                <a:t>cout &lt; "apple";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30680" y="2371725"/>
              <a:ext cx="9946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6FA5"/>
                  </a:solidFill>
                  <a:latin typeface="Arial"/>
                  <a:ea typeface="Microsoft YaHei"/>
                  <a:cs typeface="Arial"/>
                </a:rPr>
                <a:t>少了一个 &lt;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667500" y="1466850"/>
            <a:ext cx="4857750" cy="1466850"/>
            <a:chOff x="6667500" y="1466850"/>
            <a:chExt cx="4857750" cy="1466850"/>
          </a:xfrm>
        </p:grpSpPr>
        <p:sp>
          <p:nvSpPr>
            <p:cNvPr id="18" name="Rectangle 18"/>
            <p:cNvSpPr/>
            <p:nvPr/>
          </p:nvSpPr>
          <p:spPr>
            <a:xfrm>
              <a:off x="6667500" y="1466850"/>
              <a:ext cx="4857750" cy="1466850"/>
            </a:xfrm>
            <a:prstGeom prst="roundRect">
              <a:avLst>
                <a:gd name="adj" fmla="val 19481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6896100" y="1676400"/>
              <a:ext cx="533400" cy="533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079727" y="18440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B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30668" y="1879282"/>
              <a:ext cx="18161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203044"/>
                  </a:solidFill>
                  <a:latin typeface="Consolas"/>
                  <a:ea typeface="Consolas"/>
                  <a:cs typeface="Consolas"/>
                </a:rPr>
                <a:t>Cout &lt;&lt; "apple";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31430" y="2371725"/>
              <a:ext cx="13277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6FA5"/>
                  </a:solidFill>
                  <a:latin typeface="Arial"/>
                  <a:ea typeface="Microsoft YaHei"/>
                  <a:cs typeface="Arial"/>
                </a:rPr>
                <a:t>cout 必须小写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66750" y="3238500"/>
            <a:ext cx="4857750" cy="1466850"/>
            <a:chOff x="666750" y="3238500"/>
            <a:chExt cx="4857750" cy="1466850"/>
          </a:xfrm>
        </p:grpSpPr>
        <p:sp>
          <p:nvSpPr>
            <p:cNvPr id="24" name="Rectangle 24"/>
            <p:cNvSpPr/>
            <p:nvPr/>
          </p:nvSpPr>
          <p:spPr>
            <a:xfrm>
              <a:off x="666750" y="3238500"/>
              <a:ext cx="4857750" cy="1466850"/>
            </a:xfrm>
            <a:prstGeom prst="roundRect">
              <a:avLst>
                <a:gd name="adj" fmla="val 19481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895350" y="3448050"/>
              <a:ext cx="533400" cy="533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78977" y="361569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629918" y="3650932"/>
              <a:ext cx="189425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03044"/>
                  </a:solidFill>
                  <a:latin typeface="Consolas"/>
                  <a:ea typeface="Consolas"/>
                  <a:cs typeface="Consolas"/>
                </a:rPr>
                <a:t>cout &lt;&lt; "apple";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630680" y="41433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Arial"/>
                  <a:ea typeface="Microsoft YaHei"/>
                  <a:cs typeface="Arial"/>
                </a:rPr>
                <a:t>完全正确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667500" y="3238500"/>
            <a:ext cx="4857750" cy="1466850"/>
            <a:chOff x="6667500" y="3238500"/>
            <a:chExt cx="4857750" cy="1466850"/>
          </a:xfrm>
        </p:grpSpPr>
        <p:sp>
          <p:nvSpPr>
            <p:cNvPr id="30" name="Rectangle 30"/>
            <p:cNvSpPr/>
            <p:nvPr/>
          </p:nvSpPr>
          <p:spPr>
            <a:xfrm>
              <a:off x="6667500" y="3238500"/>
              <a:ext cx="4857750" cy="1466850"/>
            </a:xfrm>
            <a:prstGeom prst="roundRect">
              <a:avLst>
                <a:gd name="adj" fmla="val 19481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6896100" y="3448050"/>
              <a:ext cx="533400" cy="533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079727" y="361569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D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30668" y="3650932"/>
              <a:ext cx="19048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Consolas"/>
                  <a:ea typeface="Microsoft YaHei"/>
                  <a:cs typeface="Consolas"/>
                </a:rPr>
                <a:t>cout &lt;&lt; “apple”；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31430" y="41433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6FA5"/>
                  </a:solidFill>
                  <a:latin typeface="Arial"/>
                  <a:ea typeface="Microsoft YaHei"/>
                  <a:cs typeface="Arial"/>
                </a:rPr>
                <a:t>使用了中文符号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619250" y="5334000"/>
            <a:ext cx="8953500" cy="876300"/>
            <a:chOff x="1619250" y="5334000"/>
            <a:chExt cx="8953500" cy="876300"/>
          </a:xfrm>
        </p:grpSpPr>
        <p:sp>
          <p:nvSpPr>
            <p:cNvPr id="36" name="Rectangle 36"/>
            <p:cNvSpPr/>
            <p:nvPr/>
          </p:nvSpPr>
          <p:spPr>
            <a:xfrm>
              <a:off x="1619250" y="5334000"/>
              <a:ext cx="8953500" cy="876300"/>
            </a:xfrm>
            <a:prstGeom prst="roundRect">
              <a:avLst>
                <a:gd name="adj" fmla="val 30435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264693" y="5692140"/>
              <a:ext cx="566261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答案 C：小写 cout + 两个 &lt; + 英文引号 + 英文分号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62915"/>
            <a:ext cx="6226317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203044"/>
                </a:solidFill>
                <a:latin typeface="Segoe UI"/>
                <a:ea typeface="YouYuan"/>
                <a:cs typeface="Segoe UI"/>
              </a:rPr>
              <a:t>想一想：两条 cout 会换行吗？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561975" y="1962150"/>
            <a:ext cx="2133600" cy="2717673"/>
            <a:chOff x="561975" y="1962150"/>
            <a:chExt cx="2133600" cy="2717673"/>
          </a:xfrm>
        </p:grpSpPr>
        <p:sp>
          <p:nvSpPr>
            <p:cNvPr id="3" name="Ellipse 3"/>
            <p:cNvSpPr/>
            <p:nvPr/>
          </p:nvSpPr>
          <p:spPr>
            <a:xfrm>
              <a:off x="561975" y="1962150"/>
              <a:ext cx="2133600" cy="21336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1260475" y="2568575"/>
              <a:ext cx="736599" cy="920749"/>
            </a:xfrm>
            <a:custGeom>
              <a:avLst/>
              <a:gdLst/>
              <a:ahLst/>
              <a:cxnLst/>
              <a:rect l="l" t="t" r="r" b="b"/>
              <a:pathLst>
                <a:path w="736599" h="920749">
                  <a:moveTo>
                    <a:pt x="598487" y="0"/>
                  </a:moveTo>
                  <a:cubicBezTo>
                    <a:pt x="674764" y="0"/>
                    <a:pt x="736599" y="61835"/>
                    <a:pt x="736599" y="138112"/>
                  </a:cubicBezTo>
                  <a:lnTo>
                    <a:pt x="736599" y="782637"/>
                  </a:lnTo>
                  <a:cubicBezTo>
                    <a:pt x="736599" y="858914"/>
                    <a:pt x="674764" y="920749"/>
                    <a:pt x="598487" y="920749"/>
                  </a:cubicBezTo>
                  <a:lnTo>
                    <a:pt x="138112" y="920749"/>
                  </a:lnTo>
                  <a:cubicBezTo>
                    <a:pt x="61835" y="920749"/>
                    <a:pt x="0" y="858914"/>
                    <a:pt x="0" y="782637"/>
                  </a:cubicBezTo>
                  <a:lnTo>
                    <a:pt x="0" y="138112"/>
                  </a:lnTo>
                  <a:cubicBezTo>
                    <a:pt x="0" y="61835"/>
                    <a:pt x="61835" y="0"/>
                    <a:pt x="138112" y="0"/>
                  </a:cubicBezTo>
                  <a:close/>
                  <a:moveTo>
                    <a:pt x="368300" y="414337"/>
                  </a:moveTo>
                  <a:cubicBezTo>
                    <a:pt x="270175" y="414337"/>
                    <a:pt x="189286" y="491278"/>
                    <a:pt x="184380" y="589280"/>
                  </a:cubicBezTo>
                  <a:lnTo>
                    <a:pt x="184150" y="598487"/>
                  </a:lnTo>
                  <a:cubicBezTo>
                    <a:pt x="184150" y="700190"/>
                    <a:pt x="266597" y="782637"/>
                    <a:pt x="368300" y="782637"/>
                  </a:cubicBezTo>
                  <a:cubicBezTo>
                    <a:pt x="470003" y="782637"/>
                    <a:pt x="552450" y="700190"/>
                    <a:pt x="552450" y="598487"/>
                  </a:cubicBezTo>
                  <a:cubicBezTo>
                    <a:pt x="552450" y="496784"/>
                    <a:pt x="470003" y="414337"/>
                    <a:pt x="368300" y="414337"/>
                  </a:cubicBezTo>
                  <a:moveTo>
                    <a:pt x="368300" y="184150"/>
                  </a:moveTo>
                  <a:cubicBezTo>
                    <a:pt x="342874" y="184150"/>
                    <a:pt x="322262" y="204762"/>
                    <a:pt x="322262" y="230187"/>
                  </a:cubicBezTo>
                  <a:lnTo>
                    <a:pt x="322262" y="230648"/>
                  </a:lnTo>
                  <a:cubicBezTo>
                    <a:pt x="322262" y="256074"/>
                    <a:pt x="342874" y="276685"/>
                    <a:pt x="368300" y="276685"/>
                  </a:cubicBezTo>
                  <a:cubicBezTo>
                    <a:pt x="393726" y="276685"/>
                    <a:pt x="414337" y="256074"/>
                    <a:pt x="414337" y="230648"/>
                  </a:cubicBezTo>
                  <a:lnTo>
                    <a:pt x="414337" y="230187"/>
                  </a:lnTo>
                  <a:cubicBezTo>
                    <a:pt x="414337" y="204762"/>
                    <a:pt x="393726" y="184150"/>
                    <a:pt x="368300" y="18415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291586" y="4269105"/>
              <a:ext cx="67437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2E9BFF"/>
                  </a:solidFill>
                  <a:latin typeface="Consolas"/>
                  <a:ea typeface="Consolas"/>
                  <a:cs typeface="Consolas"/>
                </a:rPr>
                <a:t>cout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143250" y="1581150"/>
            <a:ext cx="8096250" cy="2095500"/>
            <a:chOff x="3143250" y="1581150"/>
            <a:chExt cx="8096250" cy="2095500"/>
          </a:xfrm>
        </p:grpSpPr>
        <p:sp>
          <p:nvSpPr>
            <p:cNvPr id="7" name="Rectangle 7"/>
            <p:cNvSpPr/>
            <p:nvPr/>
          </p:nvSpPr>
          <p:spPr>
            <a:xfrm>
              <a:off x="3143250" y="1581150"/>
              <a:ext cx="8096250" cy="952500"/>
            </a:xfrm>
            <a:prstGeom prst="roundRect">
              <a:avLst>
                <a:gd name="adj" fmla="val 28000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3418332" y="1945005"/>
              <a:ext cx="235122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2E9BFF"/>
                  </a:solidFill>
                  <a:latin typeface="Consolas"/>
                  <a:ea typeface="Consolas"/>
                  <a:cs typeface="Consolas"/>
                </a:rPr>
                <a:t>cout &lt;&lt; "Hello";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3143250" y="2724150"/>
              <a:ext cx="8096250" cy="952500"/>
            </a:xfrm>
            <a:prstGeom prst="roundRect">
              <a:avLst>
                <a:gd name="adj" fmla="val 28000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418332" y="3088005"/>
              <a:ext cx="257525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FF9F1C"/>
                  </a:solidFill>
                  <a:latin typeface="Consolas"/>
                  <a:ea typeface="Consolas"/>
                  <a:cs typeface="Consolas"/>
                </a:rPr>
                <a:t>cout &lt;&lt; "World!";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143250" y="4000500"/>
            <a:ext cx="8096250" cy="1619250"/>
            <a:chOff x="3143250" y="4000500"/>
            <a:chExt cx="8096250" cy="1619250"/>
          </a:xfrm>
        </p:grpSpPr>
        <p:sp>
          <p:nvSpPr>
            <p:cNvPr id="12" name="Rectangle 12"/>
            <p:cNvSpPr/>
            <p:nvPr/>
          </p:nvSpPr>
          <p:spPr>
            <a:xfrm>
              <a:off x="3143250" y="4000500"/>
              <a:ext cx="8096250" cy="1619250"/>
            </a:xfrm>
            <a:prstGeom prst="roundRect">
              <a:avLst>
                <a:gd name="adj" fmla="val 20000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554730" y="4295775"/>
              <a:ext cx="30946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Arial"/>
                  <a:ea typeface="Microsoft YaHei"/>
                  <a:cs typeface="Arial"/>
                </a:rPr>
                <a:t>没有 endl，光标不会自动去下一行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936296" y="4863465"/>
              <a:ext cx="251015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HelloWorld!</a:t>
              </a:r>
            </a:p>
          </p:txBody>
        </p:sp>
      </p:grpSp>
      <p:sp>
        <p:nvSpPr>
          <p:cNvPr id="16" name="Rectangle 16"/>
          <p:cNvSpPr/>
          <p:nvPr/>
        </p:nvSpPr>
        <p:spPr>
          <a:xfrm>
            <a:off x="3143250" y="5867400"/>
            <a:ext cx="8096250" cy="552450"/>
          </a:xfrm>
          <a:prstGeom prst="roundRect">
            <a:avLst>
              <a:gd name="adj" fmla="val 37931"/>
            </a:avLst>
          </a:prstGeom>
          <a:solidFill>
            <a:srgbClr val="FFE2ED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5499856" y="6051232"/>
            <a:ext cx="338303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6FA5"/>
                </a:solidFill>
                <a:latin typeface="Arial"/>
                <a:ea typeface="Microsoft YaHei"/>
                <a:cs typeface="Arial"/>
              </a:rPr>
              <a:t>结论：两条输出会“粘”在同一行。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24815"/>
            <a:ext cx="4332719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203044"/>
                </a:solidFill>
                <a:latin typeface="Segoe UI"/>
                <a:ea typeface="YouYuan"/>
                <a:cs typeface="Segoe UI"/>
              </a:rPr>
              <a:t>用 endl 输出多行信息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495300" y="1371600"/>
            <a:ext cx="7010400" cy="2019300"/>
            <a:chOff x="495300" y="1371600"/>
            <a:chExt cx="7010400" cy="2019300"/>
          </a:xfrm>
        </p:grpSpPr>
        <p:sp>
          <p:nvSpPr>
            <p:cNvPr id="3" name="Rectangle 3"/>
            <p:cNvSpPr/>
            <p:nvPr/>
          </p:nvSpPr>
          <p:spPr>
            <a:xfrm>
              <a:off x="495300" y="1371600"/>
              <a:ext cx="7010400" cy="2019300"/>
            </a:xfrm>
            <a:prstGeom prst="roundRect">
              <a:avLst>
                <a:gd name="adj" fmla="val 17925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800100" y="1657350"/>
              <a:ext cx="1562100" cy="533400"/>
            </a:xfrm>
            <a:prstGeom prst="roundRect">
              <a:avLst>
                <a:gd name="adj" fmla="val 42857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208532" y="182499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第一行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90194" y="2532698"/>
              <a:ext cx="318956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03044"/>
                  </a:solidFill>
                  <a:latin typeface="Consolas"/>
                  <a:ea typeface="Consolas"/>
                  <a:cs typeface="Consolas"/>
                </a:rPr>
                <a:t>cout &lt;&lt; "Hello" &lt;&lt; endl;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95300" y="3676650"/>
            <a:ext cx="7010400" cy="2019300"/>
            <a:chOff x="495300" y="3676650"/>
            <a:chExt cx="7010400" cy="2019300"/>
          </a:xfrm>
        </p:grpSpPr>
        <p:sp>
          <p:nvSpPr>
            <p:cNvPr id="8" name="Rectangle 8"/>
            <p:cNvSpPr/>
            <p:nvPr/>
          </p:nvSpPr>
          <p:spPr>
            <a:xfrm>
              <a:off x="495300" y="3676650"/>
              <a:ext cx="7010400" cy="2019300"/>
            </a:xfrm>
            <a:prstGeom prst="roundRect">
              <a:avLst>
                <a:gd name="adj" fmla="val 17925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800100" y="3962400"/>
              <a:ext cx="1562100" cy="533400"/>
            </a:xfrm>
            <a:prstGeom prst="roundRect">
              <a:avLst>
                <a:gd name="adj" fmla="val 42857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208532" y="413004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第二行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0194" y="4837748"/>
              <a:ext cx="339719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03044"/>
                  </a:solidFill>
                  <a:latin typeface="Consolas"/>
                  <a:ea typeface="Consolas"/>
                  <a:cs typeface="Consolas"/>
                </a:rPr>
                <a:t>cout &lt;&lt; "World!" &lt;&lt; endl;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91718" y="5251132"/>
              <a:ext cx="32042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9F1C"/>
                  </a:solidFill>
                  <a:latin typeface="Arial"/>
                  <a:ea typeface="Microsoft YaHei"/>
                  <a:cs typeface="Arial"/>
                </a:rPr>
                <a:t>endl 写在引号外，表示“换行”。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924800" y="1371600"/>
            <a:ext cx="3771900" cy="4324350"/>
            <a:chOff x="7924800" y="1371600"/>
            <a:chExt cx="3771900" cy="4324350"/>
          </a:xfrm>
        </p:grpSpPr>
        <p:sp>
          <p:nvSpPr>
            <p:cNvPr id="14" name="Rectangle 14"/>
            <p:cNvSpPr/>
            <p:nvPr/>
          </p:nvSpPr>
          <p:spPr>
            <a:xfrm>
              <a:off x="7924800" y="1371600"/>
              <a:ext cx="3771900" cy="4324350"/>
            </a:xfrm>
            <a:prstGeom prst="roundRect">
              <a:avLst>
                <a:gd name="adj" fmla="val 9596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58122" y="1803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EAF5FF"/>
                  </a:solidFill>
                  <a:latin typeface="Arial"/>
                  <a:ea typeface="Microsoft YaHei"/>
                  <a:cs typeface="Arial"/>
                </a:rPr>
                <a:t>终端输出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841486" y="2767965"/>
              <a:ext cx="109494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Hello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841486" y="3472815"/>
              <a:ext cx="1448745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World!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724900" y="4095750"/>
              <a:ext cx="266700" cy="762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852792" y="4832032"/>
              <a:ext cx="19159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EAF5FF"/>
                  </a:solidFill>
                  <a:latin typeface="Arial"/>
                  <a:ea typeface="Microsoft YaHei"/>
                  <a:cs typeface="Arial"/>
                </a:rPr>
                <a:t>每个 endl 换一次行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4643818" y="6127432"/>
            <a:ext cx="290436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203044"/>
                </a:solidFill>
                <a:latin typeface="Arial"/>
                <a:ea typeface="Microsoft YaHei"/>
                <a:cs typeface="Arial"/>
              </a:rPr>
              <a:t>一条信息一行，结果更整齐。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43865"/>
            <a:ext cx="6086380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203044"/>
                </a:solidFill>
                <a:latin typeface="Segoe UI"/>
                <a:ea typeface="YouYuan"/>
                <a:cs typeface="Segoe UI"/>
              </a:rPr>
              <a:t>一条 cout，也能连续输出三行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495300" y="1466850"/>
            <a:ext cx="7048500" cy="4343400"/>
            <a:chOff x="495300" y="1466850"/>
            <a:chExt cx="7048500" cy="4343400"/>
          </a:xfrm>
        </p:grpSpPr>
        <p:sp>
          <p:nvSpPr>
            <p:cNvPr id="3" name="Rectangle 3"/>
            <p:cNvSpPr/>
            <p:nvPr/>
          </p:nvSpPr>
          <p:spPr>
            <a:xfrm>
              <a:off x="495300" y="1466850"/>
              <a:ext cx="7048500" cy="43434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4" name="Ellipse 4"/>
            <p:cNvSpPr/>
            <p:nvPr/>
          </p:nvSpPr>
          <p:spPr>
            <a:xfrm>
              <a:off x="742950" y="1714500"/>
              <a:ext cx="152400" cy="152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990600" y="1714500"/>
              <a:ext cx="152400" cy="152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238250" y="17145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800100" y="2247900"/>
              <a:ext cx="6438900" cy="2381250"/>
            </a:xfrm>
            <a:prstGeom prst="roundRect">
              <a:avLst>
                <a:gd name="adj" fmla="val 11200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7656" y="2663190"/>
              <a:ext cx="36539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2E9BFF"/>
                  </a:solidFill>
                  <a:latin typeface="Consolas"/>
                  <a:ea typeface="Consolas"/>
                  <a:cs typeface="Consolas"/>
                </a:rPr>
                <a:t>cout &lt;&lt; "Hello World!" &lt;&lt; endl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24406" y="3348990"/>
              <a:ext cx="242266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9F1C"/>
                  </a:solidFill>
                  <a:latin typeface="Consolas"/>
                  <a:ea typeface="Consolas"/>
                  <a:cs typeface="Consolas"/>
                </a:rPr>
                <a:t>&lt;&lt; "123456" &lt;&lt; endl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24406" y="4034790"/>
              <a:ext cx="18398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6FA5"/>
                  </a:solidFill>
                  <a:latin typeface="Consolas"/>
                  <a:ea typeface="Microsoft YaHei"/>
                  <a:cs typeface="Consolas"/>
                </a:rPr>
                <a:t>&lt;&lt; "你好世界!";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2480" y="5057775"/>
              <a:ext cx="36398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同一条语句用多个 &lt;&lt; 接上内容和 endl。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962900" y="1466850"/>
            <a:ext cx="3733800" cy="4343400"/>
            <a:chOff x="7962900" y="1466850"/>
            <a:chExt cx="3733800" cy="4343400"/>
          </a:xfrm>
        </p:grpSpPr>
        <p:sp>
          <p:nvSpPr>
            <p:cNvPr id="13" name="Rectangle 13"/>
            <p:cNvSpPr/>
            <p:nvPr/>
          </p:nvSpPr>
          <p:spPr>
            <a:xfrm>
              <a:off x="7962900" y="1466850"/>
              <a:ext cx="3733800" cy="4343400"/>
            </a:xfrm>
            <a:prstGeom prst="roundRect">
              <a:avLst>
                <a:gd name="adj" fmla="val 9694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373618" y="18602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AF5FF"/>
                  </a:solidFill>
                  <a:latin typeface="Arial"/>
                  <a:ea typeface="Microsoft YaHei"/>
                  <a:cs typeface="Arial"/>
                </a:rPr>
                <a:t>终端输出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70570" y="2652712"/>
              <a:ext cx="180796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2E9BFF"/>
                  </a:solidFill>
                  <a:latin typeface="Consolas"/>
                  <a:ea typeface="Consolas"/>
                  <a:cs typeface="Consolas"/>
                </a:rPr>
                <a:t>Hello World!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70570" y="3414712"/>
              <a:ext cx="107239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FF9F1C"/>
                  </a:solidFill>
                  <a:latin typeface="Consolas"/>
                  <a:ea typeface="Consolas"/>
                  <a:cs typeface="Consolas"/>
                </a:rPr>
                <a:t>123456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70570" y="4176712"/>
              <a:ext cx="13298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F6FA5"/>
                  </a:solidFill>
                  <a:latin typeface="Consolas"/>
                  <a:ea typeface="Microsoft YaHei"/>
                  <a:cs typeface="Consolas"/>
                </a:rPr>
                <a:t>你好世界!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8382000" y="4876800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28575">
              <a:solidFill>
                <a:srgbClr val="2E9BFF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374380" y="51530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Arial"/>
                  <a:ea typeface="Microsoft YaHei"/>
                  <a:cs typeface="Arial"/>
                </a:rPr>
                <a:t>一句代码，三行结果。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2E9BFF"/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323850" y="381000"/>
            <a:ext cx="2430647" cy="6096000"/>
            <a:chOff x="323850" y="381000"/>
            <a:chExt cx="2430647" cy="6096000"/>
          </a:xfrm>
        </p:grpSpPr>
        <p:sp>
          <p:nvSpPr>
            <p:cNvPr id="3" name="Rectangle 3"/>
            <p:cNvSpPr/>
            <p:nvPr/>
          </p:nvSpPr>
          <p:spPr>
            <a:xfrm>
              <a:off x="323850" y="381000"/>
              <a:ext cx="2266950" cy="6096000"/>
            </a:xfrm>
            <a:prstGeom prst="roundRect">
              <a:avLst>
                <a:gd name="adj" fmla="val 15966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709610" y="75716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rgbClr val="2E9BFF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54558" y="1303020"/>
              <a:ext cx="7963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203044"/>
                  </a:solidFill>
                  <a:latin typeface="Segoe UI"/>
                  <a:ea typeface="Segoe UI"/>
                  <a:cs typeface="Segoe UI"/>
                </a:rPr>
                <a:t>Hello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54558" y="1664970"/>
              <a:ext cx="163162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2E9BFF"/>
                  </a:solidFill>
                  <a:latin typeface="Segoe UI"/>
                  <a:ea typeface="Segoe UI"/>
                  <a:cs typeface="Segoe UI"/>
                </a:rPr>
                <a:t>C++ World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52450" y="23812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04697" y="2565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初次见面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08610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4697" y="32699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输出魔法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7909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04697" y="39747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图案工坊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9892" y="5664518"/>
              <a:ext cx="2094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E9BFF"/>
                  </a:solidFill>
                  <a:latin typeface="Arial"/>
                  <a:ea typeface="Microsoft YaHei"/>
                  <a:cs typeface="Arial"/>
                </a:rPr>
                <a:t>选择 → 代码 → 运行 → 结果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845308" y="560070"/>
            <a:ext cx="4812792" cy="1177481"/>
            <a:chOff x="2845308" y="560070"/>
            <a:chExt cx="4812792" cy="1177481"/>
          </a:xfrm>
        </p:grpSpPr>
        <p:sp>
          <p:nvSpPr>
            <p:cNvPr id="15" name="TextBox 15"/>
            <p:cNvSpPr txBox="1"/>
            <p:nvPr/>
          </p:nvSpPr>
          <p:spPr>
            <a:xfrm>
              <a:off x="2845308" y="560070"/>
              <a:ext cx="3255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03044"/>
                  </a:solidFill>
                  <a:latin typeface="Segoe UI"/>
                  <a:ea typeface="YouYuan"/>
                  <a:cs typeface="Segoe UI"/>
                </a:rPr>
                <a:t>今天想让电脑做什么？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8575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006090" y="13239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运行示例代码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4958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846320" y="12287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输出多行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96600" y="14735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E9BFF"/>
                  </a:solidFill>
                  <a:latin typeface="Arial"/>
                  <a:ea typeface="Microsoft YaHei"/>
                  <a:cs typeface="Arial"/>
                </a:rPr>
                <a:t>《静夜思》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1341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82690" y="13239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输出一个图案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857500" y="2381250"/>
            <a:ext cx="4914900" cy="3829050"/>
            <a:chOff x="2857500" y="2381250"/>
            <a:chExt cx="4914900" cy="3829050"/>
          </a:xfrm>
        </p:grpSpPr>
        <p:sp>
          <p:nvSpPr>
            <p:cNvPr id="24" name="Rectangle 24"/>
            <p:cNvSpPr/>
            <p:nvPr/>
          </p:nvSpPr>
          <p:spPr>
            <a:xfrm>
              <a:off x="2857500" y="2381250"/>
              <a:ext cx="4914900" cy="3162300"/>
            </a:xfrm>
            <a:prstGeom prst="roundRect">
              <a:avLst>
                <a:gd name="adj" fmla="val 10241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3086100" y="2609850"/>
              <a:ext cx="152400" cy="152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333750" y="2609850"/>
              <a:ext cx="152400" cy="152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581400" y="26098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155442" y="30927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E9BFF"/>
                  </a:solidFill>
                  <a:latin typeface="Consolas"/>
                  <a:ea typeface="Consolas"/>
                  <a:cs typeface="Consolas"/>
                </a:rPr>
                <a:t>#include &lt;iostream&gt;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55442" y="35118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FF9F1C"/>
                  </a:solidFill>
                  <a:latin typeface="Consolas"/>
                  <a:ea typeface="Consolas"/>
                  <a:cs typeface="Consolas"/>
                </a:rPr>
                <a:t>using namespace std;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55442" y="39309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03044"/>
                  </a:solidFill>
                  <a:latin typeface="Consolas"/>
                  <a:ea typeface="Consolas"/>
                  <a:cs typeface="Consolas"/>
                </a:rPr>
                <a:t>int main() {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048000" y="4248150"/>
              <a:ext cx="4400550" cy="495300"/>
            </a:xfrm>
            <a:prstGeom prst="roundRect">
              <a:avLst>
                <a:gd name="adj" fmla="val 26923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268218" y="4393882"/>
              <a:ext cx="19525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6FA5"/>
                  </a:solidFill>
                  <a:latin typeface="Consolas"/>
                  <a:ea typeface="Consolas"/>
                  <a:cs typeface="Consolas"/>
                </a:rPr>
                <a:t>cout &lt;&lt; "*****";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155442" y="4978718"/>
              <a:ext cx="10223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 0; }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905500" y="5676900"/>
              <a:ext cx="1866900" cy="533400"/>
            </a:xfrm>
            <a:prstGeom prst="roundRect">
              <a:avLst>
                <a:gd name="adj" fmla="val 35714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87200" y="5851208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▶ 运行代码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020050" y="381000"/>
            <a:ext cx="3848100" cy="6096000"/>
            <a:chOff x="8020050" y="381000"/>
            <a:chExt cx="3848100" cy="6096000"/>
          </a:xfrm>
        </p:grpSpPr>
        <p:sp>
          <p:nvSpPr>
            <p:cNvPr id="37" name="Rectangle 37"/>
            <p:cNvSpPr/>
            <p:nvPr/>
          </p:nvSpPr>
          <p:spPr>
            <a:xfrm>
              <a:off x="8020050" y="381000"/>
              <a:ext cx="3848100" cy="6096000"/>
            </a:xfrm>
            <a:prstGeom prst="roundRect">
              <a:avLst>
                <a:gd name="adj" fmla="val 9406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8362950" y="8382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8667750" y="8382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8972550" y="8382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277350" y="8382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8362950" y="11430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8667750" y="11430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8972550" y="11430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9277350" y="11430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305800" y="1524000"/>
              <a:ext cx="3276600" cy="2114550"/>
            </a:xfrm>
            <a:prstGeom prst="roundRect">
              <a:avLst>
                <a:gd name="adj" fmla="val 12613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564880" y="17621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AF5FF"/>
                  </a:solidFill>
                  <a:latin typeface="Arial"/>
                  <a:ea typeface="Microsoft YaHei"/>
                  <a:cs typeface="Arial"/>
                </a:rPr>
                <a:t>终端输出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85956" y="2425065"/>
              <a:ext cx="13162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306050" y="3257550"/>
              <a:ext cx="933450" cy="2667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584180" y="33023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成功</a:t>
              </a:r>
            </a:p>
          </p:txBody>
        </p:sp>
        <p:pic>
          <p:nvPicPr>
            <p:cNvPr id="51" name="Image 5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915400" y="3397299"/>
              <a:ext cx="2190750" cy="2863752"/>
            </a:xfrm>
            <a:prstGeom prst="rect">
              <a:avLst/>
            </a:prstGeom>
          </p:spPr>
        </p:pic>
        <p:sp>
          <p:nvSpPr>
            <p:cNvPr id="52" name="Rectangle 52"/>
            <p:cNvSpPr/>
            <p:nvPr/>
          </p:nvSpPr>
          <p:spPr>
            <a:xfrm>
              <a:off x="8248650" y="4171950"/>
              <a:ext cx="1885950" cy="781050"/>
            </a:xfrm>
            <a:prstGeom prst="roundRect">
              <a:avLst>
                <a:gd name="adj" fmla="val 3170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679180" y="43338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先看代码，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79180" y="4600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2E9BFF"/>
                  </a:solidFill>
                  <a:latin typeface="Arial"/>
                  <a:ea typeface="Microsoft YaHei"/>
                  <a:cs typeface="Arial"/>
                </a:rPr>
                <a:t>再猜输出！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6250" y="323850"/>
            <a:ext cx="6324886" cy="708279"/>
            <a:chOff x="476250" y="323850"/>
            <a:chExt cx="6324886" cy="708279"/>
          </a:xfrm>
        </p:grpSpPr>
        <p:sp>
          <p:nvSpPr>
            <p:cNvPr id="2" name="Rectangle 2"/>
            <p:cNvSpPr/>
            <p:nvPr/>
          </p:nvSpPr>
          <p:spPr>
            <a:xfrm>
              <a:off x="476250" y="323850"/>
              <a:ext cx="2209800" cy="533400"/>
            </a:xfrm>
            <a:prstGeom prst="roundRect">
              <a:avLst>
                <a:gd name="adj" fmla="val 500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40184" y="507682"/>
              <a:ext cx="1681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C5001 · 静夜思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935986" y="386715"/>
              <a:ext cx="386515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/>
                  <a:ea typeface="YouYuan"/>
                  <a:cs typeface="Segoe UI"/>
                </a:rPr>
                <a:t>一行诗，一条 cout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76250" y="1390650"/>
            <a:ext cx="3810000" cy="4819650"/>
            <a:chOff x="476250" y="1390650"/>
            <a:chExt cx="3810000" cy="4819650"/>
          </a:xfrm>
        </p:grpSpPr>
        <p:sp>
          <p:nvSpPr>
            <p:cNvPr id="6" name="Rectangle 6"/>
            <p:cNvSpPr/>
            <p:nvPr/>
          </p:nvSpPr>
          <p:spPr>
            <a:xfrm>
              <a:off x="476250" y="1390650"/>
              <a:ext cx="3810000" cy="4819650"/>
            </a:xfrm>
            <a:prstGeom prst="roundRect">
              <a:avLst>
                <a:gd name="adj" fmla="val 10000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855663" y="1814329"/>
              <a:ext cx="365126" cy="304212"/>
            </a:xfrm>
            <a:custGeom>
              <a:avLst/>
              <a:gdLst/>
              <a:ahLst/>
              <a:cxnLst/>
              <a:rect l="l" t="t" r="r" b="b"/>
              <a:pathLst>
                <a:path w="365126" h="304212">
                  <a:moveTo>
                    <a:pt x="355997" y="31999"/>
                  </a:moveTo>
                  <a:cubicBezTo>
                    <a:pt x="360983" y="34877"/>
                    <a:pt x="364318" y="39938"/>
                    <a:pt x="364998" y="45655"/>
                  </a:cubicBezTo>
                  <a:lnTo>
                    <a:pt x="365126" y="47809"/>
                  </a:lnTo>
                  <a:lnTo>
                    <a:pt x="365126" y="285141"/>
                  </a:lnTo>
                  <a:cubicBezTo>
                    <a:pt x="365125" y="291663"/>
                    <a:pt x="361646" y="297690"/>
                    <a:pt x="355997" y="300951"/>
                  </a:cubicBezTo>
                  <a:cubicBezTo>
                    <a:pt x="350349" y="304212"/>
                    <a:pt x="343390" y="304212"/>
                    <a:pt x="337741" y="300950"/>
                  </a:cubicBezTo>
                  <a:cubicBezTo>
                    <a:pt x="295738" y="276697"/>
                    <a:pt x="244435" y="274877"/>
                    <a:pt x="200819" y="296094"/>
                  </a:cubicBezTo>
                  <a:lnTo>
                    <a:pt x="200819" y="19073"/>
                  </a:lnTo>
                  <a:cubicBezTo>
                    <a:pt x="251881" y="0"/>
                    <a:pt x="308795" y="4741"/>
                    <a:pt x="355997" y="31999"/>
                  </a:cubicBezTo>
                  <a:moveTo>
                    <a:pt x="164307" y="19092"/>
                  </a:moveTo>
                  <a:lnTo>
                    <a:pt x="164325" y="296113"/>
                  </a:lnTo>
                  <a:cubicBezTo>
                    <a:pt x="122477" y="275741"/>
                    <a:pt x="73426" y="276534"/>
                    <a:pt x="32259" y="298249"/>
                  </a:cubicBezTo>
                  <a:lnTo>
                    <a:pt x="26289" y="301535"/>
                  </a:lnTo>
                  <a:lnTo>
                    <a:pt x="24409" y="302338"/>
                  </a:lnTo>
                  <a:lnTo>
                    <a:pt x="23514" y="302630"/>
                  </a:lnTo>
                  <a:lnTo>
                    <a:pt x="21506" y="303105"/>
                  </a:lnTo>
                  <a:lnTo>
                    <a:pt x="20392" y="303287"/>
                  </a:lnTo>
                  <a:lnTo>
                    <a:pt x="18256" y="303397"/>
                  </a:lnTo>
                  <a:lnTo>
                    <a:pt x="17490" y="303397"/>
                  </a:lnTo>
                  <a:lnTo>
                    <a:pt x="15481" y="303178"/>
                  </a:lnTo>
                  <a:lnTo>
                    <a:pt x="14076" y="302922"/>
                  </a:lnTo>
                  <a:lnTo>
                    <a:pt x="12104" y="302338"/>
                  </a:lnTo>
                  <a:lnTo>
                    <a:pt x="9804" y="301316"/>
                  </a:lnTo>
                  <a:lnTo>
                    <a:pt x="8069" y="300293"/>
                  </a:lnTo>
                  <a:lnTo>
                    <a:pt x="6444" y="299070"/>
                  </a:lnTo>
                  <a:lnTo>
                    <a:pt x="5349" y="298048"/>
                  </a:lnTo>
                  <a:lnTo>
                    <a:pt x="4016" y="296551"/>
                  </a:lnTo>
                  <a:lnTo>
                    <a:pt x="2848" y="294926"/>
                  </a:lnTo>
                  <a:lnTo>
                    <a:pt x="2446" y="294269"/>
                  </a:lnTo>
                  <a:lnTo>
                    <a:pt x="1862" y="293173"/>
                  </a:lnTo>
                  <a:lnTo>
                    <a:pt x="1059" y="291293"/>
                  </a:lnTo>
                  <a:lnTo>
                    <a:pt x="767" y="290398"/>
                  </a:lnTo>
                  <a:lnTo>
                    <a:pt x="292" y="288390"/>
                  </a:lnTo>
                  <a:lnTo>
                    <a:pt x="110" y="287276"/>
                  </a:lnTo>
                  <a:lnTo>
                    <a:pt x="37" y="286382"/>
                  </a:lnTo>
                  <a:lnTo>
                    <a:pt x="0" y="47809"/>
                  </a:lnTo>
                  <a:cubicBezTo>
                    <a:pt x="0" y="41287"/>
                    <a:pt x="3480" y="35260"/>
                    <a:pt x="9128" y="31999"/>
                  </a:cubicBezTo>
                  <a:cubicBezTo>
                    <a:pt x="56334" y="4747"/>
                    <a:pt x="113247" y="13"/>
                    <a:pt x="164307" y="19092"/>
                  </a:cubicBezTo>
                </a:path>
              </a:pathLst>
            </a:custGeom>
            <a:solidFill>
              <a:srgbClr val="2E9B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84426" y="1912620"/>
              <a:ext cx="99364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静夜思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45158" y="27012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床前明月光，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45158" y="32727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疑是地上霜。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45158" y="38442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举头望明月，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645158" y="44157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低头思故乡。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64945" y="53054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2E9BFF"/>
                  </a:solidFill>
                  <a:latin typeface="Arial"/>
                  <a:ea typeface="Microsoft YaHei"/>
                  <a:cs typeface="Arial"/>
                </a:rPr>
                <a:t>标点和换行都要一致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686300" y="1390650"/>
            <a:ext cx="7029450" cy="4819650"/>
            <a:chOff x="4686300" y="1390650"/>
            <a:chExt cx="7029450" cy="4819650"/>
          </a:xfrm>
        </p:grpSpPr>
        <p:sp>
          <p:nvSpPr>
            <p:cNvPr id="15" name="Rectangle 15"/>
            <p:cNvSpPr/>
            <p:nvPr/>
          </p:nvSpPr>
          <p:spPr>
            <a:xfrm>
              <a:off x="4686300" y="1390650"/>
              <a:ext cx="7029450" cy="4819650"/>
            </a:xfrm>
            <a:prstGeom prst="roundRect">
              <a:avLst>
                <a:gd name="adj" fmla="val 790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4953000" y="1638300"/>
              <a:ext cx="152400" cy="152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5200650" y="1638300"/>
              <a:ext cx="152400" cy="152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5448300" y="16383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040630" y="2162175"/>
              <a:ext cx="24787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E9BFF"/>
                  </a:solidFill>
                  <a:latin typeface="Consolas"/>
                  <a:ea typeface="Microsoft YaHei"/>
                  <a:cs typeface="Consolas"/>
                </a:rPr>
                <a:t>cout &lt;&lt; "静夜思" &lt;&lt; endl;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040630" y="279082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cout &lt;&lt; "床前明月光，" &lt;&lt; endl;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040630" y="341947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cout &lt;&lt; "疑是地上霜。" &lt;&lt; endl;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040630" y="404812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cout &lt;&lt; "举头望明月，" &lt;&lt; endl;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040630" y="467677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cout &lt;&lt; "低头思故乡。" &lt;&lt; endl;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820150" y="5353050"/>
              <a:ext cx="2400300" cy="514350"/>
            </a:xfrm>
            <a:prstGeom prst="roundRect">
              <a:avLst>
                <a:gd name="adj" fmla="val 37037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103995" y="55340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五条语句，完整输出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3963" y="377365"/>
            <a:ext cx="6107984" cy="692864"/>
            <a:chOff x="493963" y="377365"/>
            <a:chExt cx="6107984" cy="692864"/>
          </a:xfrm>
        </p:grpSpPr>
        <p:sp>
          <p:nvSpPr>
            <p:cNvPr id="2" name="Freeform 2"/>
            <p:cNvSpPr/>
            <p:nvPr/>
          </p:nvSpPr>
          <p:spPr>
            <a:xfrm>
              <a:off x="493963" y="377365"/>
              <a:ext cx="459634" cy="398841"/>
            </a:xfrm>
            <a:custGeom>
              <a:avLst/>
              <a:gdLst/>
              <a:ahLst/>
              <a:cxnLst/>
              <a:rect l="l" t="t" r="r" b="b"/>
              <a:pathLst>
                <a:path w="459634" h="398841">
                  <a:moveTo>
                    <a:pt x="229937" y="0"/>
                  </a:moveTo>
                  <a:cubicBezTo>
                    <a:pt x="249646" y="0"/>
                    <a:pt x="268013" y="9638"/>
                    <a:pt x="279261" y="25735"/>
                  </a:cubicBezTo>
                  <a:lnTo>
                    <a:pt x="281428" y="29037"/>
                  </a:lnTo>
                  <a:lnTo>
                    <a:pt x="448881" y="308634"/>
                  </a:lnTo>
                  <a:cubicBezTo>
                    <a:pt x="459225" y="326551"/>
                    <a:pt x="459634" y="348526"/>
                    <a:pt x="449964" y="366815"/>
                  </a:cubicBezTo>
                  <a:cubicBezTo>
                    <a:pt x="440293" y="385104"/>
                    <a:pt x="421901" y="397138"/>
                    <a:pt x="401270" y="398676"/>
                  </a:cubicBezTo>
                  <a:lnTo>
                    <a:pt x="397246" y="398841"/>
                  </a:lnTo>
                  <a:lnTo>
                    <a:pt x="62402" y="398841"/>
                  </a:lnTo>
                  <a:cubicBezTo>
                    <a:pt x="41751" y="398609"/>
                    <a:pt x="22663" y="387796"/>
                    <a:pt x="11847" y="370202"/>
                  </a:cubicBezTo>
                  <a:cubicBezTo>
                    <a:pt x="1031" y="352608"/>
                    <a:pt x="0" y="330695"/>
                    <a:pt x="9116" y="312163"/>
                  </a:cubicBezTo>
                  <a:lnTo>
                    <a:pt x="11159" y="308345"/>
                  </a:lnTo>
                  <a:lnTo>
                    <a:pt x="178529" y="28954"/>
                  </a:lnTo>
                  <a:cubicBezTo>
                    <a:pt x="189428" y="10982"/>
                    <a:pt x="208919" y="5"/>
                    <a:pt x="229937" y="0"/>
                  </a:cubicBezTo>
                  <a:close/>
                  <a:moveTo>
                    <a:pt x="230144" y="275098"/>
                  </a:moveTo>
                  <a:lnTo>
                    <a:pt x="227523" y="275243"/>
                  </a:lnTo>
                  <a:cubicBezTo>
                    <a:pt x="217141" y="276478"/>
                    <a:pt x="209323" y="285281"/>
                    <a:pt x="209323" y="295736"/>
                  </a:cubicBezTo>
                  <a:cubicBezTo>
                    <a:pt x="209323" y="306191"/>
                    <a:pt x="217141" y="314994"/>
                    <a:pt x="227523" y="316229"/>
                  </a:cubicBezTo>
                  <a:lnTo>
                    <a:pt x="229937" y="316373"/>
                  </a:lnTo>
                  <a:lnTo>
                    <a:pt x="232558" y="316229"/>
                  </a:lnTo>
                  <a:cubicBezTo>
                    <a:pt x="242940" y="314994"/>
                    <a:pt x="250758" y="306191"/>
                    <a:pt x="250758" y="295736"/>
                  </a:cubicBezTo>
                  <a:cubicBezTo>
                    <a:pt x="250758" y="285281"/>
                    <a:pt x="242940" y="276478"/>
                    <a:pt x="232558" y="275243"/>
                  </a:cubicBezTo>
                  <a:lnTo>
                    <a:pt x="230144" y="275098"/>
                  </a:lnTo>
                  <a:close/>
                  <a:moveTo>
                    <a:pt x="229937" y="130636"/>
                  </a:moveTo>
                  <a:cubicBezTo>
                    <a:pt x="219474" y="130637"/>
                    <a:pt x="210668" y="138468"/>
                    <a:pt x="209444" y="148859"/>
                  </a:cubicBezTo>
                  <a:lnTo>
                    <a:pt x="209300" y="151273"/>
                  </a:lnTo>
                  <a:lnTo>
                    <a:pt x="209300" y="233823"/>
                  </a:lnTo>
                  <a:lnTo>
                    <a:pt x="209444" y="236238"/>
                  </a:lnTo>
                  <a:cubicBezTo>
                    <a:pt x="210679" y="246620"/>
                    <a:pt x="219482" y="254438"/>
                    <a:pt x="229937" y="254438"/>
                  </a:cubicBezTo>
                  <a:cubicBezTo>
                    <a:pt x="240392" y="254438"/>
                    <a:pt x="249195" y="246620"/>
                    <a:pt x="250430" y="236238"/>
                  </a:cubicBezTo>
                  <a:lnTo>
                    <a:pt x="250575" y="233823"/>
                  </a:lnTo>
                  <a:lnTo>
                    <a:pt x="250575" y="151273"/>
                  </a:lnTo>
                  <a:lnTo>
                    <a:pt x="250430" y="148859"/>
                  </a:lnTo>
                  <a:cubicBezTo>
                    <a:pt x="249206" y="138468"/>
                    <a:pt x="240400" y="130637"/>
                    <a:pt x="229937" y="130636"/>
                  </a:cubicBezTo>
                  <a:close/>
                </a:path>
              </a:pathLst>
            </a:custGeom>
            <a:solidFill>
              <a:srgbClr val="FF6FA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45286" y="424815"/>
              <a:ext cx="54566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/>
                  <a:ea typeface="YouYuan"/>
                  <a:cs typeface="Segoe UI"/>
                </a:rPr>
                <a:t>常见编程错误 · 字符双胞胎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71500" y="1428750"/>
            <a:ext cx="11049000" cy="2381250"/>
            <a:chOff x="571500" y="1428750"/>
            <a:chExt cx="11049000" cy="2381250"/>
          </a:xfrm>
        </p:grpSpPr>
        <p:sp>
          <p:nvSpPr>
            <p:cNvPr id="5" name="Rectangle 5"/>
            <p:cNvSpPr/>
            <p:nvPr/>
          </p:nvSpPr>
          <p:spPr>
            <a:xfrm>
              <a:off x="571500" y="1428750"/>
              <a:ext cx="11049000" cy="2381250"/>
            </a:xfrm>
            <a:prstGeom prst="roundRect">
              <a:avLst>
                <a:gd name="adj" fmla="val 16000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81456" y="1748790"/>
              <a:ext cx="36530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E9BFF"/>
                  </a:solidFill>
                  <a:latin typeface="Arial"/>
                  <a:ea typeface="Microsoft YaHei"/>
                  <a:cs typeface="Arial"/>
                </a:rPr>
                <a:t>看起来像，不代表编译器认为相同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990600" y="2286000"/>
              <a:ext cx="21336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679877" y="2511742"/>
              <a:ext cx="75504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rgbClr val="203044"/>
                  </a:solidFill>
                  <a:latin typeface="Consolas"/>
                  <a:ea typeface="Microsoft YaHei"/>
                  <a:cs typeface="Consolas"/>
                </a:rPr>
                <a:t>l　1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3581400" y="2286000"/>
              <a:ext cx="21336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154355" y="2511742"/>
              <a:ext cx="98768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rgbClr val="203044"/>
                  </a:solidFill>
                  <a:latin typeface="Consolas"/>
                  <a:ea typeface="Microsoft YaHei"/>
                  <a:cs typeface="Consolas"/>
                </a:rPr>
                <a:t>O　0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172200" y="2286000"/>
              <a:ext cx="21336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811121" y="2511742"/>
              <a:ext cx="85575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rgbClr val="203044"/>
                  </a:solidFill>
                  <a:latin typeface="Consolas"/>
                  <a:ea typeface="Microsoft YaHei"/>
                  <a:cs typeface="Consolas"/>
                </a:rPr>
                <a:t>;　: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763000" y="2286000"/>
              <a:ext cx="21336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01921" y="2511742"/>
              <a:ext cx="85575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rgbClr val="203044"/>
                  </a:solidFill>
                  <a:latin typeface="Consolas"/>
                  <a:ea typeface="Microsoft YaHei"/>
                  <a:cs typeface="Consolas"/>
                </a:rPr>
                <a:t>*　x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1500" y="4171950"/>
            <a:ext cx="11049000" cy="1543050"/>
            <a:chOff x="571500" y="4171950"/>
            <a:chExt cx="11049000" cy="1543050"/>
          </a:xfrm>
        </p:grpSpPr>
        <p:sp>
          <p:nvSpPr>
            <p:cNvPr id="16" name="Rectangle 16"/>
            <p:cNvSpPr/>
            <p:nvPr/>
          </p:nvSpPr>
          <p:spPr>
            <a:xfrm>
              <a:off x="571500" y="4171950"/>
              <a:ext cx="11049000" cy="1543050"/>
            </a:xfrm>
            <a:prstGeom prst="roundRect">
              <a:avLst>
                <a:gd name="adj" fmla="val 22222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82218" y="4470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AF5FF"/>
                  </a:solidFill>
                  <a:latin typeface="Arial"/>
                  <a:ea typeface="Microsoft YaHei"/>
                  <a:cs typeface="Arial"/>
                </a:rPr>
                <a:t>英文半角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637282" y="4421505"/>
              <a:ext cx="14461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; , ( ) " "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82918" y="4470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AF5FF"/>
                  </a:solidFill>
                  <a:latin typeface="Arial"/>
                  <a:ea typeface="Microsoft YaHei"/>
                  <a:cs typeface="Arial"/>
                </a:rPr>
                <a:t>中文全角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237982" y="4421505"/>
              <a:ext cx="192392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6FA5"/>
                  </a:solidFill>
                  <a:latin typeface="Arial"/>
                  <a:ea typeface="Microsoft YaHei"/>
                  <a:cs typeface="Arial"/>
                </a:rPr>
                <a:t>； ， （ ） “ ”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990600" y="501015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19050">
              <a:solidFill>
                <a:srgbClr val="2E9BFF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82218" y="5251132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检查方法：切到英文输入法，再逐字符看。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3977450" y="6127432"/>
            <a:ext cx="423710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6FA5"/>
                </a:solidFill>
                <a:latin typeface="Arial"/>
                <a:ea typeface="Microsoft YaHei"/>
                <a:cs typeface="Arial"/>
              </a:rPr>
              <a:t>编译器会逐字符检查，一个符号也不能猜。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3963" y="377365"/>
            <a:ext cx="6996476" cy="692864"/>
            <a:chOff x="493963" y="377365"/>
            <a:chExt cx="6996476" cy="692864"/>
          </a:xfrm>
        </p:grpSpPr>
        <p:sp>
          <p:nvSpPr>
            <p:cNvPr id="2" name="Freeform 2"/>
            <p:cNvSpPr/>
            <p:nvPr/>
          </p:nvSpPr>
          <p:spPr>
            <a:xfrm>
              <a:off x="493963" y="377365"/>
              <a:ext cx="459634" cy="398841"/>
            </a:xfrm>
            <a:custGeom>
              <a:avLst/>
              <a:gdLst/>
              <a:ahLst/>
              <a:cxnLst/>
              <a:rect l="l" t="t" r="r" b="b"/>
              <a:pathLst>
                <a:path w="459634" h="398841">
                  <a:moveTo>
                    <a:pt x="229937" y="0"/>
                  </a:moveTo>
                  <a:cubicBezTo>
                    <a:pt x="249646" y="0"/>
                    <a:pt x="268013" y="9638"/>
                    <a:pt x="279261" y="25735"/>
                  </a:cubicBezTo>
                  <a:lnTo>
                    <a:pt x="281428" y="29037"/>
                  </a:lnTo>
                  <a:lnTo>
                    <a:pt x="448881" y="308634"/>
                  </a:lnTo>
                  <a:cubicBezTo>
                    <a:pt x="459225" y="326551"/>
                    <a:pt x="459634" y="348526"/>
                    <a:pt x="449964" y="366815"/>
                  </a:cubicBezTo>
                  <a:cubicBezTo>
                    <a:pt x="440293" y="385104"/>
                    <a:pt x="421901" y="397138"/>
                    <a:pt x="401270" y="398676"/>
                  </a:cubicBezTo>
                  <a:lnTo>
                    <a:pt x="397246" y="398841"/>
                  </a:lnTo>
                  <a:lnTo>
                    <a:pt x="62402" y="398841"/>
                  </a:lnTo>
                  <a:cubicBezTo>
                    <a:pt x="41751" y="398609"/>
                    <a:pt x="22663" y="387796"/>
                    <a:pt x="11847" y="370202"/>
                  </a:cubicBezTo>
                  <a:cubicBezTo>
                    <a:pt x="1031" y="352608"/>
                    <a:pt x="0" y="330695"/>
                    <a:pt x="9116" y="312163"/>
                  </a:cubicBezTo>
                  <a:lnTo>
                    <a:pt x="11159" y="308345"/>
                  </a:lnTo>
                  <a:lnTo>
                    <a:pt x="178529" y="28954"/>
                  </a:lnTo>
                  <a:cubicBezTo>
                    <a:pt x="189428" y="10982"/>
                    <a:pt x="208919" y="5"/>
                    <a:pt x="229937" y="0"/>
                  </a:cubicBezTo>
                  <a:close/>
                  <a:moveTo>
                    <a:pt x="230144" y="275098"/>
                  </a:moveTo>
                  <a:lnTo>
                    <a:pt x="227523" y="275243"/>
                  </a:lnTo>
                  <a:cubicBezTo>
                    <a:pt x="217141" y="276478"/>
                    <a:pt x="209323" y="285281"/>
                    <a:pt x="209323" y="295736"/>
                  </a:cubicBezTo>
                  <a:cubicBezTo>
                    <a:pt x="209323" y="306191"/>
                    <a:pt x="217141" y="314994"/>
                    <a:pt x="227523" y="316229"/>
                  </a:cubicBezTo>
                  <a:lnTo>
                    <a:pt x="229937" y="316373"/>
                  </a:lnTo>
                  <a:lnTo>
                    <a:pt x="232558" y="316229"/>
                  </a:lnTo>
                  <a:cubicBezTo>
                    <a:pt x="242940" y="314994"/>
                    <a:pt x="250758" y="306191"/>
                    <a:pt x="250758" y="295736"/>
                  </a:cubicBezTo>
                  <a:cubicBezTo>
                    <a:pt x="250758" y="285281"/>
                    <a:pt x="242940" y="276478"/>
                    <a:pt x="232558" y="275243"/>
                  </a:cubicBezTo>
                  <a:lnTo>
                    <a:pt x="230144" y="275098"/>
                  </a:lnTo>
                  <a:close/>
                  <a:moveTo>
                    <a:pt x="229937" y="130636"/>
                  </a:moveTo>
                  <a:cubicBezTo>
                    <a:pt x="219474" y="130637"/>
                    <a:pt x="210668" y="138468"/>
                    <a:pt x="209444" y="148859"/>
                  </a:cubicBezTo>
                  <a:lnTo>
                    <a:pt x="209300" y="151273"/>
                  </a:lnTo>
                  <a:lnTo>
                    <a:pt x="209300" y="233823"/>
                  </a:lnTo>
                  <a:lnTo>
                    <a:pt x="209444" y="236238"/>
                  </a:lnTo>
                  <a:cubicBezTo>
                    <a:pt x="210679" y="246620"/>
                    <a:pt x="219482" y="254438"/>
                    <a:pt x="229937" y="254438"/>
                  </a:cubicBezTo>
                  <a:cubicBezTo>
                    <a:pt x="240392" y="254438"/>
                    <a:pt x="249195" y="246620"/>
                    <a:pt x="250430" y="236238"/>
                  </a:cubicBezTo>
                  <a:lnTo>
                    <a:pt x="250575" y="233823"/>
                  </a:lnTo>
                  <a:lnTo>
                    <a:pt x="250575" y="151273"/>
                  </a:lnTo>
                  <a:lnTo>
                    <a:pt x="250430" y="148859"/>
                  </a:lnTo>
                  <a:cubicBezTo>
                    <a:pt x="249206" y="138468"/>
                    <a:pt x="240400" y="130637"/>
                    <a:pt x="229937" y="130636"/>
                  </a:cubicBezTo>
                  <a:close/>
                </a:path>
              </a:pathLst>
            </a:custGeom>
            <a:solidFill>
              <a:srgbClr val="FF6FA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45286" y="424815"/>
              <a:ext cx="634515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/>
                  <a:ea typeface="YouYuan"/>
                  <a:cs typeface="Segoe UI"/>
                </a:rPr>
                <a:t>常见错误 · 符号要用英文并成对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76250" y="1371600"/>
            <a:ext cx="5429250" cy="4572000"/>
            <a:chOff x="476250" y="1371600"/>
            <a:chExt cx="5429250" cy="4572000"/>
          </a:xfrm>
        </p:grpSpPr>
        <p:sp>
          <p:nvSpPr>
            <p:cNvPr id="5" name="Rectangle 5"/>
            <p:cNvSpPr/>
            <p:nvPr/>
          </p:nvSpPr>
          <p:spPr>
            <a:xfrm>
              <a:off x="476250" y="1371600"/>
              <a:ext cx="5429250" cy="4572000"/>
            </a:xfrm>
            <a:prstGeom prst="roundRect">
              <a:avLst>
                <a:gd name="adj" fmla="val 8333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08482" y="1659255"/>
              <a:ext cx="262431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E9BFF"/>
                  </a:solidFill>
                  <a:latin typeface="Arial"/>
                  <a:ea typeface="Microsoft YaHei"/>
                  <a:cs typeface="Arial"/>
                </a:rPr>
                <a:t>中文符号 ≠ 英文符号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819150" y="2228850"/>
              <a:ext cx="4743450" cy="1200150"/>
            </a:xfrm>
            <a:prstGeom prst="roundRect">
              <a:avLst>
                <a:gd name="adj" fmla="val 22222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018614" y="2491740"/>
              <a:ext cx="23445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6FA5"/>
                  </a:solidFill>
                  <a:latin typeface="Arial"/>
                  <a:ea typeface="Microsoft YaHei"/>
                  <a:cs typeface="Arial"/>
                </a:rPr>
                <a:t>中文：； ， （ ） “ ”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207621" y="2948940"/>
              <a:ext cx="19665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2C55E"/>
                  </a:solidFill>
                  <a:latin typeface="Consolas"/>
                  <a:ea typeface="Microsoft YaHei"/>
                  <a:cs typeface="Consolas"/>
                </a:rPr>
                <a:t>英文：; , ( ) " "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10768" y="3765232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写代码前先切换到英文输入法。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19150" y="4362450"/>
              <a:ext cx="4743450" cy="990600"/>
            </a:xfrm>
            <a:prstGeom prst="roundRect">
              <a:avLst>
                <a:gd name="adj" fmla="val 25000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267179" y="4774882"/>
              <a:ext cx="18473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"Hello";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305550" y="1371600"/>
            <a:ext cx="5410200" cy="4572000"/>
            <a:chOff x="6305550" y="1371600"/>
            <a:chExt cx="5410200" cy="4572000"/>
          </a:xfrm>
        </p:grpSpPr>
        <p:sp>
          <p:nvSpPr>
            <p:cNvPr id="14" name="Rectangle 14"/>
            <p:cNvSpPr/>
            <p:nvPr/>
          </p:nvSpPr>
          <p:spPr>
            <a:xfrm>
              <a:off x="6305550" y="1371600"/>
              <a:ext cx="5410200" cy="4572000"/>
            </a:xfrm>
            <a:prstGeom prst="roundRect">
              <a:avLst>
                <a:gd name="adj" fmla="val 8333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637782" y="1659255"/>
              <a:ext cx="28483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9F1C"/>
                  </a:solidFill>
                  <a:latin typeface="Arial"/>
                  <a:ea typeface="Microsoft YaHei"/>
                  <a:cs typeface="Arial"/>
                </a:rPr>
                <a:t>括号与引号要配成一对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648450" y="2228850"/>
              <a:ext cx="46863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878430" y="2582228"/>
              <a:ext cx="222633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203044"/>
                  </a:solidFill>
                  <a:latin typeface="Consolas"/>
                  <a:ea typeface="Microsoft YaHei"/>
                  <a:cs typeface="Consolas"/>
                </a:rPr>
                <a:t>( )　{ }　" "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40068" y="355568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引号里面还要显示引号时：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648450" y="4000500"/>
              <a:ext cx="4686300" cy="971550"/>
            </a:xfrm>
            <a:prstGeom prst="roundRect">
              <a:avLst>
                <a:gd name="adj" fmla="val 25490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73066" y="4410075"/>
              <a:ext cx="26370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"He said \"Hi\"";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40830" y="5324475"/>
              <a:ext cx="38922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9F1C"/>
                  </a:solidFill>
                  <a:latin typeface="Arial"/>
                  <a:ea typeface="Microsoft YaHei"/>
                  <a:cs typeface="Arial"/>
                </a:rPr>
                <a:t>从左到右数一数：每个“开门”都有“关门”。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3963" y="377365"/>
            <a:ext cx="6107984" cy="692864"/>
            <a:chOff x="493963" y="377365"/>
            <a:chExt cx="6107984" cy="692864"/>
          </a:xfrm>
        </p:grpSpPr>
        <p:sp>
          <p:nvSpPr>
            <p:cNvPr id="2" name="Freeform 2"/>
            <p:cNvSpPr/>
            <p:nvPr/>
          </p:nvSpPr>
          <p:spPr>
            <a:xfrm>
              <a:off x="493963" y="377365"/>
              <a:ext cx="459634" cy="398841"/>
            </a:xfrm>
            <a:custGeom>
              <a:avLst/>
              <a:gdLst/>
              <a:ahLst/>
              <a:cxnLst/>
              <a:rect l="l" t="t" r="r" b="b"/>
              <a:pathLst>
                <a:path w="459634" h="398841">
                  <a:moveTo>
                    <a:pt x="229937" y="0"/>
                  </a:moveTo>
                  <a:cubicBezTo>
                    <a:pt x="249646" y="0"/>
                    <a:pt x="268013" y="9638"/>
                    <a:pt x="279261" y="25735"/>
                  </a:cubicBezTo>
                  <a:lnTo>
                    <a:pt x="281428" y="29037"/>
                  </a:lnTo>
                  <a:lnTo>
                    <a:pt x="448881" y="308634"/>
                  </a:lnTo>
                  <a:cubicBezTo>
                    <a:pt x="459225" y="326551"/>
                    <a:pt x="459634" y="348526"/>
                    <a:pt x="449964" y="366815"/>
                  </a:cubicBezTo>
                  <a:cubicBezTo>
                    <a:pt x="440293" y="385104"/>
                    <a:pt x="421901" y="397138"/>
                    <a:pt x="401270" y="398676"/>
                  </a:cubicBezTo>
                  <a:lnTo>
                    <a:pt x="397246" y="398841"/>
                  </a:lnTo>
                  <a:lnTo>
                    <a:pt x="62402" y="398841"/>
                  </a:lnTo>
                  <a:cubicBezTo>
                    <a:pt x="41751" y="398609"/>
                    <a:pt x="22663" y="387796"/>
                    <a:pt x="11847" y="370202"/>
                  </a:cubicBezTo>
                  <a:cubicBezTo>
                    <a:pt x="1031" y="352608"/>
                    <a:pt x="0" y="330695"/>
                    <a:pt x="9116" y="312163"/>
                  </a:cubicBezTo>
                  <a:lnTo>
                    <a:pt x="11159" y="308345"/>
                  </a:lnTo>
                  <a:lnTo>
                    <a:pt x="178529" y="28954"/>
                  </a:lnTo>
                  <a:cubicBezTo>
                    <a:pt x="189428" y="10982"/>
                    <a:pt x="208919" y="5"/>
                    <a:pt x="229937" y="0"/>
                  </a:cubicBezTo>
                  <a:close/>
                  <a:moveTo>
                    <a:pt x="230144" y="275098"/>
                  </a:moveTo>
                  <a:lnTo>
                    <a:pt x="227523" y="275243"/>
                  </a:lnTo>
                  <a:cubicBezTo>
                    <a:pt x="217141" y="276478"/>
                    <a:pt x="209323" y="285281"/>
                    <a:pt x="209323" y="295736"/>
                  </a:cubicBezTo>
                  <a:cubicBezTo>
                    <a:pt x="209323" y="306191"/>
                    <a:pt x="217141" y="314994"/>
                    <a:pt x="227523" y="316229"/>
                  </a:cubicBezTo>
                  <a:lnTo>
                    <a:pt x="229937" y="316373"/>
                  </a:lnTo>
                  <a:lnTo>
                    <a:pt x="232558" y="316229"/>
                  </a:lnTo>
                  <a:cubicBezTo>
                    <a:pt x="242940" y="314994"/>
                    <a:pt x="250758" y="306191"/>
                    <a:pt x="250758" y="295736"/>
                  </a:cubicBezTo>
                  <a:cubicBezTo>
                    <a:pt x="250758" y="285281"/>
                    <a:pt x="242940" y="276478"/>
                    <a:pt x="232558" y="275243"/>
                  </a:cubicBezTo>
                  <a:lnTo>
                    <a:pt x="230144" y="275098"/>
                  </a:lnTo>
                  <a:close/>
                  <a:moveTo>
                    <a:pt x="229937" y="130636"/>
                  </a:moveTo>
                  <a:cubicBezTo>
                    <a:pt x="219474" y="130637"/>
                    <a:pt x="210668" y="138468"/>
                    <a:pt x="209444" y="148859"/>
                  </a:cubicBezTo>
                  <a:lnTo>
                    <a:pt x="209300" y="151273"/>
                  </a:lnTo>
                  <a:lnTo>
                    <a:pt x="209300" y="233823"/>
                  </a:lnTo>
                  <a:lnTo>
                    <a:pt x="209444" y="236238"/>
                  </a:lnTo>
                  <a:cubicBezTo>
                    <a:pt x="210679" y="246620"/>
                    <a:pt x="219482" y="254438"/>
                    <a:pt x="229937" y="254438"/>
                  </a:cubicBezTo>
                  <a:cubicBezTo>
                    <a:pt x="240392" y="254438"/>
                    <a:pt x="249195" y="246620"/>
                    <a:pt x="250430" y="236238"/>
                  </a:cubicBezTo>
                  <a:lnTo>
                    <a:pt x="250575" y="233823"/>
                  </a:lnTo>
                  <a:lnTo>
                    <a:pt x="250575" y="151273"/>
                  </a:lnTo>
                  <a:lnTo>
                    <a:pt x="250430" y="148859"/>
                  </a:lnTo>
                  <a:cubicBezTo>
                    <a:pt x="249206" y="138468"/>
                    <a:pt x="240400" y="130637"/>
                    <a:pt x="229937" y="130636"/>
                  </a:cubicBezTo>
                  <a:close/>
                </a:path>
              </a:pathLst>
            </a:custGeom>
            <a:solidFill>
              <a:srgbClr val="FF6FA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45286" y="424815"/>
              <a:ext cx="54566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/>
                  <a:ea typeface="YouYuan"/>
                  <a:cs typeface="Segoe UI"/>
                </a:rPr>
                <a:t>常见错误 · 关键单词别写错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52450" y="1409700"/>
            <a:ext cx="11087100" cy="3752850"/>
            <a:chOff x="552450" y="1409700"/>
            <a:chExt cx="11087100" cy="3752850"/>
          </a:xfrm>
        </p:grpSpPr>
        <p:sp>
          <p:nvSpPr>
            <p:cNvPr id="5" name="Rectangle 5"/>
            <p:cNvSpPr/>
            <p:nvPr/>
          </p:nvSpPr>
          <p:spPr>
            <a:xfrm>
              <a:off x="552450" y="1409700"/>
              <a:ext cx="11087100" cy="3752850"/>
            </a:xfrm>
            <a:prstGeom prst="roundRect">
              <a:avLst>
                <a:gd name="adj" fmla="val 10660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86206" y="1729740"/>
              <a:ext cx="53867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E9BFF"/>
                  </a:solidFill>
                  <a:latin typeface="Arial"/>
                  <a:ea typeface="Microsoft YaHei"/>
                  <a:cs typeface="Arial"/>
                </a:rPr>
                <a:t>电脑逐字符辨认，字母和数字不能“长得像就算对”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895350" y="2305050"/>
              <a:ext cx="2381250" cy="1143000"/>
            </a:xfrm>
            <a:prstGeom prst="roundRect">
              <a:avLst>
                <a:gd name="adj" fmla="val 2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38811" y="2546032"/>
              <a:ext cx="4943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FF6FA5"/>
                  </a:solidFill>
                  <a:latin typeface="Consolas"/>
                  <a:ea typeface="Consolas"/>
                  <a:cs typeface="Consolas"/>
                </a:rPr>
                <a:t>mian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56207" y="2954655"/>
              <a:ext cx="65953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main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3562350" y="2305050"/>
              <a:ext cx="2381250" cy="1143000"/>
            </a:xfrm>
            <a:prstGeom prst="roundRect">
              <a:avLst>
                <a:gd name="adj" fmla="val 2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261475" y="2546032"/>
              <a:ext cx="9829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FF6FA5"/>
                  </a:solidFill>
                  <a:latin typeface="Consolas"/>
                  <a:ea typeface="Consolas"/>
                  <a:cs typeface="Consolas"/>
                </a:rPr>
                <a:t>i0stream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096686" y="2954655"/>
              <a:ext cx="13125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iostream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229350" y="2305050"/>
              <a:ext cx="2381250" cy="1143000"/>
            </a:xfrm>
            <a:prstGeom prst="roundRect">
              <a:avLst>
                <a:gd name="adj" fmla="val 2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133939" y="2546032"/>
              <a:ext cx="5720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FF6FA5"/>
                  </a:solidFill>
                  <a:latin typeface="Consolas"/>
                  <a:ea typeface="Consolas"/>
                  <a:cs typeface="Consolas"/>
                </a:rPr>
                <a:t>print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956630" y="2954655"/>
              <a:ext cx="92668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printf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896350" y="2305050"/>
              <a:ext cx="2381250" cy="1143000"/>
            </a:xfrm>
            <a:prstGeom prst="roundRect">
              <a:avLst>
                <a:gd name="adj" fmla="val 2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834258" y="2546032"/>
              <a:ext cx="505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FF6FA5"/>
                  </a:solidFill>
                  <a:latin typeface="Consolas"/>
                  <a:ea typeface="Consolas"/>
                  <a:cs typeface="Consolas"/>
                </a:rPr>
                <a:t>end1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786891" y="2954655"/>
              <a:ext cx="60016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endl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86968" y="3917632"/>
              <a:ext cx="38594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mian → main　　i0stream → iostream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86968" y="4431982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print → printf　　end1 → endl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809750" y="5562600"/>
            <a:ext cx="8572500" cy="723900"/>
            <a:chOff x="1809750" y="5562600"/>
            <a:chExt cx="8572500" cy="723900"/>
          </a:xfrm>
        </p:grpSpPr>
        <p:sp>
          <p:nvSpPr>
            <p:cNvPr id="22" name="Rectangle 22"/>
            <p:cNvSpPr/>
            <p:nvPr/>
          </p:nvSpPr>
          <p:spPr>
            <a:xfrm>
              <a:off x="1809750" y="5562600"/>
              <a:ext cx="8572500" cy="723900"/>
            </a:xfrm>
            <a:prstGeom prst="roundRect">
              <a:avLst>
                <a:gd name="adj" fmla="val 36842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057906" y="5835015"/>
              <a:ext cx="60761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检查方法：对照模板，从第一个字符读到最后一个字符。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24815"/>
            <a:ext cx="5385582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203044"/>
                </a:solidFill>
                <a:latin typeface="Segoe UI"/>
                <a:ea typeface="YouYuan"/>
                <a:cs typeface="Segoe UI"/>
              </a:rPr>
              <a:t>盒外的 3+5：先计算再输出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495300" y="1390650"/>
            <a:ext cx="4953000" cy="4000500"/>
            <a:chOff x="495300" y="1390650"/>
            <a:chExt cx="4953000" cy="4000500"/>
          </a:xfrm>
        </p:grpSpPr>
        <p:sp>
          <p:nvSpPr>
            <p:cNvPr id="3" name="Rectangle 3"/>
            <p:cNvSpPr/>
            <p:nvPr/>
          </p:nvSpPr>
          <p:spPr>
            <a:xfrm>
              <a:off x="495300" y="1390650"/>
              <a:ext cx="4953000" cy="4000500"/>
            </a:xfrm>
            <a:prstGeom prst="roundRect">
              <a:avLst>
                <a:gd name="adj" fmla="val 9524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848106" y="17297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E9BFF"/>
                  </a:solidFill>
                  <a:latin typeface="Arial"/>
                  <a:ea typeface="Microsoft YaHei"/>
                  <a:cs typeface="Arial"/>
                </a:rPr>
                <a:t>有引号：照抄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857250" y="2228850"/>
              <a:ext cx="4229100" cy="1028700"/>
            </a:xfrm>
            <a:prstGeom prst="roundRect">
              <a:avLst>
                <a:gd name="adj" fmla="val 2592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892518" y="2630805"/>
              <a:ext cx="215856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203044"/>
                  </a:solidFill>
                  <a:latin typeface="Consolas"/>
                  <a:ea typeface="Consolas"/>
                  <a:cs typeface="Consolas"/>
                </a:rPr>
                <a:t>cout &lt;&lt; "3+5";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741295" y="36128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终端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462969" y="4175760"/>
              <a:ext cx="101766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200" b="1" dirty="0">
                  <a:solidFill>
                    <a:srgbClr val="2E9BFF"/>
                  </a:solidFill>
                  <a:latin typeface="Consolas"/>
                  <a:ea typeface="Consolas"/>
                  <a:cs typeface="Consolas"/>
                </a:rPr>
                <a:t>3+5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905500" y="1390650"/>
            <a:ext cx="5791200" cy="4000500"/>
            <a:chOff x="5905500" y="1390650"/>
            <a:chExt cx="5791200" cy="4000500"/>
          </a:xfrm>
        </p:grpSpPr>
        <p:sp>
          <p:nvSpPr>
            <p:cNvPr id="10" name="Rectangle 10"/>
            <p:cNvSpPr/>
            <p:nvPr/>
          </p:nvSpPr>
          <p:spPr>
            <a:xfrm>
              <a:off x="5905500" y="1390650"/>
              <a:ext cx="5791200" cy="4000500"/>
            </a:xfrm>
            <a:prstGeom prst="roundRect">
              <a:avLst>
                <a:gd name="adj" fmla="val 9524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58306" y="17297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9F1C"/>
                  </a:solidFill>
                  <a:latin typeface="Arial"/>
                  <a:ea typeface="Microsoft YaHei"/>
                  <a:cs typeface="Arial"/>
                </a:rPr>
                <a:t>没引号：计算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267450" y="2228850"/>
              <a:ext cx="5067300" cy="1028700"/>
            </a:xfrm>
            <a:prstGeom prst="roundRect">
              <a:avLst>
                <a:gd name="adj" fmla="val 2592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796028" y="2630805"/>
              <a:ext cx="201014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203044"/>
                  </a:solidFill>
                  <a:latin typeface="Consolas"/>
                  <a:ea typeface="Consolas"/>
                  <a:cs typeface="Consolas"/>
                </a:rPr>
                <a:t>cout &lt;&lt; 3 + 5;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067550" y="3429000"/>
              <a:ext cx="1104900" cy="11049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474960" y="37585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8362950" y="3543300"/>
              <a:ext cx="876300" cy="8763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656060" y="37585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+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9429750" y="3429000"/>
              <a:ext cx="1104900" cy="11049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837160" y="37585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5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248650" y="4705350"/>
              <a:ext cx="1104900" cy="609600"/>
            </a:xfrm>
            <a:prstGeom prst="roundRect">
              <a:avLst>
                <a:gd name="adj" fmla="val 375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675838" y="4816792"/>
              <a:ext cx="25052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8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8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714500" y="5772150"/>
            <a:ext cx="8763000" cy="666750"/>
            <a:chOff x="1714500" y="5772150"/>
            <a:chExt cx="8763000" cy="666750"/>
          </a:xfrm>
        </p:grpSpPr>
        <p:sp>
          <p:nvSpPr>
            <p:cNvPr id="23" name="Rectangle 23"/>
            <p:cNvSpPr/>
            <p:nvPr/>
          </p:nvSpPr>
          <p:spPr>
            <a:xfrm>
              <a:off x="1714500" y="5772150"/>
              <a:ext cx="8763000" cy="666750"/>
            </a:xfrm>
            <a:prstGeom prst="roundRect">
              <a:avLst>
                <a:gd name="adj" fmla="val 37143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854768" y="5999798"/>
              <a:ext cx="448246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判断口诀：有引号照抄，没引号计算。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2E9BFF"/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323850" y="381000"/>
            <a:ext cx="2430647" cy="6096000"/>
            <a:chOff x="323850" y="381000"/>
            <a:chExt cx="2430647" cy="6096000"/>
          </a:xfrm>
        </p:grpSpPr>
        <p:sp>
          <p:nvSpPr>
            <p:cNvPr id="3" name="Rectangle 3"/>
            <p:cNvSpPr/>
            <p:nvPr/>
          </p:nvSpPr>
          <p:spPr>
            <a:xfrm>
              <a:off x="323850" y="381000"/>
              <a:ext cx="2266950" cy="6096000"/>
            </a:xfrm>
            <a:prstGeom prst="roundRect">
              <a:avLst>
                <a:gd name="adj" fmla="val 15966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709610" y="75716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rgbClr val="2E9BFF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54558" y="1303020"/>
              <a:ext cx="7963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203044"/>
                  </a:solidFill>
                  <a:latin typeface="Segoe UI"/>
                  <a:ea typeface="Segoe UI"/>
                  <a:cs typeface="Segoe UI"/>
                </a:rPr>
                <a:t>Hello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54558" y="1664970"/>
              <a:ext cx="163162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2E9BFF"/>
                  </a:solidFill>
                  <a:latin typeface="Segoe UI"/>
                  <a:ea typeface="Segoe UI"/>
                  <a:cs typeface="Segoe UI"/>
                </a:rPr>
                <a:t>C++ World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52450" y="23812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04697" y="2565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初次见面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08610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4697" y="32699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输出魔法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7909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04697" y="39747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图案工坊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9892" y="5664518"/>
              <a:ext cx="2094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E9BFF"/>
                  </a:solidFill>
                  <a:latin typeface="Arial"/>
                  <a:ea typeface="Microsoft YaHei"/>
                  <a:cs typeface="Arial"/>
                </a:rPr>
                <a:t>选择 → 代码 → 运行 → 结果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845308" y="560070"/>
            <a:ext cx="4812792" cy="1177481"/>
            <a:chOff x="2845308" y="560070"/>
            <a:chExt cx="4812792" cy="1177481"/>
          </a:xfrm>
        </p:grpSpPr>
        <p:sp>
          <p:nvSpPr>
            <p:cNvPr id="15" name="TextBox 15"/>
            <p:cNvSpPr txBox="1"/>
            <p:nvPr/>
          </p:nvSpPr>
          <p:spPr>
            <a:xfrm>
              <a:off x="2845308" y="560070"/>
              <a:ext cx="3255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03044"/>
                  </a:solidFill>
                  <a:latin typeface="Segoe UI"/>
                  <a:ea typeface="YouYuan"/>
                  <a:cs typeface="Segoe UI"/>
                </a:rPr>
                <a:t>今天想让电脑做什么？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8575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006090" y="13239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运行示例代码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4958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846320" y="12287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输出多行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96600" y="14735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E9BFF"/>
                  </a:solidFill>
                  <a:latin typeface="Arial"/>
                  <a:ea typeface="Microsoft YaHei"/>
                  <a:cs typeface="Arial"/>
                </a:rPr>
                <a:t>《静夜思》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1341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82690" y="13239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输出一个图案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857500" y="2381250"/>
            <a:ext cx="4914900" cy="3829050"/>
            <a:chOff x="2857500" y="2381250"/>
            <a:chExt cx="4914900" cy="3829050"/>
          </a:xfrm>
        </p:grpSpPr>
        <p:sp>
          <p:nvSpPr>
            <p:cNvPr id="24" name="Rectangle 24"/>
            <p:cNvSpPr/>
            <p:nvPr/>
          </p:nvSpPr>
          <p:spPr>
            <a:xfrm>
              <a:off x="2857500" y="2381250"/>
              <a:ext cx="4914900" cy="3162300"/>
            </a:xfrm>
            <a:prstGeom prst="roundRect">
              <a:avLst>
                <a:gd name="adj" fmla="val 10241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3086100" y="2609850"/>
              <a:ext cx="152400" cy="152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333750" y="2609850"/>
              <a:ext cx="152400" cy="152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581400" y="26098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155442" y="30927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E9BFF"/>
                  </a:solidFill>
                  <a:latin typeface="Consolas"/>
                  <a:ea typeface="Consolas"/>
                  <a:cs typeface="Consolas"/>
                </a:rPr>
                <a:t>#include &lt;iostream&gt;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55442" y="35118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FF9F1C"/>
                  </a:solidFill>
                  <a:latin typeface="Consolas"/>
                  <a:ea typeface="Consolas"/>
                  <a:cs typeface="Consolas"/>
                </a:rPr>
                <a:t>using namespace std;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55442" y="39309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03044"/>
                  </a:solidFill>
                  <a:latin typeface="Consolas"/>
                  <a:ea typeface="Consolas"/>
                  <a:cs typeface="Consolas"/>
                </a:rPr>
                <a:t>int main() {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048000" y="4248150"/>
              <a:ext cx="4400550" cy="495300"/>
            </a:xfrm>
            <a:prstGeom prst="roundRect">
              <a:avLst>
                <a:gd name="adj" fmla="val 26923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268218" y="4393882"/>
              <a:ext cx="19525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6FA5"/>
                  </a:solidFill>
                  <a:latin typeface="Consolas"/>
                  <a:ea typeface="Consolas"/>
                  <a:cs typeface="Consolas"/>
                </a:rPr>
                <a:t>cout &lt;&lt; "*****";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155442" y="4978718"/>
              <a:ext cx="10223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 0; }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905500" y="5676900"/>
              <a:ext cx="1866900" cy="533400"/>
            </a:xfrm>
            <a:prstGeom prst="roundRect">
              <a:avLst>
                <a:gd name="adj" fmla="val 35714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87200" y="5851208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▶ 运行代码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020050" y="381000"/>
            <a:ext cx="3848100" cy="6096000"/>
            <a:chOff x="8020050" y="381000"/>
            <a:chExt cx="3848100" cy="6096000"/>
          </a:xfrm>
        </p:grpSpPr>
        <p:sp>
          <p:nvSpPr>
            <p:cNvPr id="37" name="Rectangle 37"/>
            <p:cNvSpPr/>
            <p:nvPr/>
          </p:nvSpPr>
          <p:spPr>
            <a:xfrm>
              <a:off x="8020050" y="381000"/>
              <a:ext cx="3848100" cy="6096000"/>
            </a:xfrm>
            <a:prstGeom prst="roundRect">
              <a:avLst>
                <a:gd name="adj" fmla="val 9406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8362950" y="8382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8667750" y="8382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8972550" y="8382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277350" y="8382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8362950" y="11430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8667750" y="11430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8972550" y="11430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9277350" y="11430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305800" y="1524000"/>
              <a:ext cx="3276600" cy="2114550"/>
            </a:xfrm>
            <a:prstGeom prst="roundRect">
              <a:avLst>
                <a:gd name="adj" fmla="val 12613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564880" y="17621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AF5FF"/>
                  </a:solidFill>
                  <a:latin typeface="Arial"/>
                  <a:ea typeface="Microsoft YaHei"/>
                  <a:cs typeface="Arial"/>
                </a:rPr>
                <a:t>终端输出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85956" y="2425065"/>
              <a:ext cx="13162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306050" y="3257550"/>
              <a:ext cx="933450" cy="2667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584180" y="33023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成功</a:t>
              </a:r>
            </a:p>
          </p:txBody>
        </p:sp>
        <p:pic>
          <p:nvPicPr>
            <p:cNvPr id="51" name="Image 5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915400" y="3397299"/>
              <a:ext cx="2190750" cy="2863752"/>
            </a:xfrm>
            <a:prstGeom prst="rect">
              <a:avLst/>
            </a:prstGeom>
          </p:spPr>
        </p:pic>
        <p:sp>
          <p:nvSpPr>
            <p:cNvPr id="52" name="Rectangle 52"/>
            <p:cNvSpPr/>
            <p:nvPr/>
          </p:nvSpPr>
          <p:spPr>
            <a:xfrm>
              <a:off x="8248650" y="4171950"/>
              <a:ext cx="1885950" cy="781050"/>
            </a:xfrm>
            <a:prstGeom prst="roundRect">
              <a:avLst>
                <a:gd name="adj" fmla="val 3170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679180" y="43338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先看代码，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79180" y="4600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2E9BFF"/>
                  </a:solidFill>
                  <a:latin typeface="Arial"/>
                  <a:ea typeface="Microsoft YaHei"/>
                  <a:cs typeface="Arial"/>
                </a:rPr>
                <a:t>再猜输出！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24815"/>
            <a:ext cx="6697218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203044"/>
                </a:solidFill>
                <a:latin typeface="Segoe UI"/>
                <a:ea typeface="YouYuan"/>
                <a:cs typeface="Segoe UI"/>
              </a:rPr>
              <a:t>三道小练习：先想结果，再写代码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723900" y="1619250"/>
            <a:ext cx="3257550" cy="3371850"/>
            <a:chOff x="723900" y="1619250"/>
            <a:chExt cx="3257550" cy="3371850"/>
          </a:xfrm>
        </p:grpSpPr>
        <p:sp>
          <p:nvSpPr>
            <p:cNvPr id="3" name="Ellipse 3"/>
            <p:cNvSpPr/>
            <p:nvPr/>
          </p:nvSpPr>
          <p:spPr>
            <a:xfrm>
              <a:off x="1876425" y="1619250"/>
              <a:ext cx="952500" cy="9525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2247191" y="196977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723900" y="2438400"/>
              <a:ext cx="3257550" cy="2552700"/>
            </a:xfrm>
            <a:prstGeom prst="roundRect">
              <a:avLst>
                <a:gd name="adj" fmla="val 14179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909605" y="2813685"/>
              <a:ext cx="88613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700" b="1" dirty="0">
                  <a:solidFill>
                    <a:srgbClr val="203044"/>
                  </a:solidFill>
                  <a:latin typeface="Consolas"/>
                  <a:ea typeface="Consolas"/>
                  <a:cs typeface="Consolas"/>
                </a:rPr>
                <a:t>7 - 2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011108" y="35747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2E9BFF"/>
                  </a:solidFill>
                  <a:latin typeface="Arial"/>
                  <a:ea typeface="Microsoft YaHei"/>
                  <a:cs typeface="Arial"/>
                </a:rPr>
                <a:t>先口算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104900" y="4095750"/>
              <a:ext cx="2495550" cy="571500"/>
            </a:xfrm>
            <a:prstGeom prst="roundRect">
              <a:avLst>
                <a:gd name="adj" fmla="val 3666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668589" y="4305300"/>
              <a:ext cx="13681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203044"/>
                  </a:solidFill>
                  <a:latin typeface="Consolas"/>
                  <a:ea typeface="Consolas"/>
                  <a:cs typeface="Consolas"/>
                </a:rPr>
                <a:t>cout &lt;&lt; 7 - 2;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467225" y="1924050"/>
            <a:ext cx="3257550" cy="3371850"/>
            <a:chOff x="4467225" y="1924050"/>
            <a:chExt cx="3257550" cy="3371850"/>
          </a:xfrm>
        </p:grpSpPr>
        <p:sp>
          <p:nvSpPr>
            <p:cNvPr id="11" name="Ellipse 11"/>
            <p:cNvSpPr/>
            <p:nvPr/>
          </p:nvSpPr>
          <p:spPr>
            <a:xfrm>
              <a:off x="5619750" y="1924050"/>
              <a:ext cx="952500" cy="9525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990516" y="227457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467225" y="2743200"/>
              <a:ext cx="3257550" cy="2552700"/>
            </a:xfrm>
            <a:prstGeom prst="roundRect">
              <a:avLst>
                <a:gd name="adj" fmla="val 14179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227221" y="3150870"/>
              <a:ext cx="173755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203044"/>
                  </a:solidFill>
                  <a:latin typeface="Consolas"/>
                  <a:ea typeface="Consolas"/>
                  <a:cs typeface="Consolas"/>
                </a:rPr>
                <a:t>(8 + 3) * 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421249" y="38795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9F1C"/>
                  </a:solidFill>
                  <a:latin typeface="Arial"/>
                  <a:ea typeface="Microsoft YaHei"/>
                  <a:cs typeface="Arial"/>
                </a:rPr>
                <a:t>注意括号顺序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848225" y="4400550"/>
              <a:ext cx="2495550" cy="571500"/>
            </a:xfrm>
            <a:prstGeom prst="roundRect">
              <a:avLst>
                <a:gd name="adj" fmla="val 3666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634038" y="4610100"/>
              <a:ext cx="9239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写进 cout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210550" y="2228850"/>
            <a:ext cx="3257550" cy="3371850"/>
            <a:chOff x="8210550" y="2228850"/>
            <a:chExt cx="3257550" cy="3371850"/>
          </a:xfrm>
        </p:grpSpPr>
        <p:sp>
          <p:nvSpPr>
            <p:cNvPr id="19" name="Ellipse 19"/>
            <p:cNvSpPr/>
            <p:nvPr/>
          </p:nvSpPr>
          <p:spPr>
            <a:xfrm>
              <a:off x="9363075" y="2228850"/>
              <a:ext cx="952500" cy="9525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733841" y="257937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210550" y="3048000"/>
              <a:ext cx="3257550" cy="2552700"/>
            </a:xfrm>
            <a:prstGeom prst="roundRect">
              <a:avLst>
                <a:gd name="adj" fmla="val 14179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103233" y="34442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连续输出三项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581055" y="3917632"/>
              <a:ext cx="5165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203044"/>
                  </a:solidFill>
                  <a:latin typeface="Consolas"/>
                  <a:ea typeface="Consolas"/>
                  <a:cs typeface="Consolas"/>
                </a:rPr>
                <a:t>1 + 2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581055" y="4336732"/>
              <a:ext cx="5165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203044"/>
                  </a:solidFill>
                  <a:latin typeface="Consolas"/>
                  <a:ea typeface="Consolas"/>
                  <a:cs typeface="Consolas"/>
                </a:rPr>
                <a:t>3 * 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581055" y="4755832"/>
              <a:ext cx="5165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203044"/>
                  </a:solidFill>
                  <a:latin typeface="Consolas"/>
                  <a:ea typeface="Consolas"/>
                  <a:cs typeface="Consolas"/>
                </a:rPr>
                <a:t>2 * 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287256" y="51882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6FA5"/>
                  </a:solidFill>
                  <a:latin typeface="Arial"/>
                  <a:ea typeface="Microsoft YaHei"/>
                  <a:cs typeface="Arial"/>
                </a:rPr>
                <a:t>暂不揭晓结果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3709130" y="6073140"/>
            <a:ext cx="477374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203044"/>
                </a:solidFill>
                <a:latin typeface="Arial"/>
                <a:ea typeface="Microsoft YaHei"/>
                <a:cs typeface="Arial"/>
              </a:rPr>
              <a:t>把数学表达式按原顺序写好，再交给 cout。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6250" y="323850"/>
            <a:ext cx="5400294" cy="708279"/>
            <a:chOff x="476250" y="323850"/>
            <a:chExt cx="5400294" cy="708279"/>
          </a:xfrm>
        </p:grpSpPr>
        <p:sp>
          <p:nvSpPr>
            <p:cNvPr id="2" name="Rectangle 2"/>
            <p:cNvSpPr/>
            <p:nvPr/>
          </p:nvSpPr>
          <p:spPr>
            <a:xfrm>
              <a:off x="476250" y="323850"/>
              <a:ext cx="2895600" cy="533400"/>
            </a:xfrm>
            <a:prstGeom prst="roundRect">
              <a:avLst>
                <a:gd name="adj" fmla="val 50000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049" y="507682"/>
              <a:ext cx="26700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Q3005 · 输出表达式的值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621786" y="386715"/>
              <a:ext cx="225475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/>
                  <a:ea typeface="YouYuan"/>
                  <a:cs typeface="Segoe UI"/>
                </a:rPr>
                <a:t>挑战大算式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76250" y="1352550"/>
            <a:ext cx="11239500" cy="1485900"/>
            <a:chOff x="476250" y="1352550"/>
            <a:chExt cx="11239500" cy="1485900"/>
          </a:xfrm>
        </p:grpSpPr>
        <p:sp>
          <p:nvSpPr>
            <p:cNvPr id="6" name="Rectangle 6"/>
            <p:cNvSpPr/>
            <p:nvPr/>
          </p:nvSpPr>
          <p:spPr>
            <a:xfrm>
              <a:off x="476250" y="1352550"/>
              <a:ext cx="11239500" cy="1485900"/>
            </a:xfrm>
            <a:prstGeom prst="roundRect">
              <a:avLst>
                <a:gd name="adj" fmla="val 25641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64108" y="1664970"/>
              <a:ext cx="219553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203044"/>
                  </a:solidFill>
                  <a:latin typeface="Consolas"/>
                  <a:ea typeface="Consolas"/>
                  <a:cs typeface="Consolas"/>
                </a:rPr>
                <a:t>1234 * 5678 =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524750" y="1657350"/>
              <a:ext cx="3505200" cy="895350"/>
            </a:xfrm>
            <a:prstGeom prst="roundRect">
              <a:avLst>
                <a:gd name="adj" fmla="val 29787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62654" y="1891665"/>
              <a:ext cx="182939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7006652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76250" y="3200400"/>
            <a:ext cx="11239500" cy="2705100"/>
            <a:chOff x="476250" y="3200400"/>
            <a:chExt cx="11239500" cy="2705100"/>
          </a:xfrm>
        </p:grpSpPr>
        <p:sp>
          <p:nvSpPr>
            <p:cNvPr id="11" name="Rectangle 11"/>
            <p:cNvSpPr/>
            <p:nvPr/>
          </p:nvSpPr>
          <p:spPr>
            <a:xfrm>
              <a:off x="476250" y="3200400"/>
              <a:ext cx="11239500" cy="2705100"/>
            </a:xfrm>
            <a:prstGeom prst="roundRect">
              <a:avLst>
                <a:gd name="adj" fmla="val 1408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742950" y="3448050"/>
              <a:ext cx="152400" cy="152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990600" y="3448050"/>
              <a:ext cx="152400" cy="152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1238250" y="34480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8106" y="3977640"/>
              <a:ext cx="59083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"1234 * 5678 = " &lt;&lt; 1234 * 5678 &lt;&lt; endl;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57250" y="4552950"/>
              <a:ext cx="2952750" cy="704850"/>
            </a:xfrm>
            <a:prstGeom prst="roundRect">
              <a:avLst>
                <a:gd name="adj" fmla="val 32432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880997" y="48320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提示文字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095750" y="4552950"/>
              <a:ext cx="2952750" cy="704850"/>
            </a:xfrm>
            <a:prstGeom prst="roundRect">
              <a:avLst>
                <a:gd name="adj" fmla="val 32432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119497" y="48320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计算结果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334250" y="4552950"/>
              <a:ext cx="2952750" cy="704850"/>
            </a:xfrm>
            <a:prstGeom prst="roundRect">
              <a:avLst>
                <a:gd name="adj" fmla="val 32432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317737" y="4832032"/>
              <a:ext cx="9857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换行 endl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49630" y="5457825"/>
              <a:ext cx="38115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Arial"/>
                  <a:ea typeface="Microsoft YaHei"/>
                  <a:cs typeface="Arial"/>
                </a:rPr>
                <a:t>一条 cout 可以把三段内容连续送到屏幕。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35686" y="501015"/>
            <a:ext cx="4753642" cy="914019"/>
            <a:chOff x="535686" y="501015"/>
            <a:chExt cx="4753642" cy="914019"/>
          </a:xfrm>
        </p:grpSpPr>
        <p:sp>
          <p:nvSpPr>
            <p:cNvPr id="2" name="TextBox 2"/>
            <p:cNvSpPr txBox="1"/>
            <p:nvPr/>
          </p:nvSpPr>
          <p:spPr>
            <a:xfrm>
              <a:off x="535686" y="501015"/>
              <a:ext cx="475364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/>
                  <a:ea typeface="YouYuan"/>
                  <a:cs typeface="Segoe UI"/>
                </a:rPr>
                <a:t>一行行 cout，就是画笔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43306" y="106299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E9BFF"/>
                  </a:solidFill>
                  <a:latin typeface="Arial"/>
                  <a:ea typeface="Microsoft YaHei"/>
                  <a:cs typeface="Arial"/>
                </a:rPr>
                <a:t>星号和空格共同决定图案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00100" y="1828800"/>
            <a:ext cx="5429250" cy="3790950"/>
            <a:chOff x="800100" y="1828800"/>
            <a:chExt cx="5429250" cy="3790950"/>
          </a:xfrm>
        </p:grpSpPr>
        <p:sp>
          <p:nvSpPr>
            <p:cNvPr id="5" name="Rectangle 5"/>
            <p:cNvSpPr/>
            <p:nvPr/>
          </p:nvSpPr>
          <p:spPr>
            <a:xfrm>
              <a:off x="800100" y="1828800"/>
              <a:ext cx="5429250" cy="3790950"/>
            </a:xfrm>
            <a:prstGeom prst="roundRect">
              <a:avLst>
                <a:gd name="adj" fmla="val 10553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066800" y="2095500"/>
              <a:ext cx="152400" cy="152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314450" y="2095500"/>
              <a:ext cx="152400" cy="152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562100" y="20955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72718" y="2717482"/>
              <a:ext cx="22491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2E9BFF"/>
                  </a:solidFill>
                  <a:latin typeface="Consolas"/>
                  <a:ea typeface="Consolas"/>
                  <a:cs typeface="Consolas"/>
                </a:rPr>
                <a:t>cout &lt;&lt; " *" &lt;&lt; endl;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72718" y="3422332"/>
              <a:ext cx="2493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9F1C"/>
                  </a:solidFill>
                  <a:latin typeface="Consolas"/>
                  <a:ea typeface="Consolas"/>
                  <a:cs typeface="Consolas"/>
                </a:rPr>
                <a:t>cout &lt;&lt; " ***" &lt;&lt; endl;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72718" y="4127182"/>
              <a:ext cx="267113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6FA5"/>
                  </a:solidFill>
                  <a:latin typeface="Consolas"/>
                  <a:ea typeface="Consolas"/>
                  <a:cs typeface="Consolas"/>
                </a:rPr>
                <a:t>cout &lt;&lt; "*****" &lt;&lt; endl;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73480" y="488632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每执行一行，右边就增加一层。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724650" y="1657350"/>
            <a:ext cx="4610100" cy="4133850"/>
            <a:chOff x="6724650" y="1657350"/>
            <a:chExt cx="4610100" cy="4133850"/>
          </a:xfrm>
        </p:grpSpPr>
        <p:sp>
          <p:nvSpPr>
            <p:cNvPr id="14" name="Rectangle 14"/>
            <p:cNvSpPr/>
            <p:nvPr/>
          </p:nvSpPr>
          <p:spPr>
            <a:xfrm>
              <a:off x="6724650" y="1657350"/>
              <a:ext cx="4610100" cy="4133850"/>
            </a:xfrm>
            <a:prstGeom prst="roundRect">
              <a:avLst>
                <a:gd name="adj" fmla="val 9677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7181850" y="2114550"/>
              <a:ext cx="76200" cy="76200"/>
            </a:xfrm>
            <a:prstGeom prst="ellipse">
              <a:avLst/>
            </a:prstGeom>
            <a:solidFill>
              <a:srgbClr val="CFE5F8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7677150" y="2114550"/>
              <a:ext cx="76200" cy="76200"/>
            </a:xfrm>
            <a:prstGeom prst="ellipse">
              <a:avLst/>
            </a:prstGeom>
            <a:solidFill>
              <a:srgbClr val="CFE5F8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8172450" y="2114550"/>
              <a:ext cx="76200" cy="76200"/>
            </a:xfrm>
            <a:prstGeom prst="ellipse">
              <a:avLst/>
            </a:prstGeom>
            <a:solidFill>
              <a:srgbClr val="CFE5F8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8667750" y="2114550"/>
              <a:ext cx="76200" cy="76200"/>
            </a:xfrm>
            <a:prstGeom prst="ellipse">
              <a:avLst/>
            </a:prstGeom>
            <a:solidFill>
              <a:srgbClr val="CFE5F8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9163050" y="2114550"/>
              <a:ext cx="76200" cy="76200"/>
            </a:xfrm>
            <a:prstGeom prst="ellipse">
              <a:avLst/>
            </a:prstGeom>
            <a:solidFill>
              <a:srgbClr val="CFE5F8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9658350" y="2114550"/>
              <a:ext cx="76200" cy="76200"/>
            </a:xfrm>
            <a:prstGeom prst="ellipse">
              <a:avLst/>
            </a:prstGeom>
            <a:solidFill>
              <a:srgbClr val="CFE5F8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0153650" y="2114550"/>
              <a:ext cx="76200" cy="76200"/>
            </a:xfrm>
            <a:prstGeom prst="ellipse">
              <a:avLst/>
            </a:prstGeom>
            <a:solidFill>
              <a:srgbClr val="CFE5F8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10648950" y="2114550"/>
              <a:ext cx="76200" cy="76200"/>
            </a:xfrm>
            <a:prstGeom prst="ellipse">
              <a:avLst/>
            </a:prstGeom>
            <a:solidFill>
              <a:srgbClr val="CFE5F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853220" y="2801302"/>
              <a:ext cx="352959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050" b="1" dirty="0">
                  <a:solidFill>
                    <a:srgbClr val="2E9BFF"/>
                  </a:solidFill>
                  <a:latin typeface="Consolas"/>
                  <a:ea typeface="Consolas"/>
                  <a:cs typeface="Consolas"/>
                </a:rPr>
                <a:t>*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538361" y="3601402"/>
              <a:ext cx="982678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050" b="1" dirty="0">
                  <a:solidFill>
                    <a:srgbClr val="FF9F1C"/>
                  </a:solidFill>
                  <a:latin typeface="Consolas"/>
                  <a:ea typeface="Consolas"/>
                  <a:cs typeface="Consolas"/>
                </a:rPr>
                <a:t>***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23502" y="4401502"/>
              <a:ext cx="1612397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050" b="1" dirty="0">
                  <a:solidFill>
                    <a:srgbClr val="FF6FA5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14360" y="52673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空格不能随意删除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4034439" y="6130290"/>
            <a:ext cx="412312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203044"/>
                </a:solidFill>
                <a:latin typeface="Arial"/>
                <a:ea typeface="Microsoft YaHei"/>
                <a:cs typeface="Arial"/>
              </a:rPr>
              <a:t>一条 cout 画一行，多条就画出形状。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2E9BFF"/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323850" y="381000"/>
            <a:ext cx="2430647" cy="6096000"/>
            <a:chOff x="323850" y="381000"/>
            <a:chExt cx="2430647" cy="6096000"/>
          </a:xfrm>
        </p:grpSpPr>
        <p:sp>
          <p:nvSpPr>
            <p:cNvPr id="3" name="Rectangle 3"/>
            <p:cNvSpPr/>
            <p:nvPr/>
          </p:nvSpPr>
          <p:spPr>
            <a:xfrm>
              <a:off x="323850" y="381000"/>
              <a:ext cx="2266950" cy="6096000"/>
            </a:xfrm>
            <a:prstGeom prst="roundRect">
              <a:avLst>
                <a:gd name="adj" fmla="val 15966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709610" y="75716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rgbClr val="2E9BFF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54558" y="1303020"/>
              <a:ext cx="7963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203044"/>
                  </a:solidFill>
                  <a:latin typeface="Segoe UI"/>
                  <a:ea typeface="Segoe UI"/>
                  <a:cs typeface="Segoe UI"/>
                </a:rPr>
                <a:t>Hello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54558" y="1664970"/>
              <a:ext cx="163162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2E9BFF"/>
                  </a:solidFill>
                  <a:latin typeface="Segoe UI"/>
                  <a:ea typeface="Segoe UI"/>
                  <a:cs typeface="Segoe UI"/>
                </a:rPr>
                <a:t>C++ World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52450" y="23812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04697" y="2565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初次见面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08610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4697" y="32699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输出魔法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7909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04697" y="39747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图案工坊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9892" y="5664518"/>
              <a:ext cx="2094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E9BFF"/>
                  </a:solidFill>
                  <a:latin typeface="Arial"/>
                  <a:ea typeface="Microsoft YaHei"/>
                  <a:cs typeface="Arial"/>
                </a:rPr>
                <a:t>选择 → 代码 → 运行 → 结果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845308" y="560070"/>
            <a:ext cx="4812792" cy="1177481"/>
            <a:chOff x="2845308" y="560070"/>
            <a:chExt cx="4812792" cy="1177481"/>
          </a:xfrm>
        </p:grpSpPr>
        <p:sp>
          <p:nvSpPr>
            <p:cNvPr id="15" name="TextBox 15"/>
            <p:cNvSpPr txBox="1"/>
            <p:nvPr/>
          </p:nvSpPr>
          <p:spPr>
            <a:xfrm>
              <a:off x="2845308" y="560070"/>
              <a:ext cx="3255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03044"/>
                  </a:solidFill>
                  <a:latin typeface="Segoe UI"/>
                  <a:ea typeface="YouYuan"/>
                  <a:cs typeface="Segoe UI"/>
                </a:rPr>
                <a:t>今天想让电脑做什么？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8575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006090" y="13239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运行示例代码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4958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846320" y="12287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输出多行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96600" y="14735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E9BFF"/>
                  </a:solidFill>
                  <a:latin typeface="Arial"/>
                  <a:ea typeface="Microsoft YaHei"/>
                  <a:cs typeface="Arial"/>
                </a:rPr>
                <a:t>《静夜思》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1341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82690" y="13239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输出一个图案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857500" y="2381250"/>
            <a:ext cx="4914900" cy="3829050"/>
            <a:chOff x="2857500" y="2381250"/>
            <a:chExt cx="4914900" cy="3829050"/>
          </a:xfrm>
        </p:grpSpPr>
        <p:sp>
          <p:nvSpPr>
            <p:cNvPr id="24" name="Rectangle 24"/>
            <p:cNvSpPr/>
            <p:nvPr/>
          </p:nvSpPr>
          <p:spPr>
            <a:xfrm>
              <a:off x="2857500" y="2381250"/>
              <a:ext cx="4914900" cy="3162300"/>
            </a:xfrm>
            <a:prstGeom prst="roundRect">
              <a:avLst>
                <a:gd name="adj" fmla="val 10241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3086100" y="2609850"/>
              <a:ext cx="152400" cy="152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333750" y="2609850"/>
              <a:ext cx="152400" cy="152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581400" y="26098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155442" y="30927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E9BFF"/>
                  </a:solidFill>
                  <a:latin typeface="Consolas"/>
                  <a:ea typeface="Consolas"/>
                  <a:cs typeface="Consolas"/>
                </a:rPr>
                <a:t>#include &lt;iostream&gt;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55442" y="35118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FF9F1C"/>
                  </a:solidFill>
                  <a:latin typeface="Consolas"/>
                  <a:ea typeface="Consolas"/>
                  <a:cs typeface="Consolas"/>
                </a:rPr>
                <a:t>using namespace std;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55442" y="39309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03044"/>
                  </a:solidFill>
                  <a:latin typeface="Consolas"/>
                  <a:ea typeface="Consolas"/>
                  <a:cs typeface="Consolas"/>
                </a:rPr>
                <a:t>int main() {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048000" y="4248150"/>
              <a:ext cx="4400550" cy="495300"/>
            </a:xfrm>
            <a:prstGeom prst="roundRect">
              <a:avLst>
                <a:gd name="adj" fmla="val 26923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268218" y="4393882"/>
              <a:ext cx="19525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6FA5"/>
                  </a:solidFill>
                  <a:latin typeface="Consolas"/>
                  <a:ea typeface="Consolas"/>
                  <a:cs typeface="Consolas"/>
                </a:rPr>
                <a:t>cout &lt;&lt; "*****";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155442" y="4978718"/>
              <a:ext cx="10223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 0; }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905500" y="5676900"/>
              <a:ext cx="1866900" cy="533400"/>
            </a:xfrm>
            <a:prstGeom prst="roundRect">
              <a:avLst>
                <a:gd name="adj" fmla="val 35714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87200" y="5851208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▶ 运行代码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020050" y="381000"/>
            <a:ext cx="3848100" cy="6096000"/>
            <a:chOff x="8020050" y="381000"/>
            <a:chExt cx="3848100" cy="6096000"/>
          </a:xfrm>
        </p:grpSpPr>
        <p:sp>
          <p:nvSpPr>
            <p:cNvPr id="37" name="Rectangle 37"/>
            <p:cNvSpPr/>
            <p:nvPr/>
          </p:nvSpPr>
          <p:spPr>
            <a:xfrm>
              <a:off x="8020050" y="381000"/>
              <a:ext cx="3848100" cy="6096000"/>
            </a:xfrm>
            <a:prstGeom prst="roundRect">
              <a:avLst>
                <a:gd name="adj" fmla="val 9406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8362950" y="8382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8667750" y="8382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8972550" y="8382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277350" y="8382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8362950" y="11430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8667750" y="11430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8972550" y="11430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9277350" y="1143000"/>
              <a:ext cx="76200" cy="762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305800" y="1524000"/>
              <a:ext cx="3276600" cy="2114550"/>
            </a:xfrm>
            <a:prstGeom prst="roundRect">
              <a:avLst>
                <a:gd name="adj" fmla="val 12613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564880" y="17621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AF5FF"/>
                  </a:solidFill>
                  <a:latin typeface="Arial"/>
                  <a:ea typeface="Microsoft YaHei"/>
                  <a:cs typeface="Arial"/>
                </a:rPr>
                <a:t>终端输出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85956" y="2425065"/>
              <a:ext cx="13162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306050" y="3257550"/>
              <a:ext cx="933450" cy="2667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584180" y="33023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成功</a:t>
              </a:r>
            </a:p>
          </p:txBody>
        </p:sp>
        <p:pic>
          <p:nvPicPr>
            <p:cNvPr id="51" name="Image 5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915400" y="3397299"/>
              <a:ext cx="2190750" cy="2863752"/>
            </a:xfrm>
            <a:prstGeom prst="rect">
              <a:avLst/>
            </a:prstGeom>
          </p:spPr>
        </p:pic>
        <p:sp>
          <p:nvSpPr>
            <p:cNvPr id="52" name="Rectangle 52"/>
            <p:cNvSpPr/>
            <p:nvPr/>
          </p:nvSpPr>
          <p:spPr>
            <a:xfrm>
              <a:off x="8248650" y="4171950"/>
              <a:ext cx="1885950" cy="781050"/>
            </a:xfrm>
            <a:prstGeom prst="roundRect">
              <a:avLst>
                <a:gd name="adj" fmla="val 3170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679180" y="43338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先看代码，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79180" y="4600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2E9BFF"/>
                  </a:solidFill>
                  <a:latin typeface="Arial"/>
                  <a:ea typeface="Microsoft YaHei"/>
                  <a:cs typeface="Arial"/>
                </a:rPr>
                <a:t>再猜输出！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4350" y="361950"/>
            <a:ext cx="6681978" cy="708279"/>
            <a:chOff x="514350" y="361950"/>
            <a:chExt cx="6681978" cy="708279"/>
          </a:xfrm>
        </p:grpSpPr>
        <p:sp>
          <p:nvSpPr>
            <p:cNvPr id="2" name="Rectangle 2"/>
            <p:cNvSpPr/>
            <p:nvPr/>
          </p:nvSpPr>
          <p:spPr>
            <a:xfrm>
              <a:off x="514350" y="361950"/>
              <a:ext cx="2381250" cy="533400"/>
            </a:xfrm>
            <a:prstGeom prst="roundRect">
              <a:avLst>
                <a:gd name="adj" fmla="val 50000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46661" y="545782"/>
              <a:ext cx="19166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N6690 · 五星连珠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164586" y="424815"/>
              <a:ext cx="403174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/>
                  <a:ea typeface="YouYuan"/>
                  <a:cs typeface="Segoe UI"/>
                </a:rPr>
                <a:t>一行完成第一个图案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81050" y="1619250"/>
            <a:ext cx="10629900" cy="1371600"/>
            <a:chOff x="781050" y="1619250"/>
            <a:chExt cx="10629900" cy="1371600"/>
          </a:xfrm>
        </p:grpSpPr>
        <p:sp>
          <p:nvSpPr>
            <p:cNvPr id="6" name="Rectangle 6"/>
            <p:cNvSpPr/>
            <p:nvPr/>
          </p:nvSpPr>
          <p:spPr>
            <a:xfrm>
              <a:off x="781050" y="1619250"/>
              <a:ext cx="10629900" cy="1371600"/>
            </a:xfrm>
            <a:prstGeom prst="roundRect">
              <a:avLst>
                <a:gd name="adj" fmla="val 27778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118110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1711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*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302895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66496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*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87680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51281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*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72465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36066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*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57250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0851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*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81050" y="3409950"/>
            <a:ext cx="6419850" cy="2095500"/>
            <a:chOff x="781050" y="3409950"/>
            <a:chExt cx="6419850" cy="2095500"/>
          </a:xfrm>
        </p:grpSpPr>
        <p:sp>
          <p:nvSpPr>
            <p:cNvPr id="18" name="Rectangle 18"/>
            <p:cNvSpPr/>
            <p:nvPr/>
          </p:nvSpPr>
          <p:spPr>
            <a:xfrm>
              <a:off x="781050" y="3409950"/>
              <a:ext cx="6419850" cy="2095500"/>
            </a:xfrm>
            <a:prstGeom prst="roundRect">
              <a:avLst>
                <a:gd name="adj" fmla="val 17273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1047750" y="3676650"/>
              <a:ext cx="152400" cy="152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1295400" y="3676650"/>
              <a:ext cx="152400" cy="152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543050" y="36766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079257" y="4424362"/>
              <a:ext cx="382343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"*****" &lt;&lt; endl;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639050" y="3409950"/>
            <a:ext cx="3771900" cy="2095500"/>
            <a:chOff x="7639050" y="3409950"/>
            <a:chExt cx="3771900" cy="2095500"/>
          </a:xfrm>
        </p:grpSpPr>
        <p:sp>
          <p:nvSpPr>
            <p:cNvPr id="24" name="Rectangle 24"/>
            <p:cNvSpPr/>
            <p:nvPr/>
          </p:nvSpPr>
          <p:spPr>
            <a:xfrm>
              <a:off x="7639050" y="3409950"/>
              <a:ext cx="3771900" cy="2095500"/>
            </a:xfrm>
            <a:prstGeom prst="roundRect">
              <a:avLst>
                <a:gd name="adj" fmla="val 17273"/>
              </a:avLst>
            </a:prstGeom>
            <a:solidFill>
              <a:srgbClr val="FFFFFF"/>
            </a:solidFill>
            <a:ln w="19050">
              <a:solidFill>
                <a:srgbClr val="CFE5F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072372" y="37652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输出结果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73033" y="4415790"/>
              <a:ext cx="19039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800" b="1" dirty="0">
                  <a:solidFill>
                    <a:srgbClr val="FF6FA5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3542538" y="6015990"/>
            <a:ext cx="510692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203044"/>
                </a:solidFill>
                <a:latin typeface="Arial"/>
                <a:ea typeface="Microsoft YaHei"/>
                <a:cs typeface="Arial"/>
              </a:rPr>
              <a:t>五个连续星号，可以放进一个字符串一次输出。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6250" y="323850"/>
            <a:ext cx="6586728" cy="708279"/>
            <a:chOff x="476250" y="323850"/>
            <a:chExt cx="6586728" cy="708279"/>
          </a:xfrm>
        </p:grpSpPr>
        <p:sp>
          <p:nvSpPr>
            <p:cNvPr id="2" name="Rectangle 2"/>
            <p:cNvSpPr/>
            <p:nvPr/>
          </p:nvSpPr>
          <p:spPr>
            <a:xfrm>
              <a:off x="476250" y="323850"/>
              <a:ext cx="2286000" cy="533400"/>
            </a:xfrm>
            <a:prstGeom prst="roundRect">
              <a:avLst>
                <a:gd name="adj" fmla="val 500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78284" y="507682"/>
              <a:ext cx="1681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C5002 · 智慧树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031236" y="386715"/>
              <a:ext cx="403174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/>
                  <a:ea typeface="YouYuan"/>
                  <a:cs typeface="Segoe UI"/>
                </a:rPr>
                <a:t>先看目标，再动手写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76250" y="1390650"/>
            <a:ext cx="4762500" cy="4686300"/>
            <a:chOff x="476250" y="1390650"/>
            <a:chExt cx="4762500" cy="4686300"/>
          </a:xfrm>
        </p:grpSpPr>
        <p:sp>
          <p:nvSpPr>
            <p:cNvPr id="6" name="Rectangle 6"/>
            <p:cNvSpPr/>
            <p:nvPr/>
          </p:nvSpPr>
          <p:spPr>
            <a:xfrm>
              <a:off x="476250" y="1390650"/>
              <a:ext cx="4762500" cy="4686300"/>
            </a:xfrm>
            <a:prstGeom prst="roundRect">
              <a:avLst>
                <a:gd name="adj" fmla="val 8130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67918" y="17268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AF5FF"/>
                  </a:solidFill>
                  <a:latin typeface="Arial"/>
                  <a:ea typeface="Microsoft YaHei"/>
                  <a:cs typeface="Arial"/>
                </a:rPr>
                <a:t>目标图案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762774" y="2328862"/>
              <a:ext cx="1894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596182" y="2805112"/>
              <a:ext cx="52263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429589" y="3281362"/>
              <a:ext cx="85582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262997" y="3757612"/>
              <a:ext cx="118900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*******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762774" y="4233862"/>
              <a:ext cx="1894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596182" y="4710112"/>
              <a:ext cx="52263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941957" y="53978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2C55E"/>
                  </a:solidFill>
                  <a:latin typeface="Arial"/>
                  <a:ea typeface="Microsoft YaHei"/>
                  <a:cs typeface="Arial"/>
                </a:rPr>
                <a:t>先用手指数，再写代码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657850" y="1390650"/>
            <a:ext cx="6057900" cy="4686300"/>
            <a:chOff x="5657850" y="1390650"/>
            <a:chExt cx="6057900" cy="4686300"/>
          </a:xfrm>
        </p:grpSpPr>
        <p:sp>
          <p:nvSpPr>
            <p:cNvPr id="16" name="Rectangle 16"/>
            <p:cNvSpPr/>
            <p:nvPr/>
          </p:nvSpPr>
          <p:spPr>
            <a:xfrm>
              <a:off x="5657850" y="1390650"/>
              <a:ext cx="6057900" cy="4686300"/>
            </a:xfrm>
            <a:prstGeom prst="roundRect">
              <a:avLst>
                <a:gd name="adj" fmla="val 8130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028182" y="167830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E9BFF"/>
                  </a:solidFill>
                  <a:latin typeface="Arial"/>
                  <a:ea typeface="Microsoft YaHei"/>
                  <a:cs typeface="Arial"/>
                </a:rPr>
                <a:t>观察四件事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038850" y="2266950"/>
              <a:ext cx="5295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73368" y="2546032"/>
              <a:ext cx="16999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1　树冠有几层？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324600" y="3124200"/>
              <a:ext cx="50101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659118" y="3403282"/>
              <a:ext cx="21441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2　每层有几个星号？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610350" y="3981450"/>
              <a:ext cx="47244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944868" y="4260532"/>
              <a:ext cx="21441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3　左侧有几个空格？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896100" y="4838700"/>
              <a:ext cx="44386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230618" y="5117782"/>
              <a:ext cx="19220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4　树干在哪一列？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031992" y="57407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9F1C"/>
                  </a:solidFill>
                  <a:latin typeface="Arial"/>
                  <a:ea typeface="Microsoft YaHei"/>
                  <a:cs typeface="Arial"/>
                </a:rPr>
                <a:t>家长只提问，不替孩子数。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6250" y="304800"/>
            <a:ext cx="6420136" cy="708279"/>
            <a:chOff x="476250" y="304800"/>
            <a:chExt cx="6420136" cy="708279"/>
          </a:xfrm>
        </p:grpSpPr>
        <p:sp>
          <p:nvSpPr>
            <p:cNvPr id="2" name="Rectangle 2"/>
            <p:cNvSpPr/>
            <p:nvPr/>
          </p:nvSpPr>
          <p:spPr>
            <a:xfrm>
              <a:off x="476250" y="304800"/>
              <a:ext cx="2286000" cy="533400"/>
            </a:xfrm>
            <a:prstGeom prst="roundRect">
              <a:avLst>
                <a:gd name="adj" fmla="val 500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78284" y="488632"/>
              <a:ext cx="1681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C5002 · 智慧树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031236" y="367665"/>
              <a:ext cx="386515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/>
                  <a:ea typeface="YouYuan"/>
                  <a:cs typeface="Segoe UI"/>
                </a:rPr>
                <a:t>一行对应一条 cout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76250" y="1295400"/>
            <a:ext cx="7715250" cy="5048250"/>
            <a:chOff x="476250" y="1295400"/>
            <a:chExt cx="7715250" cy="5048250"/>
          </a:xfrm>
        </p:grpSpPr>
        <p:sp>
          <p:nvSpPr>
            <p:cNvPr id="6" name="Rectangle 6"/>
            <p:cNvSpPr/>
            <p:nvPr/>
          </p:nvSpPr>
          <p:spPr>
            <a:xfrm>
              <a:off x="476250" y="1295400"/>
              <a:ext cx="7715250" cy="5048250"/>
            </a:xfrm>
            <a:prstGeom prst="roundRect">
              <a:avLst>
                <a:gd name="adj" fmla="val 7547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742950" y="1543050"/>
              <a:ext cx="152400" cy="152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990600" y="1543050"/>
              <a:ext cx="152400" cy="152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238250" y="15430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9630" y="2066925"/>
              <a:ext cx="20446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2E9BFF"/>
                  </a:solidFill>
                  <a:latin typeface="Consolas"/>
                  <a:ea typeface="Consolas"/>
                  <a:cs typeface="Consolas"/>
                </a:rPr>
                <a:t>cout &lt;&lt; " *" &lt;&lt; endl;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9630" y="2695575"/>
              <a:ext cx="2266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FF9F1C"/>
                  </a:solidFill>
                  <a:latin typeface="Consolas"/>
                  <a:ea typeface="Consolas"/>
                  <a:cs typeface="Consolas"/>
                </a:rPr>
                <a:t>cout &lt;&lt; " ***" &lt;&lt; endl;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9630" y="3324225"/>
              <a:ext cx="24888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FF6FA5"/>
                  </a:solidFill>
                  <a:latin typeface="Consolas"/>
                  <a:ea typeface="Consolas"/>
                  <a:cs typeface="Consolas"/>
                </a:rPr>
                <a:t>cout &lt;&lt; " *****" &lt;&lt; endl;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9630" y="3952875"/>
              <a:ext cx="26504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2E9BFF"/>
                  </a:solidFill>
                  <a:latin typeface="Consolas"/>
                  <a:ea typeface="Consolas"/>
                  <a:cs typeface="Consolas"/>
                </a:rPr>
                <a:t>cout &lt;&lt; "*******" &lt;&lt; endl;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9630" y="4581525"/>
              <a:ext cx="20446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FF9F1C"/>
                  </a:solidFill>
                  <a:latin typeface="Consolas"/>
                  <a:ea typeface="Consolas"/>
                  <a:cs typeface="Consolas"/>
                </a:rPr>
                <a:t>cout &lt;&lt; " *" &lt;&lt; endl;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9630" y="5210175"/>
              <a:ext cx="2266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FF6FA5"/>
                  </a:solidFill>
                  <a:latin typeface="Consolas"/>
                  <a:ea typeface="Consolas"/>
                  <a:cs typeface="Consolas"/>
                </a:rPr>
                <a:t>cout &lt;&lt; " ***" &lt;&lt; endl;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50392" y="585501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5FF"/>
                  </a:solidFill>
                  <a:latin typeface="Arial"/>
                  <a:ea typeface="Microsoft YaHei"/>
                  <a:cs typeface="Arial"/>
                </a:rPr>
                <a:t>字符串中的空格必须完整保留。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610600" y="1295400"/>
            <a:ext cx="3105150" cy="5048250"/>
            <a:chOff x="8610600" y="1295400"/>
            <a:chExt cx="3105150" cy="5048250"/>
          </a:xfrm>
        </p:grpSpPr>
        <p:sp>
          <p:nvSpPr>
            <p:cNvPr id="18" name="Rectangle 18"/>
            <p:cNvSpPr/>
            <p:nvPr/>
          </p:nvSpPr>
          <p:spPr>
            <a:xfrm>
              <a:off x="8610600" y="1295400"/>
              <a:ext cx="3105150" cy="5048250"/>
            </a:xfrm>
            <a:prstGeom prst="roundRect">
              <a:avLst>
                <a:gd name="adj" fmla="val 12270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710547" y="16697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E9BFF"/>
                  </a:solidFill>
                  <a:latin typeface="Arial"/>
                  <a:ea typeface="Microsoft YaHei"/>
                  <a:cs typeface="Arial"/>
                </a:rPr>
                <a:t>同步预览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081079" y="236124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dirty="0">
                  <a:solidFill>
                    <a:srgbClr val="203044"/>
                  </a:solidFill>
                  <a:latin typeface="Consolas"/>
                  <a:ea typeface="Consolas"/>
                  <a:cs typeface="Consolas"/>
                </a:rPr>
                <a:t>*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936699" y="2799398"/>
              <a:ext cx="45295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dirty="0">
                  <a:solidFill>
                    <a:srgbClr val="203044"/>
                  </a:solidFill>
                  <a:latin typeface="Consolas"/>
                  <a:ea typeface="Consolas"/>
                  <a:cs typeface="Consolas"/>
                </a:rPr>
                <a:t>***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792319" y="3237548"/>
              <a:ext cx="74171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dirty="0">
                  <a:solidFill>
                    <a:srgbClr val="203044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647939" y="3675698"/>
              <a:ext cx="103047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dirty="0">
                  <a:solidFill>
                    <a:srgbClr val="203044"/>
                  </a:solidFill>
                  <a:latin typeface="Consolas"/>
                  <a:ea typeface="Consolas"/>
                  <a:cs typeface="Consolas"/>
                </a:rPr>
                <a:t>*******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081079" y="411384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dirty="0">
                  <a:solidFill>
                    <a:srgbClr val="203044"/>
                  </a:solidFill>
                  <a:latin typeface="Consolas"/>
                  <a:ea typeface="Consolas"/>
                  <a:cs typeface="Consolas"/>
                </a:rPr>
                <a:t>*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936699" y="4551998"/>
              <a:ext cx="45295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dirty="0">
                  <a:solidFill>
                    <a:srgbClr val="203044"/>
                  </a:solidFill>
                  <a:latin typeface="Consolas"/>
                  <a:ea typeface="Consolas"/>
                  <a:cs typeface="Consolas"/>
                </a:rPr>
                <a:t>***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9353550" y="5353050"/>
              <a:ext cx="1619250" cy="533400"/>
            </a:xfrm>
            <a:prstGeom prst="roundRect">
              <a:avLst>
                <a:gd name="adj" fmla="val 39286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751695" y="55435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对齐完成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9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9239250" y="-952500"/>
            <a:ext cx="3238500" cy="3238500"/>
          </a:xfrm>
          <a:prstGeom prst="ellipse">
            <a:avLst/>
          </a:prstGeom>
          <a:solidFill>
            <a:srgbClr val="FFFFFF">
              <a:alpha val="12000"/>
            </a:srgb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1376362"/>
            <a:ext cx="2865120" cy="3067622"/>
            <a:chOff x="533400" y="1376362"/>
            <a:chExt cx="2865120" cy="3067622"/>
          </a:xfrm>
        </p:grpSpPr>
        <p:sp>
          <p:nvSpPr>
            <p:cNvPr id="3" name="TextBox 3"/>
            <p:cNvSpPr txBox="1"/>
            <p:nvPr/>
          </p:nvSpPr>
          <p:spPr>
            <a:xfrm>
              <a:off x="533400" y="1376362"/>
              <a:ext cx="2253777" cy="2733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50" b="1" dirty="0">
                  <a:solidFill>
                    <a:srgbClr val="FFFFFF">
                      <a:alphaMod val="18000"/>
                    </a:srgbClr>
                  </a:solidFill>
                  <a:latin typeface="Segoe UI"/>
                  <a:ea typeface="Segoe UI"/>
                  <a:cs typeface="Segoe UI"/>
                </a:rPr>
                <a:t>02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04850" y="3321368"/>
              <a:ext cx="2380488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FFFFFF"/>
                  </a:solidFill>
                  <a:latin typeface="Segoe UI"/>
                  <a:ea typeface="YouYuan"/>
                  <a:cs typeface="Segoe UI"/>
                </a:rPr>
                <a:t>知识梳理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14756" y="409194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AF5FF"/>
                  </a:solidFill>
                  <a:latin typeface="Arial"/>
                  <a:ea typeface="Microsoft YaHei"/>
                  <a:cs typeface="Arial"/>
                </a:rPr>
                <a:t>把代码整理成可复用模板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591050" y="1447800"/>
            <a:ext cx="4743450" cy="3486150"/>
            <a:chOff x="4591050" y="1447800"/>
            <a:chExt cx="4743450" cy="3486150"/>
          </a:xfrm>
        </p:grpSpPr>
        <p:sp>
          <p:nvSpPr>
            <p:cNvPr id="7" name="Rectangle 7"/>
            <p:cNvSpPr/>
            <p:nvPr/>
          </p:nvSpPr>
          <p:spPr>
            <a:xfrm>
              <a:off x="4591050" y="144780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268658" y="17459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E9BFF"/>
                  </a:solidFill>
                  <a:latin typeface="Arial"/>
                  <a:ea typeface="Microsoft YaHei"/>
                  <a:cs typeface="Arial"/>
                </a:rPr>
                <a:t>头文件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6838950" y="190500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405497" y="22031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命名空间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048250" y="272415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551214" y="3022282"/>
              <a:ext cx="10324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main 正门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296150" y="318135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793284" y="3479482"/>
              <a:ext cx="104408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cout 输出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943600" y="419100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70443" y="4489132"/>
              <a:ext cx="9846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return 0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572500" y="1104900"/>
            <a:ext cx="2857500" cy="4262172"/>
            <a:chOff x="8572500" y="1104900"/>
            <a:chExt cx="2857500" cy="4262172"/>
          </a:xfrm>
        </p:grpSpPr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58250" y="2005277"/>
              <a:ext cx="2571750" cy="3361795"/>
            </a:xfrm>
            <a:prstGeom prst="rect">
              <a:avLst/>
            </a:prstGeom>
          </p:spPr>
        </p:pic>
        <p:sp>
          <p:nvSpPr>
            <p:cNvPr id="19" name="Rectangle 19"/>
            <p:cNvSpPr/>
            <p:nvPr/>
          </p:nvSpPr>
          <p:spPr>
            <a:xfrm>
              <a:off x="8572500" y="1104900"/>
              <a:ext cx="2667000" cy="762000"/>
            </a:xfrm>
            <a:prstGeom prst="roundRect">
              <a:avLst>
                <a:gd name="adj" fmla="val 35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009126" y="140303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E9BFF"/>
                  </a:solidFill>
                  <a:latin typeface="Arial"/>
                  <a:ea typeface="Microsoft YaHei"/>
                  <a:cs typeface="Arial"/>
                </a:rPr>
                <a:t>把五块重新归位！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14756" y="5825490"/>
            <a:ext cx="4568982" cy="352044"/>
            <a:chOff x="714756" y="5825490"/>
            <a:chExt cx="4568982" cy="352044"/>
          </a:xfrm>
        </p:grpSpPr>
        <p:sp>
          <p:nvSpPr>
            <p:cNvPr id="22" name="TextBox 22"/>
            <p:cNvSpPr txBox="1"/>
            <p:nvPr/>
          </p:nvSpPr>
          <p:spPr>
            <a:xfrm>
              <a:off x="714756" y="5825490"/>
              <a:ext cx="45689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程序模板　/　cout 规则　/　关键词词典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9486" y="405765"/>
            <a:ext cx="9326270" cy="645414"/>
            <a:chOff x="459486" y="405765"/>
            <a:chExt cx="9326270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05765"/>
              <a:ext cx="44759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/>
                  <a:ea typeface="YouYuan"/>
                  <a:cs typeface="Segoe UI"/>
                </a:rPr>
                <a:t>一张可复用的程序模板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925818" y="564832"/>
              <a:ext cx="28599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E9BFF"/>
                  </a:solidFill>
                  <a:latin typeface="Arial"/>
                  <a:ea typeface="Microsoft YaHei"/>
                  <a:cs typeface="Arial"/>
                </a:rPr>
                <a:t>固定框架，只替换 cout 内容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76250" y="1257300"/>
            <a:ext cx="6343650" cy="5010150"/>
            <a:chOff x="476250" y="1257300"/>
            <a:chExt cx="6343650" cy="5010150"/>
          </a:xfrm>
        </p:grpSpPr>
        <p:sp>
          <p:nvSpPr>
            <p:cNvPr id="5" name="Rectangle 5"/>
            <p:cNvSpPr/>
            <p:nvPr/>
          </p:nvSpPr>
          <p:spPr>
            <a:xfrm>
              <a:off x="476250" y="1257300"/>
              <a:ext cx="6343650" cy="5010150"/>
            </a:xfrm>
            <a:prstGeom prst="roundRect">
              <a:avLst>
                <a:gd name="adj" fmla="val 7605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742950" y="1504950"/>
              <a:ext cx="152400" cy="152400"/>
            </a:xfrm>
            <a:prstGeom prst="ellipse">
              <a:avLst/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990600" y="1504950"/>
              <a:ext cx="152400" cy="152400"/>
            </a:xfrm>
            <a:prstGeom prst="ellipse">
              <a:avLst/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238250" y="15049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49630" y="2028825"/>
              <a:ext cx="35187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E9BFF"/>
                  </a:solidFill>
                  <a:latin typeface="Consolas"/>
                  <a:ea typeface="Microsoft YaHei"/>
                  <a:cs typeface="Consolas"/>
                </a:rPr>
                <a:t>#include &lt;iostream&gt; // 输入输出工具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9630" y="2619375"/>
              <a:ext cx="34783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9F1C"/>
                  </a:solidFill>
                  <a:latin typeface="Consolas"/>
                  <a:ea typeface="Microsoft YaHei"/>
                  <a:cs typeface="Consolas"/>
                </a:rPr>
                <a:t>using namespace std; // 标准库名字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9630" y="3209925"/>
              <a:ext cx="23374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int main() { // 程序入口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54430" y="3800475"/>
              <a:ext cx="27640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6FA5"/>
                  </a:solidFill>
                  <a:latin typeface="Consolas"/>
                  <a:ea typeface="Microsoft YaHei"/>
                  <a:cs typeface="Consolas"/>
                </a:rPr>
                <a:t>cout &lt;&lt; "内容"; // 替换这里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54430" y="4391025"/>
              <a:ext cx="21153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2C55E"/>
                  </a:solidFill>
                  <a:latin typeface="Consolas"/>
                  <a:ea typeface="Microsoft YaHei"/>
                  <a:cs typeface="Consolas"/>
                </a:rPr>
                <a:t>return 0; // 正常结束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9630" y="498157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50392" y="570261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5FF"/>
                  </a:solidFill>
                  <a:latin typeface="Arial"/>
                  <a:ea typeface="Microsoft YaHei"/>
                  <a:cs typeface="Arial"/>
                </a:rPr>
                <a:t>口述五块作用，再遮住模板默写。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219950" y="1257300"/>
            <a:ext cx="4495800" cy="5010150"/>
            <a:chOff x="7219950" y="1257300"/>
            <a:chExt cx="4495800" cy="5010150"/>
          </a:xfrm>
        </p:grpSpPr>
        <p:sp>
          <p:nvSpPr>
            <p:cNvPr id="17" name="Rectangle 17"/>
            <p:cNvSpPr/>
            <p:nvPr/>
          </p:nvSpPr>
          <p:spPr>
            <a:xfrm>
              <a:off x="7219950" y="1257300"/>
              <a:ext cx="4495800" cy="5010150"/>
            </a:xfrm>
            <a:prstGeom prst="roundRect">
              <a:avLst>
                <a:gd name="adj" fmla="val 8475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552182" y="1564005"/>
              <a:ext cx="189423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E9BFF"/>
                  </a:solidFill>
                  <a:latin typeface="Arial"/>
                  <a:ea typeface="Microsoft YaHei"/>
                  <a:cs typeface="Arial"/>
                </a:rPr>
                <a:t>cout 五条规则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562850" y="211455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840980" y="2333625"/>
              <a:ext cx="11359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1　单行输出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562850" y="285750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840980" y="3076575"/>
              <a:ext cx="20547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2　输出后用 endl 换行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562850" y="360045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840980" y="3819525"/>
              <a:ext cx="20446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3　多行就写多条 cout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562850" y="434340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840980" y="4562475"/>
              <a:ext cx="19436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4　文字放在双引号里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562850" y="508635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840980" y="5305425"/>
              <a:ext cx="23475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5　表达式不加引号会计算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55992" y="587406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9F1C"/>
                  </a:solidFill>
                  <a:latin typeface="Arial"/>
                  <a:ea typeface="Microsoft YaHei"/>
                  <a:cs typeface="Arial"/>
                </a:rPr>
                <a:t>家长：只提问，不直接报答案。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9486" y="405765"/>
            <a:ext cx="7345299" cy="645414"/>
            <a:chOff x="459486" y="405765"/>
            <a:chExt cx="7345299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05765"/>
              <a:ext cx="390835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/>
                  <a:ea typeface="YouYuan"/>
                  <a:cs typeface="Segoe UI"/>
                </a:rPr>
                <a:t>C++ 词汇积木 · 上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44668" y="56483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E9BFF"/>
                  </a:solidFill>
                  <a:latin typeface="Arial"/>
                  <a:ea typeface="Microsoft YaHei"/>
                  <a:cs typeface="Arial"/>
                </a:rPr>
                <a:t>看懂词根，代码不再陌生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71500" y="1371600"/>
            <a:ext cx="3333750" cy="1238250"/>
            <a:chOff x="571500" y="1371600"/>
            <a:chExt cx="3333750" cy="1238250"/>
          </a:xfrm>
        </p:grpSpPr>
        <p:sp>
          <p:nvSpPr>
            <p:cNvPr id="5" name="Rectangle 5"/>
            <p:cNvSpPr/>
            <p:nvPr/>
          </p:nvSpPr>
          <p:spPr>
            <a:xfrm>
              <a:off x="571500" y="13716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5632" y="1621155"/>
              <a:ext cx="1015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include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68680" y="204787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包含：把工具引进来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286250" y="1371600"/>
            <a:ext cx="3573590" cy="1238250"/>
            <a:chOff x="4286250" y="1371600"/>
            <a:chExt cx="3573590" cy="1238250"/>
          </a:xfrm>
        </p:grpSpPr>
        <p:sp>
          <p:nvSpPr>
            <p:cNvPr id="9" name="Rectangle 9"/>
            <p:cNvSpPr/>
            <p:nvPr/>
          </p:nvSpPr>
          <p:spPr>
            <a:xfrm>
              <a:off x="4286250" y="13716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580382" y="1621155"/>
              <a:ext cx="13125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2E9BFF"/>
                  </a:solidFill>
                  <a:latin typeface="Consolas"/>
                  <a:ea typeface="Consolas"/>
                  <a:cs typeface="Consolas"/>
                </a:rPr>
                <a:t>iostream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583430" y="2047875"/>
              <a:ext cx="32764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input/output stream：输入输出流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001000" y="1371600"/>
            <a:ext cx="3333750" cy="1238250"/>
            <a:chOff x="8001000" y="1371600"/>
            <a:chExt cx="3333750" cy="1238250"/>
          </a:xfrm>
        </p:grpSpPr>
        <p:sp>
          <p:nvSpPr>
            <p:cNvPr id="13" name="Rectangle 13"/>
            <p:cNvSpPr/>
            <p:nvPr/>
          </p:nvSpPr>
          <p:spPr>
            <a:xfrm>
              <a:off x="8001000" y="13716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295132" y="1621155"/>
              <a:ext cx="76342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using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98180" y="204787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使用：开始采用某个名字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43000" y="3086100"/>
            <a:ext cx="3333750" cy="1238250"/>
            <a:chOff x="1143000" y="3086100"/>
            <a:chExt cx="3333750" cy="1238250"/>
          </a:xfrm>
        </p:grpSpPr>
        <p:sp>
          <p:nvSpPr>
            <p:cNvPr id="17" name="Rectangle 17"/>
            <p:cNvSpPr/>
            <p:nvPr/>
          </p:nvSpPr>
          <p:spPr>
            <a:xfrm>
              <a:off x="1143000" y="30861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437132" y="3335655"/>
              <a:ext cx="155004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FF6FA5"/>
                  </a:solidFill>
                  <a:latin typeface="Consolas"/>
                  <a:ea typeface="Consolas"/>
                  <a:cs typeface="Consolas"/>
                </a:rPr>
                <a:t>namespace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40180" y="3762375"/>
              <a:ext cx="22970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name + space：名字空间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857750" y="3086100"/>
            <a:ext cx="3333750" cy="1238250"/>
            <a:chOff x="4857750" y="3086100"/>
            <a:chExt cx="3333750" cy="1238250"/>
          </a:xfrm>
        </p:grpSpPr>
        <p:sp>
          <p:nvSpPr>
            <p:cNvPr id="21" name="Rectangle 21"/>
            <p:cNvSpPr/>
            <p:nvPr/>
          </p:nvSpPr>
          <p:spPr>
            <a:xfrm>
              <a:off x="4857750" y="30861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151882" y="3335655"/>
              <a:ext cx="51111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std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154930" y="3762375"/>
              <a:ext cx="21153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standard：标准库简称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572500" y="3086100"/>
            <a:ext cx="2762250" cy="1238250"/>
            <a:chOff x="8572500" y="3086100"/>
            <a:chExt cx="2762250" cy="1238250"/>
          </a:xfrm>
        </p:grpSpPr>
        <p:sp>
          <p:nvSpPr>
            <p:cNvPr id="25" name="Rectangle 25"/>
            <p:cNvSpPr/>
            <p:nvPr/>
          </p:nvSpPr>
          <p:spPr>
            <a:xfrm>
              <a:off x="8572500" y="3086100"/>
              <a:ext cx="2762250" cy="1238250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28575">
              <a:solidFill>
                <a:srgbClr val="CFE5F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866632" y="3335655"/>
              <a:ext cx="65953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203044"/>
                  </a:solidFill>
                  <a:latin typeface="Consolas"/>
                  <a:ea typeface="Consolas"/>
                  <a:cs typeface="Consolas"/>
                </a:rPr>
                <a:t>main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869680" y="37623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主要的：程序入口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714500" y="5010150"/>
            <a:ext cx="8763000" cy="1066800"/>
            <a:chOff x="1714500" y="5010150"/>
            <a:chExt cx="8763000" cy="1066800"/>
          </a:xfrm>
        </p:grpSpPr>
        <p:sp>
          <p:nvSpPr>
            <p:cNvPr id="29" name="Rectangle 29"/>
            <p:cNvSpPr/>
            <p:nvPr/>
          </p:nvSpPr>
          <p:spPr>
            <a:xfrm>
              <a:off x="1714500" y="5010150"/>
              <a:ext cx="8763000" cy="1066800"/>
            </a:xfrm>
            <a:prstGeom prst="roundRect">
              <a:avLst>
                <a:gd name="adj" fmla="val 28571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078730" y="53054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EAF5FF"/>
                  </a:solidFill>
                  <a:latin typeface="Arial"/>
                  <a:ea typeface="Microsoft YaHei"/>
                  <a:cs typeface="Arial"/>
                </a:rPr>
                <a:t>按代码出现顺序读一遍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183915" y="5670232"/>
              <a:ext cx="58241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include → iostream → using → namespace → std → main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9486" y="405765"/>
            <a:ext cx="7789545" cy="645414"/>
            <a:chOff x="459486" y="405765"/>
            <a:chExt cx="7789545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05765"/>
              <a:ext cx="390835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/>
                  <a:ea typeface="YouYuan"/>
                  <a:cs typeface="Segoe UI"/>
                </a:rPr>
                <a:t>C++ 词汇积木 · 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44668" y="564832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E9BFF"/>
                  </a:solidFill>
                  <a:latin typeface="Arial"/>
                  <a:ea typeface="Microsoft YaHei"/>
                  <a:cs typeface="Arial"/>
                </a:rPr>
                <a:t>输出、换行、返回、整数类型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476750" y="1809750"/>
            <a:ext cx="3238500" cy="3238500"/>
            <a:chOff x="4476750" y="1809750"/>
            <a:chExt cx="3238500" cy="3238500"/>
          </a:xfrm>
        </p:grpSpPr>
        <p:sp>
          <p:nvSpPr>
            <p:cNvPr id="5" name="Ellipse 5"/>
            <p:cNvSpPr/>
            <p:nvPr/>
          </p:nvSpPr>
          <p:spPr>
            <a:xfrm>
              <a:off x="4476750" y="1809750"/>
              <a:ext cx="3238500" cy="3238500"/>
            </a:xfrm>
            <a:prstGeom prst="ellipse">
              <a:avLst/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5664200" y="2603500"/>
              <a:ext cx="863601" cy="1079501"/>
            </a:xfrm>
            <a:custGeom>
              <a:avLst/>
              <a:gdLst/>
              <a:ahLst/>
              <a:cxnLst/>
              <a:rect l="l" t="t" r="r" b="b"/>
              <a:pathLst>
                <a:path w="863601" h="1079501">
                  <a:moveTo>
                    <a:pt x="701675" y="0"/>
                  </a:moveTo>
                  <a:cubicBezTo>
                    <a:pt x="791104" y="0"/>
                    <a:pt x="863601" y="72496"/>
                    <a:pt x="863601" y="161925"/>
                  </a:cubicBezTo>
                  <a:lnTo>
                    <a:pt x="863601" y="917576"/>
                  </a:lnTo>
                  <a:cubicBezTo>
                    <a:pt x="863601" y="1007004"/>
                    <a:pt x="791104" y="1079501"/>
                    <a:pt x="701675" y="1079501"/>
                  </a:cubicBezTo>
                  <a:lnTo>
                    <a:pt x="161925" y="1079501"/>
                  </a:lnTo>
                  <a:cubicBezTo>
                    <a:pt x="72496" y="1079501"/>
                    <a:pt x="0" y="1007004"/>
                    <a:pt x="0" y="917576"/>
                  </a:cubicBezTo>
                  <a:lnTo>
                    <a:pt x="0" y="161925"/>
                  </a:lnTo>
                  <a:cubicBezTo>
                    <a:pt x="0" y="72496"/>
                    <a:pt x="72496" y="0"/>
                    <a:pt x="161925" y="0"/>
                  </a:cubicBezTo>
                  <a:close/>
                  <a:moveTo>
                    <a:pt x="431800" y="485775"/>
                  </a:moveTo>
                  <a:cubicBezTo>
                    <a:pt x="316758" y="485775"/>
                    <a:pt x="221922" y="575982"/>
                    <a:pt x="216170" y="690880"/>
                  </a:cubicBezTo>
                  <a:lnTo>
                    <a:pt x="215900" y="701675"/>
                  </a:lnTo>
                  <a:cubicBezTo>
                    <a:pt x="215900" y="820914"/>
                    <a:pt x="312562" y="917576"/>
                    <a:pt x="431800" y="917576"/>
                  </a:cubicBezTo>
                  <a:cubicBezTo>
                    <a:pt x="551039" y="917576"/>
                    <a:pt x="647700" y="820914"/>
                    <a:pt x="647700" y="701675"/>
                  </a:cubicBezTo>
                  <a:cubicBezTo>
                    <a:pt x="647700" y="582437"/>
                    <a:pt x="551039" y="485775"/>
                    <a:pt x="431800" y="485775"/>
                  </a:cubicBezTo>
                  <a:moveTo>
                    <a:pt x="431800" y="215900"/>
                  </a:moveTo>
                  <a:cubicBezTo>
                    <a:pt x="401991" y="215900"/>
                    <a:pt x="377825" y="240066"/>
                    <a:pt x="377825" y="269875"/>
                  </a:cubicBezTo>
                  <a:lnTo>
                    <a:pt x="377825" y="270415"/>
                  </a:lnTo>
                  <a:cubicBezTo>
                    <a:pt x="377825" y="300224"/>
                    <a:pt x="401991" y="324390"/>
                    <a:pt x="431800" y="324390"/>
                  </a:cubicBezTo>
                  <a:cubicBezTo>
                    <a:pt x="461610" y="324390"/>
                    <a:pt x="485775" y="300224"/>
                    <a:pt x="485775" y="270415"/>
                  </a:cubicBezTo>
                  <a:lnTo>
                    <a:pt x="485775" y="269875"/>
                  </a:lnTo>
                  <a:cubicBezTo>
                    <a:pt x="485775" y="240066"/>
                    <a:pt x="461610" y="215900"/>
                    <a:pt x="431800" y="21590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566132" y="3968115"/>
              <a:ext cx="105973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543931" y="45405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EAF5FF"/>
                  </a:solidFill>
                  <a:latin typeface="Arial"/>
                  <a:ea typeface="Microsoft YaHei"/>
                  <a:cs typeface="Arial"/>
                </a:rPr>
                <a:t>标准输出对象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66750" y="1447800"/>
            <a:ext cx="3143250" cy="1485900"/>
            <a:chOff x="666750" y="1447800"/>
            <a:chExt cx="3143250" cy="1485900"/>
          </a:xfrm>
        </p:grpSpPr>
        <p:sp>
          <p:nvSpPr>
            <p:cNvPr id="10" name="Rectangle 10"/>
            <p:cNvSpPr/>
            <p:nvPr/>
          </p:nvSpPr>
          <p:spPr>
            <a:xfrm>
              <a:off x="666750" y="1447800"/>
              <a:ext cx="3143250" cy="1485900"/>
            </a:xfrm>
            <a:prstGeom prst="roundRect">
              <a:avLst>
                <a:gd name="adj" fmla="val 21795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79170" y="1738312"/>
              <a:ext cx="72254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2E9BFF"/>
                  </a:solidFill>
                  <a:latin typeface="Consolas"/>
                  <a:ea typeface="Consolas"/>
                  <a:cs typeface="Consolas"/>
                </a:rPr>
                <a:t>cout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82980" y="2219325"/>
              <a:ext cx="23475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character output：输出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83742" y="2540318"/>
              <a:ext cx="16675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6FA5"/>
                  </a:solidFill>
                  <a:latin typeface="Arial"/>
                  <a:ea typeface="Microsoft YaHei"/>
                  <a:cs typeface="Arial"/>
                </a:rPr>
                <a:t>“喇叭”只是记忆比喻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66750" y="3924300"/>
            <a:ext cx="3143250" cy="1485900"/>
            <a:chOff x="666750" y="3924300"/>
            <a:chExt cx="3143250" cy="1485900"/>
          </a:xfrm>
        </p:grpSpPr>
        <p:sp>
          <p:nvSpPr>
            <p:cNvPr id="15" name="Rectangle 15"/>
            <p:cNvSpPr/>
            <p:nvPr/>
          </p:nvSpPr>
          <p:spPr>
            <a:xfrm>
              <a:off x="666750" y="3924300"/>
              <a:ext cx="3143250" cy="1485900"/>
            </a:xfrm>
            <a:prstGeom prst="roundRect">
              <a:avLst>
                <a:gd name="adj" fmla="val 21795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79170" y="4214812"/>
              <a:ext cx="64303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FF9F1C"/>
                  </a:solidFill>
                  <a:latin typeface="Consolas"/>
                  <a:ea typeface="Consolas"/>
                  <a:cs typeface="Consolas"/>
                </a:rPr>
                <a:t>endl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82980" y="4695825"/>
              <a:ext cx="19638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end line：结束这一行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83742" y="50168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9F1C"/>
                  </a:solidFill>
                  <a:latin typeface="Arial"/>
                  <a:ea typeface="Microsoft YaHei"/>
                  <a:cs typeface="Arial"/>
                </a:rPr>
                <a:t>让光标到下一行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382000" y="1447800"/>
            <a:ext cx="3143250" cy="1485900"/>
            <a:chOff x="8382000" y="1447800"/>
            <a:chExt cx="3143250" cy="1485900"/>
          </a:xfrm>
        </p:grpSpPr>
        <p:sp>
          <p:nvSpPr>
            <p:cNvPr id="20" name="Rectangle 20"/>
            <p:cNvSpPr/>
            <p:nvPr/>
          </p:nvSpPr>
          <p:spPr>
            <a:xfrm>
              <a:off x="8382000" y="1447800"/>
              <a:ext cx="3143250" cy="1485900"/>
            </a:xfrm>
            <a:prstGeom prst="roundRect">
              <a:avLst>
                <a:gd name="adj" fmla="val 21795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694420" y="1738312"/>
              <a:ext cx="107239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698230" y="221932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返回：报告程序结束状态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98992" y="254031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C55E"/>
                  </a:solidFill>
                  <a:latin typeface="Arial"/>
                  <a:ea typeface="Microsoft YaHei"/>
                  <a:cs typeface="Arial"/>
                </a:rPr>
                <a:t>return 0 表示正常结束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382000" y="3924300"/>
            <a:ext cx="3143250" cy="1485900"/>
            <a:chOff x="8382000" y="3924300"/>
            <a:chExt cx="3143250" cy="1485900"/>
          </a:xfrm>
        </p:grpSpPr>
        <p:sp>
          <p:nvSpPr>
            <p:cNvPr id="25" name="Rectangle 25"/>
            <p:cNvSpPr/>
            <p:nvPr/>
          </p:nvSpPr>
          <p:spPr>
            <a:xfrm>
              <a:off x="8382000" y="3924300"/>
              <a:ext cx="3143250" cy="1485900"/>
            </a:xfrm>
            <a:prstGeom prst="roundRect">
              <a:avLst>
                <a:gd name="adj" fmla="val 21795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694420" y="4214812"/>
              <a:ext cx="46811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FF6FA5"/>
                  </a:solidFill>
                  <a:latin typeface="Consolas"/>
                  <a:ea typeface="Consolas"/>
                  <a:cs typeface="Consolas"/>
                </a:rPr>
                <a:t>int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698230" y="4695825"/>
              <a:ext cx="17518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integer：整数类型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698992" y="5016818"/>
              <a:ext cx="13676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6FA5"/>
                  </a:solidFill>
                  <a:latin typeface="Arial"/>
                  <a:ea typeface="Microsoft YaHei"/>
                  <a:cs typeface="Arial"/>
                </a:rPr>
                <a:t>main 的返回类型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199572" y="6070282"/>
            <a:ext cx="3792855" cy="322707"/>
            <a:chOff x="4199572" y="6070282"/>
            <a:chExt cx="3792855" cy="322707"/>
          </a:xfrm>
        </p:grpSpPr>
        <p:sp>
          <p:nvSpPr>
            <p:cNvPr id="30" name="TextBox 30"/>
            <p:cNvSpPr txBox="1"/>
            <p:nvPr/>
          </p:nvSpPr>
          <p:spPr>
            <a:xfrm>
              <a:off x="4199572" y="6070282"/>
              <a:ext cx="37928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先用比喻记住，再用技术作用说准确。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9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8953500" y="-800100"/>
            <a:ext cx="3238500" cy="3238500"/>
          </a:xfrm>
          <a:prstGeom prst="ellipse">
            <a:avLst/>
          </a:prstGeom>
          <a:solidFill>
            <a:srgbClr val="FFFFFF">
              <a:alpha val="12000"/>
            </a:srgb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1376362"/>
            <a:ext cx="2865120" cy="3067622"/>
            <a:chOff x="533400" y="1376362"/>
            <a:chExt cx="2865120" cy="3067622"/>
          </a:xfrm>
        </p:grpSpPr>
        <p:sp>
          <p:nvSpPr>
            <p:cNvPr id="3" name="TextBox 3"/>
            <p:cNvSpPr txBox="1"/>
            <p:nvPr/>
          </p:nvSpPr>
          <p:spPr>
            <a:xfrm>
              <a:off x="533400" y="1376362"/>
              <a:ext cx="2253777" cy="2733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50" b="1" dirty="0">
                  <a:solidFill>
                    <a:srgbClr val="FFFFFF">
                      <a:alphaMod val="18000"/>
                    </a:srgbClr>
                  </a:solidFill>
                  <a:latin typeface="Segoe UI"/>
                  <a:ea typeface="Segoe UI"/>
                  <a:cs typeface="Segoe UI"/>
                </a:rPr>
                <a:t>03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04850" y="3321368"/>
              <a:ext cx="2380488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FFFFFF"/>
                  </a:solidFill>
                  <a:latin typeface="Segoe UI"/>
                  <a:ea typeface="YouYuan"/>
                  <a:cs typeface="Segoe UI"/>
                </a:rPr>
                <a:t>综合精练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14756" y="409194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AF5FF"/>
                  </a:solidFill>
                  <a:latin typeface="Arial"/>
                  <a:ea typeface="Microsoft YaHei"/>
                  <a:cs typeface="Arial"/>
                </a:rPr>
                <a:t>不看示范，独立解决新题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362450" y="1619250"/>
            <a:ext cx="4495800" cy="3352800"/>
            <a:chOff x="4362450" y="1619250"/>
            <a:chExt cx="4495800" cy="3352800"/>
          </a:xfrm>
        </p:grpSpPr>
        <p:sp>
          <p:nvSpPr>
            <p:cNvPr id="7" name="Rectangle 7"/>
            <p:cNvSpPr/>
            <p:nvPr/>
          </p:nvSpPr>
          <p:spPr>
            <a:xfrm>
              <a:off x="4362450" y="1619250"/>
              <a:ext cx="2209800" cy="723900"/>
            </a:xfrm>
            <a:prstGeom prst="roundRect">
              <a:avLst>
                <a:gd name="adj" fmla="val 3421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236845" y="18983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E9BFF"/>
                  </a:solidFill>
                  <a:latin typeface="Arial"/>
                  <a:ea typeface="Microsoft YaHei"/>
                  <a:cs typeface="Arial"/>
                </a:rPr>
                <a:t>读题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6191250" y="2495550"/>
              <a:ext cx="2209800" cy="723900"/>
            </a:xfrm>
            <a:prstGeom prst="roundRect">
              <a:avLst>
                <a:gd name="adj" fmla="val 34211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843522" y="27746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设计输出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819650" y="3371850"/>
              <a:ext cx="2209800" cy="723900"/>
            </a:xfrm>
            <a:prstGeom prst="roundRect">
              <a:avLst>
                <a:gd name="adj" fmla="val 3421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582984" y="36509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写代码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648450" y="4248150"/>
              <a:ext cx="2209800" cy="723900"/>
            </a:xfrm>
            <a:prstGeom prst="roundRect">
              <a:avLst>
                <a:gd name="adj" fmla="val 34211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300722" y="45272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运行检查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572500" y="1047750"/>
            <a:ext cx="2895600" cy="4281222"/>
            <a:chOff x="8572500" y="1047750"/>
            <a:chExt cx="2895600" cy="4281222"/>
          </a:xfrm>
        </p:grpSpPr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96350" y="1967177"/>
              <a:ext cx="2571750" cy="3361795"/>
            </a:xfrm>
            <a:prstGeom prst="rect">
              <a:avLst/>
            </a:prstGeom>
          </p:spPr>
        </p:pic>
        <p:sp>
          <p:nvSpPr>
            <p:cNvPr id="17" name="Rectangle 17"/>
            <p:cNvSpPr/>
            <p:nvPr/>
          </p:nvSpPr>
          <p:spPr>
            <a:xfrm>
              <a:off x="8572500" y="1047750"/>
              <a:ext cx="2686050" cy="762000"/>
            </a:xfrm>
            <a:prstGeom prst="roundRect">
              <a:avLst>
                <a:gd name="adj" fmla="val 35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018651" y="134588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E9BFF"/>
                  </a:solidFill>
                  <a:latin typeface="Arial"/>
                  <a:ea typeface="Microsoft YaHei"/>
                  <a:cs typeface="Arial"/>
                </a:rPr>
                <a:t>出发，自己闯关！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23900" y="5505450"/>
            <a:ext cx="8001000" cy="685800"/>
            <a:chOff x="723900" y="5505450"/>
            <a:chExt cx="8001000" cy="685800"/>
          </a:xfrm>
        </p:grpSpPr>
        <p:sp>
          <p:nvSpPr>
            <p:cNvPr id="20" name="Rectangle 20"/>
            <p:cNvSpPr/>
            <p:nvPr/>
          </p:nvSpPr>
          <p:spPr>
            <a:xfrm>
              <a:off x="723900" y="5505450"/>
              <a:ext cx="8001000" cy="685800"/>
            </a:xfrm>
            <a:prstGeom prst="roundRect">
              <a:avLst>
                <a:gd name="adj" fmla="val 36111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701307" y="5749290"/>
              <a:ext cx="404618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读题 → 设计输出 → 写代码 → 运行检查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526070" y="375022"/>
            <a:ext cx="5139629" cy="657107"/>
            <a:chOff x="526070" y="375022"/>
            <a:chExt cx="5139629" cy="657107"/>
          </a:xfrm>
        </p:grpSpPr>
        <p:grpSp>
          <p:nvGrpSpPr>
            <p:cNvPr id="8" name="Group 8"/>
            <p:cNvGrpSpPr/>
            <p:nvPr/>
          </p:nvGrpSpPr>
          <p:grpSpPr>
            <a:xfrm>
              <a:off x="526070" y="375022"/>
              <a:ext cx="383568" cy="344538"/>
              <a:chOff x="526070" y="375022"/>
              <a:chExt cx="383568" cy="344538"/>
            </a:xfrm>
          </p:grpSpPr>
          <p:sp>
            <p:nvSpPr>
              <p:cNvPr id="2" name="Freeform 2"/>
              <p:cNvSpPr/>
              <p:nvPr/>
            </p:nvSpPr>
            <p:spPr>
              <a:xfrm>
                <a:off x="526070" y="375022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rgbClr val="2E9BFF"/>
              </a:solidFill>
              <a:ln>
                <a:noFill/>
              </a:ln>
            </p:spPr>
          </p:sp>
          <p:sp>
            <p:nvSpPr>
              <p:cNvPr id="3" name="Freeform 3"/>
              <p:cNvSpPr/>
              <p:nvPr/>
            </p:nvSpPr>
            <p:spPr>
              <a:xfrm>
                <a:off x="526070" y="498847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rgbClr val="2E9BFF"/>
              </a:solidFill>
              <a:ln>
                <a:noFill/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526070" y="622672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rgbClr val="2E9BFF"/>
              </a:solidFill>
              <a:ln>
                <a:noFill/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682625" y="407988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rgbClr val="2E9BFF"/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682625" y="531813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rgbClr val="2E9BFF"/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682625" y="655638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rgbClr val="2E9BFF"/>
              </a:solidFill>
              <a:ln>
                <a:noFill/>
              </a:ln>
            </p:spPr>
          </p:sp>
        </p:grpSp>
        <p:sp>
          <p:nvSpPr>
            <p:cNvPr id="9" name="TextBox 9"/>
            <p:cNvSpPr txBox="1"/>
            <p:nvPr/>
          </p:nvSpPr>
          <p:spPr>
            <a:xfrm>
              <a:off x="1145286" y="386715"/>
              <a:ext cx="452041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3044"/>
                  </a:solidFill>
                  <a:latin typeface="Segoe UI"/>
                  <a:ea typeface="YouYuan"/>
                  <a:cs typeface="Segoe UI"/>
                </a:rPr>
                <a:t>综合精练 · 8 道编程题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76250" y="1219200"/>
            <a:ext cx="7239000" cy="5105400"/>
            <a:chOff x="476250" y="1219200"/>
            <a:chExt cx="7239000" cy="5105400"/>
          </a:xfrm>
        </p:grpSpPr>
        <p:sp>
          <p:nvSpPr>
            <p:cNvPr id="11" name="Rectangle 11"/>
            <p:cNvSpPr/>
            <p:nvPr/>
          </p:nvSpPr>
          <p:spPr>
            <a:xfrm>
              <a:off x="476250" y="1219200"/>
              <a:ext cx="7239000" cy="5105400"/>
            </a:xfrm>
            <a:prstGeom prst="roundRect">
              <a:avLst>
                <a:gd name="adj" fmla="val 7463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29056" y="1520190"/>
              <a:ext cx="384142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E9BFF"/>
                  </a:solidFill>
                  <a:latin typeface="Arial"/>
                  <a:ea typeface="Microsoft YaHei"/>
                  <a:cs typeface="Arial"/>
                </a:rPr>
                <a:t>按“文字 → 数字 → 图案 → 综合”闯关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38200" y="2038350"/>
              <a:ext cx="3009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59180" y="2314575"/>
              <a:ext cx="20634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□ N3113　废话上代码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057650" y="2038350"/>
              <a:ext cx="32575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278630" y="2314575"/>
              <a:ext cx="22768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□ N6648　输出英文单词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38200" y="2914650"/>
              <a:ext cx="3009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59180" y="3190875"/>
              <a:ext cx="1850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□ N6685　输出偶数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057650" y="2914650"/>
              <a:ext cx="32575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278630" y="3190875"/>
              <a:ext cx="1850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□ C5000　自我介绍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38200" y="3790950"/>
              <a:ext cx="3009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59180" y="4067175"/>
              <a:ext cx="1850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□ C5003　输出菱形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057650" y="3790950"/>
              <a:ext cx="32575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278630" y="4067175"/>
              <a:ext cx="14660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□ Q3008　雪花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38200" y="4667250"/>
              <a:ext cx="3009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59180" y="4943475"/>
              <a:ext cx="16794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□ Q3006　长方形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057650" y="4667250"/>
              <a:ext cx="32575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278630" y="4943475"/>
              <a:ext cx="1850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□ N6691　背诵诗词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0580" y="5724525"/>
              <a:ext cx="31698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9F1C"/>
                  </a:solidFill>
                  <a:latin typeface="Arial"/>
                  <a:ea typeface="Microsoft YaHei"/>
                  <a:cs typeface="Arial"/>
                </a:rPr>
                <a:t>每题：读题 → 写代码 → 运行 → 找错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096250" y="1219200"/>
            <a:ext cx="3619500" cy="5105400"/>
            <a:chOff x="8096250" y="1219200"/>
            <a:chExt cx="3619500" cy="5105400"/>
          </a:xfrm>
        </p:grpSpPr>
        <p:sp>
          <p:nvSpPr>
            <p:cNvPr id="31" name="Rectangle 31"/>
            <p:cNvSpPr/>
            <p:nvPr/>
          </p:nvSpPr>
          <p:spPr>
            <a:xfrm>
              <a:off x="8096250" y="1219200"/>
              <a:ext cx="3619500" cy="5105400"/>
            </a:xfrm>
            <a:prstGeom prst="roundRect">
              <a:avLst>
                <a:gd name="adj" fmla="val 10526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466582" y="1525905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家长怎么陪？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477250" y="2133600"/>
              <a:ext cx="2857500" cy="990600"/>
            </a:xfrm>
            <a:prstGeom prst="roundRect">
              <a:avLst>
                <a:gd name="adj" fmla="val 26923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754618" y="2355532"/>
              <a:ext cx="16999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　只问检查问题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756142" y="27308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5FF"/>
                  </a:solidFill>
                  <a:latin typeface="Arial"/>
                  <a:ea typeface="Microsoft YaHei"/>
                  <a:cs typeface="Arial"/>
                </a:rPr>
                <a:t>不直接报答案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477250" y="3352800"/>
              <a:ext cx="2857500" cy="990600"/>
            </a:xfrm>
            <a:prstGeom prst="roundRect">
              <a:avLst>
                <a:gd name="adj" fmla="val 26923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754618" y="3574732"/>
              <a:ext cx="21441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　让孩子口述五要素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756142" y="39500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DF5"/>
                  </a:solidFill>
                  <a:latin typeface="Arial"/>
                  <a:ea typeface="Microsoft YaHei"/>
                  <a:cs typeface="Arial"/>
                </a:rPr>
                <a:t>说比喻，也说技术作用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477250" y="4572000"/>
              <a:ext cx="2857500" cy="990600"/>
            </a:xfrm>
            <a:prstGeom prst="roundRect">
              <a:avLst>
                <a:gd name="adj" fmla="val 26923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754618" y="4793932"/>
              <a:ext cx="14777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　完成后勾选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756142" y="51692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DF5"/>
                  </a:solidFill>
                  <a:latin typeface="Arial"/>
                  <a:ea typeface="Microsoft YaHei"/>
                  <a:cs typeface="Arial"/>
                </a:rPr>
                <a:t>说出遇到的错误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9693202" y="5750753"/>
              <a:ext cx="368264" cy="350983"/>
            </a:xfrm>
            <a:custGeom>
              <a:avLst/>
              <a:gdLst/>
              <a:ahLst/>
              <a:cxnLst/>
              <a:rect l="l" t="t" r="r" b="b"/>
              <a:pathLst>
                <a:path w="368264" h="350983">
                  <a:moveTo>
                    <a:pt x="121599" y="105646"/>
                  </a:moveTo>
                  <a:lnTo>
                    <a:pt x="15252" y="121065"/>
                  </a:lnTo>
                  <a:lnTo>
                    <a:pt x="13369" y="121448"/>
                  </a:lnTo>
                  <a:cubicBezTo>
                    <a:pt x="7564" y="122989"/>
                    <a:pt x="3037" y="127534"/>
                    <a:pt x="1518" y="133345"/>
                  </a:cubicBezTo>
                  <a:cubicBezTo>
                    <a:pt x="0" y="139156"/>
                    <a:pt x="1725" y="145334"/>
                    <a:pt x="6035" y="149518"/>
                  </a:cubicBezTo>
                  <a:lnTo>
                    <a:pt x="83077" y="224511"/>
                  </a:lnTo>
                  <a:lnTo>
                    <a:pt x="64909" y="330441"/>
                  </a:lnTo>
                  <a:lnTo>
                    <a:pt x="64692" y="332274"/>
                  </a:lnTo>
                  <a:cubicBezTo>
                    <a:pt x="64336" y="338279"/>
                    <a:pt x="67243" y="344009"/>
                    <a:pt x="72298" y="347268"/>
                  </a:cubicBezTo>
                  <a:cubicBezTo>
                    <a:pt x="77353" y="350528"/>
                    <a:pt x="83772" y="350811"/>
                    <a:pt x="89095" y="348010"/>
                  </a:cubicBezTo>
                  <a:lnTo>
                    <a:pt x="184207" y="298003"/>
                  </a:lnTo>
                  <a:lnTo>
                    <a:pt x="279102" y="348010"/>
                  </a:lnTo>
                  <a:lnTo>
                    <a:pt x="280769" y="348776"/>
                  </a:lnTo>
                  <a:cubicBezTo>
                    <a:pt x="286371" y="350983"/>
                    <a:pt x="292727" y="349997"/>
                    <a:pt x="297397" y="346197"/>
                  </a:cubicBezTo>
                  <a:cubicBezTo>
                    <a:pt x="302068" y="342397"/>
                    <a:pt x="304326" y="336374"/>
                    <a:pt x="303305" y="330441"/>
                  </a:cubicBezTo>
                  <a:lnTo>
                    <a:pt x="285119" y="224511"/>
                  </a:lnTo>
                  <a:lnTo>
                    <a:pt x="362196" y="149502"/>
                  </a:lnTo>
                  <a:lnTo>
                    <a:pt x="363496" y="148085"/>
                  </a:lnTo>
                  <a:cubicBezTo>
                    <a:pt x="367277" y="143428"/>
                    <a:pt x="368264" y="137099"/>
                    <a:pt x="366081" y="131511"/>
                  </a:cubicBezTo>
                  <a:cubicBezTo>
                    <a:pt x="363898" y="125924"/>
                    <a:pt x="358881" y="121941"/>
                    <a:pt x="352945" y="121081"/>
                  </a:cubicBezTo>
                  <a:lnTo>
                    <a:pt x="246598" y="105646"/>
                  </a:lnTo>
                  <a:lnTo>
                    <a:pt x="199059" y="9301"/>
                  </a:lnTo>
                  <a:cubicBezTo>
                    <a:pt x="196252" y="3606"/>
                    <a:pt x="190455" y="0"/>
                    <a:pt x="184107" y="0"/>
                  </a:cubicBezTo>
                  <a:cubicBezTo>
                    <a:pt x="177758" y="0"/>
                    <a:pt x="171961" y="3606"/>
                    <a:pt x="169155" y="9301"/>
                  </a:cubicBezTo>
                  <a:lnTo>
                    <a:pt x="121599" y="105646"/>
                  </a:ln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209550"/>
          </a:xfrm>
          <a:prstGeom prst="rect">
            <a:avLst/>
          </a:prstGeom>
          <a:solidFill>
            <a:srgbClr val="2E9B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95300" y="597218"/>
            <a:ext cx="3704082" cy="1192911"/>
            <a:chOff x="495300" y="597218"/>
            <a:chExt cx="3704082" cy="1192911"/>
          </a:xfrm>
        </p:grpSpPr>
        <p:sp>
          <p:nvSpPr>
            <p:cNvPr id="3" name="TextBox 3"/>
            <p:cNvSpPr txBox="1"/>
            <p:nvPr/>
          </p:nvSpPr>
          <p:spPr>
            <a:xfrm>
              <a:off x="495300" y="597218"/>
              <a:ext cx="3551682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203044"/>
                  </a:solidFill>
                  <a:latin typeface="Segoe UI"/>
                  <a:ea typeface="YouYuan"/>
                  <a:cs typeface="Segoe UI"/>
                </a:rPr>
                <a:t>下节课再见！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04444" y="1408748"/>
              <a:ext cx="369493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E9BFF"/>
                  </a:solidFill>
                  <a:latin typeface="Arial"/>
                  <a:ea typeface="Microsoft YaHei"/>
                  <a:cs typeface="Arial"/>
                </a:rPr>
                <a:t>今天，你已经能让电脑开口了。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14350" y="2343150"/>
            <a:ext cx="6629400" cy="1847850"/>
            <a:chOff x="514350" y="2343150"/>
            <a:chExt cx="6629400" cy="1847850"/>
          </a:xfrm>
        </p:grpSpPr>
        <p:sp>
          <p:nvSpPr>
            <p:cNvPr id="6" name="Rectangle 6"/>
            <p:cNvSpPr/>
            <p:nvPr/>
          </p:nvSpPr>
          <p:spPr>
            <a:xfrm>
              <a:off x="514350" y="2343150"/>
              <a:ext cx="2057400" cy="1619250"/>
            </a:xfrm>
            <a:prstGeom prst="roundRect">
              <a:avLst>
                <a:gd name="adj" fmla="val 20000"/>
              </a:avLst>
            </a:prstGeom>
            <a:solidFill>
              <a:srgbClr val="2E9BFF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855657" y="2684461"/>
              <a:ext cx="366031" cy="365133"/>
            </a:xfrm>
            <a:custGeom>
              <a:avLst/>
              <a:gdLst/>
              <a:ahLst/>
              <a:cxnLst/>
              <a:rect l="l" t="t" r="r" b="b"/>
              <a:pathLst>
                <a:path w="366031" h="365133">
                  <a:moveTo>
                    <a:pt x="146056" y="2"/>
                  </a:moveTo>
                  <a:cubicBezTo>
                    <a:pt x="175057" y="0"/>
                    <a:pt x="199032" y="22606"/>
                    <a:pt x="200734" y="51557"/>
                  </a:cubicBezTo>
                  <a:lnTo>
                    <a:pt x="200825" y="54770"/>
                  </a:lnTo>
                  <a:lnTo>
                    <a:pt x="200825" y="73027"/>
                  </a:lnTo>
                  <a:lnTo>
                    <a:pt x="255594" y="73027"/>
                  </a:lnTo>
                  <a:cubicBezTo>
                    <a:pt x="274701" y="73021"/>
                    <a:pt x="290582" y="87747"/>
                    <a:pt x="292015" y="106801"/>
                  </a:cubicBezTo>
                  <a:lnTo>
                    <a:pt x="292107" y="109539"/>
                  </a:lnTo>
                  <a:lnTo>
                    <a:pt x="292107" y="164308"/>
                  </a:lnTo>
                  <a:lnTo>
                    <a:pt x="310363" y="164308"/>
                  </a:lnTo>
                  <a:cubicBezTo>
                    <a:pt x="340005" y="164280"/>
                    <a:pt x="364291" y="187840"/>
                    <a:pt x="365161" y="217470"/>
                  </a:cubicBezTo>
                  <a:cubicBezTo>
                    <a:pt x="366031" y="247100"/>
                    <a:pt x="343169" y="272044"/>
                    <a:pt x="313576" y="273755"/>
                  </a:cubicBezTo>
                  <a:lnTo>
                    <a:pt x="310363" y="273846"/>
                  </a:lnTo>
                  <a:lnTo>
                    <a:pt x="292107" y="273846"/>
                  </a:lnTo>
                  <a:lnTo>
                    <a:pt x="292107" y="328615"/>
                  </a:lnTo>
                  <a:cubicBezTo>
                    <a:pt x="292113" y="347722"/>
                    <a:pt x="277386" y="363603"/>
                    <a:pt x="258332" y="365036"/>
                  </a:cubicBezTo>
                  <a:lnTo>
                    <a:pt x="255594" y="365127"/>
                  </a:lnTo>
                  <a:lnTo>
                    <a:pt x="200825" y="365127"/>
                  </a:lnTo>
                  <a:cubicBezTo>
                    <a:pt x="181718" y="365133"/>
                    <a:pt x="165837" y="350407"/>
                    <a:pt x="164404" y="331353"/>
                  </a:cubicBezTo>
                  <a:lnTo>
                    <a:pt x="164313" y="328615"/>
                  </a:lnTo>
                  <a:lnTo>
                    <a:pt x="164313" y="310358"/>
                  </a:lnTo>
                  <a:cubicBezTo>
                    <a:pt x="164302" y="300699"/>
                    <a:pt x="156769" y="292720"/>
                    <a:pt x="147126" y="292154"/>
                  </a:cubicBezTo>
                  <a:cubicBezTo>
                    <a:pt x="137484" y="291588"/>
                    <a:pt x="129069" y="298631"/>
                    <a:pt x="127928" y="308222"/>
                  </a:cubicBezTo>
                  <a:lnTo>
                    <a:pt x="127800" y="310358"/>
                  </a:lnTo>
                  <a:lnTo>
                    <a:pt x="127800" y="328615"/>
                  </a:lnTo>
                  <a:cubicBezTo>
                    <a:pt x="127806" y="347722"/>
                    <a:pt x="113080" y="363603"/>
                    <a:pt x="94026" y="365036"/>
                  </a:cubicBezTo>
                  <a:lnTo>
                    <a:pt x="91287" y="365127"/>
                  </a:lnTo>
                  <a:lnTo>
                    <a:pt x="36519" y="365127"/>
                  </a:lnTo>
                  <a:cubicBezTo>
                    <a:pt x="17411" y="365133"/>
                    <a:pt x="1530" y="350407"/>
                    <a:pt x="97" y="331353"/>
                  </a:cubicBezTo>
                  <a:lnTo>
                    <a:pt x="6" y="328615"/>
                  </a:lnTo>
                  <a:lnTo>
                    <a:pt x="6" y="273846"/>
                  </a:lnTo>
                  <a:cubicBezTo>
                    <a:pt x="0" y="254738"/>
                    <a:pt x="14727" y="238858"/>
                    <a:pt x="33780" y="237425"/>
                  </a:cubicBezTo>
                  <a:lnTo>
                    <a:pt x="36519" y="237333"/>
                  </a:lnTo>
                  <a:lnTo>
                    <a:pt x="54775" y="237333"/>
                  </a:lnTo>
                  <a:cubicBezTo>
                    <a:pt x="64434" y="237323"/>
                    <a:pt x="72413" y="229790"/>
                    <a:pt x="72980" y="220147"/>
                  </a:cubicBezTo>
                  <a:cubicBezTo>
                    <a:pt x="73546" y="210504"/>
                    <a:pt x="66503" y="202089"/>
                    <a:pt x="56911" y="200949"/>
                  </a:cubicBezTo>
                  <a:lnTo>
                    <a:pt x="54775" y="200821"/>
                  </a:lnTo>
                  <a:lnTo>
                    <a:pt x="36519" y="200821"/>
                  </a:lnTo>
                  <a:cubicBezTo>
                    <a:pt x="17411" y="200827"/>
                    <a:pt x="1530" y="186100"/>
                    <a:pt x="97" y="167047"/>
                  </a:cubicBezTo>
                  <a:lnTo>
                    <a:pt x="6" y="164308"/>
                  </a:lnTo>
                  <a:lnTo>
                    <a:pt x="6" y="109539"/>
                  </a:lnTo>
                  <a:cubicBezTo>
                    <a:pt x="0" y="90432"/>
                    <a:pt x="14727" y="74551"/>
                    <a:pt x="33780" y="73118"/>
                  </a:cubicBezTo>
                  <a:lnTo>
                    <a:pt x="36519" y="73027"/>
                  </a:lnTo>
                  <a:lnTo>
                    <a:pt x="91287" y="73027"/>
                  </a:lnTo>
                  <a:lnTo>
                    <a:pt x="91287" y="54770"/>
                  </a:lnTo>
                  <a:cubicBezTo>
                    <a:pt x="91287" y="24522"/>
                    <a:pt x="115808" y="2"/>
                    <a:pt x="146056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10768" y="317468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会解释五要素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12292" y="3569018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5FF"/>
                  </a:solidFill>
                  <a:latin typeface="Arial"/>
                  <a:ea typeface="Microsoft YaHei"/>
                  <a:cs typeface="Arial"/>
                </a:rPr>
                <a:t>比喻 + 技术作用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800350" y="2571750"/>
              <a:ext cx="2057400" cy="1619250"/>
            </a:xfrm>
            <a:prstGeom prst="roundRect">
              <a:avLst>
                <a:gd name="adj" fmla="val 20000"/>
              </a:avLst>
            </a:prstGeom>
            <a:solidFill>
              <a:srgbClr val="FF9F1C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178175" y="2913063"/>
              <a:ext cx="292101" cy="365126"/>
            </a:xfrm>
            <a:custGeom>
              <a:avLst/>
              <a:gdLst/>
              <a:ahLst/>
              <a:cxnLst/>
              <a:rect l="l" t="t" r="r" b="b"/>
              <a:pathLst>
                <a:path w="292101" h="365126">
                  <a:moveTo>
                    <a:pt x="237332" y="0"/>
                  </a:moveTo>
                  <a:cubicBezTo>
                    <a:pt x="267580" y="0"/>
                    <a:pt x="292101" y="24521"/>
                    <a:pt x="292101" y="54769"/>
                  </a:cubicBezTo>
                  <a:lnTo>
                    <a:pt x="292101" y="310357"/>
                  </a:lnTo>
                  <a:cubicBezTo>
                    <a:pt x="292101" y="340605"/>
                    <a:pt x="267580" y="365126"/>
                    <a:pt x="237332" y="365126"/>
                  </a:cubicBezTo>
                  <a:lnTo>
                    <a:pt x="54769" y="365126"/>
                  </a:lnTo>
                  <a:cubicBezTo>
                    <a:pt x="24521" y="365126"/>
                    <a:pt x="0" y="340605"/>
                    <a:pt x="0" y="310357"/>
                  </a:cubicBezTo>
                  <a:lnTo>
                    <a:pt x="0" y="54769"/>
                  </a:lnTo>
                  <a:cubicBezTo>
                    <a:pt x="0" y="24521"/>
                    <a:pt x="24521" y="0"/>
                    <a:pt x="54769" y="0"/>
                  </a:cubicBezTo>
                  <a:close/>
                  <a:moveTo>
                    <a:pt x="146050" y="164307"/>
                  </a:moveTo>
                  <a:cubicBezTo>
                    <a:pt x="107139" y="164307"/>
                    <a:pt x="75062" y="194818"/>
                    <a:pt x="73116" y="233680"/>
                  </a:cubicBezTo>
                  <a:lnTo>
                    <a:pt x="73025" y="237332"/>
                  </a:lnTo>
                  <a:cubicBezTo>
                    <a:pt x="73025" y="277662"/>
                    <a:pt x="105720" y="310357"/>
                    <a:pt x="146050" y="310357"/>
                  </a:cubicBezTo>
                  <a:cubicBezTo>
                    <a:pt x="186381" y="310357"/>
                    <a:pt x="219075" y="277662"/>
                    <a:pt x="219075" y="237332"/>
                  </a:cubicBezTo>
                  <a:cubicBezTo>
                    <a:pt x="219075" y="197001"/>
                    <a:pt x="186381" y="164307"/>
                    <a:pt x="146050" y="164307"/>
                  </a:cubicBezTo>
                  <a:moveTo>
                    <a:pt x="146050" y="73025"/>
                  </a:moveTo>
                  <a:cubicBezTo>
                    <a:pt x="135968" y="73025"/>
                    <a:pt x="127794" y="81199"/>
                    <a:pt x="127794" y="91281"/>
                  </a:cubicBezTo>
                  <a:lnTo>
                    <a:pt x="127794" y="91464"/>
                  </a:lnTo>
                  <a:cubicBezTo>
                    <a:pt x="127794" y="101547"/>
                    <a:pt x="135968" y="109720"/>
                    <a:pt x="146050" y="109720"/>
                  </a:cubicBezTo>
                  <a:cubicBezTo>
                    <a:pt x="156133" y="109720"/>
                    <a:pt x="164307" y="101547"/>
                    <a:pt x="164307" y="91464"/>
                  </a:cubicBezTo>
                  <a:lnTo>
                    <a:pt x="164307" y="91281"/>
                  </a:lnTo>
                  <a:cubicBezTo>
                    <a:pt x="164307" y="81199"/>
                    <a:pt x="156133" y="73025"/>
                    <a:pt x="146050" y="730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096768" y="3403282"/>
              <a:ext cx="104408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会写 cout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098292" y="3797618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DF5"/>
                  </a:solidFill>
                  <a:latin typeface="Arial"/>
                  <a:ea typeface="Microsoft YaHei"/>
                  <a:cs typeface="Arial"/>
                </a:rPr>
                <a:t>文字 + 计算结果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086350" y="2343150"/>
              <a:ext cx="2057400" cy="1619250"/>
            </a:xfrm>
            <a:prstGeom prst="roundRect">
              <a:avLst>
                <a:gd name="adj" fmla="val 20000"/>
              </a:avLst>
            </a:prstGeom>
            <a:solidFill>
              <a:srgbClr val="FF6FA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5408456" y="2666243"/>
              <a:ext cx="403338" cy="384411"/>
            </a:xfrm>
            <a:custGeom>
              <a:avLst/>
              <a:gdLst/>
              <a:ahLst/>
              <a:cxnLst/>
              <a:rect l="l" t="t" r="r" b="b"/>
              <a:pathLst>
                <a:path w="403338" h="384411">
                  <a:moveTo>
                    <a:pt x="133180" y="115708"/>
                  </a:moveTo>
                  <a:lnTo>
                    <a:pt x="16705" y="132595"/>
                  </a:lnTo>
                  <a:lnTo>
                    <a:pt x="14642" y="133015"/>
                  </a:lnTo>
                  <a:cubicBezTo>
                    <a:pt x="8284" y="134703"/>
                    <a:pt x="3326" y="139680"/>
                    <a:pt x="1663" y="146045"/>
                  </a:cubicBezTo>
                  <a:cubicBezTo>
                    <a:pt x="0" y="152409"/>
                    <a:pt x="1890" y="159176"/>
                    <a:pt x="6609" y="163758"/>
                  </a:cubicBezTo>
                  <a:lnTo>
                    <a:pt x="90990" y="245893"/>
                  </a:lnTo>
                  <a:lnTo>
                    <a:pt x="71090" y="361912"/>
                  </a:lnTo>
                  <a:lnTo>
                    <a:pt x="70853" y="363920"/>
                  </a:lnTo>
                  <a:cubicBezTo>
                    <a:pt x="70464" y="370496"/>
                    <a:pt x="73648" y="376772"/>
                    <a:pt x="79184" y="380342"/>
                  </a:cubicBezTo>
                  <a:cubicBezTo>
                    <a:pt x="84721" y="383912"/>
                    <a:pt x="91751" y="384222"/>
                    <a:pt x="97580" y="381154"/>
                  </a:cubicBezTo>
                  <a:lnTo>
                    <a:pt x="201751" y="326385"/>
                  </a:lnTo>
                  <a:lnTo>
                    <a:pt x="305684" y="381154"/>
                  </a:lnTo>
                  <a:lnTo>
                    <a:pt x="307509" y="381994"/>
                  </a:lnTo>
                  <a:cubicBezTo>
                    <a:pt x="313645" y="384411"/>
                    <a:pt x="320607" y="383331"/>
                    <a:pt x="325722" y="379169"/>
                  </a:cubicBezTo>
                  <a:cubicBezTo>
                    <a:pt x="330837" y="375007"/>
                    <a:pt x="333310" y="368411"/>
                    <a:pt x="332192" y="361912"/>
                  </a:cubicBezTo>
                  <a:lnTo>
                    <a:pt x="312274" y="245893"/>
                  </a:lnTo>
                  <a:lnTo>
                    <a:pt x="396691" y="163740"/>
                  </a:lnTo>
                  <a:lnTo>
                    <a:pt x="398115" y="162188"/>
                  </a:lnTo>
                  <a:cubicBezTo>
                    <a:pt x="402256" y="157088"/>
                    <a:pt x="403338" y="150156"/>
                    <a:pt x="400947" y="144037"/>
                  </a:cubicBezTo>
                  <a:cubicBezTo>
                    <a:pt x="398556" y="137917"/>
                    <a:pt x="393061" y="133555"/>
                    <a:pt x="386559" y="132613"/>
                  </a:cubicBezTo>
                  <a:lnTo>
                    <a:pt x="270084" y="115708"/>
                  </a:lnTo>
                  <a:lnTo>
                    <a:pt x="218017" y="10186"/>
                  </a:lnTo>
                  <a:cubicBezTo>
                    <a:pt x="214944" y="3950"/>
                    <a:pt x="208594" y="0"/>
                    <a:pt x="201641" y="0"/>
                  </a:cubicBezTo>
                  <a:cubicBezTo>
                    <a:pt x="194688" y="0"/>
                    <a:pt x="188339" y="3950"/>
                    <a:pt x="185265" y="10186"/>
                  </a:cubicBezTo>
                  <a:lnTo>
                    <a:pt x="133180" y="1157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382768" y="31746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会输出图案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384292" y="3569018"/>
              <a:ext cx="15221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DF5"/>
                  </a:solidFill>
                  <a:latin typeface="Arial"/>
                  <a:ea typeface="Microsoft YaHei"/>
                  <a:cs typeface="Arial"/>
                </a:rPr>
                <a:t>星号 + 空格 + 换行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14350" y="5048250"/>
            <a:ext cx="7239000" cy="1181100"/>
            <a:chOff x="514350" y="5048250"/>
            <a:chExt cx="7239000" cy="1181100"/>
          </a:xfrm>
        </p:grpSpPr>
        <p:sp>
          <p:nvSpPr>
            <p:cNvPr id="19" name="Rectangle 19"/>
            <p:cNvSpPr/>
            <p:nvPr/>
          </p:nvSpPr>
          <p:spPr>
            <a:xfrm>
              <a:off x="514350" y="5048250"/>
              <a:ext cx="7239000" cy="1181100"/>
            </a:xfrm>
            <a:prstGeom prst="roundRect">
              <a:avLst>
                <a:gd name="adj" fmla="val 27419"/>
              </a:avLst>
            </a:prstGeom>
            <a:solidFill>
              <a:srgbClr val="17243A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831780" y="5427395"/>
              <a:ext cx="393840" cy="382855"/>
            </a:xfrm>
            <a:custGeom>
              <a:avLst/>
              <a:gdLst/>
              <a:ahLst/>
              <a:cxnLst/>
              <a:rect l="l" t="t" r="r" b="b"/>
              <a:pathLst>
                <a:path w="393840" h="382855">
                  <a:moveTo>
                    <a:pt x="210388" y="7437"/>
                  </a:moveTo>
                  <a:lnTo>
                    <a:pt x="381838" y="178887"/>
                  </a:lnTo>
                  <a:cubicBezTo>
                    <a:pt x="393840" y="190888"/>
                    <a:pt x="385343" y="211405"/>
                    <a:pt x="368370" y="211405"/>
                  </a:cubicBezTo>
                  <a:lnTo>
                    <a:pt x="349320" y="211405"/>
                  </a:lnTo>
                  <a:lnTo>
                    <a:pt x="349320" y="325705"/>
                  </a:lnTo>
                  <a:cubicBezTo>
                    <a:pt x="349320" y="357268"/>
                    <a:pt x="323733" y="382855"/>
                    <a:pt x="292170" y="382855"/>
                  </a:cubicBezTo>
                  <a:lnTo>
                    <a:pt x="273120" y="382855"/>
                  </a:lnTo>
                  <a:lnTo>
                    <a:pt x="273120" y="249505"/>
                  </a:lnTo>
                  <a:cubicBezTo>
                    <a:pt x="273122" y="219243"/>
                    <a:pt x="249533" y="194226"/>
                    <a:pt x="219323" y="192450"/>
                  </a:cubicBezTo>
                  <a:lnTo>
                    <a:pt x="215970" y="192355"/>
                  </a:lnTo>
                  <a:lnTo>
                    <a:pt x="177870" y="192355"/>
                  </a:lnTo>
                  <a:cubicBezTo>
                    <a:pt x="146307" y="192355"/>
                    <a:pt x="120720" y="217942"/>
                    <a:pt x="120720" y="249505"/>
                  </a:cubicBezTo>
                  <a:lnTo>
                    <a:pt x="120720" y="382855"/>
                  </a:lnTo>
                  <a:lnTo>
                    <a:pt x="101670" y="382855"/>
                  </a:lnTo>
                  <a:cubicBezTo>
                    <a:pt x="70107" y="382855"/>
                    <a:pt x="44520" y="357268"/>
                    <a:pt x="44520" y="325705"/>
                  </a:cubicBezTo>
                  <a:lnTo>
                    <a:pt x="44520" y="211405"/>
                  </a:lnTo>
                  <a:lnTo>
                    <a:pt x="25470" y="211405"/>
                  </a:lnTo>
                  <a:cubicBezTo>
                    <a:pt x="8515" y="211405"/>
                    <a:pt x="0" y="190888"/>
                    <a:pt x="12002" y="178887"/>
                  </a:cubicBezTo>
                  <a:lnTo>
                    <a:pt x="183452" y="7437"/>
                  </a:lnTo>
                  <a:cubicBezTo>
                    <a:pt x="190891" y="0"/>
                    <a:pt x="202949" y="0"/>
                    <a:pt x="210388" y="7437"/>
                  </a:cubicBezTo>
                  <a:moveTo>
                    <a:pt x="215970" y="230455"/>
                  </a:moveTo>
                  <a:cubicBezTo>
                    <a:pt x="226491" y="230455"/>
                    <a:pt x="235020" y="238984"/>
                    <a:pt x="235020" y="249505"/>
                  </a:cubicBezTo>
                  <a:lnTo>
                    <a:pt x="235020" y="382855"/>
                  </a:lnTo>
                  <a:lnTo>
                    <a:pt x="158820" y="382855"/>
                  </a:lnTo>
                  <a:lnTo>
                    <a:pt x="158820" y="249505"/>
                  </a:lnTo>
                  <a:cubicBezTo>
                    <a:pt x="158821" y="239847"/>
                    <a:pt x="166049" y="231718"/>
                    <a:pt x="175641" y="230588"/>
                  </a:cubicBezTo>
                  <a:lnTo>
                    <a:pt x="177870" y="230455"/>
                  </a:ln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457706" y="52920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今晚行动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458468" y="5727382"/>
              <a:ext cx="401833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AF5FF"/>
                  </a:solidFill>
                  <a:latin typeface="Arial"/>
                  <a:ea typeface="Microsoft YaHei"/>
                  <a:cs typeface="Arial"/>
                </a:rPr>
                <a:t>完成 N3113，并向家长讲一遍五要素。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791450" y="685800"/>
            <a:ext cx="3429000" cy="4868039"/>
            <a:chOff x="7791450" y="685800"/>
            <a:chExt cx="3429000" cy="4868039"/>
          </a:xfrm>
        </p:grpSpPr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86750" y="1818511"/>
              <a:ext cx="2857500" cy="3735328"/>
            </a:xfrm>
            <a:prstGeom prst="rect">
              <a:avLst/>
            </a:prstGeom>
          </p:spPr>
        </p:pic>
        <p:sp>
          <p:nvSpPr>
            <p:cNvPr id="25" name="Rectangle 25"/>
            <p:cNvSpPr/>
            <p:nvPr/>
          </p:nvSpPr>
          <p:spPr>
            <a:xfrm>
              <a:off x="7791450" y="685800"/>
              <a:ext cx="3429000" cy="952500"/>
            </a:xfrm>
            <a:prstGeom prst="roundRect">
              <a:avLst>
                <a:gd name="adj" fmla="val 32000"/>
              </a:avLst>
            </a:prstGeom>
            <a:solidFill>
              <a:srgbClr val="EAF5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720138" y="92678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03044"/>
                  </a:solidFill>
                  <a:latin typeface="Arial"/>
                  <a:ea typeface="Microsoft YaHei"/>
                  <a:cs typeface="Arial"/>
                </a:rPr>
                <a:t>编程像搭积木，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609076" y="125063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2E9BFF"/>
                  </a:solidFill>
                  <a:latin typeface="Arial"/>
                  <a:ea typeface="Microsoft YaHei"/>
                  <a:cs typeface="Arial"/>
                </a:rPr>
                <a:t>下一块等你来拼！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Free Design">
  <a:themeElements>
    <a:clrScheme name="Free Design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Free Design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ree 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Free Design">
  <a:themeElements>
    <a:clrScheme name="Free Design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Free Design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ree 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2026-08-26T20:03:36Z</dcterms:created>
  <dcterms:modified xsi:type="dcterms:W3CDTF">2026-08-26T20:03:36Z</dcterms:modified>
  <cp:category/>
  <cp:contentStatus/>
</cp:coreProperties>
</file>