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第12课_特工身份确认_阳光积木乐园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第12课_特工身份确认_阳光积木乐园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b374d61e61c593f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47ec0d2362240f6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496862aa57274b1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496862aa57274b1.png"/>
</Relationships>
</file>

<file path=ppt/slides/_rels/slide2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496862aa57274b1.png"/>
</Relationships>
</file>

<file path=ppt/slides/_rels/slide2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CF1"/>
          </a:soli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323850" y="323850"/>
            <a:ext cx="1447800" cy="1447800"/>
          </a:xfrm>
          <a:prstGeom prst="ellipse">
            <a:avLst/>
          </a:prstGeom>
          <a:solidFill>
            <a:srgbClr val="EAF5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914400" y="914400"/>
            <a:ext cx="3333750" cy="438150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382901" y="1055846"/>
            <a:ext cx="2377698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20" b="1" dirty="0">
                <a:solidFill>
                  <a:srgbClr val="2E9BFF"/>
                </a:solidFill>
                <a:latin typeface="Arial"/>
                <a:ea typeface="Microsoft YaHei"/>
                <a:cs typeface="Arial"/>
              </a:rPr>
              <a:t>第12课 · 小小特工任务中心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00100" y="2113598"/>
            <a:ext cx="4036314" cy="9620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950" b="1" dirty="0">
                <a:solidFill>
                  <a:srgbClr val="203044"/>
                </a:solidFill>
                <a:latin typeface="YouYuan"/>
                <a:ea typeface="YouYuan"/>
                <a:cs typeface="YouYuan"/>
              </a:rPr>
              <a:t>特工身份确认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6201" y="3041809"/>
            <a:ext cx="3441042" cy="42538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180" dirty="0">
                <a:solidFill>
                  <a:srgbClr val="FF9F1C"/>
                </a:solidFill>
                <a:latin typeface="Arial"/>
                <a:ea typeface="Arial"/>
                <a:cs typeface="Arial"/>
              </a:rPr>
              <a:t>while · break · continue</a:t>
            </a:r>
          </a:p>
        </p:txBody>
      </p:sp>
      <p:sp>
        <p:nvSpPr>
          <p:cNvPr id="8" name="Rectangle 8"/>
          <p:cNvSpPr/>
          <p:nvPr/>
        </p:nvSpPr>
        <p:spPr>
          <a:xfrm>
            <a:off x="838200" y="3714750"/>
            <a:ext cx="5715000" cy="1104900"/>
          </a:xfrm>
          <a:prstGeom prst="roundRect">
            <a:avLst>
              <a:gd name="adj" fmla="val 29310"/>
            </a:avLst>
          </a:prstGeom>
          <a:solidFill>
            <a:srgbClr val="FFFFFF"/>
          </a:solidFill>
          <a:ln w="19050">
            <a:solidFill>
              <a:srgbClr val="CFE5F8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172337" y="3976211"/>
            <a:ext cx="1638351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b="1" dirty="0">
                <a:solidFill>
                  <a:srgbClr val="203044"/>
                </a:solidFill>
                <a:latin typeface="Arial"/>
                <a:ea typeface="Microsoft YaHei"/>
                <a:cs typeface="Arial"/>
              </a:rPr>
              <a:t>今天的驱动问题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2718" y="4374832"/>
            <a:ext cx="55698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203044"/>
                </a:solidFill>
                <a:latin typeface="Arial"/>
                <a:ea typeface="Microsoft YaHei"/>
                <a:cs typeface="Arial"/>
              </a:rPr>
              <a:t>怎样让口令门反复询问，答对就开门，答错三次就停止？</a:t>
            </a:r>
          </a:p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1345995"/>
            <a:ext cx="3143250" cy="4108861"/>
          </a:xfrm>
          <a:prstGeom prst="rect">
            <a:avLst/>
          </a:prstGeom>
        </p:spPr>
      </p:pic>
      <p:sp>
        <p:nvSpPr>
          <p:cNvPr id="12" name="Rectangle 12"/>
          <p:cNvSpPr/>
          <p:nvPr/>
        </p:nvSpPr>
        <p:spPr>
          <a:xfrm>
            <a:off x="6858000" y="5048250"/>
            <a:ext cx="4381500" cy="628650"/>
          </a:xfrm>
          <a:prstGeom prst="roundRect">
            <a:avLst>
              <a:gd name="adj" fmla="val 39394"/>
            </a:avLst>
          </a:prstGeom>
          <a:solidFill>
            <a:srgbClr val="17243A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761676" y="5262086"/>
            <a:ext cx="257414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72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AGENT LOGIN · READY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4" name="TextBox 14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01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20000"/>
          </a:blip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457200" y="342900"/>
            <a:ext cx="4810525" cy="727901"/>
            <a:chOff x="457200" y="342900"/>
            <a:chExt cx="4810525" cy="727901"/>
          </a:xfrm>
        </p:grpSpPr>
        <p:sp>
          <p:nvSpPr>
            <p:cNvPr id="3" name="Rectangle 3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6572" y="35909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今天的任务路线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74192" y="806768"/>
              <a:ext cx="4493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120分钟：先复习，再学守门循环，最后完成三次口令门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66750" y="2019300"/>
            <a:ext cx="2400300" cy="2381250"/>
            <a:chOff x="666750" y="2019300"/>
            <a:chExt cx="2400300" cy="2381250"/>
          </a:xfrm>
        </p:grpSpPr>
        <p:sp>
          <p:nvSpPr>
            <p:cNvPr id="7" name="Rectangle 7"/>
            <p:cNvSpPr/>
            <p:nvPr/>
          </p:nvSpPr>
          <p:spPr>
            <a:xfrm>
              <a:off x="666750" y="2019300"/>
              <a:ext cx="2400300" cy="2381250"/>
            </a:xfrm>
            <a:prstGeom prst="roundRect">
              <a:avLst>
                <a:gd name="adj" fmla="val 13600"/>
              </a:avLst>
            </a:prstGeom>
            <a:solidFill>
              <a:srgbClr val="FFFFFF"/>
            </a:solidFill>
            <a:ln w="28575">
              <a:solidFill>
                <a:srgbClr val="2E9BFF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504950" y="2209800"/>
              <a:ext cx="723900" cy="72390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87787" y="247269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65186" y="3093244"/>
              <a:ext cx="140342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01 复习热身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45323" y="3590925"/>
              <a:ext cx="8431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2E9BFF"/>
                  </a:solidFill>
                  <a:latin typeface="Arial"/>
                  <a:ea typeface="Arial"/>
                  <a:cs typeface="Arial"/>
                </a:rPr>
                <a:t>0–20 min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486150" y="2019300"/>
            <a:ext cx="2400300" cy="2381250"/>
            <a:chOff x="3486150" y="2019300"/>
            <a:chExt cx="2400300" cy="2381250"/>
          </a:xfrm>
        </p:grpSpPr>
        <p:sp>
          <p:nvSpPr>
            <p:cNvPr id="13" name="Rectangle 13"/>
            <p:cNvSpPr/>
            <p:nvPr/>
          </p:nvSpPr>
          <p:spPr>
            <a:xfrm>
              <a:off x="3486150" y="2019300"/>
              <a:ext cx="2400300" cy="2381250"/>
            </a:xfrm>
            <a:prstGeom prst="roundRect">
              <a:avLst>
                <a:gd name="adj" fmla="val 13600"/>
              </a:avLst>
            </a:prstGeom>
            <a:solidFill>
              <a:srgbClr val="FFFFFF"/>
            </a:solidFill>
            <a:ln w="28575">
              <a:solidFill>
                <a:srgbClr val="FF9F1C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4324350" y="2209800"/>
              <a:ext cx="723900" cy="7239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7187" y="247269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84586" y="3093244"/>
              <a:ext cx="140342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02 新知精学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09193" y="3590925"/>
              <a:ext cx="9542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FF9F1C"/>
                  </a:solidFill>
                  <a:latin typeface="Arial"/>
                  <a:ea typeface="Arial"/>
                  <a:cs typeface="Arial"/>
                </a:rPr>
                <a:t>20–65 min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305550" y="2019300"/>
            <a:ext cx="2400300" cy="2381250"/>
            <a:chOff x="6305550" y="2019300"/>
            <a:chExt cx="2400300" cy="2381250"/>
          </a:xfrm>
        </p:grpSpPr>
        <p:sp>
          <p:nvSpPr>
            <p:cNvPr id="19" name="Rectangle 19"/>
            <p:cNvSpPr/>
            <p:nvPr/>
          </p:nvSpPr>
          <p:spPr>
            <a:xfrm>
              <a:off x="6305550" y="2019300"/>
              <a:ext cx="2400300" cy="2381250"/>
            </a:xfrm>
            <a:prstGeom prst="roundRect">
              <a:avLst>
                <a:gd name="adj" fmla="val 13600"/>
              </a:avLst>
            </a:prstGeom>
            <a:solidFill>
              <a:srgbClr val="FFFFFF"/>
            </a:solidFill>
            <a:ln w="28575">
              <a:solidFill>
                <a:srgbClr val="FF6FA5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7143750" y="2209800"/>
              <a:ext cx="723900" cy="7239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426587" y="247269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03986" y="3093244"/>
              <a:ext cx="140342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03 动手验证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73062" y="3590925"/>
              <a:ext cx="10652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FF6FA5"/>
                  </a:solidFill>
                  <a:latin typeface="Arial"/>
                  <a:ea typeface="Arial"/>
                  <a:cs typeface="Arial"/>
                </a:rPr>
                <a:t>75–110 min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24950" y="2019300"/>
            <a:ext cx="2400300" cy="2381250"/>
            <a:chOff x="9124950" y="2019300"/>
            <a:chExt cx="2400300" cy="2381250"/>
          </a:xfrm>
        </p:grpSpPr>
        <p:sp>
          <p:nvSpPr>
            <p:cNvPr id="25" name="Rectangle 25"/>
            <p:cNvSpPr/>
            <p:nvPr/>
          </p:nvSpPr>
          <p:spPr>
            <a:xfrm>
              <a:off x="9124950" y="2019300"/>
              <a:ext cx="2400300" cy="2381250"/>
            </a:xfrm>
            <a:prstGeom prst="roundRect">
              <a:avLst>
                <a:gd name="adj" fmla="val 13600"/>
              </a:avLst>
            </a:prstGeom>
            <a:solidFill>
              <a:srgbClr val="FFFFFF"/>
            </a:solidFill>
            <a:ln w="28575">
              <a:solidFill>
                <a:srgbClr val="22C55E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9963150" y="2209800"/>
              <a:ext cx="723900" cy="7239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245987" y="247269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23386" y="3093244"/>
              <a:ext cx="140342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04 展示总结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736931" y="3590925"/>
              <a:ext cx="11763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22C55E"/>
                  </a:solidFill>
                  <a:latin typeface="Arial"/>
                  <a:ea typeface="Arial"/>
                  <a:cs typeface="Arial"/>
                </a:rPr>
                <a:t>110–120 min</a:t>
              </a:r>
            </a:p>
          </p:txBody>
        </p:sp>
      </p:grpSp>
      <p:sp>
        <p:nvSpPr>
          <p:cNvPr id="31" name="Rectangle 31"/>
          <p:cNvSpPr/>
          <p:nvPr/>
        </p:nvSpPr>
        <p:spPr>
          <a:xfrm>
            <a:off x="3524250" y="4953000"/>
            <a:ext cx="5143500" cy="419100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3908298" y="5083492"/>
            <a:ext cx="437540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9F1C"/>
                </a:solidFill>
                <a:latin typeface="Arial"/>
                <a:ea typeface="Microsoft YaHei"/>
                <a:cs typeface="Arial"/>
              </a:rPr>
              <a:t>最终作品：最多尝试三次、会跳过空输入的口令验证器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33" name="TextBox 3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02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083465" cy="727901"/>
            <a:chOff x="457200" y="342900"/>
            <a:chExt cx="3083465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27740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第11课知识抢答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6489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10题 · 每题约40秒 · 答错不扣分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玩法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3722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教师读题，学生用手势或小白板抢答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先口答，不看答案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答错后立刻口头修正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8232" y="1487805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准备好了吗？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8618" y="1993582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上一课：幸运抽奖箱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8618" y="2488882"/>
              <a:ext cx="34041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核心工具：random + if-elif-else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2984182"/>
              <a:ext cx="230463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接下来 5 页，每页 2 题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1" name="Rectangle 21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3" name="Rectangle 23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6" name="TextBox 26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03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010021" cy="727901"/>
            <a:chOff x="457200" y="342900"/>
            <a:chExt cx="401002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7006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1–2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随机模块叫什么？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568506" y="2284571"/>
              <a:ext cx="9587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random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183615" y="2284571"/>
              <a:ext cx="8720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turtle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40985" y="2284571"/>
              <a:ext cx="7007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time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88569" y="2284571"/>
              <a:ext cx="7491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math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8747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random。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导入随机模块怎么写？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229467" y="4665821"/>
              <a:ext cx="1636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random import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801217" y="4665821"/>
              <a:ext cx="1636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import random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5706" y="4665821"/>
              <a:ext cx="133133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use random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25739" y="4665821"/>
              <a:ext cx="1474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from random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15533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import random。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04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010021" cy="727901"/>
            <a:chOff x="457200" y="342900"/>
            <a:chExt cx="401002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7006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3–4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272132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生成1到6随机数用什么？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03535" y="2284571"/>
              <a:ext cx="14886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random(1,6)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943403" y="2284571"/>
              <a:ext cx="135244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randint 1,6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51730" y="2284571"/>
              <a:ext cx="227929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random.randint(1,6)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114281" y="2284571"/>
              <a:ext cx="12976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input(1,6)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正确答案：C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21937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random.randint(1,6)。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27431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randint(1,6)包含6吗？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69726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包含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1680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不包含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85224" y="4665821"/>
              <a:ext cx="8123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只含6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不确定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包含左右端点。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05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010021" cy="727901"/>
            <a:chOff x="457200" y="342900"/>
            <a:chExt cx="401002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7006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5–6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随机结果会不会重复？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9726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不会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06703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可能重复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3878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一定重复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08557" y="2284571"/>
              <a:ext cx="15091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只能重复一次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每次生成彼此独立，可能重复。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29260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随机号码适合保存在哪里？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69726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图片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26901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注释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4076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变量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文件名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正确答案：C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用变量保存后再判断。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06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010021" cy="727901"/>
            <a:chOff x="457200" y="342900"/>
            <a:chExt cx="401002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7006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7–8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34107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号码对应不同奖品可使用什么？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69181" y="2284571"/>
              <a:ext cx="7573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while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939882" y="2284571"/>
              <a:ext cx="13594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if-elif-else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0785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print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7960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input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多分支判断。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33083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比较号码是否等于1使用什么？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843705" y="4665821"/>
              <a:ext cx="4083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=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385158" y="4665821"/>
              <a:ext cx="4689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!=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31660" y="4665821"/>
              <a:ext cx="5194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==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503410" y="4665821"/>
              <a:ext cx="5194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&gt;=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正确答案：C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16202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== 用于比较相等。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07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231589" cy="727901"/>
            <a:chOff x="457200" y="342900"/>
            <a:chExt cx="4231589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92221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复习抢答 · 第 9–10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068890" y="568642"/>
            <a:ext cx="9505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第11课复习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39068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else可以接住没单独列出的情况吗？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9726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可以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16802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不可以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3779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只在循环里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10954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只能接数字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17827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else 处理其余情况。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上节课项目是什么？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4952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海龟画图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966047" y="466582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幸运抽奖箱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3977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口令门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计算器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幸运抽奖箱。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08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783711" cy="727901"/>
            <a:chOff x="457200" y="342900"/>
            <a:chExt cx="378371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23309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特工任务启动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先看最终挑战，再想一想程序需要什么能力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驱动问题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口令错误时：继续问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口令正确时：马上开门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错误三次后：停止任务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1525" y="356235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58037" y="3509486"/>
              <a:ext cx="2796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空白输入：跳过，不算次数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7" name="Rectangle 17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8232" y="1487805"/>
              <a:ext cx="272891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今天要拼出的4块积木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1993582"/>
              <a:ext cx="189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while：按条件反复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68618" y="2488882"/>
              <a:ext cx="21269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tries：记录有效尝试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68618" y="2984182"/>
              <a:ext cx="19603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break：成功就离开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68618" y="3479482"/>
              <a:ext cx="22713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continue：空白就跳过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4" name="Rectangle 24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8" name="Group 28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6" name="Rectangle 26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9" name="TextBox 29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09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23000"/>
          </a:blip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>
          <a:xfrm>
            <a:off x="609600" y="1028700"/>
            <a:ext cx="10668000" cy="4686300"/>
            <a:chOff x="609600" y="1028700"/>
            <a:chExt cx="10668000" cy="4686300"/>
          </a:xfrm>
        </p:grpSpPr>
        <p:sp>
          <p:nvSpPr>
            <p:cNvPr id="3" name="Rectangle 3"/>
            <p:cNvSpPr/>
            <p:nvPr/>
          </p:nvSpPr>
          <p:spPr>
            <a:xfrm>
              <a:off x="609600" y="1028700"/>
              <a:ext cx="10668000" cy="4686300"/>
            </a:xfrm>
            <a:prstGeom prst="roundRect">
              <a:avLst>
                <a:gd name="adj" fmla="val 10569"/>
              </a:avLst>
            </a:prstGeom>
            <a:solidFill>
              <a:srgbClr val="FFFFFF">
                <a:alpha val="92000"/>
              </a:srgbClr>
            </a:solidFill>
            <a:ln w="19050">
              <a:solidFill>
                <a:srgbClr val="CFE5F8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1123950" y="1266825"/>
              <a:ext cx="2137162" cy="259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0" b="1" dirty="0">
                  <a:solidFill>
                    <a:srgbClr val="2E9BFF"/>
                  </a:solidFill>
                  <a:latin typeface="YouYuan"/>
                  <a:ea typeface="YouYuan"/>
                  <a:cs typeface="YouYuan"/>
                </a:rPr>
                <a:t>01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695700" y="221361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新知精学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742944" y="3008948"/>
              <a:ext cx="529624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把“反复问、及时停、跳过本轮”拆成三个命令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3752850" y="3638550"/>
              <a:ext cx="5715000" cy="11430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3752850" y="3638550"/>
              <a:ext cx="3048000" cy="1143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0" name="TextBox 1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10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364501" cy="727901"/>
            <a:chOff x="457200" y="342900"/>
            <a:chExt cx="336450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05512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while 像值班守卫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只要条件还成立，就继续值班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66750" y="1428750"/>
            <a:ext cx="6858000" cy="4095750"/>
            <a:chOff x="666750" y="1428750"/>
            <a:chExt cx="6858000" cy="4095750"/>
          </a:xfrm>
        </p:grpSpPr>
        <p:sp>
          <p:nvSpPr>
            <p:cNvPr id="6" name="Rectangle 6"/>
            <p:cNvSpPr/>
            <p:nvPr/>
          </p:nvSpPr>
          <p:spPr>
            <a:xfrm>
              <a:off x="666750" y="1428750"/>
              <a:ext cx="6858000" cy="4095750"/>
            </a:xfrm>
            <a:prstGeom prst="roundRect">
              <a:avLst>
                <a:gd name="adj" fmla="val 8837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447800" y="2209800"/>
              <a:ext cx="1866900" cy="1866900"/>
            </a:xfrm>
            <a:prstGeom prst="ellipse">
              <a:avLst/>
            </a:prstGeom>
            <a:solidFill>
              <a:srgbClr val="EAF5FF"/>
            </a:solidFill>
            <a:ln w="38100">
              <a:solidFill>
                <a:srgbClr val="2E9BF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39011" y="2826544"/>
              <a:ext cx="128447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条件成立？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23114" y="3231832"/>
              <a:ext cx="11162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tries &lt; 3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4667250" y="2533650"/>
              <a:ext cx="2095500" cy="1219200"/>
            </a:xfrm>
            <a:prstGeom prst="roundRect">
              <a:avLst>
                <a:gd name="adj" fmla="val 23438"/>
              </a:avLst>
            </a:prstGeom>
            <a:solidFill>
              <a:srgbClr val="FFF2D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21224" y="28155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继续询问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69370" y="3209925"/>
              <a:ext cx="1691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输入 → 判断 → 更新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3333750" y="3143250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76200">
              <a:solidFill>
                <a:srgbClr val="2E9BFF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381250" y="3905250"/>
              <a:ext cx="3333750" cy="952500"/>
            </a:xfrm>
            <a:custGeom>
              <a:avLst/>
              <a:gdLst/>
              <a:ahLst/>
              <a:cxnLst/>
              <a:rect l="l" t="t" r="r" b="b"/>
              <a:pathLst>
                <a:path w="3333750" h="952500">
                  <a:moveTo>
                    <a:pt x="3333750" y="0"/>
                  </a:moveTo>
                  <a:cubicBezTo>
                    <a:pt x="3333750" y="952500"/>
                    <a:pt x="0" y="952500"/>
                    <a:pt x="0" y="333375"/>
                  </a:cubicBezTo>
                </a:path>
              </a:pathLst>
            </a:custGeom>
            <a:noFill/>
            <a:ln w="76200">
              <a:solidFill>
                <a:srgbClr val="FF9F1C"/>
              </a:solidFill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7905750" y="1619250"/>
            <a:ext cx="3333750" cy="3143250"/>
            <a:chOff x="7905750" y="1619250"/>
            <a:chExt cx="3333750" cy="3143250"/>
          </a:xfrm>
        </p:grpSpPr>
        <p:sp>
          <p:nvSpPr>
            <p:cNvPr id="16" name="Rectangle 16"/>
            <p:cNvSpPr/>
            <p:nvPr/>
          </p:nvSpPr>
          <p:spPr>
            <a:xfrm>
              <a:off x="7905750" y="1619250"/>
              <a:ext cx="3333750" cy="3143250"/>
            </a:xfrm>
            <a:prstGeom prst="roundRect">
              <a:avLst>
                <a:gd name="adj" fmla="val 10303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38744" y="19230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一句话记忆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39887" y="2499836"/>
              <a:ext cx="1673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条件为真 → 重复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239887" y="2957036"/>
              <a:ext cx="1673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条件为假 → 停止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41030" y="36861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关键：循环里必须让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41030" y="4010025"/>
              <a:ext cx="22566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“停止条件”有机会出现。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3" name="TextBox 2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11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709666" cy="727901"/>
            <a:chOff x="457200" y="342900"/>
            <a:chExt cx="5709666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计数变量：让守卫知道问了几次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1668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tries 从 0 开始，每一次有效尝试都 +1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57250" y="1866900"/>
            <a:ext cx="2190750" cy="2000250"/>
            <a:chOff x="857250" y="1866900"/>
            <a:chExt cx="2190750" cy="2000250"/>
          </a:xfrm>
        </p:grpSpPr>
        <p:sp>
          <p:nvSpPr>
            <p:cNvPr id="6" name="Rectangle 6"/>
            <p:cNvSpPr/>
            <p:nvPr/>
          </p:nvSpPr>
          <p:spPr>
            <a:xfrm>
              <a:off x="857250" y="1866900"/>
              <a:ext cx="2190750" cy="2000250"/>
            </a:xfrm>
            <a:prstGeom prst="roundRect">
              <a:avLst>
                <a:gd name="adj" fmla="val 16190"/>
              </a:avLst>
            </a:prstGeom>
            <a:solidFill>
              <a:srgbClr val="FFFFFF"/>
            </a:solidFill>
            <a:ln w="28575">
              <a:solidFill>
                <a:srgbClr val="22C55E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739217" y="2252662"/>
              <a:ext cx="426815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5250" b="1" dirty="0">
                  <a:solidFill>
                    <a:srgbClr val="22C55E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25575" y="3201829"/>
              <a:ext cx="65410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刚开始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562350" y="1866900"/>
            <a:ext cx="2190750" cy="2000250"/>
            <a:chOff x="3562350" y="1866900"/>
            <a:chExt cx="2190750" cy="2000250"/>
          </a:xfrm>
        </p:grpSpPr>
        <p:sp>
          <p:nvSpPr>
            <p:cNvPr id="10" name="Rectangle 10"/>
            <p:cNvSpPr/>
            <p:nvPr/>
          </p:nvSpPr>
          <p:spPr>
            <a:xfrm>
              <a:off x="3562350" y="1866900"/>
              <a:ext cx="2190750" cy="2000250"/>
            </a:xfrm>
            <a:prstGeom prst="roundRect">
              <a:avLst>
                <a:gd name="adj" fmla="val 16190"/>
              </a:avLst>
            </a:prstGeom>
            <a:solidFill>
              <a:srgbClr val="FFFFFF"/>
            </a:solidFill>
            <a:ln w="28575">
              <a:solidFill>
                <a:srgbClr val="22C55E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444317" y="2252662"/>
              <a:ext cx="426815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5250" b="1" dirty="0">
                  <a:solidFill>
                    <a:srgbClr val="22C55E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272182" y="3201829"/>
              <a:ext cx="7710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问过1次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267450" y="1866900"/>
            <a:ext cx="2190750" cy="2000250"/>
            <a:chOff x="6267450" y="1866900"/>
            <a:chExt cx="2190750" cy="2000250"/>
          </a:xfrm>
        </p:grpSpPr>
        <p:sp>
          <p:nvSpPr>
            <p:cNvPr id="14" name="Rectangle 14"/>
            <p:cNvSpPr/>
            <p:nvPr/>
          </p:nvSpPr>
          <p:spPr>
            <a:xfrm>
              <a:off x="6267450" y="1866900"/>
              <a:ext cx="2190750" cy="2000250"/>
            </a:xfrm>
            <a:prstGeom prst="roundRect">
              <a:avLst>
                <a:gd name="adj" fmla="val 16190"/>
              </a:avLst>
            </a:prstGeom>
            <a:solidFill>
              <a:srgbClr val="FFFFFF"/>
            </a:solidFill>
            <a:ln w="28575">
              <a:solidFill>
                <a:srgbClr val="22C55E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149417" y="2252662"/>
              <a:ext cx="426815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5250" b="1" dirty="0">
                  <a:solidFill>
                    <a:srgbClr val="22C55E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7282" y="3201829"/>
              <a:ext cx="7710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问过2次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972550" y="1866900"/>
            <a:ext cx="2190750" cy="2000250"/>
            <a:chOff x="8972550" y="1866900"/>
            <a:chExt cx="2190750" cy="2000250"/>
          </a:xfrm>
        </p:grpSpPr>
        <p:sp>
          <p:nvSpPr>
            <p:cNvPr id="18" name="Rectangle 18"/>
            <p:cNvSpPr/>
            <p:nvPr/>
          </p:nvSpPr>
          <p:spPr>
            <a:xfrm>
              <a:off x="8972550" y="1866900"/>
              <a:ext cx="2190750" cy="2000250"/>
            </a:xfrm>
            <a:prstGeom prst="roundRect">
              <a:avLst>
                <a:gd name="adj" fmla="val 16190"/>
              </a:avLst>
            </a:prstGeom>
            <a:solidFill>
              <a:srgbClr val="FFFFFF"/>
            </a:solidFill>
            <a:ln w="28575">
              <a:solidFill>
                <a:srgbClr val="FF6FA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54517" y="2252662"/>
              <a:ext cx="426815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5250" b="1" dirty="0">
                  <a:solidFill>
                    <a:srgbClr val="FF6FA5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34525" y="32018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机会用完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857500" y="4343400"/>
            <a:ext cx="6477000" cy="1143000"/>
            <a:chOff x="2857500" y="4343400"/>
            <a:chExt cx="6477000" cy="1143000"/>
          </a:xfrm>
        </p:grpSpPr>
        <p:sp>
          <p:nvSpPr>
            <p:cNvPr id="22" name="Rectangle 22"/>
            <p:cNvSpPr/>
            <p:nvPr/>
          </p:nvSpPr>
          <p:spPr>
            <a:xfrm>
              <a:off x="2857500" y="4343400"/>
              <a:ext cx="6477000" cy="1143000"/>
            </a:xfrm>
            <a:prstGeom prst="roundRect">
              <a:avLst>
                <a:gd name="adj" fmla="val 23333"/>
              </a:avLst>
            </a:prstGeom>
            <a:solidFill>
              <a:srgbClr val="17243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228975" y="4607719"/>
              <a:ext cx="2246203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609975" y="5017294"/>
              <a:ext cx="238540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6" name="TextBox 26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12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515502" cy="727901"/>
            <a:chOff x="457200" y="342900"/>
            <a:chExt cx="4515502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2061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break：成功就立刻离开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3031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它结束的是“整个循环”，不是只跳过一行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想象一辆循环公交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236772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每一轮 = 公交又绕一圈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190462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口令不对 = 继续坐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1673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口令正确 = 到站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8232" y="1487805"/>
              <a:ext cx="205749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break 做什么？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8618" y="1993582"/>
              <a:ext cx="26933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身份确认成功时执行 break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8618" y="2488882"/>
              <a:ext cx="15160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马上跳出 while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2984182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后面的循环轮次都不再执行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1" name="Rectangle 21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3" name="Rectangle 23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6" name="TextBox 26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13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463160" cy="727901"/>
            <a:chOff x="457200" y="342900"/>
            <a:chExt cx="5463160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1537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continue：跳过本轮剩余代码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空白输入时，不做下面的判断，直接回到下一轮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遇到空白输入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173096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password == ""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23561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提示“不能输入空白！”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这次不应该算有效尝试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8232" y="1487805"/>
              <a:ext cx="247306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continue 做什么？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8618" y="199358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跳过本轮剩余代码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8618" y="2488882"/>
              <a:ext cx="202697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直接回到 while 条件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2984182"/>
              <a:ext cx="26378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因此要放在 tries + 1 之前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1" name="Rectangle 21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3" name="Rectangle 23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6" name="TextBox 26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14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382726" cy="727901"/>
            <a:chOff x="457200" y="342900"/>
            <a:chExt cx="3382726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07335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for 还是 while？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先问自己：我知道要重复几次吗？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57250" y="1619250"/>
            <a:ext cx="4762500" cy="3714750"/>
            <a:chOff x="857250" y="1619250"/>
            <a:chExt cx="4762500" cy="3714750"/>
          </a:xfrm>
        </p:grpSpPr>
        <p:sp>
          <p:nvSpPr>
            <p:cNvPr id="6" name="Rectangle 6"/>
            <p:cNvSpPr/>
            <p:nvPr/>
          </p:nvSpPr>
          <p:spPr>
            <a:xfrm>
              <a:off x="857250" y="1619250"/>
              <a:ext cx="4762500" cy="3714750"/>
            </a:xfrm>
            <a:prstGeom prst="roundRect">
              <a:avLst>
                <a:gd name="adj" fmla="val 10256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890075" y="1962150"/>
              <a:ext cx="69684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000" b="1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for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722804" y="2674144"/>
              <a:ext cx="1031392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次数清楚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13727" y="3250882"/>
              <a:ext cx="12495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例：画4条边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52643" y="3689032"/>
              <a:ext cx="13717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例：重复10次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72250" y="1619250"/>
            <a:ext cx="4762500" cy="3714750"/>
            <a:chOff x="6572250" y="1619250"/>
            <a:chExt cx="4762500" cy="3714750"/>
          </a:xfrm>
        </p:grpSpPr>
        <p:sp>
          <p:nvSpPr>
            <p:cNvPr id="12" name="Rectangle 12"/>
            <p:cNvSpPr/>
            <p:nvPr/>
          </p:nvSpPr>
          <p:spPr>
            <a:xfrm>
              <a:off x="6572250" y="1619250"/>
              <a:ext cx="4762500" cy="3714750"/>
            </a:xfrm>
            <a:prstGeom prst="roundRect">
              <a:avLst>
                <a:gd name="adj" fmla="val 10256"/>
              </a:avLst>
            </a:prstGeom>
            <a:solidFill>
              <a:srgbClr val="FFF2D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382952" y="1962150"/>
              <a:ext cx="114109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000" b="1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while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311261" y="2674144"/>
              <a:ext cx="1284478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看条件继续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78749" y="325088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例：直到答对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56626" y="368903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例：机会还没用完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3352800" y="5524500"/>
            <a:ext cx="5486400" cy="533400"/>
            <a:chOff x="3352800" y="5524500"/>
            <a:chExt cx="5486400" cy="533400"/>
          </a:xfrm>
        </p:grpSpPr>
        <p:sp>
          <p:nvSpPr>
            <p:cNvPr id="18" name="Rectangle 18"/>
            <p:cNvSpPr/>
            <p:nvPr/>
          </p:nvSpPr>
          <p:spPr>
            <a:xfrm>
              <a:off x="3352800" y="5524500"/>
              <a:ext cx="5486400" cy="533400"/>
            </a:xfrm>
            <a:prstGeom prst="roundRect">
              <a:avLst>
                <a:gd name="adj" fmla="val 42857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203481" y="5697379"/>
              <a:ext cx="378503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次数明确 → for　｜　条件驱动 → while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15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753973" cy="727901"/>
            <a:chOff x="457200" y="342900"/>
            <a:chExt cx="4753973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44460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动手练习 A：数到几停？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1850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选任务 → 看代码 → 点击运行 → 观察输出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57200" y="1181100"/>
            <a:ext cx="5562600" cy="628650"/>
            <a:chOff x="457200" y="1181100"/>
            <a:chExt cx="5562600" cy="628650"/>
          </a:xfrm>
        </p:grpSpPr>
        <p:sp>
          <p:nvSpPr>
            <p:cNvPr id="6" name="Rectangle 6"/>
            <p:cNvSpPr/>
            <p:nvPr/>
          </p:nvSpPr>
          <p:spPr>
            <a:xfrm>
              <a:off x="457200" y="1181100"/>
              <a:ext cx="5562600" cy="628650"/>
            </a:xfrm>
            <a:prstGeom prst="roundRect">
              <a:avLst>
                <a:gd name="adj" fmla="val 33333"/>
              </a:avLst>
            </a:prstGeom>
            <a:solidFill>
              <a:srgbClr val="EAF5FF"/>
            </a:solidFill>
            <a:ln w="19050">
              <a:solidFill>
                <a:srgbClr val="2E9BFF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806070" y="1400175"/>
              <a:ext cx="864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数到 3 停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7200" y="1181100"/>
            <a:ext cx="5562600" cy="628650"/>
            <a:chOff x="457200" y="1181100"/>
            <a:chExt cx="5562600" cy="628650"/>
          </a:xfrm>
        </p:grpSpPr>
        <p:sp>
          <p:nvSpPr>
            <p:cNvPr id="9" name="Rectangle 9"/>
            <p:cNvSpPr/>
            <p:nvPr/>
          </p:nvSpPr>
          <p:spPr>
            <a:xfrm>
              <a:off x="457200" y="1181100"/>
              <a:ext cx="5562600" cy="62865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6172200" y="1181100"/>
            <a:ext cx="5562600" cy="628650"/>
            <a:chOff x="6172200" y="1181100"/>
            <a:chExt cx="5562600" cy="628650"/>
          </a:xfrm>
        </p:grpSpPr>
        <p:sp>
          <p:nvSpPr>
            <p:cNvPr id="11" name="Rectangle 11"/>
            <p:cNvSpPr/>
            <p:nvPr/>
          </p:nvSpPr>
          <p:spPr>
            <a:xfrm>
              <a:off x="6172200" y="1181100"/>
              <a:ext cx="5562600" cy="628650"/>
            </a:xfrm>
            <a:prstGeom prst="roundRect">
              <a:avLst>
                <a:gd name="adj" fmla="val 33333"/>
              </a:avLst>
            </a:prstGeom>
            <a:solidFill>
              <a:srgbClr val="FFF2DC"/>
            </a:solidFill>
            <a:ln w="19050">
              <a:solidFill>
                <a:srgbClr val="FF9F1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51909" y="1400175"/>
              <a:ext cx="1003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改成数到 5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172200" y="1181100"/>
            <a:ext cx="5562600" cy="628650"/>
            <a:chOff x="6172200" y="1181100"/>
            <a:chExt cx="5562600" cy="628650"/>
          </a:xfrm>
        </p:grpSpPr>
        <p:sp>
          <p:nvSpPr>
            <p:cNvPr id="14" name="Rectangle 14"/>
            <p:cNvSpPr/>
            <p:nvPr/>
          </p:nvSpPr>
          <p:spPr>
            <a:xfrm>
              <a:off x="6172200" y="1181100"/>
              <a:ext cx="5562600" cy="62865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457200" y="2038350"/>
            <a:ext cx="6705600" cy="4114800"/>
            <a:chOff x="457200" y="2038350"/>
            <a:chExt cx="6705600" cy="4114800"/>
          </a:xfrm>
        </p:grpSpPr>
        <p:sp>
          <p:nvSpPr>
            <p:cNvPr id="16" name="Rectangle 16"/>
            <p:cNvSpPr/>
            <p:nvPr/>
          </p:nvSpPr>
          <p:spPr>
            <a:xfrm>
              <a:off x="457200" y="2038350"/>
              <a:ext cx="6705600" cy="4114800"/>
            </a:xfrm>
            <a:prstGeom prst="roundRect">
              <a:avLst>
                <a:gd name="adj" fmla="val 7870"/>
              </a:avLst>
            </a:prstGeom>
            <a:solidFill>
              <a:srgbClr val="FFFFFF"/>
            </a:solidFill>
            <a:ln w="28575">
              <a:solidFill>
                <a:srgbClr val="CFE5F8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704850" y="2286000"/>
              <a:ext cx="152400" cy="1524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952500" y="2286000"/>
              <a:ext cx="152400" cy="1524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200150" y="2286000"/>
              <a:ext cx="152400" cy="1524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649730" y="22764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代码编辑器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85800" y="2647950"/>
              <a:ext cx="6248400" cy="2667000"/>
            </a:xfrm>
            <a:prstGeom prst="roundRect">
              <a:avLst>
                <a:gd name="adj" fmla="val 7857"/>
              </a:avLst>
            </a:prstGeom>
            <a:solidFill>
              <a:srgbClr val="F8FBFF"/>
            </a:solidFill>
            <a:ln>
              <a:noFill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7391400" y="2038350"/>
            <a:ext cx="4343400" cy="4114800"/>
            <a:chOff x="7391400" y="2038350"/>
            <a:chExt cx="4343400" cy="4114800"/>
          </a:xfrm>
        </p:grpSpPr>
        <p:sp>
          <p:nvSpPr>
            <p:cNvPr id="23" name="Rectangle 23"/>
            <p:cNvSpPr/>
            <p:nvPr/>
          </p:nvSpPr>
          <p:spPr>
            <a:xfrm>
              <a:off x="7391400" y="2038350"/>
              <a:ext cx="4343400" cy="4114800"/>
            </a:xfrm>
            <a:prstGeom prst="roundRect">
              <a:avLst>
                <a:gd name="adj" fmla="val 787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706487" y="225218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终端输出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0" y="2647950"/>
              <a:ext cx="3886200" cy="2667000"/>
            </a:xfrm>
            <a:prstGeom prst="roundRect">
              <a:avLst>
                <a:gd name="adj" fmla="val 8571"/>
              </a:avLst>
            </a:prstGeom>
            <a:solidFill>
              <a:srgbClr val="17243A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7839075" y="2847975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067675" y="2847975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8296275" y="2847975"/>
              <a:ext cx="133350" cy="13335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20000" y="5467350"/>
              <a:ext cx="3886200" cy="533400"/>
            </a:xfrm>
            <a:prstGeom prst="roundRect">
              <a:avLst>
                <a:gd name="adj" fmla="val 35714"/>
              </a:avLst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36" name="Group 36"/>
          <p:cNvGrpSpPr/>
          <p:nvPr/>
        </p:nvGrpSpPr>
        <p:grpSpPr>
          <a:xfrm>
            <a:off x="888873" y="2967514"/>
            <a:ext cx="2597658" cy="1963864"/>
            <a:chOff x="888873" y="2967514"/>
            <a:chExt cx="2597658" cy="1963864"/>
          </a:xfrm>
        </p:grpSpPr>
        <p:sp>
          <p:nvSpPr>
            <p:cNvPr id="31" name="TextBox 31"/>
            <p:cNvSpPr txBox="1"/>
            <p:nvPr/>
          </p:nvSpPr>
          <p:spPr>
            <a:xfrm>
              <a:off x="888873" y="296751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8873" y="35390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count &lt;= 3: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8873" y="38247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print("第", count, "次检查")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8873" y="41105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count + 1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88873" y="4682014"/>
              <a:ext cx="1555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print("检查结束")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37" name="Rectangle 37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40" name="Rectangle 40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3" name="Group 43"/>
          <p:cNvGrpSpPr/>
          <p:nvPr/>
        </p:nvGrpSpPr>
        <p:grpSpPr>
          <a:xfrm>
            <a:off x="8465820" y="5664518"/>
            <a:ext cx="2194560" cy="264033"/>
            <a:chOff x="8465820" y="5664518"/>
            <a:chExt cx="2194560" cy="264033"/>
          </a:xfrm>
        </p:grpSpPr>
        <p:sp>
          <p:nvSpPr>
            <p:cNvPr id="42" name="TextBox 42"/>
            <p:cNvSpPr txBox="1"/>
            <p:nvPr/>
          </p:nvSpPr>
          <p:spPr>
            <a:xfrm>
              <a:off x="8465820" y="56645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点击运行，终端才开始输出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158725" y="5656421"/>
            <a:ext cx="808749" cy="278702"/>
            <a:chOff x="9158725" y="5656421"/>
            <a:chExt cx="808749" cy="278702"/>
          </a:xfrm>
        </p:grpSpPr>
        <p:sp>
          <p:nvSpPr>
            <p:cNvPr id="44" name="TextBox 44"/>
            <p:cNvSpPr txBox="1"/>
            <p:nvPr/>
          </p:nvSpPr>
          <p:spPr>
            <a:xfrm>
              <a:off x="9158725" y="5656421"/>
              <a:ext cx="8087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运行中……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043073" y="5656421"/>
            <a:ext cx="1040054" cy="278702"/>
            <a:chOff x="9043073" y="5656421"/>
            <a:chExt cx="1040054" cy="278702"/>
          </a:xfrm>
        </p:grpSpPr>
        <p:sp>
          <p:nvSpPr>
            <p:cNvPr id="46" name="TextBox 46"/>
            <p:cNvSpPr txBox="1"/>
            <p:nvPr/>
          </p:nvSpPr>
          <p:spPr>
            <a:xfrm>
              <a:off x="9043073" y="5656421"/>
              <a:ext cx="10400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验证完成 ✓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88873" y="2967514"/>
            <a:ext cx="2597658" cy="1963864"/>
            <a:chOff x="888873" y="2967514"/>
            <a:chExt cx="2597658" cy="1963864"/>
          </a:xfrm>
        </p:grpSpPr>
        <p:sp>
          <p:nvSpPr>
            <p:cNvPr id="48" name="TextBox 48"/>
            <p:cNvSpPr txBox="1"/>
            <p:nvPr/>
          </p:nvSpPr>
          <p:spPr>
            <a:xfrm>
              <a:off x="888873" y="296751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88873" y="35390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count &lt;= 3: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8873" y="38247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print("第", count, "次检查")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8873" y="41105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count + 1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8873" y="4682014"/>
              <a:ext cx="1555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print("检查结束")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54" name="Rectangle 54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57" name="Rectangle 57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60" name="Group 60"/>
          <p:cNvGrpSpPr/>
          <p:nvPr/>
        </p:nvGrpSpPr>
        <p:grpSpPr>
          <a:xfrm>
            <a:off x="7841361" y="3237071"/>
            <a:ext cx="1094534" cy="278702"/>
            <a:chOff x="7841361" y="3237071"/>
            <a:chExt cx="1094534" cy="278702"/>
          </a:xfrm>
        </p:grpSpPr>
        <p:sp>
          <p:nvSpPr>
            <p:cNvPr id="59" name="TextBox 59"/>
            <p:cNvSpPr txBox="1"/>
            <p:nvPr/>
          </p:nvSpPr>
          <p:spPr>
            <a:xfrm>
              <a:off x="7841361" y="3237071"/>
              <a:ext cx="10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1 次检查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7841361" y="3637121"/>
            <a:ext cx="1094534" cy="278702"/>
            <a:chOff x="7841361" y="3637121"/>
            <a:chExt cx="1094534" cy="278702"/>
          </a:xfrm>
        </p:grpSpPr>
        <p:sp>
          <p:nvSpPr>
            <p:cNvPr id="61" name="TextBox 61"/>
            <p:cNvSpPr txBox="1"/>
            <p:nvPr/>
          </p:nvSpPr>
          <p:spPr>
            <a:xfrm>
              <a:off x="7841361" y="3637121"/>
              <a:ext cx="10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2 次检查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841361" y="4037171"/>
            <a:ext cx="1094534" cy="278702"/>
            <a:chOff x="7841361" y="4037171"/>
            <a:chExt cx="1094534" cy="278702"/>
          </a:xfrm>
        </p:grpSpPr>
        <p:sp>
          <p:nvSpPr>
            <p:cNvPr id="63" name="TextBox 63"/>
            <p:cNvSpPr txBox="1"/>
            <p:nvPr/>
          </p:nvSpPr>
          <p:spPr>
            <a:xfrm>
              <a:off x="7841361" y="4037171"/>
              <a:ext cx="10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3 次检查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7841361" y="4437221"/>
            <a:ext cx="779120" cy="278702"/>
            <a:chOff x="7841361" y="4437221"/>
            <a:chExt cx="779120" cy="278702"/>
          </a:xfrm>
        </p:grpSpPr>
        <p:sp>
          <p:nvSpPr>
            <p:cNvPr id="65" name="TextBox 65"/>
            <p:cNvSpPr txBox="1"/>
            <p:nvPr/>
          </p:nvSpPr>
          <p:spPr>
            <a:xfrm>
              <a:off x="7841361" y="44372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检查结束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8873" y="2967514"/>
            <a:ext cx="2597658" cy="1963864"/>
            <a:chOff x="888873" y="2967514"/>
            <a:chExt cx="2597658" cy="1963864"/>
          </a:xfrm>
        </p:grpSpPr>
        <p:sp>
          <p:nvSpPr>
            <p:cNvPr id="67" name="TextBox 67"/>
            <p:cNvSpPr txBox="1"/>
            <p:nvPr/>
          </p:nvSpPr>
          <p:spPr>
            <a:xfrm>
              <a:off x="888873" y="296751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88873" y="35390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count &lt;= 5: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88873" y="38247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print("第", count, "次检查")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88873" y="4110514"/>
              <a:ext cx="16240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count = count + 1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88873" y="4682014"/>
              <a:ext cx="1555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print("检查结束")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73" name="Rectangle 73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76" name="Rectangle 76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9" name="Group 79"/>
          <p:cNvGrpSpPr/>
          <p:nvPr/>
        </p:nvGrpSpPr>
        <p:grpSpPr>
          <a:xfrm>
            <a:off x="7841361" y="3237071"/>
            <a:ext cx="1094534" cy="278702"/>
            <a:chOff x="7841361" y="3237071"/>
            <a:chExt cx="1094534" cy="278702"/>
          </a:xfrm>
        </p:grpSpPr>
        <p:sp>
          <p:nvSpPr>
            <p:cNvPr id="78" name="TextBox 78"/>
            <p:cNvSpPr txBox="1"/>
            <p:nvPr/>
          </p:nvSpPr>
          <p:spPr>
            <a:xfrm>
              <a:off x="7841361" y="3237071"/>
              <a:ext cx="10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1 次检查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7841361" y="3637121"/>
            <a:ext cx="1094534" cy="278702"/>
            <a:chOff x="7841361" y="3637121"/>
            <a:chExt cx="1094534" cy="278702"/>
          </a:xfrm>
        </p:grpSpPr>
        <p:sp>
          <p:nvSpPr>
            <p:cNvPr id="80" name="TextBox 80"/>
            <p:cNvSpPr txBox="1"/>
            <p:nvPr/>
          </p:nvSpPr>
          <p:spPr>
            <a:xfrm>
              <a:off x="7841361" y="3637121"/>
              <a:ext cx="10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2 次检查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7841361" y="4037171"/>
            <a:ext cx="1094534" cy="278702"/>
            <a:chOff x="7841361" y="4037171"/>
            <a:chExt cx="1094534" cy="278702"/>
          </a:xfrm>
        </p:grpSpPr>
        <p:sp>
          <p:nvSpPr>
            <p:cNvPr id="82" name="TextBox 82"/>
            <p:cNvSpPr txBox="1"/>
            <p:nvPr/>
          </p:nvSpPr>
          <p:spPr>
            <a:xfrm>
              <a:off x="7841361" y="4037171"/>
              <a:ext cx="10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3 次检查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7841361" y="4437221"/>
            <a:ext cx="1094534" cy="278702"/>
            <a:chOff x="7841361" y="4437221"/>
            <a:chExt cx="1094534" cy="278702"/>
          </a:xfrm>
        </p:grpSpPr>
        <p:sp>
          <p:nvSpPr>
            <p:cNvPr id="84" name="TextBox 84"/>
            <p:cNvSpPr txBox="1"/>
            <p:nvPr/>
          </p:nvSpPr>
          <p:spPr>
            <a:xfrm>
              <a:off x="7841361" y="4437221"/>
              <a:ext cx="10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4 次检查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7841361" y="4837271"/>
            <a:ext cx="1094534" cy="278702"/>
            <a:chOff x="7841361" y="4837271"/>
            <a:chExt cx="1094534" cy="278702"/>
          </a:xfrm>
        </p:grpSpPr>
        <p:sp>
          <p:nvSpPr>
            <p:cNvPr id="86" name="TextBox 86"/>
            <p:cNvSpPr txBox="1"/>
            <p:nvPr/>
          </p:nvSpPr>
          <p:spPr>
            <a:xfrm>
              <a:off x="7841361" y="4837271"/>
              <a:ext cx="1094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第 5 次检查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7841361" y="5237321"/>
            <a:ext cx="779120" cy="278702"/>
            <a:chOff x="7841361" y="5237321"/>
            <a:chExt cx="779120" cy="278702"/>
          </a:xfrm>
        </p:grpSpPr>
        <p:sp>
          <p:nvSpPr>
            <p:cNvPr id="88" name="TextBox 88"/>
            <p:cNvSpPr txBox="1"/>
            <p:nvPr/>
          </p:nvSpPr>
          <p:spPr>
            <a:xfrm>
              <a:off x="7841361" y="52373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检查结束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90" name="TextBox 9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16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4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6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6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8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8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0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1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2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8" fill="hold">
                      <p:stCondLst>
                        <p:cond delay="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3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8" fill="hold">
                      <p:stCondLst>
                        <p:cond delay="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4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3" fill="hold">
                      <p:stCondLst>
                        <p:cond delay="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4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8" fill="hold">
                      <p:stCondLst>
                        <p:cond delay="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5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8" fill="hold">
                      <p:stCondLst>
                        <p:cond delay="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162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3" fill="hold">
                      <p:stCondLst>
                        <p:cond delay="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17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3" fill="hold">
                      <p:stCondLst>
                        <p:cond delay="0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7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8" fill="hold">
                      <p:stCondLst>
                        <p:cond delay="0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8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3" fill="hold">
                      <p:stCondLst>
                        <p:cond delay="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8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8" fill="hold">
                      <p:stCondLst>
                        <p:cond delay="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92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3" fill="hold">
                      <p:stCondLst>
                        <p:cond delay="0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5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0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20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3" fill="hold">
                      <p:stCondLst>
                        <p:cond delay="0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5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20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8" fill="hold">
                      <p:stCondLst>
                        <p:cond delay="0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0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5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1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8" fill="hold">
                      <p:stCondLst>
                        <p:cond delay="0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0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2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3" fill="hold">
                      <p:stCondLst>
                        <p:cond delay="0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5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2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8" fill="hold">
                      <p:stCondLst>
                        <p:cond delay="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0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23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3" fill="hold">
                      <p:stCondLst>
                        <p:cond delay="0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5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23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8" fill="hold">
                      <p:stCondLst>
                        <p:cond delay="0"/>
                      </p:stCondLst>
                      <p:childTnLst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0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24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3" fill="hold">
                      <p:stCondLst>
                        <p:cond delay="0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5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24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0" presetID="1" presetClass="entr" presetSubtype="0" fill="hold" grpId="0" nodeType="clickEffect" restart="always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25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3" fill="hold">
                      <p:stCondLst>
                        <p:cond delay="0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5" presetID="1" presetClass="entr" presetSubtype="0" fill="hold" grpId="0" nodeType="clickEffect" restart="always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0" presetID="1" presetClass="entr" presetSubtype="0" fill="hold" grpId="0" nodeType="clickEffect" restart="always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5" presetID="1" presetClass="entr" presetSubtype="0" fill="hold" grpId="0" nodeType="clickEffect" restart="always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267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8" fill="hold">
                      <p:stCondLst>
                        <p:cond delay="0"/>
                      </p:stCondLst>
                      <p:childTnLst>
                        <p:par>
                          <p:cTn id="2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0" presetID="1" presetClass="entr" presetSubtype="0" fill="hold" grpId="0" nodeType="clickEffect" restart="always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27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3" fill="hold">
                      <p:stCondLst>
                        <p:cond delay="0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5" presetID="1" presetClass="entr" presetSubtype="0" fill="hold" grpId="0" nodeType="clickEffect" restart="always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27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8" fill="hold">
                      <p:stCondLst>
                        <p:cond delay="0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0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282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3" fill="hold">
                      <p:stCondLst>
                        <p:cond delay="0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5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0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6860667" cy="727901"/>
            <a:chOff x="457200" y="342900"/>
            <a:chExt cx="6860667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易错提醒：少一行，循环可能停不下来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先找问题，再点击揭晓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危险代码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104790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count = 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193936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while count &lt;= 3: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156888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print("检查")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1525" y="356235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58037" y="3509486"/>
              <a:ext cx="24371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—— count 一直没有变化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7" name="Rectangle 17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8232" y="1487805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为什么危险？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1993582"/>
              <a:ext cx="25933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 count &lt;= 3 一直为真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68618" y="24888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程序会不停重复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68618" y="2984182"/>
              <a:ext cx="41281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先知道 IDLE / Thonny 的停止按钮在哪里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3" name="Rectangle 23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5" name="Rectangle 25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8" name="TextBox 28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17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393688" cy="727901"/>
            <a:chOff x="457200" y="342900"/>
            <a:chExt cx="439368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0843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本课选择题 · 第 1–2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173843" y="568642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本课练习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30648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while循环在什么时候继续？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9429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条件成立时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96604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永远不执行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37797" y="2284571"/>
              <a:ext cx="1307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只有画图时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1152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保存时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条件为真时重复。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33071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防止while不停常用的方法是？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92317" y="4665821"/>
              <a:ext cx="17111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更新计数或条件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1680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加颜色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3977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加图片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186643" y="4665821"/>
              <a:ext cx="11529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删除print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让停止条件有机会出现。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18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393688" cy="727901"/>
            <a:chOff x="457200" y="342900"/>
            <a:chExt cx="439368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0843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本课选择题 · 第 3–4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173843" y="568642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本课练习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192955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break的作用是？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93307" y="2284571"/>
              <a:ext cx="15091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立刻结束循环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06703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跳过注释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38788" y="228457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开始循环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1251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输出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23179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break 直接离开整个循环。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22857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continue的作用是？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4952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结束程序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663076" y="4665821"/>
              <a:ext cx="19130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跳过本轮剩余代码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387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删除变量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21053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导入模块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正确答案：B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回到下一轮判断。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19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393688" cy="727901"/>
            <a:chOff x="457200" y="342900"/>
            <a:chExt cx="439368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0843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本课选择题 · 第 5–6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173843" y="568642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本课练习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20171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while True表示？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93307" y="2284571"/>
              <a:ext cx="15091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条件一直为真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112484" y="2284571"/>
              <a:ext cx="10142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循环3次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739778" y="228457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不执行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12519" y="228457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画圆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21841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需要 break 等方式停止。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32913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count=count+1有什么作用？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4952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A. 计数增加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06703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计数清零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38788" y="4665821"/>
              <a:ext cx="11051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输出图片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11528" y="4665821"/>
              <a:ext cx="903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改颜色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每轮增加计数。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20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393688" cy="727901"/>
            <a:chOff x="457200" y="342900"/>
            <a:chExt cx="439368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0843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本课选择题 · 第 7–8 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先选答案，再点击“揭晓”</a:t>
              </a:r>
            </a:p>
          </p:txBody>
        </p:sp>
      </p:grpSp>
      <p:sp>
        <p:nvSpPr>
          <p:cNvPr id="6" name="Rectangle 6"/>
          <p:cNvSpPr/>
          <p:nvPr/>
        </p:nvSpPr>
        <p:spPr>
          <a:xfrm>
            <a:off x="9544050" y="438150"/>
            <a:ext cx="2000250" cy="419100"/>
          </a:xfrm>
          <a:prstGeom prst="roundRect">
            <a:avLst>
              <a:gd name="adj" fmla="val 50000"/>
            </a:avLst>
          </a:prstGeom>
          <a:solidFill>
            <a:srgbClr val="FFE2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173843" y="568642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6FA5"/>
                </a:solidFill>
                <a:latin typeface="Arial"/>
                <a:ea typeface="Microsoft YaHei"/>
                <a:cs typeface="Arial"/>
              </a:rPr>
              <a:t>本课练习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7200" y="1333500"/>
            <a:ext cx="11277600" cy="2095500"/>
            <a:chOff x="457200" y="1333500"/>
            <a:chExt cx="11277600" cy="2095500"/>
          </a:xfrm>
        </p:grpSpPr>
        <p:sp>
          <p:nvSpPr>
            <p:cNvPr id="8" name="Rectangle 8"/>
            <p:cNvSpPr/>
            <p:nvPr/>
          </p:nvSpPr>
          <p:spPr>
            <a:xfrm>
              <a:off x="457200" y="133350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28650" y="152400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273" y="1647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1006" y="1615440"/>
              <a:ext cx="33083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已知重复4次画正方形更适合？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572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44991" y="2284571"/>
              <a:ext cx="6057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for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543439" y="2284571"/>
              <a:ext cx="21523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B. 无break的while True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0075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07857" y="2284571"/>
              <a:ext cx="7670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C. input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572500" y="211455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07902" y="2284571"/>
              <a:ext cx="7104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D. type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2743200"/>
            <a:ext cx="7429500" cy="495300"/>
            <a:chOff x="800100" y="2743200"/>
            <a:chExt cx="7429500" cy="495300"/>
          </a:xfrm>
        </p:grpSpPr>
        <p:sp>
          <p:nvSpPr>
            <p:cNvPr id="21" name="Rectangle 21"/>
            <p:cNvSpPr/>
            <p:nvPr/>
          </p:nvSpPr>
          <p:spPr>
            <a:xfrm>
              <a:off x="800100" y="274320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1080" y="290512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1" y="2913221"/>
              <a:ext cx="21650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次数明确时 for 更直接。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5" name="Rectangle 25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01027" y="291322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1 题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0" y="2743200"/>
            <a:ext cx="2667000" cy="495300"/>
            <a:chOff x="8572500" y="2743200"/>
            <a:chExt cx="2667000" cy="495300"/>
          </a:xfrm>
        </p:grpSpPr>
        <p:sp>
          <p:nvSpPr>
            <p:cNvPr id="28" name="Rectangle 28"/>
            <p:cNvSpPr/>
            <p:nvPr/>
          </p:nvSpPr>
          <p:spPr>
            <a:xfrm>
              <a:off x="8572500" y="274320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457200" y="3714750"/>
            <a:ext cx="11277600" cy="2095500"/>
            <a:chOff x="457200" y="3714750"/>
            <a:chExt cx="112776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457200" y="3714750"/>
              <a:ext cx="11277600" cy="20955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28650" y="3905250"/>
              <a:ext cx="419100" cy="4191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2273" y="4029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1006" y="3996690"/>
              <a:ext cx="38953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不知道尝试几次、直到答对更适合？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572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669181" y="4665821"/>
              <a:ext cx="7573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A. while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290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183615" y="4665821"/>
              <a:ext cx="8720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203044"/>
                  </a:solidFill>
                  <a:latin typeface="Arial"/>
                  <a:ea typeface="Arial"/>
                  <a:cs typeface="Arial"/>
                </a:rPr>
                <a:t>B. turtle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0075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14893" y="4665821"/>
              <a:ext cx="11529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C. print一次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72500" y="4495800"/>
              <a:ext cx="2381250" cy="495300"/>
            </a:xfrm>
            <a:prstGeom prst="roundRect">
              <a:avLst>
                <a:gd name="adj" fmla="val 34615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412519" y="4665821"/>
              <a:ext cx="70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D. 注释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0100" y="5124450"/>
            <a:ext cx="7429500" cy="495300"/>
            <a:chOff x="800100" y="5124450"/>
            <a:chExt cx="7429500" cy="495300"/>
          </a:xfrm>
        </p:grpSpPr>
        <p:sp>
          <p:nvSpPr>
            <p:cNvPr id="43" name="Rectangle 43"/>
            <p:cNvSpPr/>
            <p:nvPr/>
          </p:nvSpPr>
          <p:spPr>
            <a:xfrm>
              <a:off x="800100" y="5124450"/>
              <a:ext cx="7429500" cy="495300"/>
            </a:xfrm>
            <a:prstGeom prst="roundRect">
              <a:avLst>
                <a:gd name="adj" fmla="val 34615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21080" y="5286375"/>
              <a:ext cx="1205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正确答案：A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4511" y="5294471"/>
              <a:ext cx="25091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按条件持续时 while 更合适。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47" name="Rectangle 47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01027" y="5294471"/>
              <a:ext cx="1009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揭晓第 2 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572500" y="5124450"/>
            <a:ext cx="2667000" cy="495300"/>
            <a:chOff x="8572500" y="5124450"/>
            <a:chExt cx="2667000" cy="495300"/>
          </a:xfrm>
        </p:grpSpPr>
        <p:sp>
          <p:nvSpPr>
            <p:cNvPr id="50" name="Rectangle 50"/>
            <p:cNvSpPr/>
            <p:nvPr/>
          </p:nvSpPr>
          <p:spPr>
            <a:xfrm>
              <a:off x="8572500" y="5124450"/>
              <a:ext cx="266700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21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23000"/>
          </a:blip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>
          <a:xfrm>
            <a:off x="609600" y="1028700"/>
            <a:ext cx="10668000" cy="4686300"/>
            <a:chOff x="609600" y="1028700"/>
            <a:chExt cx="10668000" cy="4686300"/>
          </a:xfrm>
        </p:grpSpPr>
        <p:sp>
          <p:nvSpPr>
            <p:cNvPr id="3" name="Rectangle 3"/>
            <p:cNvSpPr/>
            <p:nvPr/>
          </p:nvSpPr>
          <p:spPr>
            <a:xfrm>
              <a:off x="609600" y="1028700"/>
              <a:ext cx="10668000" cy="4686300"/>
            </a:xfrm>
            <a:prstGeom prst="roundRect">
              <a:avLst>
                <a:gd name="adj" fmla="val 10569"/>
              </a:avLst>
            </a:prstGeom>
            <a:solidFill>
              <a:srgbClr val="FFFFFF">
                <a:alpha val="92000"/>
              </a:srgbClr>
            </a:solidFill>
            <a:ln w="19050">
              <a:solidFill>
                <a:srgbClr val="CFE5F8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1123950" y="1266825"/>
              <a:ext cx="2137162" cy="259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0" b="1" dirty="0">
                  <a:solidFill>
                    <a:srgbClr val="2E9BFF"/>
                  </a:solidFill>
                  <a:latin typeface="YouYuan"/>
                  <a:ea typeface="YouYuan"/>
                  <a:cs typeface="YouYuan"/>
                </a:rPr>
                <a:t>02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695700" y="2213610"/>
              <a:ext cx="2979614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break 实战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742944" y="3008948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答对口令就提前结束循环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3752850" y="3638550"/>
              <a:ext cx="5715000" cy="11430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3752850" y="3638550"/>
              <a:ext cx="3048000" cy="1143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0" name="TextBox 1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22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022558" cy="727901"/>
            <a:chOff x="457200" y="342900"/>
            <a:chExt cx="5022558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71318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动手练习 B：答对就 break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9578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体验“继续尝试”和“立刻成功”的差别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57200" y="1181100"/>
            <a:ext cx="5562600" cy="628650"/>
            <a:chOff x="457200" y="1181100"/>
            <a:chExt cx="5562600" cy="628650"/>
          </a:xfrm>
        </p:grpSpPr>
        <p:sp>
          <p:nvSpPr>
            <p:cNvPr id="6" name="Rectangle 6"/>
            <p:cNvSpPr/>
            <p:nvPr/>
          </p:nvSpPr>
          <p:spPr>
            <a:xfrm>
              <a:off x="457200" y="1181100"/>
              <a:ext cx="5562600" cy="628650"/>
            </a:xfrm>
            <a:prstGeom prst="roundRect">
              <a:avLst>
                <a:gd name="adj" fmla="val 33333"/>
              </a:avLst>
            </a:prstGeom>
            <a:solidFill>
              <a:srgbClr val="EAF5FF"/>
            </a:solidFill>
            <a:ln w="19050">
              <a:solidFill>
                <a:srgbClr val="2E9BFF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445372" y="1400175"/>
              <a:ext cx="1586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直接输入 python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7200" y="1181100"/>
            <a:ext cx="5562600" cy="628650"/>
            <a:chOff x="457200" y="1181100"/>
            <a:chExt cx="5562600" cy="628650"/>
          </a:xfrm>
        </p:grpSpPr>
        <p:sp>
          <p:nvSpPr>
            <p:cNvPr id="9" name="Rectangle 9"/>
            <p:cNvSpPr/>
            <p:nvPr/>
          </p:nvSpPr>
          <p:spPr>
            <a:xfrm>
              <a:off x="457200" y="1181100"/>
              <a:ext cx="5562600" cy="62865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6172200" y="1181100"/>
            <a:ext cx="5562600" cy="628650"/>
            <a:chOff x="6172200" y="1181100"/>
            <a:chExt cx="5562600" cy="628650"/>
          </a:xfrm>
        </p:grpSpPr>
        <p:sp>
          <p:nvSpPr>
            <p:cNvPr id="11" name="Rectangle 11"/>
            <p:cNvSpPr/>
            <p:nvPr/>
          </p:nvSpPr>
          <p:spPr>
            <a:xfrm>
              <a:off x="6172200" y="1181100"/>
              <a:ext cx="5562600" cy="628650"/>
            </a:xfrm>
            <a:prstGeom prst="roundRect">
              <a:avLst>
                <a:gd name="adj" fmla="val 33333"/>
              </a:avLst>
            </a:prstGeom>
            <a:solidFill>
              <a:srgbClr val="FFF2DC"/>
            </a:solidFill>
            <a:ln w="19050">
              <a:solidFill>
                <a:srgbClr val="FF9F1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41055" y="14001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先错再答对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172200" y="1181100"/>
            <a:ext cx="5562600" cy="628650"/>
            <a:chOff x="6172200" y="1181100"/>
            <a:chExt cx="5562600" cy="628650"/>
          </a:xfrm>
        </p:grpSpPr>
        <p:sp>
          <p:nvSpPr>
            <p:cNvPr id="14" name="Rectangle 14"/>
            <p:cNvSpPr/>
            <p:nvPr/>
          </p:nvSpPr>
          <p:spPr>
            <a:xfrm>
              <a:off x="6172200" y="1181100"/>
              <a:ext cx="5562600" cy="62865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457200" y="2038350"/>
            <a:ext cx="6705600" cy="4114800"/>
            <a:chOff x="457200" y="2038350"/>
            <a:chExt cx="6705600" cy="4114800"/>
          </a:xfrm>
        </p:grpSpPr>
        <p:sp>
          <p:nvSpPr>
            <p:cNvPr id="16" name="Rectangle 16"/>
            <p:cNvSpPr/>
            <p:nvPr/>
          </p:nvSpPr>
          <p:spPr>
            <a:xfrm>
              <a:off x="457200" y="2038350"/>
              <a:ext cx="6705600" cy="4114800"/>
            </a:xfrm>
            <a:prstGeom prst="roundRect">
              <a:avLst>
                <a:gd name="adj" fmla="val 7870"/>
              </a:avLst>
            </a:prstGeom>
            <a:solidFill>
              <a:srgbClr val="FFFFFF"/>
            </a:solidFill>
            <a:ln w="28575">
              <a:solidFill>
                <a:srgbClr val="CFE5F8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704850" y="2286000"/>
              <a:ext cx="152400" cy="1524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952500" y="2286000"/>
              <a:ext cx="152400" cy="1524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200150" y="2286000"/>
              <a:ext cx="152400" cy="1524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649730" y="22764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代码编辑器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85800" y="2647950"/>
              <a:ext cx="6248400" cy="2667000"/>
            </a:xfrm>
            <a:prstGeom prst="roundRect">
              <a:avLst>
                <a:gd name="adj" fmla="val 7857"/>
              </a:avLst>
            </a:prstGeom>
            <a:solidFill>
              <a:srgbClr val="F8FBFF"/>
            </a:solidFill>
            <a:ln>
              <a:noFill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7391400" y="2038350"/>
            <a:ext cx="4343400" cy="4114800"/>
            <a:chOff x="7391400" y="2038350"/>
            <a:chExt cx="4343400" cy="4114800"/>
          </a:xfrm>
        </p:grpSpPr>
        <p:sp>
          <p:nvSpPr>
            <p:cNvPr id="23" name="Rectangle 23"/>
            <p:cNvSpPr/>
            <p:nvPr/>
          </p:nvSpPr>
          <p:spPr>
            <a:xfrm>
              <a:off x="7391400" y="2038350"/>
              <a:ext cx="4343400" cy="4114800"/>
            </a:xfrm>
            <a:prstGeom prst="roundRect">
              <a:avLst>
                <a:gd name="adj" fmla="val 787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706487" y="225218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终端输出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0" y="2647950"/>
              <a:ext cx="3886200" cy="2667000"/>
            </a:xfrm>
            <a:prstGeom prst="roundRect">
              <a:avLst>
                <a:gd name="adj" fmla="val 8571"/>
              </a:avLst>
            </a:prstGeom>
            <a:solidFill>
              <a:srgbClr val="17243A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7839075" y="2847975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067675" y="2847975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8296275" y="2847975"/>
              <a:ext cx="133350" cy="13335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20000" y="5467350"/>
              <a:ext cx="3886200" cy="533400"/>
            </a:xfrm>
            <a:prstGeom prst="roundRect">
              <a:avLst>
                <a:gd name="adj" fmla="val 35714"/>
              </a:avLst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888873" y="2967514"/>
            <a:ext cx="2942285" cy="1678114"/>
            <a:chOff x="888873" y="2967514"/>
            <a:chExt cx="2942285" cy="1678114"/>
          </a:xfrm>
        </p:grpSpPr>
        <p:sp>
          <p:nvSpPr>
            <p:cNvPr id="31" name="TextBox 31"/>
            <p:cNvSpPr txBox="1"/>
            <p:nvPr/>
          </p:nvSpPr>
          <p:spPr>
            <a:xfrm>
              <a:off x="888873" y="2967514"/>
              <a:ext cx="10620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True: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8873" y="325326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input("请输入口令：")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8873" y="3539014"/>
              <a:ext cx="2287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"python":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8873" y="3824764"/>
              <a:ext cx="2072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print("身份确认成功！")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88873" y="41105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88873" y="4396264"/>
              <a:ext cx="27613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print("口令不对，请再试一次。")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38" name="Rectangle 38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41" name="Rectangle 41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44" name="Group 44"/>
          <p:cNvGrpSpPr/>
          <p:nvPr/>
        </p:nvGrpSpPr>
        <p:grpSpPr>
          <a:xfrm>
            <a:off x="8465820" y="5664518"/>
            <a:ext cx="2194560" cy="264033"/>
            <a:chOff x="8465820" y="5664518"/>
            <a:chExt cx="2194560" cy="264033"/>
          </a:xfrm>
        </p:grpSpPr>
        <p:sp>
          <p:nvSpPr>
            <p:cNvPr id="43" name="TextBox 43"/>
            <p:cNvSpPr txBox="1"/>
            <p:nvPr/>
          </p:nvSpPr>
          <p:spPr>
            <a:xfrm>
              <a:off x="8465820" y="56645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点击运行，终端才开始输出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158725" y="5656421"/>
            <a:ext cx="808749" cy="278702"/>
            <a:chOff x="9158725" y="5656421"/>
            <a:chExt cx="808749" cy="278702"/>
          </a:xfrm>
        </p:grpSpPr>
        <p:sp>
          <p:nvSpPr>
            <p:cNvPr id="45" name="TextBox 45"/>
            <p:cNvSpPr txBox="1"/>
            <p:nvPr/>
          </p:nvSpPr>
          <p:spPr>
            <a:xfrm>
              <a:off x="9158725" y="5656421"/>
              <a:ext cx="8087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运行中……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043073" y="5656421"/>
            <a:ext cx="1040054" cy="278702"/>
            <a:chOff x="9043073" y="5656421"/>
            <a:chExt cx="1040054" cy="278702"/>
          </a:xfrm>
        </p:grpSpPr>
        <p:sp>
          <p:nvSpPr>
            <p:cNvPr id="47" name="TextBox 47"/>
            <p:cNvSpPr txBox="1"/>
            <p:nvPr/>
          </p:nvSpPr>
          <p:spPr>
            <a:xfrm>
              <a:off x="9043073" y="5656421"/>
              <a:ext cx="10400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验证完成 ✓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88873" y="2967514"/>
            <a:ext cx="2942285" cy="1678114"/>
            <a:chOff x="888873" y="2967514"/>
            <a:chExt cx="2942285" cy="1678114"/>
          </a:xfrm>
        </p:grpSpPr>
        <p:sp>
          <p:nvSpPr>
            <p:cNvPr id="49" name="TextBox 49"/>
            <p:cNvSpPr txBox="1"/>
            <p:nvPr/>
          </p:nvSpPr>
          <p:spPr>
            <a:xfrm>
              <a:off x="888873" y="2967514"/>
              <a:ext cx="10620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True: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8873" y="325326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input("请输入口令：")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8873" y="3539014"/>
              <a:ext cx="2287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"python":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8873" y="3824764"/>
              <a:ext cx="2072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print("身份确认成功！")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8873" y="41105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8873" y="4396264"/>
              <a:ext cx="27613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print("口令不对，请再试一次。")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56" name="Rectangle 56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59" name="Rectangle 59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62" name="Group 62"/>
          <p:cNvGrpSpPr/>
          <p:nvPr/>
        </p:nvGrpSpPr>
        <p:grpSpPr>
          <a:xfrm>
            <a:off x="7839075" y="3436144"/>
            <a:ext cx="272136" cy="366712"/>
            <a:chOff x="7839075" y="3436144"/>
            <a:chExt cx="272136" cy="366712"/>
          </a:xfrm>
        </p:grpSpPr>
        <p:sp>
          <p:nvSpPr>
            <p:cNvPr id="61" name="TextBox 61"/>
            <p:cNvSpPr txBox="1"/>
            <p:nvPr/>
          </p:nvSpPr>
          <p:spPr>
            <a:xfrm>
              <a:off x="783907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身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8086725" y="3436144"/>
            <a:ext cx="272136" cy="366712"/>
            <a:chOff x="8086725" y="3436144"/>
            <a:chExt cx="272136" cy="366712"/>
          </a:xfrm>
        </p:grpSpPr>
        <p:sp>
          <p:nvSpPr>
            <p:cNvPr id="63" name="TextBox 63"/>
            <p:cNvSpPr txBox="1"/>
            <p:nvPr/>
          </p:nvSpPr>
          <p:spPr>
            <a:xfrm>
              <a:off x="808672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份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8334375" y="3436144"/>
            <a:ext cx="272136" cy="366712"/>
            <a:chOff x="8334375" y="3436144"/>
            <a:chExt cx="272136" cy="366712"/>
          </a:xfrm>
        </p:grpSpPr>
        <p:sp>
          <p:nvSpPr>
            <p:cNvPr id="65" name="TextBox 65"/>
            <p:cNvSpPr txBox="1"/>
            <p:nvPr/>
          </p:nvSpPr>
          <p:spPr>
            <a:xfrm>
              <a:off x="833437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确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8582025" y="3436144"/>
            <a:ext cx="272136" cy="366712"/>
            <a:chOff x="8582025" y="3436144"/>
            <a:chExt cx="272136" cy="366712"/>
          </a:xfrm>
        </p:grpSpPr>
        <p:sp>
          <p:nvSpPr>
            <p:cNvPr id="67" name="TextBox 67"/>
            <p:cNvSpPr txBox="1"/>
            <p:nvPr/>
          </p:nvSpPr>
          <p:spPr>
            <a:xfrm>
              <a:off x="858202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认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8829675" y="3436144"/>
            <a:ext cx="272136" cy="366712"/>
            <a:chOff x="8829675" y="3436144"/>
            <a:chExt cx="272136" cy="366712"/>
          </a:xfrm>
        </p:grpSpPr>
        <p:sp>
          <p:nvSpPr>
            <p:cNvPr id="69" name="TextBox 69"/>
            <p:cNvSpPr txBox="1"/>
            <p:nvPr/>
          </p:nvSpPr>
          <p:spPr>
            <a:xfrm>
              <a:off x="882967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成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9077325" y="3436144"/>
            <a:ext cx="272136" cy="366712"/>
            <a:chOff x="9077325" y="3436144"/>
            <a:chExt cx="272136" cy="366712"/>
          </a:xfrm>
        </p:grpSpPr>
        <p:sp>
          <p:nvSpPr>
            <p:cNvPr id="71" name="TextBox 71"/>
            <p:cNvSpPr txBox="1"/>
            <p:nvPr/>
          </p:nvSpPr>
          <p:spPr>
            <a:xfrm>
              <a:off x="907732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324975" y="3436144"/>
            <a:ext cx="272136" cy="366712"/>
            <a:chOff x="9324975" y="3436144"/>
            <a:chExt cx="272136" cy="366712"/>
          </a:xfrm>
        </p:grpSpPr>
        <p:sp>
          <p:nvSpPr>
            <p:cNvPr id="73" name="TextBox 73"/>
            <p:cNvSpPr txBox="1"/>
            <p:nvPr/>
          </p:nvSpPr>
          <p:spPr>
            <a:xfrm>
              <a:off x="932497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！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888873" y="2967514"/>
            <a:ext cx="2942285" cy="1678114"/>
            <a:chOff x="888873" y="2967514"/>
            <a:chExt cx="2942285" cy="1678114"/>
          </a:xfrm>
        </p:grpSpPr>
        <p:sp>
          <p:nvSpPr>
            <p:cNvPr id="75" name="TextBox 75"/>
            <p:cNvSpPr txBox="1"/>
            <p:nvPr/>
          </p:nvSpPr>
          <p:spPr>
            <a:xfrm>
              <a:off x="888873" y="2967514"/>
              <a:ext cx="10620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True: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88873" y="325326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input("请输入口令：")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88873" y="3539014"/>
              <a:ext cx="2287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"python":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88873" y="3824764"/>
              <a:ext cx="2072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print("身份确认成功！")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88873" y="41105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88873" y="4396264"/>
              <a:ext cx="27613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print("口令不对，请再试一次。")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82" name="Rectangle 82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85" name="Rectangle 85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88" name="Group 88"/>
          <p:cNvGrpSpPr/>
          <p:nvPr/>
        </p:nvGrpSpPr>
        <p:grpSpPr>
          <a:xfrm>
            <a:off x="7841361" y="3237071"/>
            <a:ext cx="2117242" cy="278702"/>
            <a:chOff x="7841361" y="3237071"/>
            <a:chExt cx="2117242" cy="278702"/>
          </a:xfrm>
        </p:grpSpPr>
        <p:sp>
          <p:nvSpPr>
            <p:cNvPr id="87" name="TextBox 87"/>
            <p:cNvSpPr txBox="1"/>
            <p:nvPr/>
          </p:nvSpPr>
          <p:spPr>
            <a:xfrm>
              <a:off x="7841361" y="323707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口令不对，请再试一次。</a:t>
              </a:r>
            </a:p>
          </p:txBody>
        </p:sp>
      </p:grpSp>
      <p:grpSp>
        <p:nvGrpSpPr>
          <p:cNvPr id="90" name="Group 90"/>
          <p:cNvGrpSpPr/>
          <p:nvPr/>
        </p:nvGrpSpPr>
        <p:grpSpPr>
          <a:xfrm>
            <a:off x="7841361" y="3637121"/>
            <a:ext cx="2117242" cy="278702"/>
            <a:chOff x="7841361" y="3637121"/>
            <a:chExt cx="2117242" cy="278702"/>
          </a:xfrm>
        </p:grpSpPr>
        <p:sp>
          <p:nvSpPr>
            <p:cNvPr id="89" name="TextBox 89"/>
            <p:cNvSpPr txBox="1"/>
            <p:nvPr/>
          </p:nvSpPr>
          <p:spPr>
            <a:xfrm>
              <a:off x="7841361" y="363712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口令不对，请再试一次。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7841361" y="4037171"/>
            <a:ext cx="1352601" cy="278702"/>
            <a:chOff x="7841361" y="4037171"/>
            <a:chExt cx="1352601" cy="278702"/>
          </a:xfrm>
        </p:grpSpPr>
        <p:sp>
          <p:nvSpPr>
            <p:cNvPr id="91" name="TextBox 91"/>
            <p:cNvSpPr txBox="1"/>
            <p:nvPr/>
          </p:nvSpPr>
          <p:spPr>
            <a:xfrm>
              <a:off x="7841361" y="403717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身份确认成功！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93" name="TextBox 9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23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4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6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6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8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8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0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1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2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8" fill="hold">
                      <p:stCondLst>
                        <p:cond delay="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3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8" fill="hold">
                      <p:stCondLst>
                        <p:cond delay="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4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3" fill="hold">
                      <p:stCondLst>
                        <p:cond delay="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4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8" fill="hold">
                      <p:stCondLst>
                        <p:cond delay="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5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8" fill="hold">
                      <p:stCondLst>
                        <p:cond delay="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162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3" fill="hold">
                      <p:stCondLst>
                        <p:cond delay="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17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3" fill="hold">
                      <p:stCondLst>
                        <p:cond delay="0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7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8" fill="hold">
                      <p:stCondLst>
                        <p:cond delay="0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8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3" fill="hold">
                      <p:stCondLst>
                        <p:cond delay="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8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8" fill="hold">
                      <p:stCondLst>
                        <p:cond delay="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92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3" fill="hold">
                      <p:stCondLst>
                        <p:cond delay="0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5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0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202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3" fill="hold">
                      <p:stCondLst>
                        <p:cond delay="0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5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20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8" fill="hold">
                      <p:stCondLst>
                        <p:cond delay="0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0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5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1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8" fill="hold">
                      <p:stCondLst>
                        <p:cond delay="0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0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2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3" fill="hold">
                      <p:stCondLst>
                        <p:cond delay="0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5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2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8" fill="hold">
                      <p:stCondLst>
                        <p:cond delay="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0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32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3" fill="hold">
                      <p:stCondLst>
                        <p:cond delay="0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5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23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8" fill="hold">
                      <p:stCondLst>
                        <p:cond delay="0"/>
                      </p:stCondLst>
                      <p:childTnLst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0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42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3" fill="hold">
                      <p:stCondLst>
                        <p:cond delay="0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5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24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0" presetID="1" presetClass="entr" presetSubtype="0" fill="hold" grpId="0" nodeType="clickEffect" restart="always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52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3" fill="hold">
                      <p:stCondLst>
                        <p:cond delay="0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5" presetID="1" presetClass="entr" presetSubtype="0" fill="hold" grpId="0" nodeType="clickEffect" restart="always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0" presetID="1" presetClass="entr" presetSubtype="0" fill="hold" grpId="0" nodeType="clickEffect" restart="always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5" presetID="1" presetClass="entr" presetSubtype="0" fill="hold" grpId="0" nodeType="clickEffect" restart="always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6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8" fill="hold">
                      <p:stCondLst>
                        <p:cond delay="0"/>
                      </p:stCondLst>
                      <p:childTnLst>
                        <p:par>
                          <p:cTn id="2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0" presetID="1" presetClass="entr" presetSubtype="0" fill="hold" grpId="0" nodeType="clickEffect" restart="always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72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3" fill="hold">
                      <p:stCondLst>
                        <p:cond delay="0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5" presetID="1" presetClass="entr" presetSubtype="0" fill="hold" grpId="0" nodeType="clickEffect" restart="always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7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8" fill="hold">
                      <p:stCondLst>
                        <p:cond delay="0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0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282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3" fill="hold">
                      <p:stCondLst>
                        <p:cond delay="0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5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0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252691" cy="727901"/>
            <a:chOff x="457200" y="342900"/>
            <a:chExt cx="425269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94331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break 发生在哪一刻？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从输入到离开循环，一步一步走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809750"/>
            <a:ext cx="2362200" cy="2476500"/>
            <a:chOff x="609600" y="1809750"/>
            <a:chExt cx="2362200" cy="2476500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2362200" cy="2476500"/>
            </a:xfrm>
            <a:prstGeom prst="roundRect">
              <a:avLst>
                <a:gd name="adj" fmla="val 1371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485900" y="2057400"/>
              <a:ext cx="609600" cy="6096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11587" y="226314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18844" y="291893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输入口令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14263" y="3517106"/>
              <a:ext cx="1752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password = input(...)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429000" y="1809750"/>
            <a:ext cx="2362200" cy="2476500"/>
            <a:chOff x="3429000" y="1809750"/>
            <a:chExt cx="2362200" cy="2476500"/>
          </a:xfrm>
        </p:grpSpPr>
        <p:sp>
          <p:nvSpPr>
            <p:cNvPr id="12" name="Rectangle 12"/>
            <p:cNvSpPr/>
            <p:nvPr/>
          </p:nvSpPr>
          <p:spPr>
            <a:xfrm>
              <a:off x="3429000" y="1809750"/>
              <a:ext cx="2362200" cy="2476500"/>
            </a:xfrm>
            <a:prstGeom prst="roundRect">
              <a:avLst>
                <a:gd name="adj" fmla="val 1371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4305300" y="2057400"/>
              <a:ext cx="609600" cy="6096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30987" y="226314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06698" y="2918936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判断是否正确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75126" y="35171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password == "python"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248400" y="1809750"/>
            <a:ext cx="2362200" cy="2476500"/>
            <a:chOff x="6248400" y="1809750"/>
            <a:chExt cx="2362200" cy="2476500"/>
          </a:xfrm>
        </p:grpSpPr>
        <p:sp>
          <p:nvSpPr>
            <p:cNvPr id="18" name="Rectangle 18"/>
            <p:cNvSpPr/>
            <p:nvPr/>
          </p:nvSpPr>
          <p:spPr>
            <a:xfrm>
              <a:off x="6248400" y="1809750"/>
              <a:ext cx="2362200" cy="2476500"/>
            </a:xfrm>
            <a:prstGeom prst="roundRect">
              <a:avLst>
                <a:gd name="adj" fmla="val 1371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7124700" y="2057400"/>
              <a:ext cx="609600" cy="6096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350387" y="226314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57644" y="291893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输出成功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22908" y="3517106"/>
              <a:ext cx="1813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2E9BFF"/>
                  </a:solidFill>
                  <a:latin typeface="Consolas"/>
                  <a:ea typeface="Microsoft YaHei"/>
                  <a:cs typeface="Consolas"/>
                </a:rPr>
                <a:t>print("身份确认成功！")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067800" y="1809750"/>
            <a:ext cx="2362200" cy="2476500"/>
            <a:chOff x="9067800" y="1809750"/>
            <a:chExt cx="2362200" cy="2476500"/>
          </a:xfrm>
        </p:grpSpPr>
        <p:sp>
          <p:nvSpPr>
            <p:cNvPr id="24" name="Rectangle 24"/>
            <p:cNvSpPr/>
            <p:nvPr/>
          </p:nvSpPr>
          <p:spPr>
            <a:xfrm>
              <a:off x="9067800" y="1809750"/>
              <a:ext cx="2362200" cy="2476500"/>
            </a:xfrm>
            <a:prstGeom prst="roundRect">
              <a:avLst>
                <a:gd name="adj" fmla="val 1371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9944100" y="2057400"/>
              <a:ext cx="609600" cy="6096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169787" y="226314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777044" y="291893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立刻离开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35870" y="351710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</p:grpSp>
      <p:sp>
        <p:nvSpPr>
          <p:cNvPr id="30" name="Rectangle 30"/>
          <p:cNvSpPr/>
          <p:nvPr/>
        </p:nvSpPr>
        <p:spPr>
          <a:xfrm>
            <a:off x="3390900" y="4819650"/>
            <a:ext cx="5410200" cy="419100"/>
          </a:xfrm>
          <a:prstGeom prst="roundRect">
            <a:avLst>
              <a:gd name="adj" fmla="val 50000"/>
            </a:avLst>
          </a:prstGeom>
          <a:solidFill>
            <a:srgbClr val="E9FBEF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325839" y="4950142"/>
            <a:ext cx="354032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22C55E"/>
                </a:solidFill>
                <a:latin typeface="Arial"/>
                <a:ea typeface="Microsoft YaHei"/>
                <a:cs typeface="Arial"/>
              </a:rPr>
              <a:t>break 后：整个 while 循环结束，不再询问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32" name="TextBox 32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24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23000"/>
          </a:blip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>
          <a:xfrm>
            <a:off x="609600" y="1028700"/>
            <a:ext cx="10668000" cy="4686300"/>
            <a:chOff x="609600" y="1028700"/>
            <a:chExt cx="10668000" cy="4686300"/>
          </a:xfrm>
        </p:grpSpPr>
        <p:sp>
          <p:nvSpPr>
            <p:cNvPr id="3" name="Rectangle 3"/>
            <p:cNvSpPr/>
            <p:nvPr/>
          </p:nvSpPr>
          <p:spPr>
            <a:xfrm>
              <a:off x="609600" y="1028700"/>
              <a:ext cx="10668000" cy="4686300"/>
            </a:xfrm>
            <a:prstGeom prst="roundRect">
              <a:avLst>
                <a:gd name="adj" fmla="val 10569"/>
              </a:avLst>
            </a:prstGeom>
            <a:solidFill>
              <a:srgbClr val="FFFFFF">
                <a:alpha val="92000"/>
              </a:srgbClr>
            </a:solidFill>
            <a:ln w="19050">
              <a:solidFill>
                <a:srgbClr val="CFE5F8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1123950" y="1266825"/>
              <a:ext cx="2137162" cy="2590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0" b="1" dirty="0">
                  <a:solidFill>
                    <a:srgbClr val="2E9BFF"/>
                  </a:solidFill>
                  <a:latin typeface="YouYuan"/>
                  <a:ea typeface="YouYuan"/>
                  <a:cs typeface="YouYuan"/>
                </a:rPr>
                <a:t>03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695700" y="221361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微项目：三次口令门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742944" y="3008948"/>
              <a:ext cx="590001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把 while + 计数 + break + continue 拼成完整作品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3752850" y="3638550"/>
              <a:ext cx="5715000" cy="114300"/>
            </a:xfrm>
            <a:prstGeom prst="roundRect">
              <a:avLst>
                <a:gd name="adj" fmla="val 5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3752850" y="3638550"/>
              <a:ext cx="3048000" cy="1143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0" name="TextBox 1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25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709666" cy="727901"/>
            <a:chOff x="457200" y="342900"/>
            <a:chExt cx="5709666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完整代码：四块积木怎样配合？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重点不是背代码，而是看清顺序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57200" y="1276350"/>
            <a:ext cx="7143750" cy="4762500"/>
            <a:chOff x="457200" y="1276350"/>
            <a:chExt cx="7143750" cy="4762500"/>
          </a:xfrm>
        </p:grpSpPr>
        <p:sp>
          <p:nvSpPr>
            <p:cNvPr id="6" name="Rectangle 6"/>
            <p:cNvSpPr/>
            <p:nvPr/>
          </p:nvSpPr>
          <p:spPr>
            <a:xfrm>
              <a:off x="457200" y="1276350"/>
              <a:ext cx="7143750" cy="47625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704850" y="1524000"/>
              <a:ext cx="152400" cy="1524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952500" y="1524000"/>
              <a:ext cx="152400" cy="1524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200150" y="1524000"/>
              <a:ext cx="152400" cy="1524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31061" y="1522571"/>
              <a:ext cx="1322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Python 编辑器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5335" y="1802606"/>
              <a:ext cx="14211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5335" y="200263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5335" y="2402681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5335" y="260270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5335" y="3002756"/>
              <a:ext cx="15040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5335" y="3202781"/>
              <a:ext cx="1813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5335" y="34028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5335" y="3802856"/>
              <a:ext cx="14211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5335" y="4202906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5335" y="4402931"/>
              <a:ext cx="25670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5335" y="460295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5335" y="480298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else: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5335" y="5003006"/>
              <a:ext cx="3660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print("口令错误。还可尝试", 3 - tries, "次。")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5335" y="5403056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!= secret: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5335" y="5603081"/>
              <a:ext cx="2717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print("三次机会已用完，任务暂停。")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924800" y="1485900"/>
            <a:ext cx="3505200" cy="781050"/>
            <a:chOff x="7924800" y="1485900"/>
            <a:chExt cx="3505200" cy="781050"/>
          </a:xfrm>
        </p:grpSpPr>
        <p:sp>
          <p:nvSpPr>
            <p:cNvPr id="27" name="Rectangle 27"/>
            <p:cNvSpPr/>
            <p:nvPr/>
          </p:nvSpPr>
          <p:spPr>
            <a:xfrm>
              <a:off x="7924800" y="1485900"/>
              <a:ext cx="3505200" cy="781050"/>
            </a:xfrm>
            <a:prstGeom prst="roundRect">
              <a:avLst>
                <a:gd name="adj" fmla="val 29268"/>
              </a:avLst>
            </a:prstGeom>
            <a:solidFill>
              <a:srgbClr val="FFFFFF"/>
            </a:solidFill>
            <a:ln w="19050">
              <a:solidFill>
                <a:srgbClr val="2E9BF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183499" y="1620679"/>
              <a:ext cx="6312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① 条件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84642" y="1930718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&lt; 3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924800" y="2476500"/>
            <a:ext cx="3505200" cy="781050"/>
            <a:chOff x="7924800" y="2476500"/>
            <a:chExt cx="3505200" cy="781050"/>
          </a:xfrm>
        </p:grpSpPr>
        <p:sp>
          <p:nvSpPr>
            <p:cNvPr id="31" name="Rectangle 31"/>
            <p:cNvSpPr/>
            <p:nvPr/>
          </p:nvSpPr>
          <p:spPr>
            <a:xfrm>
              <a:off x="7924800" y="2476500"/>
              <a:ext cx="3505200" cy="781050"/>
            </a:xfrm>
            <a:prstGeom prst="roundRect">
              <a:avLst>
                <a:gd name="adj" fmla="val 29268"/>
              </a:avLst>
            </a:prstGeom>
            <a:solidFill>
              <a:srgbClr val="FFFFFF"/>
            </a:solidFill>
            <a:ln w="19050">
              <a:solidFill>
                <a:srgbClr val="FF6FA5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83499" y="2611279"/>
              <a:ext cx="6312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② 空白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84642" y="2921318"/>
              <a:ext cx="8133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924800" y="3467100"/>
            <a:ext cx="3505200" cy="781050"/>
            <a:chOff x="7924800" y="3467100"/>
            <a:chExt cx="3505200" cy="781050"/>
          </a:xfrm>
        </p:grpSpPr>
        <p:sp>
          <p:nvSpPr>
            <p:cNvPr id="35" name="Rectangle 35"/>
            <p:cNvSpPr/>
            <p:nvPr/>
          </p:nvSpPr>
          <p:spPr>
            <a:xfrm>
              <a:off x="7924800" y="3467100"/>
              <a:ext cx="3505200" cy="781050"/>
            </a:xfrm>
            <a:prstGeom prst="roundRect">
              <a:avLst>
                <a:gd name="adj" fmla="val 29268"/>
              </a:avLst>
            </a:prstGeom>
            <a:solidFill>
              <a:srgbClr val="FFFFFF"/>
            </a:solidFill>
            <a:ln w="19050">
              <a:solidFill>
                <a:srgbClr val="FF9F1C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183499" y="3601879"/>
              <a:ext cx="6312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③ 计数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84642" y="3911918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+ 1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924800" y="4457700"/>
            <a:ext cx="3505200" cy="781050"/>
            <a:chOff x="7924800" y="4457700"/>
            <a:chExt cx="3505200" cy="781050"/>
          </a:xfrm>
        </p:grpSpPr>
        <p:sp>
          <p:nvSpPr>
            <p:cNvPr id="39" name="Rectangle 39"/>
            <p:cNvSpPr/>
            <p:nvPr/>
          </p:nvSpPr>
          <p:spPr>
            <a:xfrm>
              <a:off x="7924800" y="4457700"/>
              <a:ext cx="3505200" cy="781050"/>
            </a:xfrm>
            <a:prstGeom prst="roundRect">
              <a:avLst>
                <a:gd name="adj" fmla="val 29268"/>
              </a:avLst>
            </a:prstGeom>
            <a:solidFill>
              <a:srgbClr val="FFFFFF"/>
            </a:solidFill>
            <a:ln w="19050">
              <a:solidFill>
                <a:srgbClr val="22C55E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183499" y="4592479"/>
              <a:ext cx="6312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④ 成功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84642" y="4902518"/>
              <a:ext cx="513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43" name="TextBox 4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26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4942332" cy="727901"/>
            <a:chOff x="457200" y="342900"/>
            <a:chExt cx="4942332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463296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运行验证：三类输入都要测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任务按钮切换案例；只有点击运行后终端才输出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57200" y="1181100"/>
            <a:ext cx="3657600" cy="628650"/>
            <a:chOff x="457200" y="1181100"/>
            <a:chExt cx="3657600" cy="628650"/>
          </a:xfrm>
        </p:grpSpPr>
        <p:sp>
          <p:nvSpPr>
            <p:cNvPr id="6" name="Rectangle 6"/>
            <p:cNvSpPr/>
            <p:nvPr/>
          </p:nvSpPr>
          <p:spPr>
            <a:xfrm>
              <a:off x="457200" y="1181100"/>
              <a:ext cx="3657600" cy="628650"/>
            </a:xfrm>
            <a:prstGeom prst="roundRect">
              <a:avLst>
                <a:gd name="adj" fmla="val 33333"/>
              </a:avLst>
            </a:prstGeom>
            <a:solidFill>
              <a:srgbClr val="EAF5FF"/>
            </a:solidFill>
            <a:ln w="19050">
              <a:solidFill>
                <a:srgbClr val="2E9BFF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874520" y="1400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空白输入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7200" y="1181100"/>
            <a:ext cx="3657600" cy="628650"/>
            <a:chOff x="457200" y="1181100"/>
            <a:chExt cx="3657600" cy="628650"/>
          </a:xfrm>
        </p:grpSpPr>
        <p:sp>
          <p:nvSpPr>
            <p:cNvPr id="9" name="Rectangle 9"/>
            <p:cNvSpPr/>
            <p:nvPr/>
          </p:nvSpPr>
          <p:spPr>
            <a:xfrm>
              <a:off x="457200" y="1181100"/>
              <a:ext cx="3657600" cy="62865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267200" y="1181100"/>
            <a:ext cx="3657600" cy="628650"/>
            <a:chOff x="4267200" y="1181100"/>
            <a:chExt cx="3657600" cy="628650"/>
          </a:xfrm>
        </p:grpSpPr>
        <p:sp>
          <p:nvSpPr>
            <p:cNvPr id="11" name="Rectangle 11"/>
            <p:cNvSpPr/>
            <p:nvPr/>
          </p:nvSpPr>
          <p:spPr>
            <a:xfrm>
              <a:off x="4267200" y="1181100"/>
              <a:ext cx="3657600" cy="628650"/>
            </a:xfrm>
            <a:prstGeom prst="roundRect">
              <a:avLst>
                <a:gd name="adj" fmla="val 33333"/>
              </a:avLst>
            </a:prstGeom>
            <a:solidFill>
              <a:srgbClr val="FFF2DC"/>
            </a:solidFill>
            <a:ln w="19050">
              <a:solidFill>
                <a:srgbClr val="FF9F1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706227" y="1400175"/>
              <a:ext cx="7795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错误 × 3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267200" y="1181100"/>
            <a:ext cx="3657600" cy="628650"/>
            <a:chOff x="4267200" y="1181100"/>
            <a:chExt cx="3657600" cy="628650"/>
          </a:xfrm>
        </p:grpSpPr>
        <p:sp>
          <p:nvSpPr>
            <p:cNvPr id="14" name="Rectangle 14"/>
            <p:cNvSpPr/>
            <p:nvPr/>
          </p:nvSpPr>
          <p:spPr>
            <a:xfrm>
              <a:off x="4267200" y="1181100"/>
              <a:ext cx="3657600" cy="62865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8077200" y="1181100"/>
            <a:ext cx="3657600" cy="628650"/>
            <a:chOff x="8077200" y="1181100"/>
            <a:chExt cx="3657600" cy="628650"/>
          </a:xfrm>
        </p:grpSpPr>
        <p:sp>
          <p:nvSpPr>
            <p:cNvPr id="16" name="Rectangle 16"/>
            <p:cNvSpPr/>
            <p:nvPr/>
          </p:nvSpPr>
          <p:spPr>
            <a:xfrm>
              <a:off x="8077200" y="1181100"/>
              <a:ext cx="3657600" cy="628650"/>
            </a:xfrm>
            <a:prstGeom prst="roundRect">
              <a:avLst>
                <a:gd name="adj" fmla="val 33333"/>
              </a:avLst>
            </a:prstGeom>
            <a:solidFill>
              <a:srgbClr val="FFE2ED"/>
            </a:solidFill>
            <a:ln w="19050">
              <a:solidFill>
                <a:srgbClr val="FF6FA5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72605" y="1400175"/>
              <a:ext cx="1066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错误 → 正确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077200" y="1181100"/>
            <a:ext cx="3657600" cy="628650"/>
            <a:chOff x="8077200" y="1181100"/>
            <a:chExt cx="3657600" cy="628650"/>
          </a:xfrm>
        </p:grpSpPr>
        <p:sp>
          <p:nvSpPr>
            <p:cNvPr id="19" name="Rectangle 19"/>
            <p:cNvSpPr/>
            <p:nvPr/>
          </p:nvSpPr>
          <p:spPr>
            <a:xfrm>
              <a:off x="8077200" y="1181100"/>
              <a:ext cx="3657600" cy="62865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457200" y="2038350"/>
            <a:ext cx="6705600" cy="4114800"/>
            <a:chOff x="457200" y="2038350"/>
            <a:chExt cx="6705600" cy="4114800"/>
          </a:xfrm>
        </p:grpSpPr>
        <p:sp>
          <p:nvSpPr>
            <p:cNvPr id="21" name="Rectangle 21"/>
            <p:cNvSpPr/>
            <p:nvPr/>
          </p:nvSpPr>
          <p:spPr>
            <a:xfrm>
              <a:off x="457200" y="2038350"/>
              <a:ext cx="6705600" cy="4114800"/>
            </a:xfrm>
            <a:prstGeom prst="roundRect">
              <a:avLst>
                <a:gd name="adj" fmla="val 7870"/>
              </a:avLst>
            </a:prstGeom>
            <a:solidFill>
              <a:srgbClr val="FFFFFF"/>
            </a:solidFill>
            <a:ln w="28575">
              <a:solidFill>
                <a:srgbClr val="CFE5F8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704850" y="2286000"/>
              <a:ext cx="152400" cy="1524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952500" y="2286000"/>
              <a:ext cx="152400" cy="1524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200150" y="2286000"/>
              <a:ext cx="152400" cy="1524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649730" y="22764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代码编辑器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85800" y="2647950"/>
              <a:ext cx="6248400" cy="2667000"/>
            </a:xfrm>
            <a:prstGeom prst="roundRect">
              <a:avLst>
                <a:gd name="adj" fmla="val 7857"/>
              </a:avLst>
            </a:prstGeom>
            <a:solidFill>
              <a:srgbClr val="F8FBFF"/>
            </a:solidFill>
            <a:ln>
              <a:noFill/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7391400" y="2038350"/>
            <a:ext cx="4343400" cy="4114800"/>
            <a:chOff x="7391400" y="2038350"/>
            <a:chExt cx="4343400" cy="4114800"/>
          </a:xfrm>
        </p:grpSpPr>
        <p:sp>
          <p:nvSpPr>
            <p:cNvPr id="28" name="Rectangle 28"/>
            <p:cNvSpPr/>
            <p:nvPr/>
          </p:nvSpPr>
          <p:spPr>
            <a:xfrm>
              <a:off x="7391400" y="2038350"/>
              <a:ext cx="4343400" cy="4114800"/>
            </a:xfrm>
            <a:prstGeom prst="roundRect">
              <a:avLst>
                <a:gd name="adj" fmla="val 787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706487" y="225218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终端输出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0" y="2647950"/>
              <a:ext cx="3886200" cy="2667000"/>
            </a:xfrm>
            <a:prstGeom prst="roundRect">
              <a:avLst>
                <a:gd name="adj" fmla="val 8571"/>
              </a:avLst>
            </a:prstGeom>
            <a:solidFill>
              <a:srgbClr val="17243A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7839075" y="2847975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8067675" y="2847975"/>
              <a:ext cx="133350" cy="1333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8296275" y="2847975"/>
              <a:ext cx="133350" cy="13335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620000" y="5467350"/>
              <a:ext cx="3886200" cy="533400"/>
            </a:xfrm>
            <a:prstGeom prst="roundRect">
              <a:avLst>
                <a:gd name="adj" fmla="val 35714"/>
              </a:avLst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48" name="Group 48"/>
          <p:cNvGrpSpPr/>
          <p:nvPr/>
        </p:nvGrpSpPr>
        <p:grpSpPr>
          <a:xfrm>
            <a:off x="890016" y="2896552"/>
            <a:ext cx="3275876" cy="2196085"/>
            <a:chOff x="890016" y="2896552"/>
            <a:chExt cx="3275876" cy="2196085"/>
          </a:xfrm>
        </p:grpSpPr>
        <p:sp>
          <p:nvSpPr>
            <p:cNvPr id="36" name="TextBox 36"/>
            <p:cNvSpPr txBox="1"/>
            <p:nvPr/>
          </p:nvSpPr>
          <p:spPr>
            <a:xfrm>
              <a:off x="890016" y="2896552"/>
              <a:ext cx="1332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90016" y="3077528"/>
              <a:ext cx="7103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90016" y="3258502"/>
              <a:ext cx="12545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90016" y="3439478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90016" y="3620452"/>
              <a:ext cx="14100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90016" y="3801428"/>
              <a:ext cx="1699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90016" y="3982402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90016" y="4163378"/>
              <a:ext cx="1332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0016" y="4344352"/>
              <a:ext cx="17210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90016" y="4525328"/>
              <a:ext cx="24065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90016" y="4706302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90016" y="4887278"/>
              <a:ext cx="3275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print("口令错误。还可尝试", 3-tries, "次。")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49" name="Rectangle 49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52" name="Rectangle 52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55" name="Group 55"/>
          <p:cNvGrpSpPr/>
          <p:nvPr/>
        </p:nvGrpSpPr>
        <p:grpSpPr>
          <a:xfrm>
            <a:off x="8465820" y="5664518"/>
            <a:ext cx="2194560" cy="264033"/>
            <a:chOff x="8465820" y="5664518"/>
            <a:chExt cx="2194560" cy="264033"/>
          </a:xfrm>
        </p:grpSpPr>
        <p:sp>
          <p:nvSpPr>
            <p:cNvPr id="54" name="TextBox 54"/>
            <p:cNvSpPr txBox="1"/>
            <p:nvPr/>
          </p:nvSpPr>
          <p:spPr>
            <a:xfrm>
              <a:off x="8465820" y="56645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点击运行，终端才开始输出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9158725" y="5656421"/>
            <a:ext cx="808749" cy="278702"/>
            <a:chOff x="9158725" y="5656421"/>
            <a:chExt cx="808749" cy="278702"/>
          </a:xfrm>
        </p:grpSpPr>
        <p:sp>
          <p:nvSpPr>
            <p:cNvPr id="56" name="TextBox 56"/>
            <p:cNvSpPr txBox="1"/>
            <p:nvPr/>
          </p:nvSpPr>
          <p:spPr>
            <a:xfrm>
              <a:off x="9158725" y="5656421"/>
              <a:ext cx="8087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运行中……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9043073" y="5656421"/>
            <a:ext cx="1040054" cy="278702"/>
            <a:chOff x="9043073" y="5656421"/>
            <a:chExt cx="1040054" cy="278702"/>
          </a:xfrm>
        </p:grpSpPr>
        <p:sp>
          <p:nvSpPr>
            <p:cNvPr id="58" name="TextBox 58"/>
            <p:cNvSpPr txBox="1"/>
            <p:nvPr/>
          </p:nvSpPr>
          <p:spPr>
            <a:xfrm>
              <a:off x="9043073" y="5656421"/>
              <a:ext cx="10400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验证完成 ✓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90016" y="2896552"/>
            <a:ext cx="3275876" cy="2196085"/>
            <a:chOff x="890016" y="2896552"/>
            <a:chExt cx="3275876" cy="2196085"/>
          </a:xfrm>
        </p:grpSpPr>
        <p:sp>
          <p:nvSpPr>
            <p:cNvPr id="60" name="TextBox 60"/>
            <p:cNvSpPr txBox="1"/>
            <p:nvPr/>
          </p:nvSpPr>
          <p:spPr>
            <a:xfrm>
              <a:off x="890016" y="2896552"/>
              <a:ext cx="1332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90016" y="3077528"/>
              <a:ext cx="7103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90016" y="3258502"/>
              <a:ext cx="12545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90016" y="3439478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90016" y="3620452"/>
              <a:ext cx="14100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90016" y="3801428"/>
              <a:ext cx="1699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90016" y="3982402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90016" y="4163378"/>
              <a:ext cx="1332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90016" y="4344352"/>
              <a:ext cx="17210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90016" y="4525328"/>
              <a:ext cx="24065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90016" y="4706302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90016" y="4887278"/>
              <a:ext cx="3275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print("口令错误。还可尝试", 3-tries, "次。")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73" name="Rectangle 73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76" name="Rectangle 76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79" name="Group 79"/>
          <p:cNvGrpSpPr/>
          <p:nvPr/>
        </p:nvGrpSpPr>
        <p:grpSpPr>
          <a:xfrm>
            <a:off x="7839075" y="3436144"/>
            <a:ext cx="272136" cy="366712"/>
            <a:chOff x="7839075" y="3436144"/>
            <a:chExt cx="272136" cy="366712"/>
          </a:xfrm>
        </p:grpSpPr>
        <p:sp>
          <p:nvSpPr>
            <p:cNvPr id="78" name="TextBox 78"/>
            <p:cNvSpPr txBox="1"/>
            <p:nvPr/>
          </p:nvSpPr>
          <p:spPr>
            <a:xfrm>
              <a:off x="783907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不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8086725" y="3436144"/>
            <a:ext cx="272136" cy="366712"/>
            <a:chOff x="8086725" y="3436144"/>
            <a:chExt cx="272136" cy="366712"/>
          </a:xfrm>
        </p:grpSpPr>
        <p:sp>
          <p:nvSpPr>
            <p:cNvPr id="80" name="TextBox 80"/>
            <p:cNvSpPr txBox="1"/>
            <p:nvPr/>
          </p:nvSpPr>
          <p:spPr>
            <a:xfrm>
              <a:off x="808672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能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8334375" y="3436144"/>
            <a:ext cx="272136" cy="366712"/>
            <a:chOff x="8334375" y="3436144"/>
            <a:chExt cx="272136" cy="366712"/>
          </a:xfrm>
        </p:grpSpPr>
        <p:sp>
          <p:nvSpPr>
            <p:cNvPr id="82" name="TextBox 82"/>
            <p:cNvSpPr txBox="1"/>
            <p:nvPr/>
          </p:nvSpPr>
          <p:spPr>
            <a:xfrm>
              <a:off x="833437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输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8582025" y="3436144"/>
            <a:ext cx="272136" cy="366712"/>
            <a:chOff x="8582025" y="3436144"/>
            <a:chExt cx="272136" cy="366712"/>
          </a:xfrm>
        </p:grpSpPr>
        <p:sp>
          <p:nvSpPr>
            <p:cNvPr id="84" name="TextBox 84"/>
            <p:cNvSpPr txBox="1"/>
            <p:nvPr/>
          </p:nvSpPr>
          <p:spPr>
            <a:xfrm>
              <a:off x="858202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入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8829675" y="3436144"/>
            <a:ext cx="272136" cy="366712"/>
            <a:chOff x="8829675" y="3436144"/>
            <a:chExt cx="272136" cy="366712"/>
          </a:xfrm>
        </p:grpSpPr>
        <p:sp>
          <p:nvSpPr>
            <p:cNvPr id="86" name="TextBox 86"/>
            <p:cNvSpPr txBox="1"/>
            <p:nvPr/>
          </p:nvSpPr>
          <p:spPr>
            <a:xfrm>
              <a:off x="882967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空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077325" y="3436144"/>
            <a:ext cx="272136" cy="366712"/>
            <a:chOff x="9077325" y="3436144"/>
            <a:chExt cx="272136" cy="366712"/>
          </a:xfrm>
        </p:grpSpPr>
        <p:sp>
          <p:nvSpPr>
            <p:cNvPr id="88" name="TextBox 88"/>
            <p:cNvSpPr txBox="1"/>
            <p:nvPr/>
          </p:nvSpPr>
          <p:spPr>
            <a:xfrm>
              <a:off x="907732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白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9324975" y="3436144"/>
            <a:ext cx="272136" cy="366712"/>
            <a:chOff x="9324975" y="3436144"/>
            <a:chExt cx="272136" cy="366712"/>
          </a:xfrm>
        </p:grpSpPr>
        <p:sp>
          <p:nvSpPr>
            <p:cNvPr id="90" name="TextBox 90"/>
            <p:cNvSpPr txBox="1"/>
            <p:nvPr/>
          </p:nvSpPr>
          <p:spPr>
            <a:xfrm>
              <a:off x="9324975" y="3436144"/>
              <a:ext cx="27213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！</a:t>
              </a:r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890016" y="2896552"/>
            <a:ext cx="3275876" cy="2196085"/>
            <a:chOff x="890016" y="2896552"/>
            <a:chExt cx="3275876" cy="2196085"/>
          </a:xfrm>
        </p:grpSpPr>
        <p:sp>
          <p:nvSpPr>
            <p:cNvPr id="92" name="TextBox 92"/>
            <p:cNvSpPr txBox="1"/>
            <p:nvPr/>
          </p:nvSpPr>
          <p:spPr>
            <a:xfrm>
              <a:off x="890016" y="2896552"/>
              <a:ext cx="1332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890016" y="3077528"/>
              <a:ext cx="7103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890016" y="3258502"/>
              <a:ext cx="12545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890016" y="3439478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890016" y="3620452"/>
              <a:ext cx="14100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890016" y="3801428"/>
              <a:ext cx="1699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0016" y="3982402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90016" y="4163378"/>
              <a:ext cx="1332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890016" y="4344352"/>
              <a:ext cx="17210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890016" y="4525328"/>
              <a:ext cx="24065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890016" y="4706302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90016" y="4887278"/>
              <a:ext cx="3275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print("口令错误。还可尝试", 3-tries, "次。")</a:t>
              </a:r>
            </a:p>
          </p:txBody>
        </p:sp>
      </p:grpSp>
      <p:grpSp>
        <p:nvGrpSpPr>
          <p:cNvPr id="107" name="Group 107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105" name="Rectangle 105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108" name="Rectangle 108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11" name="Group 111"/>
          <p:cNvGrpSpPr/>
          <p:nvPr/>
        </p:nvGrpSpPr>
        <p:grpSpPr>
          <a:xfrm>
            <a:off x="7841361" y="3237071"/>
            <a:ext cx="2432657" cy="278702"/>
            <a:chOff x="7841361" y="3237071"/>
            <a:chExt cx="2432657" cy="278702"/>
          </a:xfrm>
        </p:grpSpPr>
        <p:sp>
          <p:nvSpPr>
            <p:cNvPr id="110" name="TextBox 110"/>
            <p:cNvSpPr txBox="1"/>
            <p:nvPr/>
          </p:nvSpPr>
          <p:spPr>
            <a:xfrm>
              <a:off x="7841361" y="3237071"/>
              <a:ext cx="2432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口令错误。还可尝试 2 次。</a:t>
              </a:r>
            </a:p>
          </p:txBody>
        </p:sp>
      </p:grpSp>
      <p:grpSp>
        <p:nvGrpSpPr>
          <p:cNvPr id="113" name="Group 113"/>
          <p:cNvGrpSpPr/>
          <p:nvPr/>
        </p:nvGrpSpPr>
        <p:grpSpPr>
          <a:xfrm>
            <a:off x="7841361" y="3637121"/>
            <a:ext cx="2432657" cy="278702"/>
            <a:chOff x="7841361" y="3637121"/>
            <a:chExt cx="2432657" cy="278702"/>
          </a:xfrm>
        </p:grpSpPr>
        <p:sp>
          <p:nvSpPr>
            <p:cNvPr id="112" name="TextBox 112"/>
            <p:cNvSpPr txBox="1"/>
            <p:nvPr/>
          </p:nvSpPr>
          <p:spPr>
            <a:xfrm>
              <a:off x="7841361" y="3637121"/>
              <a:ext cx="2432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口令错误。还可尝试 1 次。</a:t>
              </a:r>
            </a:p>
          </p:txBody>
        </p:sp>
      </p:grpSp>
      <p:grpSp>
        <p:nvGrpSpPr>
          <p:cNvPr id="115" name="Group 115"/>
          <p:cNvGrpSpPr/>
          <p:nvPr/>
        </p:nvGrpSpPr>
        <p:grpSpPr>
          <a:xfrm>
            <a:off x="7841361" y="4037171"/>
            <a:ext cx="2432657" cy="278702"/>
            <a:chOff x="7841361" y="4037171"/>
            <a:chExt cx="2432657" cy="278702"/>
          </a:xfrm>
        </p:grpSpPr>
        <p:sp>
          <p:nvSpPr>
            <p:cNvPr id="114" name="TextBox 114"/>
            <p:cNvSpPr txBox="1"/>
            <p:nvPr/>
          </p:nvSpPr>
          <p:spPr>
            <a:xfrm>
              <a:off x="7841361" y="4037171"/>
              <a:ext cx="2432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口令错误。还可尝试 0 次。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7841361" y="4437221"/>
            <a:ext cx="2499563" cy="278702"/>
            <a:chOff x="7841361" y="4437221"/>
            <a:chExt cx="2499563" cy="278702"/>
          </a:xfrm>
        </p:grpSpPr>
        <p:sp>
          <p:nvSpPr>
            <p:cNvPr id="116" name="TextBox 116"/>
            <p:cNvSpPr txBox="1"/>
            <p:nvPr/>
          </p:nvSpPr>
          <p:spPr>
            <a:xfrm>
              <a:off x="7841361" y="4437221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三次机会已用完，任务暂停。</a:t>
              </a:r>
            </a:p>
          </p:txBody>
        </p:sp>
      </p:grpSp>
      <p:grpSp>
        <p:nvGrpSpPr>
          <p:cNvPr id="130" name="Group 130"/>
          <p:cNvGrpSpPr/>
          <p:nvPr/>
        </p:nvGrpSpPr>
        <p:grpSpPr>
          <a:xfrm>
            <a:off x="890016" y="2896552"/>
            <a:ext cx="3275876" cy="2196085"/>
            <a:chOff x="890016" y="2896552"/>
            <a:chExt cx="3275876" cy="2196085"/>
          </a:xfrm>
        </p:grpSpPr>
        <p:sp>
          <p:nvSpPr>
            <p:cNvPr id="118" name="TextBox 118"/>
            <p:cNvSpPr txBox="1"/>
            <p:nvPr/>
          </p:nvSpPr>
          <p:spPr>
            <a:xfrm>
              <a:off x="890016" y="2896552"/>
              <a:ext cx="1332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secret = "python"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890016" y="3077528"/>
              <a:ext cx="7103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0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890016" y="3258502"/>
              <a:ext cx="12545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 tries &lt; 3: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890016" y="3439478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password = input("请输入特工口令：")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890016" y="3620452"/>
              <a:ext cx="14100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"":</a:t>
              </a:r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890016" y="3801428"/>
              <a:ext cx="1699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print("不能输入空白！")</a:t>
              </a:r>
            </a:p>
          </p:txBody>
        </p:sp>
        <p:sp>
          <p:nvSpPr>
            <p:cNvPr id="124" name="TextBox 124"/>
            <p:cNvSpPr txBox="1"/>
            <p:nvPr/>
          </p:nvSpPr>
          <p:spPr>
            <a:xfrm>
              <a:off x="890016" y="3982402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890016" y="4163378"/>
              <a:ext cx="1332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03044"/>
                  </a:solidFill>
                  <a:latin typeface="Consolas"/>
                  <a:ea typeface="Consolas"/>
                  <a:cs typeface="Consolas"/>
                </a:rPr>
                <a:t>tries = tries + 1</a:t>
              </a:r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890016" y="4344352"/>
              <a:ext cx="17210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if password == secret:</a:t>
              </a:r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890016" y="4525328"/>
              <a:ext cx="24065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print("身份确认成功，欢迎特工！")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890016" y="4706302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890016" y="4887278"/>
              <a:ext cx="3275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03044"/>
                  </a:solidFill>
                  <a:latin typeface="Consolas"/>
                  <a:ea typeface="Microsoft YaHei"/>
                  <a:cs typeface="Consolas"/>
                </a:rPr>
                <a:t>print("口令错误。还可尝试", 3-tries, "次。")</a:t>
              </a:r>
            </a:p>
          </p:txBody>
        </p:sp>
      </p:grpSp>
      <p:grpSp>
        <p:nvGrpSpPr>
          <p:cNvPr id="133" name="Group 133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131" name="Rectangle 131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32" name="TextBox 132"/>
            <p:cNvSpPr txBox="1"/>
            <p:nvPr/>
          </p:nvSpPr>
          <p:spPr>
            <a:xfrm>
              <a:off x="5348608" y="5668804"/>
              <a:ext cx="1056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▶ 运行程序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4819650" y="5505450"/>
            <a:ext cx="2114550" cy="514350"/>
            <a:chOff x="4819650" y="5505450"/>
            <a:chExt cx="2114550" cy="514350"/>
          </a:xfrm>
        </p:grpSpPr>
        <p:sp>
          <p:nvSpPr>
            <p:cNvPr id="134" name="Rectangle 134"/>
            <p:cNvSpPr/>
            <p:nvPr/>
          </p:nvSpPr>
          <p:spPr>
            <a:xfrm>
              <a:off x="4819650" y="5505450"/>
              <a:ext cx="2114550" cy="514350"/>
            </a:xfrm>
            <a:prstGeom prst="roundRect">
              <a:avLst>
                <a:gd name="adj" fmla="val 40741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137" name="Group 137"/>
          <p:cNvGrpSpPr/>
          <p:nvPr/>
        </p:nvGrpSpPr>
        <p:grpSpPr>
          <a:xfrm>
            <a:off x="7841361" y="3237071"/>
            <a:ext cx="2432657" cy="278702"/>
            <a:chOff x="7841361" y="3237071"/>
            <a:chExt cx="2432657" cy="278702"/>
          </a:xfrm>
        </p:grpSpPr>
        <p:sp>
          <p:nvSpPr>
            <p:cNvPr id="136" name="TextBox 136"/>
            <p:cNvSpPr txBox="1"/>
            <p:nvPr/>
          </p:nvSpPr>
          <p:spPr>
            <a:xfrm>
              <a:off x="7841361" y="3237071"/>
              <a:ext cx="2432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口令错误。还可尝试 2 次。</a:t>
              </a:r>
            </a:p>
          </p:txBody>
        </p:sp>
      </p:grpSp>
      <p:grpSp>
        <p:nvGrpSpPr>
          <p:cNvPr id="139" name="Group 139"/>
          <p:cNvGrpSpPr/>
          <p:nvPr/>
        </p:nvGrpSpPr>
        <p:grpSpPr>
          <a:xfrm>
            <a:off x="7841361" y="3637121"/>
            <a:ext cx="2308403" cy="278702"/>
            <a:chOff x="7841361" y="3637121"/>
            <a:chExt cx="2308403" cy="278702"/>
          </a:xfrm>
        </p:grpSpPr>
        <p:sp>
          <p:nvSpPr>
            <p:cNvPr id="138" name="TextBox 138"/>
            <p:cNvSpPr txBox="1"/>
            <p:nvPr/>
          </p:nvSpPr>
          <p:spPr>
            <a:xfrm>
              <a:off x="7841361" y="36371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身份确认成功，欢迎特工！</a:t>
              </a:r>
            </a:p>
          </p:txBody>
        </p:sp>
      </p:grpSp>
      <p:grpSp>
        <p:nvGrpSpPr>
          <p:cNvPr id="142" name="Group 142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140" name="TextBox 140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141" name="TextBox 141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27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42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6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6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7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8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8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8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0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1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1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1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2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8" fill="hold">
                      <p:stCondLst>
                        <p:cond delay="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3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8" fill="hold">
                      <p:stCondLst>
                        <p:cond delay="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4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3" fill="hold">
                      <p:stCondLst>
                        <p:cond delay="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8" fill="hold">
                      <p:stCondLst>
                        <p:cond delay="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5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8" fill="hold">
                      <p:stCondLst>
                        <p:cond delay="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6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3" fill="hold">
                      <p:stCondLst>
                        <p:cond delay="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7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3" fill="hold">
                      <p:stCondLst>
                        <p:cond delay="0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7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7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8" fill="hold">
                      <p:stCondLst>
                        <p:cond delay="0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8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3" fill="hold">
                      <p:stCondLst>
                        <p:cond delay="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8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8" fill="hold">
                      <p:stCondLst>
                        <p:cond delay="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9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3" fill="hold">
                      <p:stCondLst>
                        <p:cond delay="0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0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3" fill="hold">
                      <p:stCondLst>
                        <p:cond delay="0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0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8" fill="hold">
                      <p:stCondLst>
                        <p:cond delay="0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1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1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8" fill="hold">
                      <p:stCondLst>
                        <p:cond delay="0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2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3" fill="hold">
                      <p:stCondLst>
                        <p:cond delay="0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2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8" fill="hold">
                      <p:stCondLst>
                        <p:cond delay="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3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3" fill="hold">
                      <p:stCondLst>
                        <p:cond delay="0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3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8" fill="hold">
                      <p:stCondLst>
                        <p:cond delay="0"/>
                      </p:stCondLst>
                      <p:childTnLst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4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3" fill="hold">
                      <p:stCondLst>
                        <p:cond delay="0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4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4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3" fill="hold">
                      <p:stCondLst>
                        <p:cond delay="0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6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8" fill="hold">
                      <p:stCondLst>
                        <p:cond delay="0"/>
                      </p:stCondLst>
                      <p:childTnLst>
                        <p:par>
                          <p:cTn id="2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7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3" fill="hold">
                      <p:stCondLst>
                        <p:cond delay="0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7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8" fill="hold">
                      <p:stCondLst>
                        <p:cond delay="0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8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3" fill="hold">
                      <p:stCondLst>
                        <p:cond delay="0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8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92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3" fill="hold">
                      <p:stCondLst>
                        <p:cond delay="0"/>
                      </p:stCondLst>
                      <p:childTnLst>
                        <p:par>
                          <p:cTn id="29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9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297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8" fill="hold">
                      <p:stCondLst>
                        <p:cond delay="0"/>
                      </p:stCondLst>
                      <p:childTnLst>
                        <p:par>
                          <p:cTn id="29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302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3" fill="hold">
                      <p:stCondLst>
                        <p:cond delay="0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5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307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8" fill="hold">
                      <p:stCondLst>
                        <p:cond delay="0"/>
                      </p:stCondLst>
                      <p:childTnLst>
                        <p:par>
                          <p:cTn id="30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0" presetID="1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  <p:seq concurrent="1" nextAc="seek">
              <p:cTn id="31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3" fill="hold">
                      <p:stCondLst>
                        <p:cond delay="0"/>
                      </p:stCondLst>
                      <p:childTnLst>
                        <p:par>
                          <p:cTn id="3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31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8" fill="hold">
                      <p:stCondLst>
                        <p:cond delay="0"/>
                      </p:stCondLst>
                      <p:childTnLst>
                        <p:par>
                          <p:cTn id="3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2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3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3" fill="hold">
                      <p:stCondLst>
                        <p:cond delay="0"/>
                      </p:stCondLst>
                      <p:childTnLst>
                        <p:par>
                          <p:cTn id="3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2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3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33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3" fill="hold">
                      <p:stCondLst>
                        <p:cond delay="0"/>
                      </p:stCondLst>
                      <p:childTnLst>
                        <p:par>
                          <p:cTn id="3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3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33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8" fill="hold">
                      <p:stCondLst>
                        <p:cond delay="0"/>
                      </p:stCondLst>
                      <p:childTnLst>
                        <p:par>
                          <p:cTn id="3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4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4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3" fill="hold">
                      <p:stCondLst>
                        <p:cond delay="0"/>
                      </p:stCondLst>
                      <p:childTnLst>
                        <p:par>
                          <p:cTn id="3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4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3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8" fill="hold">
                      <p:stCondLst>
                        <p:cond delay="0"/>
                      </p:stCondLst>
                      <p:childTnLst>
                        <p:par>
                          <p:cTn id="3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0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35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3" fill="hold">
                      <p:stCondLst>
                        <p:cond delay="0"/>
                      </p:stCondLst>
                      <p:childTnLst>
                        <p:par>
                          <p:cTn id="3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5" presetID="1" presetClass="exit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57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8" fill="hold">
                      <p:stCondLst>
                        <p:cond delay="0"/>
                      </p:stCondLst>
                      <p:childTnLst>
                        <p:par>
                          <p:cTn id="3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60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6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3" fill="hold">
                      <p:stCondLst>
                        <p:cond delay="0"/>
                      </p:stCondLst>
                      <p:childTnLst>
                        <p:par>
                          <p:cTn id="3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65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367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8" fill="hold">
                      <p:stCondLst>
                        <p:cond delay="0"/>
                      </p:stCondLst>
                      <p:childTnLst>
                        <p:par>
                          <p:cTn id="3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70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372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3" fill="hold">
                      <p:stCondLst>
                        <p:cond delay="0"/>
                      </p:stCondLst>
                      <p:childTnLst>
                        <p:par>
                          <p:cTn id="3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75" presetID="1" presetClass="exit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  <p:seq concurrent="1" nextAc="seek">
              <p:cTn id="377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8" fill="hold">
                      <p:stCondLst>
                        <p:cond delay="0"/>
                      </p:stCondLst>
                      <p:childTnLst>
                        <p:par>
                          <p:cTn id="3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80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38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3" fill="hold">
                      <p:stCondLst>
                        <p:cond delay="0"/>
                      </p:stCondLst>
                      <p:childTnLst>
                        <p:par>
                          <p:cTn id="3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85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38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8" fill="hold">
                      <p:stCondLst>
                        <p:cond delay="0"/>
                      </p:stCondLst>
                      <p:childTnLst>
                        <p:par>
                          <p:cTn id="3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90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95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39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8" fill="hold">
                      <p:stCondLst>
                        <p:cond delay="0"/>
                      </p:stCondLst>
                      <p:childTnLst>
                        <p:par>
                          <p:cTn id="39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0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0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3" fill="hold">
                      <p:stCondLst>
                        <p:cond delay="0"/>
                      </p:stCondLst>
                      <p:childTnLst>
                        <p:par>
                          <p:cTn id="40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05" presetID="1" presetClass="entr" presetSubtype="0" fill="hold" grpId="0" nodeType="clickEffect" restart="always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07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8" fill="hold">
                      <p:stCondLst>
                        <p:cond delay="0"/>
                      </p:stCondLst>
                      <p:childTnLst>
                        <p:par>
                          <p:cTn id="40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10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412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3" fill="hold">
                      <p:stCondLst>
                        <p:cond delay="0"/>
                      </p:stCondLst>
                      <p:childTnLst>
                        <p:par>
                          <p:cTn id="4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15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417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8" fill="hold">
                      <p:stCondLst>
                        <p:cond delay="0"/>
                      </p:stCondLst>
                      <p:childTnLst>
                        <p:par>
                          <p:cTn id="4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20" presetID="1" presetClass="entr" presetSubtype="0" fill="hold" grpId="0" nodeType="clickEffect" restart="always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  <p:seq concurrent="1" nextAc="seek">
              <p:cTn id="422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3" fill="hold">
                      <p:stCondLst>
                        <p:cond delay="0"/>
                      </p:stCondLst>
                      <p:childTnLst>
                        <p:par>
                          <p:cTn id="4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25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427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8" fill="hold">
                      <p:stCondLst>
                        <p:cond delay="0"/>
                      </p:stCondLst>
                      <p:childTnLst>
                        <p:par>
                          <p:cTn id="4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30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432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3" fill="hold">
                      <p:stCondLst>
                        <p:cond delay="0"/>
                      </p:stCondLst>
                      <p:childTnLst>
                        <p:par>
                          <p:cTn id="4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35" presetID="1" presetClass="entr" presetSubtype="0" fill="hold" grpId="0" nodeType="clickEffect" restart="always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  <p:seq concurrent="1" nextAc="seek">
              <p:cTn id="437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8" fill="hold">
                      <p:stCondLst>
                        <p:cond delay="0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40" presetID="1" presetClass="entr" presetSubtype="0" fill="hold" grpId="0" nodeType="clickEffect" restart="always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442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3" fill="hold">
                      <p:stCondLst>
                        <p:cond delay="0"/>
                      </p:stCondLst>
                      <p:childTnLst>
                        <p:par>
                          <p:cTn id="44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45" presetID="1" presetClass="entr" presetSubtype="0" fill="hold" grpId="0" nodeType="clickEffect" restart="always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447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8" fill="hold">
                      <p:stCondLst>
                        <p:cond delay="0"/>
                      </p:stCondLst>
                      <p:childTnLst>
                        <p:par>
                          <p:cTn id="44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50" presetID="1" presetClass="entr" presetSubtype="0" fill="hold" grpId="0" nodeType="clickEffect" restart="always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452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3" fill="hold">
                      <p:stCondLst>
                        <p:cond delay="0"/>
                      </p:stCondLst>
                      <p:childTnLst>
                        <p:par>
                          <p:cTn id="45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55" presetID="1" presetClass="entr" presetSubtype="0" fill="hold" grpId="0" nodeType="clickEffect" restart="always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457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8" fill="hold">
                      <p:stCondLst>
                        <p:cond delay="0"/>
                      </p:stCondLst>
                      <p:childTnLst>
                        <p:par>
                          <p:cTn id="45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60" presetID="1" presetClass="entr" presetSubtype="0" fill="hold" grpId="0" nodeType="clickEffect" restart="always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462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3" fill="hold">
                      <p:stCondLst>
                        <p:cond delay="0"/>
                      </p:stCondLst>
                      <p:childTnLst>
                        <p:par>
                          <p:cTn id="46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65" presetID="1" presetClass="entr" presetSubtype="0" fill="hold" grpId="0" nodeType="clickEffect" restart="always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467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8" fill="hold">
                      <p:stCondLst>
                        <p:cond delay="0"/>
                      </p:stCondLst>
                      <p:childTnLst>
                        <p:par>
                          <p:cTn id="46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70" presetID="1" presetClass="entr" presetSubtype="0" fill="hold" grpId="0" nodeType="clickEffect" restart="always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472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3" fill="hold">
                      <p:stCondLst>
                        <p:cond delay="0"/>
                      </p:stCondLst>
                      <p:childTnLst>
                        <p:par>
                          <p:cTn id="47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75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477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8" fill="hold">
                      <p:stCondLst>
                        <p:cond delay="0"/>
                      </p:stCondLst>
                      <p:childTnLst>
                        <p:par>
                          <p:cTn id="47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80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482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3" fill="hold">
                      <p:stCondLst>
                        <p:cond delay="0"/>
                      </p:stCondLst>
                      <p:childTnLst>
                        <p:par>
                          <p:cTn id="48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85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487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8" fill="hold">
                      <p:stCondLst>
                        <p:cond delay="0"/>
                      </p:stCondLst>
                      <p:childTnLst>
                        <p:par>
                          <p:cTn id="48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490" presetID="1" presetClass="entr" presetSubtype="0" fill="hold" grpId="0" nodeType="clickEffect" restart="always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7118683" cy="727901"/>
            <a:chOff x="457200" y="342900"/>
            <a:chExt cx="7118683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680931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continue 放哪里，决定空白算不算一次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先比较两种顺序，再揭晓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7200" y="1257300"/>
            <a:ext cx="5372100" cy="4667250"/>
            <a:chOff x="457200" y="1257300"/>
            <a:chExt cx="5372100" cy="4667250"/>
          </a:xfrm>
        </p:grpSpPr>
        <p:sp>
          <p:nvSpPr>
            <p:cNvPr id="6" name="Rectangle 6"/>
            <p:cNvSpPr/>
            <p:nvPr/>
          </p:nvSpPr>
          <p:spPr>
            <a:xfrm>
              <a:off x="457200" y="1257300"/>
              <a:ext cx="5372100" cy="4667250"/>
            </a:xfrm>
            <a:prstGeom prst="roundRect">
              <a:avLst>
                <a:gd name="adj" fmla="val 6939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0382" y="14878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两种写法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771525" y="20193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037" y="1966436"/>
              <a:ext cx="43184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A：先判断空白 → continue → 再 tries + 1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1525" y="253365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8037" y="2480786"/>
              <a:ext cx="43184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B：先 tries + 1 → 再判断空白 → continue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1525" y="3048000"/>
              <a:ext cx="133350" cy="1333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8037" y="2995136"/>
              <a:ext cx="281923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目标：空白输入“不计次数”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0" y="1257300"/>
            <a:ext cx="5638800" cy="4667250"/>
            <a:chOff x="6096000" y="1257300"/>
            <a:chExt cx="5638800" cy="46672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257300"/>
              <a:ext cx="5638800" cy="4667250"/>
            </a:xfrm>
            <a:prstGeom prst="roundRect">
              <a:avLst>
                <a:gd name="adj" fmla="val 6939"/>
              </a:avLst>
            </a:prstGeom>
            <a:solidFill>
              <a:srgbClr val="E9FBEF"/>
            </a:solidFill>
            <a:ln w="19050">
              <a:solidFill>
                <a:srgbClr val="BDECC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8232" y="1487805"/>
              <a:ext cx="17814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正确顺序是 A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8618" y="1993582"/>
              <a:ext cx="300431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空白时应在计数之前 continue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8618" y="2488882"/>
              <a:ext cx="203808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这样 tries 不会增加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8618" y="2984182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记忆：先过滤无效输入，再计数有效尝试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1" name="Rectangle 21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FFFF">
                <a:alpha val="100"/>
              </a:srgbClr>
            </a:solidFill>
            <a:ln>
              <a:noFill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9505950" y="5429250"/>
            <a:ext cx="2000250" cy="495300"/>
            <a:chOff x="9505950" y="5429250"/>
            <a:chExt cx="2000250" cy="495300"/>
          </a:xfrm>
        </p:grpSpPr>
        <p:sp>
          <p:nvSpPr>
            <p:cNvPr id="23" name="Rectangle 23"/>
            <p:cNvSpPr/>
            <p:nvPr/>
          </p:nvSpPr>
          <p:spPr>
            <a:xfrm>
              <a:off x="9505950" y="5429250"/>
              <a:ext cx="2000250" cy="495300"/>
            </a:xfrm>
            <a:prstGeom prst="roundRect">
              <a:avLst>
                <a:gd name="adj" fmla="val 42308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094595" y="5591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点击揭晓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6" name="TextBox 26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28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 restart="always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547567" cy="727901"/>
            <a:chOff x="457200" y="342900"/>
            <a:chExt cx="5547567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2381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项目实施：5步完成三次口令门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基础版先跑通，再做个性化修改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143000" y="1352550"/>
            <a:ext cx="9906000" cy="704850"/>
            <a:chOff x="1143000" y="1352550"/>
            <a:chExt cx="9906000" cy="704850"/>
          </a:xfrm>
        </p:grpSpPr>
        <p:sp>
          <p:nvSpPr>
            <p:cNvPr id="6" name="Rectangle 6"/>
            <p:cNvSpPr/>
            <p:nvPr/>
          </p:nvSpPr>
          <p:spPr>
            <a:xfrm>
              <a:off x="1143000" y="135255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343025" y="1466850"/>
              <a:ext cx="476250" cy="4762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15223" y="16192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029968" y="14792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口令游戏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31492" y="1759268"/>
              <a:ext cx="15130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说出“继续 / 停止”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3000" y="2247900"/>
            <a:ext cx="9906000" cy="704850"/>
            <a:chOff x="1143000" y="2247900"/>
            <a:chExt cx="9906000" cy="704850"/>
          </a:xfrm>
        </p:grpSpPr>
        <p:sp>
          <p:nvSpPr>
            <p:cNvPr id="12" name="Rectangle 12"/>
            <p:cNvSpPr/>
            <p:nvPr/>
          </p:nvSpPr>
          <p:spPr>
            <a:xfrm>
              <a:off x="1143000" y="224790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343025" y="2362200"/>
              <a:ext cx="476250" cy="47625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15223" y="251460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29968" y="2374582"/>
              <a:ext cx="8114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数到3停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31492" y="2654618"/>
              <a:ext cx="15312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确认 count 会变化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43000" y="3143250"/>
            <a:ext cx="9906000" cy="704850"/>
            <a:chOff x="1143000" y="3143250"/>
            <a:chExt cx="9906000" cy="704850"/>
          </a:xfrm>
        </p:grpSpPr>
        <p:sp>
          <p:nvSpPr>
            <p:cNvPr id="18" name="Rectangle 18"/>
            <p:cNvSpPr/>
            <p:nvPr/>
          </p:nvSpPr>
          <p:spPr>
            <a:xfrm>
              <a:off x="1143000" y="314325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1343025" y="3257550"/>
              <a:ext cx="476250" cy="47625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515223" y="34099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29968" y="3269932"/>
              <a:ext cx="11723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体验 break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31492" y="35499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正确就提前结束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43000" y="4038600"/>
            <a:ext cx="9906000" cy="704850"/>
            <a:chOff x="1143000" y="4038600"/>
            <a:chExt cx="9906000" cy="704850"/>
          </a:xfrm>
        </p:grpSpPr>
        <p:sp>
          <p:nvSpPr>
            <p:cNvPr id="24" name="Rectangle 24"/>
            <p:cNvSpPr/>
            <p:nvPr/>
          </p:nvSpPr>
          <p:spPr>
            <a:xfrm>
              <a:off x="1143000" y="403860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1343025" y="4152900"/>
              <a:ext cx="476250" cy="47625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15223" y="430530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29968" y="4165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完成三次门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31492" y="4445318"/>
              <a:ext cx="18856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测试空白 / 错误 / 正确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43000" y="4933950"/>
            <a:ext cx="9906000" cy="704850"/>
            <a:chOff x="1143000" y="4933950"/>
            <a:chExt cx="9906000" cy="704850"/>
          </a:xfrm>
        </p:grpSpPr>
        <p:sp>
          <p:nvSpPr>
            <p:cNvPr id="30" name="Rectangle 30"/>
            <p:cNvSpPr/>
            <p:nvPr/>
          </p:nvSpPr>
          <p:spPr>
            <a:xfrm>
              <a:off x="1143000" y="4933950"/>
              <a:ext cx="9906000" cy="704850"/>
            </a:xfrm>
            <a:prstGeom prst="roundRect">
              <a:avLst>
                <a:gd name="adj" fmla="val 32432"/>
              </a:avLst>
            </a:prstGeom>
            <a:solidFill>
              <a:srgbClr val="FFFFFF"/>
            </a:solidFill>
            <a:ln w="19050">
              <a:solidFill>
                <a:srgbClr val="CFE5F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1343025" y="5048250"/>
              <a:ext cx="476250" cy="47625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515223" y="52006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029968" y="50606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同桌解释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31492" y="5340668"/>
              <a:ext cx="19764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说清 break 与 continue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36" name="TextBox 36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29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3791331" cy="727901"/>
            <a:chOff x="457200" y="342900"/>
            <a:chExt cx="3791331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348195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作品验收与同伴展示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能运行，还要能解释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2500" y="1581150"/>
            <a:ext cx="6191250" cy="685800"/>
            <a:chOff x="952500" y="1581150"/>
            <a:chExt cx="6191250" cy="685800"/>
          </a:xfrm>
        </p:grpSpPr>
        <p:sp>
          <p:nvSpPr>
            <p:cNvPr id="6" name="Rectangle 6"/>
            <p:cNvSpPr/>
            <p:nvPr/>
          </p:nvSpPr>
          <p:spPr>
            <a:xfrm>
              <a:off x="952500" y="1581150"/>
              <a:ext cx="6191250" cy="685800"/>
            </a:xfrm>
            <a:prstGeom prst="roundRect">
              <a:avLst>
                <a:gd name="adj" fmla="val 33333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162050" y="1733550"/>
              <a:ext cx="381000" cy="3810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38917" y="1828800"/>
              <a:ext cx="2272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✓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44599" y="1830229"/>
              <a:ext cx="29937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错误输入不会超过三次有效尝试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52500" y="2495550"/>
            <a:ext cx="6191250" cy="685800"/>
            <a:chOff x="952500" y="2495550"/>
            <a:chExt cx="6191250" cy="685800"/>
          </a:xfrm>
        </p:grpSpPr>
        <p:sp>
          <p:nvSpPr>
            <p:cNvPr id="11" name="Rectangle 11"/>
            <p:cNvSpPr/>
            <p:nvPr/>
          </p:nvSpPr>
          <p:spPr>
            <a:xfrm>
              <a:off x="952500" y="2495550"/>
              <a:ext cx="6191250" cy="685800"/>
            </a:xfrm>
            <a:prstGeom prst="roundRect">
              <a:avLst>
                <a:gd name="adj" fmla="val 33333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162050" y="2647950"/>
              <a:ext cx="381000" cy="3810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38917" y="2743200"/>
              <a:ext cx="2272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44599" y="2744629"/>
              <a:ext cx="25683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正确口令能够提前结束循环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2500" y="3409950"/>
            <a:ext cx="6191250" cy="685800"/>
            <a:chOff x="952500" y="3409950"/>
            <a:chExt cx="6191250" cy="685800"/>
          </a:xfrm>
        </p:grpSpPr>
        <p:sp>
          <p:nvSpPr>
            <p:cNvPr id="16" name="Rectangle 16"/>
            <p:cNvSpPr/>
            <p:nvPr/>
          </p:nvSpPr>
          <p:spPr>
            <a:xfrm>
              <a:off x="952500" y="3409950"/>
              <a:ext cx="6191250" cy="685800"/>
            </a:xfrm>
            <a:prstGeom prst="roundRect">
              <a:avLst>
                <a:gd name="adj" fmla="val 33333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162050" y="3562350"/>
              <a:ext cx="381000" cy="3810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238917" y="3657600"/>
              <a:ext cx="2272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✓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44599" y="3659029"/>
              <a:ext cx="27810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能够解释计数为什么必须增加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524750" y="1581150"/>
            <a:ext cx="3714750" cy="3429000"/>
            <a:chOff x="7524750" y="1581150"/>
            <a:chExt cx="3714750" cy="3429000"/>
          </a:xfrm>
        </p:grpSpPr>
        <p:sp>
          <p:nvSpPr>
            <p:cNvPr id="21" name="Rectangle 21"/>
            <p:cNvSpPr/>
            <p:nvPr/>
          </p:nvSpPr>
          <p:spPr>
            <a:xfrm>
              <a:off x="7524750" y="1581150"/>
              <a:ext cx="3714750" cy="3429000"/>
            </a:xfrm>
            <a:prstGeom prst="roundRect">
              <a:avLst>
                <a:gd name="adj" fmla="val 10000"/>
              </a:avLst>
            </a:prstGeom>
            <a:solidFill>
              <a:srgbClr val="EAF5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896225" y="1893094"/>
              <a:ext cx="1031392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展示句式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97749" y="2477929"/>
              <a:ext cx="131347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我的作品是……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97749" y="2935129"/>
              <a:ext cx="152616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我使用了……命令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97749" y="3392329"/>
              <a:ext cx="110077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我修改了……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97749" y="3849529"/>
              <a:ext cx="131347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下一次我想……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98892" y="4483418"/>
              <a:ext cx="18583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7B"/>
                  </a:solidFill>
                  <a:latin typeface="Arial"/>
                  <a:ea typeface="Microsoft YaHei"/>
                  <a:cs typeface="Arial"/>
                </a:rPr>
                <a:t>同伴只提 1 条友善建议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9" name="TextBox 29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30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57200" y="342900"/>
            <a:ext cx="5709666" cy="727901"/>
            <a:chOff x="457200" y="342900"/>
            <a:chExt cx="5709666" cy="727901"/>
          </a:xfrm>
        </p:grpSpPr>
        <p:sp>
          <p:nvSpPr>
            <p:cNvPr id="2" name="Rectangle 2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6572" y="35909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常见问题：先判断是哪一类错误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4192" y="806768"/>
              <a:ext cx="33031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停止、顺序、变量——三类问题三种检查法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6750" y="1676400"/>
            <a:ext cx="3390900" cy="3429000"/>
            <a:chOff x="666750" y="1676400"/>
            <a:chExt cx="3390900" cy="3429000"/>
          </a:xfrm>
        </p:grpSpPr>
        <p:sp>
          <p:nvSpPr>
            <p:cNvPr id="6" name="Rectangle 6"/>
            <p:cNvSpPr/>
            <p:nvPr/>
          </p:nvSpPr>
          <p:spPr>
            <a:xfrm>
              <a:off x="666750" y="1676400"/>
              <a:ext cx="3390900" cy="3429000"/>
            </a:xfrm>
            <a:prstGeom prst="roundRect">
              <a:avLst>
                <a:gd name="adj" fmla="val 10112"/>
              </a:avLst>
            </a:prstGeom>
            <a:solidFill>
              <a:srgbClr val="FFFFFF"/>
            </a:solidFill>
            <a:ln w="28575">
              <a:solidFill>
                <a:srgbClr val="FF6FA5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895350" y="1905000"/>
              <a:ext cx="457200" cy="457200"/>
            </a:xfrm>
            <a:prstGeom prst="ellipse">
              <a:avLst/>
            </a:prstGeom>
            <a:solidFill>
              <a:srgbClr val="FF6FA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80584" y="2031682"/>
              <a:ext cx="86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!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96187" y="2023586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循环停不下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3742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6FA5"/>
                  </a:solidFill>
                  <a:latin typeface="Arial"/>
                  <a:ea typeface="Microsoft YaHei"/>
                  <a:cs typeface="Arial"/>
                </a:rPr>
                <a:t>可能原因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980" y="307657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漏掉计数增加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3742" y="37214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处理方法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3742" y="40833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先停止，再检查计数是否变化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457700" y="1676400"/>
            <a:ext cx="3390900" cy="3429000"/>
            <a:chOff x="4457700" y="1676400"/>
            <a:chExt cx="3390900" cy="3429000"/>
          </a:xfrm>
        </p:grpSpPr>
        <p:sp>
          <p:nvSpPr>
            <p:cNvPr id="15" name="Rectangle 15"/>
            <p:cNvSpPr/>
            <p:nvPr/>
          </p:nvSpPr>
          <p:spPr>
            <a:xfrm>
              <a:off x="4457700" y="1676400"/>
              <a:ext cx="3390900" cy="3429000"/>
            </a:xfrm>
            <a:prstGeom prst="roundRect">
              <a:avLst>
                <a:gd name="adj" fmla="val 10112"/>
              </a:avLst>
            </a:prstGeom>
            <a:solidFill>
              <a:srgbClr val="FFFFFF"/>
            </a:solidFill>
            <a:ln w="28575">
              <a:solidFill>
                <a:srgbClr val="FF9F1C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4686300" y="1905000"/>
              <a:ext cx="457200" cy="457200"/>
            </a:xfrm>
            <a:prstGeom prst="ellipse">
              <a:avLst/>
            </a:prstGeom>
            <a:solidFill>
              <a:srgbClr val="FF9F1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71534" y="2031682"/>
              <a:ext cx="86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!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87137" y="2023586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空白也被计次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774692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9F1C"/>
                  </a:solidFill>
                  <a:latin typeface="Arial"/>
                  <a:ea typeface="Microsoft YaHei"/>
                  <a:cs typeface="Arial"/>
                </a:rPr>
                <a:t>可能原因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73930" y="3076575"/>
              <a:ext cx="19234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continue 放在计数后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74692" y="37214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处理方法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74692" y="4083368"/>
              <a:ext cx="22854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先过滤空白，再做 tries + 1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248650" y="1676400"/>
            <a:ext cx="3390900" cy="3429000"/>
            <a:chOff x="8248650" y="1676400"/>
            <a:chExt cx="3390900" cy="3429000"/>
          </a:xfrm>
        </p:grpSpPr>
        <p:sp>
          <p:nvSpPr>
            <p:cNvPr id="24" name="Rectangle 24"/>
            <p:cNvSpPr/>
            <p:nvPr/>
          </p:nvSpPr>
          <p:spPr>
            <a:xfrm>
              <a:off x="8248650" y="1676400"/>
              <a:ext cx="3390900" cy="3429000"/>
            </a:xfrm>
            <a:prstGeom prst="roundRect">
              <a:avLst>
                <a:gd name="adj" fmla="val 10112"/>
              </a:avLst>
            </a:prstGeom>
            <a:solidFill>
              <a:srgbClr val="FFFFFF"/>
            </a:solidFill>
            <a:ln w="28575">
              <a:solidFill>
                <a:srgbClr val="2E9BFF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8477250" y="1905000"/>
              <a:ext cx="457200" cy="457200"/>
            </a:xfrm>
            <a:prstGeom prst="ellipse">
              <a:avLst/>
            </a:prstGeom>
            <a:solidFill>
              <a:srgbClr val="2E9B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662484" y="2031682"/>
              <a:ext cx="86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!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78087" y="2023586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变量还没准备好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65642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E9BFF"/>
                  </a:solidFill>
                  <a:latin typeface="Arial"/>
                  <a:ea typeface="Microsoft YaHei"/>
                  <a:cs typeface="Arial"/>
                </a:rPr>
                <a:t>可能原因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64880" y="3076575"/>
              <a:ext cx="20143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循环后使用 password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565642" y="37214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处理方法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565642" y="408336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确认循环一定执行，或先给变量初值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33" name="TextBox 33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31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CF1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457200" y="342900"/>
            <a:ext cx="5709666" cy="727901"/>
            <a:chOff x="457200" y="342900"/>
            <a:chExt cx="5709666" cy="727901"/>
          </a:xfrm>
        </p:grpSpPr>
        <p:sp>
          <p:nvSpPr>
            <p:cNvPr id="3" name="Rectangle 3"/>
            <p:cNvSpPr/>
            <p:nvPr/>
          </p:nvSpPr>
          <p:spPr>
            <a:xfrm>
              <a:off x="457200" y="342900"/>
              <a:ext cx="114300" cy="5334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6572" y="35909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03044"/>
                  </a:solidFill>
                  <a:latin typeface="YouYuan"/>
                  <a:ea typeface="YouYuan"/>
                  <a:cs typeface="YouYuan"/>
                </a:rPr>
                <a:t>任务完成：特工身份确认成功！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74192" y="80676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离堂前，用自己的话说出今天会用的命令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3900" y="1676400"/>
            <a:ext cx="3238500" cy="1809750"/>
            <a:chOff x="723900" y="1676400"/>
            <a:chExt cx="3238500" cy="1809750"/>
          </a:xfrm>
        </p:grpSpPr>
        <p:sp>
          <p:nvSpPr>
            <p:cNvPr id="7" name="Rectangle 7"/>
            <p:cNvSpPr/>
            <p:nvPr/>
          </p:nvSpPr>
          <p:spPr>
            <a:xfrm>
              <a:off x="723900" y="1676400"/>
              <a:ext cx="3238500" cy="1809750"/>
            </a:xfrm>
            <a:prstGeom prst="roundRect">
              <a:avLst>
                <a:gd name="adj" fmla="val 18947"/>
              </a:avLst>
            </a:prstGeom>
            <a:solidFill>
              <a:srgbClr val="FFFFFF"/>
            </a:solidFill>
            <a:ln w="28575">
              <a:solidFill>
                <a:srgbClr val="2E9BF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801130" y="2073592"/>
              <a:ext cx="10840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850" b="1" dirty="0">
                  <a:solidFill>
                    <a:srgbClr val="2E9BFF"/>
                  </a:solidFill>
                  <a:latin typeface="Consolas"/>
                  <a:ea typeface="Consolas"/>
                  <a:cs typeface="Consolas"/>
                </a:rPr>
                <a:t>while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90700" y="278272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条件成立就重复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400550" y="1676400"/>
            <a:ext cx="3238500" cy="1809750"/>
            <a:chOff x="4400550" y="1676400"/>
            <a:chExt cx="3238500" cy="1809750"/>
          </a:xfrm>
        </p:grpSpPr>
        <p:sp>
          <p:nvSpPr>
            <p:cNvPr id="11" name="Rectangle 11"/>
            <p:cNvSpPr/>
            <p:nvPr/>
          </p:nvSpPr>
          <p:spPr>
            <a:xfrm>
              <a:off x="4400550" y="1676400"/>
              <a:ext cx="3238500" cy="1809750"/>
            </a:xfrm>
            <a:prstGeom prst="roundRect">
              <a:avLst>
                <a:gd name="adj" fmla="val 18947"/>
              </a:avLst>
            </a:prstGeom>
            <a:solidFill>
              <a:srgbClr val="FFFFFF"/>
            </a:solidFill>
            <a:ln w="28575">
              <a:solidFill>
                <a:srgbClr val="FF9F1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477780" y="2073592"/>
              <a:ext cx="10840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850" b="1" dirty="0">
                  <a:solidFill>
                    <a:srgbClr val="FF9F1C"/>
                  </a:solidFill>
                  <a:latin typeface="Consolas"/>
                  <a:ea typeface="Consolas"/>
                  <a:cs typeface="Consolas"/>
                </a:rPr>
                <a:t>break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161001" y="27827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立刻结束整个循环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077200" y="1676400"/>
            <a:ext cx="3238500" cy="1809750"/>
            <a:chOff x="8077200" y="1676400"/>
            <a:chExt cx="3238500" cy="1809750"/>
          </a:xfrm>
        </p:grpSpPr>
        <p:sp>
          <p:nvSpPr>
            <p:cNvPr id="15" name="Rectangle 15"/>
            <p:cNvSpPr/>
            <p:nvPr/>
          </p:nvSpPr>
          <p:spPr>
            <a:xfrm>
              <a:off x="8077200" y="1676400"/>
              <a:ext cx="3238500" cy="1809750"/>
            </a:xfrm>
            <a:prstGeom prst="roundRect">
              <a:avLst>
                <a:gd name="adj" fmla="val 18947"/>
              </a:avLst>
            </a:prstGeom>
            <a:solidFill>
              <a:srgbClr val="FFFFFF"/>
            </a:solidFill>
            <a:ln w="28575">
              <a:solidFill>
                <a:srgbClr val="FF6FA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837905" y="2073592"/>
              <a:ext cx="171709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850" b="1" dirty="0">
                  <a:solidFill>
                    <a:srgbClr val="FF6FA5"/>
                  </a:solidFill>
                  <a:latin typeface="Consolas"/>
                  <a:ea typeface="Consolas"/>
                  <a:cs typeface="Consolas"/>
                </a:rPr>
                <a:t>continue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37651" y="27827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跳过本轮剩余代码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809750" y="3943350"/>
            <a:ext cx="8572500" cy="1524000"/>
            <a:chOff x="1809750" y="3943350"/>
            <a:chExt cx="8572500" cy="1524000"/>
          </a:xfrm>
        </p:grpSpPr>
        <p:sp>
          <p:nvSpPr>
            <p:cNvPr id="19" name="Rectangle 19"/>
            <p:cNvSpPr/>
            <p:nvPr/>
          </p:nvSpPr>
          <p:spPr>
            <a:xfrm>
              <a:off x="1809750" y="3943350"/>
              <a:ext cx="8572500" cy="1524000"/>
            </a:xfrm>
            <a:prstGeom prst="roundRect">
              <a:avLst>
                <a:gd name="adj" fmla="val 23750"/>
              </a:avLst>
            </a:prstGeom>
            <a:solidFill>
              <a:srgbClr val="E9FBE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239137" y="423338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22C55E"/>
                  </a:solidFill>
                  <a:latin typeface="Arial"/>
                  <a:ea typeface="Microsoft YaHei"/>
                  <a:cs typeface="Arial"/>
                </a:rPr>
                <a:t>离堂小结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39899" y="4687729"/>
              <a:ext cx="707762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我学会了“条件循环”；我完成了“最多三次、会跳过空输入”的口令验证器。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239899" y="5068729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203044"/>
                  </a:solidFill>
                  <a:latin typeface="Arial"/>
                  <a:ea typeface="Microsoft YaHei"/>
                  <a:cs typeface="Arial"/>
                </a:rPr>
                <a:t>下次遇到报错：先检查拼写、符号和缩进。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51866" y="6458902"/>
            <a:ext cx="11288268" cy="205359"/>
            <a:chOff x="451866" y="6458902"/>
            <a:chExt cx="11288268" cy="205359"/>
          </a:xfrm>
        </p:grpSpPr>
        <p:sp>
          <p:nvSpPr>
            <p:cNvPr id="24" name="TextBox 24"/>
            <p:cNvSpPr txBox="1"/>
            <p:nvPr/>
          </p:nvSpPr>
          <p:spPr>
            <a:xfrm>
              <a:off x="451866" y="645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A8A9B"/>
                  </a:solidFill>
                  <a:latin typeface="Arial"/>
                  <a:ea typeface="Microsoft YaHei"/>
                  <a:cs typeface="Arial"/>
                </a:rPr>
                <a:t>小小特工任务中心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2559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A8A9B"/>
                  </a:solidFill>
                  <a:latin typeface="Arial"/>
                  <a:ea typeface="Arial"/>
                  <a:cs typeface="Arial"/>
                </a:rPr>
                <a:t>32 / 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</p:sld>
</file>

<file path=ppt/theme/theme1.xml><?xml version="1.0" encoding="utf-8"?>
<a:theme xmlns:a="http://schemas.openxmlformats.org/drawingml/2006/main" name="第12课_特工身份确认_阳光积木乐园">
  <a:themeElements>
    <a:clrScheme name="第12课_特工身份确认_阳光积木乐园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第12课_特工身份确认_阳光积木乐园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第12课_特工身份确认_阳光积木乐园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2026-09-05T20:02:41Z</dcterms:created>
  <dcterms:modified xsi:type="dcterms:W3CDTF">2026-09-05T20:02:41Z</dcterms:modified>
  <cp:category/>
  <cp:contentStatus/>
</cp:coreProperties>
</file>