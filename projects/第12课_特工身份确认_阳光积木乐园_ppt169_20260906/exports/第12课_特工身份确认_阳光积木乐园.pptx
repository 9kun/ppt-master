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第12课_特工身份确认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第12课_特工身份确认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96862aa57274b1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96862aa57274b1.pn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96862aa57274b1.pn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" y="323850"/>
            <a:ext cx="1447800" cy="144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914400"/>
            <a:ext cx="3333750" cy="4381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382901" y="1055846"/>
            <a:ext cx="237769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第12课 · 小小特工任务中心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" y="2113598"/>
            <a:ext cx="4036314" cy="962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9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特工身份确认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6201" y="3041809"/>
            <a:ext cx="3441042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while · break · continue</a:t>
            </a:r>
          </a:p>
        </p:txBody>
      </p:sp>
      <p:sp>
        <p:nvSpPr>
          <p:cNvPr id="8" name="Rectangle 8"/>
          <p:cNvSpPr/>
          <p:nvPr/>
        </p:nvSpPr>
        <p:spPr>
          <a:xfrm>
            <a:off x="838200" y="3714750"/>
            <a:ext cx="5715000" cy="1104900"/>
          </a:xfrm>
          <a:prstGeom prst="roundRect">
            <a:avLst>
              <a:gd name="adj" fmla="val 29310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72337" y="3976211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今天的驱动问题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2718" y="4374832"/>
            <a:ext cx="5569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怎样让口令门反复询问，答对就开门，答错三次就停止？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345995"/>
            <a:ext cx="3143250" cy="4108861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6858000" y="5048250"/>
            <a:ext cx="4381500" cy="628650"/>
          </a:xfrm>
          <a:prstGeom prst="roundRect">
            <a:avLst>
              <a:gd name="adj" fmla="val 3939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61676" y="5262086"/>
            <a:ext cx="257414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AGENT LOGIN · READY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20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57200" y="342900"/>
            <a:ext cx="4810525" cy="727901"/>
            <a:chOff x="457200" y="342900"/>
            <a:chExt cx="4810525" cy="727901"/>
          </a:xfrm>
        </p:grpSpPr>
        <p:sp>
          <p:nvSpPr>
            <p:cNvPr id="3" name="Rectangle 3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6572" y="3590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今天的任务路线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74192" y="806768"/>
              <a:ext cx="4493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120分钟：先复习，再学守门循环，最后完成三次口令门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2019300"/>
            <a:ext cx="2400300" cy="2381250"/>
            <a:chOff x="666750" y="2019300"/>
            <a:chExt cx="2400300" cy="2381250"/>
          </a:xfrm>
        </p:grpSpPr>
        <p:sp>
          <p:nvSpPr>
            <p:cNvPr id="7" name="Rectangle 7"/>
            <p:cNvSpPr/>
            <p:nvPr/>
          </p:nvSpPr>
          <p:spPr>
            <a:xfrm>
              <a:off x="666750" y="2019300"/>
              <a:ext cx="2400300" cy="2381250"/>
            </a:xfrm>
            <a:prstGeom prst="roundRect">
              <a:avLst>
                <a:gd name="adj" fmla="val 13600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504950" y="220980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87787" y="2472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5186" y="3093244"/>
              <a:ext cx="140342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复习热身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5323" y="3590925"/>
              <a:ext cx="843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0–20 min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86150" y="2019300"/>
            <a:ext cx="2400300" cy="2381250"/>
            <a:chOff x="3486150" y="2019300"/>
            <a:chExt cx="2400300" cy="2381250"/>
          </a:xfrm>
        </p:grpSpPr>
        <p:sp>
          <p:nvSpPr>
            <p:cNvPr id="13" name="Rectangle 13"/>
            <p:cNvSpPr/>
            <p:nvPr/>
          </p:nvSpPr>
          <p:spPr>
            <a:xfrm>
              <a:off x="3486150" y="2019300"/>
              <a:ext cx="2400300" cy="2381250"/>
            </a:xfrm>
            <a:prstGeom prst="roundRect">
              <a:avLst>
                <a:gd name="adj" fmla="val 13600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324350" y="2209800"/>
              <a:ext cx="723900" cy="72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7187" y="2472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4586" y="3093244"/>
              <a:ext cx="140342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新知精学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09193" y="3590925"/>
              <a:ext cx="954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20–65 min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05550" y="2019300"/>
            <a:ext cx="2400300" cy="2381250"/>
            <a:chOff x="6305550" y="2019300"/>
            <a:chExt cx="24003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6305550" y="2019300"/>
              <a:ext cx="2400300" cy="2381250"/>
            </a:xfrm>
            <a:prstGeom prst="roundRect">
              <a:avLst>
                <a:gd name="adj" fmla="val 13600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143750" y="2209800"/>
              <a:ext cx="723900" cy="723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26587" y="2472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3986" y="3093244"/>
              <a:ext cx="140342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动手验证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73062" y="3590925"/>
              <a:ext cx="106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75–110 min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24950" y="2019300"/>
            <a:ext cx="2400300" cy="2381250"/>
            <a:chOff x="9124950" y="2019300"/>
            <a:chExt cx="24003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9124950" y="2019300"/>
              <a:ext cx="2400300" cy="2381250"/>
            </a:xfrm>
            <a:prstGeom prst="roundRect">
              <a:avLst>
                <a:gd name="adj" fmla="val 13600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963150" y="2209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45987" y="2472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23386" y="3093244"/>
              <a:ext cx="140342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展示总结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6931" y="3590925"/>
              <a:ext cx="1176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110–120 min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3524250" y="4953000"/>
            <a:ext cx="514350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908298" y="5083492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最终作品：最多尝试三次、会跳过空输入的口令验证器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3083465" cy="727901"/>
            <a:chOff x="457200" y="342900"/>
            <a:chExt cx="3083465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27740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第11课知识抢答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10题 · 每题约40秒 · 答错不扣分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玩法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3722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教师读题，学生用手势或小白板抢答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先口答，不看答案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答错后立刻口头修正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8232" y="14878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19935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上一课：幸运抽奖箱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2488882"/>
              <a:ext cx="34041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核心工具：random + if-elif-else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984182"/>
              <a:ext cx="23046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接下来 5 页，每页 2 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32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4" name="Rectangle 24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7" name="Rectangle 27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010021" cy="727901"/>
            <a:chOff x="457200" y="342900"/>
            <a:chExt cx="401002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7006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复习抢答 · 第 1–2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68890" y="568642"/>
            <a:ext cx="9505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第11课复习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随机模块叫什么？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68506" y="2284571"/>
              <a:ext cx="9587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random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83615" y="2284571"/>
              <a:ext cx="872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turtle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40985" y="2284571"/>
              <a:ext cx="7007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time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88569" y="2284571"/>
              <a:ext cx="749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math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44899" y="2284571"/>
              <a:ext cx="10059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random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3615" y="2284571"/>
              <a:ext cx="872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turtle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40985" y="2284571"/>
              <a:ext cx="7007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time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88569" y="2284571"/>
              <a:ext cx="749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math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导入随机模块怎么写？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29467" y="4665821"/>
              <a:ext cx="1636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random import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01217" y="4665821"/>
              <a:ext cx="1636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import random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25706" y="4665821"/>
              <a:ext cx="13313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use random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25739" y="4665821"/>
              <a:ext cx="1474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from random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29467" y="4665821"/>
              <a:ext cx="1636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random import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60658" y="4665821"/>
              <a:ext cx="17179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import random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25706" y="4665821"/>
              <a:ext cx="13313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use random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25739" y="4665821"/>
              <a:ext cx="1474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from random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5533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import random。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010021" cy="727901"/>
            <a:chOff x="457200" y="342900"/>
            <a:chExt cx="401002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7006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复习抢答 · 第 3–4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68890" y="568642"/>
            <a:ext cx="9505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第11课复习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2721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生成1到6随机数用什么？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03535" y="2284571"/>
              <a:ext cx="1488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random(1,6)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43403" y="2284571"/>
              <a:ext cx="13524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randint 1,6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51730" y="2284571"/>
              <a:ext cx="22792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random.randint(1,6)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14281" y="2284571"/>
              <a:ext cx="1297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input(1,6)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03535" y="2284571"/>
              <a:ext cx="1488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random(1,6)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43403" y="2284571"/>
              <a:ext cx="13524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randint 1,6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95109" y="2284571"/>
              <a:ext cx="2392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C. random.randint(1,6)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14281" y="2284571"/>
              <a:ext cx="1297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input(1,6)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21937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random.randint(1,6)。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2743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randint(1,6)包含6吗？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9726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包含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680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不包含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5224" y="4665821"/>
              <a:ext cx="812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只含6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不确定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90199" y="4665821"/>
              <a:ext cx="7153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包含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680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不包含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5224" y="4665821"/>
              <a:ext cx="812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只含6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不确定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包含左右端点。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010021" cy="727901"/>
            <a:chOff x="457200" y="342900"/>
            <a:chExt cx="401002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7006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复习抢答 · 第 5–6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68890" y="568642"/>
            <a:ext cx="9505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第11课复习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随机结果会不会重复？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726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不会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6703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可能重复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3878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一定重复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08557" y="2284571"/>
              <a:ext cx="15091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只能重复一次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726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不会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59969" y="2284571"/>
              <a:ext cx="1119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可能重复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878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一定重复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08557" y="2284571"/>
              <a:ext cx="15091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只能重复一次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每次生成彼此独立，可能重复。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随机号码适合保存在哪里？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9726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图片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6901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注释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076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变量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文件名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9726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图片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6901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注释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33699" y="4665821"/>
              <a:ext cx="7153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C. 变量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文件名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用变量保存后再判断。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010021" cy="727901"/>
            <a:chOff x="457200" y="342900"/>
            <a:chExt cx="401002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7006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复习抢答 · 第 7–8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68890" y="568642"/>
            <a:ext cx="9505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第11课复习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号码对应不同奖品可使用什么？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9181" y="2284571"/>
              <a:ext cx="7573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while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39882" y="2284571"/>
              <a:ext cx="13594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if-elif-else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785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print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960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input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69181" y="2284571"/>
              <a:ext cx="7573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while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06257" y="2284571"/>
              <a:ext cx="14267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if-elif-else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785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print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960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input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多分支判断。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3308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比较号码是否等于1使用什么？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843705" y="4665821"/>
              <a:ext cx="408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=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85158" y="4665821"/>
              <a:ext cx="46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!=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31660" y="4665821"/>
              <a:ext cx="519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==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03410" y="4665821"/>
              <a:ext cx="519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&gt;=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43705" y="4665821"/>
              <a:ext cx="408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=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85158" y="4665821"/>
              <a:ext cx="46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!=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19036" y="4665821"/>
              <a:ext cx="5446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C. ==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03410" y="4665821"/>
              <a:ext cx="519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&gt;=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== 用于比较相等。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231589" cy="727901"/>
            <a:chOff x="457200" y="342900"/>
            <a:chExt cx="4231589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9222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复习抢答 · 第 9–10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68890" y="568642"/>
            <a:ext cx="9505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第11课复习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3906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else可以接住没单独列出的情况吗？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726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可以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6802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不可以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3779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只在循环里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0954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只能接数字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0199" y="2284571"/>
              <a:ext cx="7153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可以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6802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不可以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779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只在循环里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0954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只能接数字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1782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else 处理其余情况。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上节课项目是什么？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52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海龟画图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966047" y="466582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幸运抽奖箱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977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口令门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计算器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952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海龟画图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58978" y="4665821"/>
              <a:ext cx="13212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幸运抽奖箱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977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口令门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计算器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幸运抽奖箱。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3783711" cy="727901"/>
            <a:chOff x="457200" y="342900"/>
            <a:chExt cx="378371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特工任务启动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先看最终挑战，再想一想程序需要什么能力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驱动问题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口令错误时：继续问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口令正确时：马上开门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错误三次后：停止任务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1525" y="35623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8037" y="3509486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空白输入：跳过，不算次数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7" name="Rectangle 17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8232" y="1487805"/>
              <a:ext cx="27289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今天要拼出的4块积木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1993582"/>
              <a:ext cx="189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while：按条件反复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2488882"/>
              <a:ext cx="2126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tries：记录有效尝试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2984182"/>
              <a:ext cx="1960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break：成功就离开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8618" y="347948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continue：空白就跳过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32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7" name="Rectangle 27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30" name="Rectangle 30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23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09600" y="1028700"/>
            <a:ext cx="10668000" cy="4686300"/>
            <a:chOff x="609600" y="1028700"/>
            <a:chExt cx="10668000" cy="4686300"/>
          </a:xfrm>
        </p:grpSpPr>
        <p:sp>
          <p:nvSpPr>
            <p:cNvPr id="3" name="Rectangle 3"/>
            <p:cNvSpPr/>
            <p:nvPr/>
          </p:nvSpPr>
          <p:spPr>
            <a:xfrm>
              <a:off x="609600" y="1028700"/>
              <a:ext cx="10668000" cy="4686300"/>
            </a:xfrm>
            <a:prstGeom prst="roundRect">
              <a:avLst>
                <a:gd name="adj" fmla="val 10569"/>
              </a:avLst>
            </a:prstGeom>
            <a:solidFill>
              <a:srgbClr val="FFFFFF">
                <a:alpha val="92000"/>
              </a:srgbClr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3950" y="1266825"/>
              <a:ext cx="2137162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95700" y="221361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42944" y="3008948"/>
              <a:ext cx="52962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把“反复问、及时停、跳过本轮”拆成三个命令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752850" y="3638550"/>
              <a:ext cx="5715000" cy="114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752850" y="36385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3364501" cy="727901"/>
            <a:chOff x="457200" y="342900"/>
            <a:chExt cx="336450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0551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while 像值班守卫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只要条件还成立，就继续值班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428750"/>
            <a:ext cx="6858000" cy="4095750"/>
            <a:chOff x="666750" y="1428750"/>
            <a:chExt cx="685800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6858000" cy="4095750"/>
            </a:xfrm>
            <a:prstGeom prst="roundRect">
              <a:avLst>
                <a:gd name="adj" fmla="val 883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2209800"/>
              <a:ext cx="1866900" cy="18669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9011" y="282654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条件成立？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23114" y="3231832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tries &lt; 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667250" y="2533650"/>
              <a:ext cx="2095500" cy="1219200"/>
            </a:xfrm>
            <a:prstGeom prst="roundRect">
              <a:avLst>
                <a:gd name="adj" fmla="val 23438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1224" y="2815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继续询问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69370" y="32099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→ 判断 → 更新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333750" y="3143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81250" y="3905250"/>
              <a:ext cx="3333750" cy="952500"/>
            </a:xfrm>
            <a:custGeom>
              <a:avLst/>
              <a:gdLst/>
              <a:ahLst/>
              <a:cxnLst/>
              <a:rect l="l" t="t" r="r" b="b"/>
              <a:pathLst>
                <a:path w="3333750" h="952500">
                  <a:moveTo>
                    <a:pt x="3333750" y="0"/>
                  </a:moveTo>
                  <a:cubicBezTo>
                    <a:pt x="3333750" y="952500"/>
                    <a:pt x="0" y="952500"/>
                    <a:pt x="0" y="333375"/>
                  </a:cubicBez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905750" y="1619250"/>
            <a:ext cx="3333750" cy="3143250"/>
            <a:chOff x="7905750" y="1619250"/>
            <a:chExt cx="3333750" cy="3143250"/>
          </a:xfrm>
        </p:grpSpPr>
        <p:sp>
          <p:nvSpPr>
            <p:cNvPr id="16" name="Rectangle 16"/>
            <p:cNvSpPr/>
            <p:nvPr/>
          </p:nvSpPr>
          <p:spPr>
            <a:xfrm>
              <a:off x="7905750" y="1619250"/>
              <a:ext cx="3333750" cy="3143250"/>
            </a:xfrm>
            <a:prstGeom prst="roundRect">
              <a:avLst>
                <a:gd name="adj" fmla="val 1030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38744" y="19230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一句话记忆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39887" y="2499836"/>
              <a:ext cx="1673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条件为真 → 重复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39887" y="2957036"/>
              <a:ext cx="1673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条件为假 → 停止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1030" y="36861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关键：循环里必须让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1030" y="4010025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“停止条件”有机会出现。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5709666" cy="727901"/>
            <a:chOff x="457200" y="342900"/>
            <a:chExt cx="5709666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计数变量：让守卫知道问了几次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3166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tries 从 0 开始，每一次有效尝试都 +1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250" y="1866900"/>
            <a:ext cx="2190750" cy="2000250"/>
            <a:chOff x="857250" y="1866900"/>
            <a:chExt cx="2190750" cy="2000250"/>
          </a:xfrm>
        </p:grpSpPr>
        <p:sp>
          <p:nvSpPr>
            <p:cNvPr id="6" name="Rectangle 6"/>
            <p:cNvSpPr/>
            <p:nvPr/>
          </p:nvSpPr>
          <p:spPr>
            <a:xfrm>
              <a:off x="857250" y="1866900"/>
              <a:ext cx="2190750" cy="2000250"/>
            </a:xfrm>
            <a:prstGeom prst="roundRect">
              <a:avLst>
                <a:gd name="adj" fmla="val 16190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39217" y="2252662"/>
              <a:ext cx="42681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25575" y="32018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刚开始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562350" y="1866900"/>
            <a:ext cx="2190750" cy="2000250"/>
            <a:chOff x="3562350" y="1866900"/>
            <a:chExt cx="2190750" cy="2000250"/>
          </a:xfrm>
        </p:grpSpPr>
        <p:sp>
          <p:nvSpPr>
            <p:cNvPr id="10" name="Rectangle 10"/>
            <p:cNvSpPr/>
            <p:nvPr/>
          </p:nvSpPr>
          <p:spPr>
            <a:xfrm>
              <a:off x="3562350" y="1866900"/>
              <a:ext cx="2190750" cy="2000250"/>
            </a:xfrm>
            <a:prstGeom prst="roundRect">
              <a:avLst>
                <a:gd name="adj" fmla="val 16190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44317" y="2252662"/>
              <a:ext cx="42681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2182" y="3201829"/>
              <a:ext cx="7710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问过1次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67450" y="1866900"/>
            <a:ext cx="2190750" cy="2000250"/>
            <a:chOff x="6267450" y="1866900"/>
            <a:chExt cx="2190750" cy="2000250"/>
          </a:xfrm>
        </p:grpSpPr>
        <p:sp>
          <p:nvSpPr>
            <p:cNvPr id="14" name="Rectangle 14"/>
            <p:cNvSpPr/>
            <p:nvPr/>
          </p:nvSpPr>
          <p:spPr>
            <a:xfrm>
              <a:off x="6267450" y="1866900"/>
              <a:ext cx="2190750" cy="2000250"/>
            </a:xfrm>
            <a:prstGeom prst="roundRect">
              <a:avLst>
                <a:gd name="adj" fmla="val 16190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49417" y="2252662"/>
              <a:ext cx="42681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77282" y="3201829"/>
              <a:ext cx="7710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问过2次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72550" y="1866900"/>
            <a:ext cx="2190750" cy="2000250"/>
            <a:chOff x="8972550" y="1866900"/>
            <a:chExt cx="219075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972550" y="1866900"/>
              <a:ext cx="2190750" cy="2000250"/>
            </a:xfrm>
            <a:prstGeom prst="roundRect">
              <a:avLst>
                <a:gd name="adj" fmla="val 16190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54517" y="2252662"/>
              <a:ext cx="42681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34525" y="3201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机会用完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57500" y="4343400"/>
            <a:ext cx="6477000" cy="1143000"/>
            <a:chOff x="2857500" y="4343400"/>
            <a:chExt cx="64770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2857500" y="4343400"/>
              <a:ext cx="6477000" cy="1143000"/>
            </a:xfrm>
            <a:prstGeom prst="roundRect">
              <a:avLst>
                <a:gd name="adj" fmla="val 23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28975" y="4607719"/>
              <a:ext cx="224620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09975" y="5017294"/>
              <a:ext cx="23854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515502" cy="727901"/>
            <a:chOff x="457200" y="342900"/>
            <a:chExt cx="4515502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42061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break：成功就立刻离开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它结束的是“整个循环”，不是只跳过一行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想象一辆循环公交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23677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每一轮 = 公交又绕一圈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1904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口令不对 = 继续坐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1673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口令正确 = 到站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8232" y="1487805"/>
              <a:ext cx="20574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break 做什么？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1993582"/>
              <a:ext cx="2693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身份确认成功时执行 break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2488882"/>
              <a:ext cx="15160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马上跳出 while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984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后面的循环轮次都不再执行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32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4" name="Rectangle 24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7" name="Rectangle 27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5463160" cy="727901"/>
            <a:chOff x="457200" y="342900"/>
            <a:chExt cx="5463160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51537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continue：跳过本轮剩余代码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空白输入时，不做下面的判断，直接回到下一轮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遇到空白输入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17309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password == ""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2356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提示“不能输入空白！”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这次不应该算有效尝试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8232" y="1487805"/>
              <a:ext cx="24730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continue 做什么？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19935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跳过本轮剩余代码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2488882"/>
              <a:ext cx="2026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直接回到 while 条件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984182"/>
              <a:ext cx="2637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因此要放在 tries + 1 之前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32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4" name="Rectangle 24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7" name="Rectangle 27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3382726" cy="727901"/>
            <a:chOff x="457200" y="342900"/>
            <a:chExt cx="3382726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0733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for 还是 while？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先问自己：我知道要重复几次吗？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1619250"/>
            <a:ext cx="4762500" cy="3714750"/>
            <a:chOff x="857250" y="1619250"/>
            <a:chExt cx="4762500" cy="3714750"/>
          </a:xfrm>
        </p:grpSpPr>
        <p:sp>
          <p:nvSpPr>
            <p:cNvPr id="6" name="Rectangle 6"/>
            <p:cNvSpPr/>
            <p:nvPr/>
          </p:nvSpPr>
          <p:spPr>
            <a:xfrm>
              <a:off x="857250" y="1619250"/>
              <a:ext cx="4762500" cy="37147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90075" y="1962150"/>
              <a:ext cx="6968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for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22804" y="267414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次数清楚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3727" y="325088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例：画4条边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52643" y="3689032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例：重复10次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72250" y="1619250"/>
            <a:ext cx="4762500" cy="3714750"/>
            <a:chOff x="6572250" y="1619250"/>
            <a:chExt cx="4762500" cy="3714750"/>
          </a:xfrm>
        </p:grpSpPr>
        <p:sp>
          <p:nvSpPr>
            <p:cNvPr id="12" name="Rectangle 12"/>
            <p:cNvSpPr/>
            <p:nvPr/>
          </p:nvSpPr>
          <p:spPr>
            <a:xfrm>
              <a:off x="6572250" y="1619250"/>
              <a:ext cx="4762500" cy="3714750"/>
            </a:xfrm>
            <a:prstGeom prst="roundRect">
              <a:avLst>
                <a:gd name="adj" fmla="val 10256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82952" y="1962150"/>
              <a:ext cx="11410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while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1261" y="267414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看条件继续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8749" y="3250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例：直到答对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56626" y="3689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例：机会还没用完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52800" y="5524500"/>
            <a:ext cx="5486400" cy="533400"/>
            <a:chOff x="3352800" y="5524500"/>
            <a:chExt cx="5486400" cy="533400"/>
          </a:xfrm>
        </p:grpSpPr>
        <p:sp>
          <p:nvSpPr>
            <p:cNvPr id="18" name="Rectangle 18"/>
            <p:cNvSpPr/>
            <p:nvPr/>
          </p:nvSpPr>
          <p:spPr>
            <a:xfrm>
              <a:off x="3352800" y="5524500"/>
              <a:ext cx="5486400" cy="533400"/>
            </a:xfrm>
            <a:prstGeom prst="roundRect">
              <a:avLst>
                <a:gd name="adj" fmla="val 4285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03481" y="5697379"/>
              <a:ext cx="37850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次数明确 → for　｜　条件驱动 → while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57200" y="323850"/>
            <a:ext cx="11348902" cy="756475"/>
            <a:chOff x="457200" y="323850"/>
            <a:chExt cx="11348902" cy="756475"/>
          </a:xfrm>
        </p:grpSpPr>
        <p:sp>
          <p:nvSpPr>
            <p:cNvPr id="3" name="Rectangle 3"/>
            <p:cNvSpPr/>
            <p:nvPr/>
          </p:nvSpPr>
          <p:spPr>
            <a:xfrm>
              <a:off x="457200" y="323850"/>
              <a:ext cx="1143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7334" y="375285"/>
              <a:ext cx="42106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动手练习 A：数到几停？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74192" y="816292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选任务 → 看代码 → 点击运行 → 观察输出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000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5781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104900"/>
            <a:ext cx="11277600" cy="8763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647700" y="1219200"/>
            <a:ext cx="5381625" cy="590550"/>
            <a:chOff x="647700" y="1219200"/>
            <a:chExt cx="5381625" cy="590550"/>
          </a:xfrm>
        </p:grpSpPr>
        <p:sp>
          <p:nvSpPr>
            <p:cNvPr id="10" name="Rectangle 10"/>
            <p:cNvSpPr/>
            <p:nvPr/>
          </p:nvSpPr>
          <p:spPr>
            <a:xfrm>
              <a:off x="647700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71525" y="131445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113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9111" y="1427321"/>
              <a:ext cx="818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数到 3 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62675" y="1219200"/>
            <a:ext cx="5381625" cy="590550"/>
            <a:chOff x="6162675" y="1219200"/>
            <a:chExt cx="5381625" cy="590550"/>
          </a:xfrm>
        </p:grpSpPr>
        <p:sp>
          <p:nvSpPr>
            <p:cNvPr id="15" name="Rectangle 15"/>
            <p:cNvSpPr/>
            <p:nvPr/>
          </p:nvSpPr>
          <p:spPr>
            <a:xfrm>
              <a:off x="6162675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286500" y="1314450"/>
              <a:ext cx="400050" cy="400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4088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4086" y="14273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改成数到 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" y="1219200"/>
            <a:ext cx="5381625" cy="590550"/>
            <a:chOff x="647700" y="1219200"/>
            <a:chExt cx="5381625" cy="590550"/>
          </a:xfrm>
        </p:grpSpPr>
        <p:sp>
          <p:nvSpPr>
            <p:cNvPr id="20" name="Rectangle 20"/>
            <p:cNvSpPr/>
            <p:nvPr/>
          </p:nvSpPr>
          <p:spPr>
            <a:xfrm>
              <a:off x="647700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162675" y="1219200"/>
            <a:ext cx="5381625" cy="590550"/>
            <a:chOff x="6162675" y="1219200"/>
            <a:chExt cx="5381625" cy="590550"/>
          </a:xfrm>
        </p:grpSpPr>
        <p:sp>
          <p:nvSpPr>
            <p:cNvPr id="22" name="Rectangle 22"/>
            <p:cNvSpPr/>
            <p:nvPr/>
          </p:nvSpPr>
          <p:spPr>
            <a:xfrm>
              <a:off x="6162675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57200" y="2114550"/>
            <a:ext cx="6667500" cy="4095750"/>
            <a:chOff x="457200" y="2114550"/>
            <a:chExt cx="6667500" cy="4095750"/>
          </a:xfrm>
        </p:grpSpPr>
        <p:sp>
          <p:nvSpPr>
            <p:cNvPr id="24" name="Rectangle 24"/>
            <p:cNvSpPr/>
            <p:nvPr/>
          </p:nvSpPr>
          <p:spPr>
            <a:xfrm>
              <a:off x="457200" y="2114550"/>
              <a:ext cx="6667500" cy="4095750"/>
            </a:xfrm>
            <a:prstGeom prst="roundRect">
              <a:avLst>
                <a:gd name="adj" fmla="val 790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04850" y="2343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52500" y="2343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200150" y="234315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49730" y="2333625"/>
              <a:ext cx="1397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编辑器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" y="2628900"/>
              <a:ext cx="6210300" cy="2800350"/>
            </a:xfrm>
            <a:prstGeom prst="roundRect">
              <a:avLst>
                <a:gd name="adj" fmla="val 7483"/>
              </a:avLst>
            </a:prstGeom>
            <a:solidFill>
              <a:srgbClr val="F8FBFF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353300" y="2114550"/>
            <a:ext cx="4381500" cy="4095750"/>
            <a:chOff x="7353300" y="2114550"/>
            <a:chExt cx="4381500" cy="4095750"/>
          </a:xfrm>
        </p:grpSpPr>
        <p:sp>
          <p:nvSpPr>
            <p:cNvPr id="31" name="Rectangle 31"/>
            <p:cNvSpPr/>
            <p:nvPr/>
          </p:nvSpPr>
          <p:spPr>
            <a:xfrm>
              <a:off x="7353300" y="2114550"/>
              <a:ext cx="4381500" cy="4095750"/>
            </a:xfrm>
            <a:prstGeom prst="roundRect">
              <a:avLst>
                <a:gd name="adj" fmla="val 79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87056" y="2301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81900" y="2628900"/>
              <a:ext cx="3924300" cy="2686050"/>
            </a:xfrm>
            <a:prstGeom prst="roundRect">
              <a:avLst>
                <a:gd name="adj" fmla="val 851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800975" y="28289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029575" y="28289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258175" y="2828925"/>
              <a:ext cx="133350" cy="133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6023" y="2815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5486400"/>
              <a:ext cx="3848100" cy="590550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888492" y="2845118"/>
            <a:ext cx="2739771" cy="1978533"/>
            <a:chOff x="888492" y="2845118"/>
            <a:chExt cx="2739771" cy="1978533"/>
          </a:xfrm>
        </p:grpSpPr>
        <p:sp>
          <p:nvSpPr>
            <p:cNvPr id="40" name="TextBox 40"/>
            <p:cNvSpPr txBox="1"/>
            <p:nvPr/>
          </p:nvSpPr>
          <p:spPr>
            <a:xfrm>
              <a:off x="888492" y="28451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492" y="34166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count &lt;= 3: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8492" y="3702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print("第", count, "次检查")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8492" y="39881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count + 1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492" y="4559618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print("检查结束")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88492" y="2845118"/>
            <a:ext cx="2739771" cy="1978533"/>
            <a:chOff x="888492" y="2845118"/>
            <a:chExt cx="2739771" cy="1978533"/>
          </a:xfrm>
        </p:grpSpPr>
        <p:sp>
          <p:nvSpPr>
            <p:cNvPr id="46" name="TextBox 46"/>
            <p:cNvSpPr txBox="1"/>
            <p:nvPr/>
          </p:nvSpPr>
          <p:spPr>
            <a:xfrm>
              <a:off x="888492" y="28451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8492" y="34166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count &lt;= 3: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492" y="3702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print("第", count, "次检查")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8492" y="39881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count + 1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492" y="4559618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print("检查结束")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8492" y="2845118"/>
            <a:ext cx="2739771" cy="1978533"/>
            <a:chOff x="888492" y="2845118"/>
            <a:chExt cx="2739771" cy="1978533"/>
          </a:xfrm>
        </p:grpSpPr>
        <p:sp>
          <p:nvSpPr>
            <p:cNvPr id="52" name="TextBox 52"/>
            <p:cNvSpPr txBox="1"/>
            <p:nvPr/>
          </p:nvSpPr>
          <p:spPr>
            <a:xfrm>
              <a:off x="888492" y="28451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8492" y="34166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count &lt;= 5: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492" y="3702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print("第", count, "次检查")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8492" y="39881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count = count + 1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8492" y="4559618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print("检查结束")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9" name="Rectangle 69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71" name="Rectangle 71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8446770" y="5712142"/>
            <a:ext cx="2194560" cy="264033"/>
            <a:chOff x="8446770" y="5712142"/>
            <a:chExt cx="2194560" cy="264033"/>
          </a:xfrm>
        </p:grpSpPr>
        <p:sp>
          <p:nvSpPr>
            <p:cNvPr id="73" name="TextBox 73"/>
            <p:cNvSpPr txBox="1"/>
            <p:nvPr/>
          </p:nvSpPr>
          <p:spPr>
            <a:xfrm>
              <a:off x="8446770" y="571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点击运行，终端才开始输出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265033" y="5712142"/>
            <a:ext cx="2558034" cy="264033"/>
            <a:chOff x="8265033" y="5712142"/>
            <a:chExt cx="2558034" cy="264033"/>
          </a:xfrm>
        </p:grpSpPr>
        <p:sp>
          <p:nvSpPr>
            <p:cNvPr id="75" name="TextBox 75"/>
            <p:cNvSpPr txBox="1"/>
            <p:nvPr/>
          </p:nvSpPr>
          <p:spPr>
            <a:xfrm>
              <a:off x="8265033" y="57121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已切换任务，点击运行查看结果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139675" y="5704046"/>
            <a:ext cx="808749" cy="278702"/>
            <a:chOff x="9139675" y="5704046"/>
            <a:chExt cx="808749" cy="278702"/>
          </a:xfrm>
        </p:grpSpPr>
        <p:sp>
          <p:nvSpPr>
            <p:cNvPr id="77" name="TextBox 77"/>
            <p:cNvSpPr txBox="1"/>
            <p:nvPr/>
          </p:nvSpPr>
          <p:spPr>
            <a:xfrm>
              <a:off x="9139675" y="5704046"/>
              <a:ext cx="808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运行中……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24023" y="5704046"/>
            <a:ext cx="1040054" cy="278702"/>
            <a:chOff x="9024023" y="5704046"/>
            <a:chExt cx="1040054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9024023" y="5704046"/>
              <a:ext cx="1040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验证完成 ✓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803642" y="3188018"/>
            <a:ext cx="1040530" cy="264033"/>
            <a:chOff x="7803642" y="3188018"/>
            <a:chExt cx="1040530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7803642" y="31880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1 次检查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803642" y="3588068"/>
            <a:ext cx="1040530" cy="264033"/>
            <a:chOff x="7803642" y="3588068"/>
            <a:chExt cx="1040530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7803642" y="358806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2 次检查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803642" y="3988118"/>
            <a:ext cx="1040530" cy="264033"/>
            <a:chOff x="7803642" y="3988118"/>
            <a:chExt cx="1040530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7803642" y="39881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3 次检查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803642" y="4388168"/>
            <a:ext cx="740664" cy="264033"/>
            <a:chOff x="7803642" y="4388168"/>
            <a:chExt cx="740664" cy="264033"/>
          </a:xfrm>
        </p:grpSpPr>
        <p:sp>
          <p:nvSpPr>
            <p:cNvPr id="87" name="TextBox 87"/>
            <p:cNvSpPr txBox="1"/>
            <p:nvPr/>
          </p:nvSpPr>
          <p:spPr>
            <a:xfrm>
              <a:off x="7803642" y="4388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检查结束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803642" y="3188018"/>
            <a:ext cx="1040530" cy="264033"/>
            <a:chOff x="7803642" y="3188018"/>
            <a:chExt cx="1040530" cy="264033"/>
          </a:xfrm>
        </p:grpSpPr>
        <p:sp>
          <p:nvSpPr>
            <p:cNvPr id="89" name="TextBox 89"/>
            <p:cNvSpPr txBox="1"/>
            <p:nvPr/>
          </p:nvSpPr>
          <p:spPr>
            <a:xfrm>
              <a:off x="7803642" y="31880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1 次检查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803642" y="3511868"/>
            <a:ext cx="1040530" cy="264033"/>
            <a:chOff x="7803642" y="3511868"/>
            <a:chExt cx="1040530" cy="264033"/>
          </a:xfrm>
        </p:grpSpPr>
        <p:sp>
          <p:nvSpPr>
            <p:cNvPr id="91" name="TextBox 91"/>
            <p:cNvSpPr txBox="1"/>
            <p:nvPr/>
          </p:nvSpPr>
          <p:spPr>
            <a:xfrm>
              <a:off x="7803642" y="351186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2 次检查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803642" y="3835718"/>
            <a:ext cx="1040530" cy="264033"/>
            <a:chOff x="7803642" y="3835718"/>
            <a:chExt cx="1040530" cy="264033"/>
          </a:xfrm>
        </p:grpSpPr>
        <p:sp>
          <p:nvSpPr>
            <p:cNvPr id="93" name="TextBox 93"/>
            <p:cNvSpPr txBox="1"/>
            <p:nvPr/>
          </p:nvSpPr>
          <p:spPr>
            <a:xfrm>
              <a:off x="7803642" y="38357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3 次检查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03642" y="4159568"/>
            <a:ext cx="1040530" cy="264033"/>
            <a:chOff x="7803642" y="4159568"/>
            <a:chExt cx="1040530" cy="264033"/>
          </a:xfrm>
        </p:grpSpPr>
        <p:sp>
          <p:nvSpPr>
            <p:cNvPr id="95" name="TextBox 95"/>
            <p:cNvSpPr txBox="1"/>
            <p:nvPr/>
          </p:nvSpPr>
          <p:spPr>
            <a:xfrm>
              <a:off x="7803642" y="415956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4 次检查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803642" y="4483418"/>
            <a:ext cx="1040530" cy="264033"/>
            <a:chOff x="7803642" y="4483418"/>
            <a:chExt cx="1040530" cy="264033"/>
          </a:xfrm>
        </p:grpSpPr>
        <p:sp>
          <p:nvSpPr>
            <p:cNvPr id="97" name="TextBox 97"/>
            <p:cNvSpPr txBox="1"/>
            <p:nvPr/>
          </p:nvSpPr>
          <p:spPr>
            <a:xfrm>
              <a:off x="7803642" y="44834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第 5 次检查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7803642" y="4807268"/>
            <a:ext cx="740664" cy="264033"/>
            <a:chOff x="7803642" y="4807268"/>
            <a:chExt cx="740664" cy="264033"/>
          </a:xfrm>
        </p:grpSpPr>
        <p:sp>
          <p:nvSpPr>
            <p:cNvPr id="99" name="TextBox 99"/>
            <p:cNvSpPr txBox="1"/>
            <p:nvPr/>
          </p:nvSpPr>
          <p:spPr>
            <a:xfrm>
              <a:off x="7803642" y="4807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检查结束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16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ntr" presetSubtype="0" fill="hold" grpId="0" nodeType="clickEffect" restart="always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ntr" presetSubtype="0" fill="hold" grpId="0" nodeType="clickEffect" restart="always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ntr" presetSubtype="0" fill="hold" grpId="0" nodeType="clickEffect" restart="always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ntr" presetSubtype="0" fill="hold" grpId="0" nodeType="clickEffect" restart="always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ntr" presetSubtype="0" fill="hold" grpId="0" nodeType="click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xit" presetSubtype="0" fill="hold" grpId="0" nodeType="clickEffect" restart="always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xit" presetSubtype="0" fill="hold" grpId="0" nodeType="clickEffect" restart="always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6860667" cy="727901"/>
            <a:chOff x="457200" y="342900"/>
            <a:chExt cx="6860667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易错提醒：少一行，循环可能停不下来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先找问题，再点击揭晓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危险代码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104790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count = 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193936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 count &lt;= 3: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15688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print("检查")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1525" y="356235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8037" y="3509486"/>
              <a:ext cx="243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 count 一直没有变化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7" name="Rectangle 17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8232" y="14878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为什么危险？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1993582"/>
              <a:ext cx="25933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 count &lt;= 3 一直为真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24888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程序会不停重复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2984182"/>
              <a:ext cx="4128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先知道 IDLE / Thonny 的停止按钮在哪里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17 / 32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6" name="Rectangle 26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9" name="Rectangle 29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393688" cy="727901"/>
            <a:chOff x="457200" y="342900"/>
            <a:chExt cx="4393688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40843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本课选择题 · 第 1–2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73843" y="5686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本课练习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3064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while循环在什么时候继续？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9429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条件成立时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6604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永远不执行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3779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只有画图时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1152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保存时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87228" y="2284571"/>
              <a:ext cx="13212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条件成立时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6604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永远不执行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7797" y="2284571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只有画图时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1152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保存时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条件为真时重复。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3307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防止while不停常用的方法是？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92317" y="4665821"/>
              <a:ext cx="1711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更新计数或条件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680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加颜色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977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加图片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86643" y="4665821"/>
              <a:ext cx="1152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删除print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85247" y="4665821"/>
              <a:ext cx="17252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更新计数或条件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680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加颜色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977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加图片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86643" y="4665821"/>
              <a:ext cx="1152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删除print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让停止条件有机会出现。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18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393688" cy="727901"/>
            <a:chOff x="457200" y="342900"/>
            <a:chExt cx="4393688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40843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本课选择题 · 第 3–4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73843" y="5686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本课练习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1929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break的作用是？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3307" y="2284571"/>
              <a:ext cx="15091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立刻结束循环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6703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跳过注释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3878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开始循环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1251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输出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86238" y="2284571"/>
              <a:ext cx="1523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立刻结束循环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6703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跳过注释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8788" y="228457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开始循环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1251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输出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23179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break 直接离开整个循环。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22857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continue的作用是？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52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结束程序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63076" y="4665821"/>
              <a:ext cx="1913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跳过本轮剩余代码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87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删除变量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1053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导入模块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952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A. 结束程序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56007" y="4665821"/>
              <a:ext cx="19272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跳过本轮剩余代码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87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删除变量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1053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导入模块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回到下一轮判断。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19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393688" cy="727901"/>
            <a:chOff x="457200" y="342900"/>
            <a:chExt cx="4393688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40843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本课选择题 · 第 5–6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73843" y="5686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本课练习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20171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 True表示？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3307" y="2284571"/>
              <a:ext cx="15091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条件一直为真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2484" y="2284571"/>
              <a:ext cx="1014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循环3次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3977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不执行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1251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画圆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86238" y="2284571"/>
              <a:ext cx="1523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条件一直为真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12484" y="2284571"/>
              <a:ext cx="1014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循环3次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39778" y="228457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不执行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12519" y="228457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画圆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2184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 break 等方式停止。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32913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count=count+1有什么作用？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52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计数增加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6703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计数清零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87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输出图片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改颜色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88219" y="4665821"/>
              <a:ext cx="1119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计数增加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6703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计数清零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8788" y="4665821"/>
              <a:ext cx="1105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输出图片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11528" y="4665821"/>
              <a:ext cx="903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改颜色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每轮增加计数。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393688" cy="727901"/>
            <a:chOff x="457200" y="342900"/>
            <a:chExt cx="4393688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40843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本课选择题 · 第 7–8 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先选答案，再点击“揭晓”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544050" y="4381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73843" y="5686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本课练习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8" name="Rectangle 8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286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273" y="164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1006" y="1615440"/>
              <a:ext cx="3308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已知重复4次画正方形更适合？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4991" y="2284571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for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3439" y="2284571"/>
              <a:ext cx="2152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无break的while True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785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input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07902" y="2284571"/>
              <a:ext cx="71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type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114550"/>
            <a:ext cx="10096500" cy="495300"/>
            <a:chOff x="857250" y="2114550"/>
            <a:chExt cx="10096500" cy="495300"/>
          </a:xfrm>
        </p:grpSpPr>
        <p:sp>
          <p:nvSpPr>
            <p:cNvPr id="21" name="Rectangle 21"/>
            <p:cNvSpPr/>
            <p:nvPr/>
          </p:nvSpPr>
          <p:spPr>
            <a:xfrm>
              <a:off x="8572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30209" y="2284571"/>
              <a:ext cx="6353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for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43439" y="2284571"/>
              <a:ext cx="2152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无break的while True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7857" y="2284571"/>
              <a:ext cx="767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input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11455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07902" y="2284571"/>
              <a:ext cx="710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type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2743200"/>
            <a:ext cx="7429500" cy="495300"/>
            <a:chOff x="800100" y="2743200"/>
            <a:chExt cx="7429500" cy="495300"/>
          </a:xfrm>
        </p:grpSpPr>
        <p:sp>
          <p:nvSpPr>
            <p:cNvPr id="30" name="Rectangle 30"/>
            <p:cNvSpPr/>
            <p:nvPr/>
          </p:nvSpPr>
          <p:spPr>
            <a:xfrm>
              <a:off x="800100" y="274320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080" y="290512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4511" y="2913221"/>
              <a:ext cx="21650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次数明确时 for 更直接。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3714750"/>
            <a:ext cx="11277600" cy="2095500"/>
            <a:chOff x="457200" y="3714750"/>
            <a:chExt cx="112776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457200" y="3714750"/>
              <a:ext cx="11277600" cy="20955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8650" y="39052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273" y="402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399669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不知道尝试几次、直到答对更适合？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69181" y="4665821"/>
              <a:ext cx="7573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while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83615" y="4665821"/>
              <a:ext cx="872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turtle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4893" y="4665821"/>
              <a:ext cx="1152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print一次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1251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注释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4495800"/>
            <a:ext cx="10096500" cy="495300"/>
            <a:chOff x="857250" y="4495800"/>
            <a:chExt cx="10096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8572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50608" y="4665821"/>
              <a:ext cx="7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A. while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83615" y="4665821"/>
              <a:ext cx="872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B. turtle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075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14893" y="4665821"/>
              <a:ext cx="1152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C. print一次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72500" y="4495800"/>
              <a:ext cx="238125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 w="14288">
              <a:solidFill>
                <a:srgbClr val="FFB7D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12519" y="4665821"/>
              <a:ext cx="70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93C68"/>
                  </a:solidFill>
                  <a:latin typeface="+mn-lt"/>
                  <a:ea typeface="+mn-ea"/>
                  <a:cs typeface="+mn-cs"/>
                </a:rPr>
                <a:t>D. 注释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" y="5124450"/>
            <a:ext cx="7429500" cy="495300"/>
            <a:chOff x="800100" y="5124450"/>
            <a:chExt cx="7429500" cy="495300"/>
          </a:xfrm>
        </p:grpSpPr>
        <p:sp>
          <p:nvSpPr>
            <p:cNvPr id="56" name="Rectangle 56"/>
            <p:cNvSpPr/>
            <p:nvPr/>
          </p:nvSpPr>
          <p:spPr>
            <a:xfrm>
              <a:off x="800100" y="5124450"/>
              <a:ext cx="74295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080" y="5286375"/>
              <a:ext cx="12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正确答案：A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4511" y="5294471"/>
              <a:ext cx="25091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按条件持续时 while 更合适。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21 / 32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01027" y="29132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1 题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72500" y="2743200"/>
            <a:ext cx="2667000" cy="495300"/>
            <a:chOff x="8572500" y="2743200"/>
            <a:chExt cx="2667000" cy="495300"/>
          </a:xfrm>
        </p:grpSpPr>
        <p:sp>
          <p:nvSpPr>
            <p:cNvPr id="66" name="Rectangle 66"/>
            <p:cNvSpPr/>
            <p:nvPr/>
          </p:nvSpPr>
          <p:spPr>
            <a:xfrm>
              <a:off x="8572500" y="274320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68" name="Rectangle 68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027" y="52944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揭晓第 2 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72500" y="5124450"/>
            <a:ext cx="2667000" cy="495300"/>
            <a:chOff x="8572500" y="5124450"/>
            <a:chExt cx="2667000" cy="495300"/>
          </a:xfrm>
        </p:grpSpPr>
        <p:sp>
          <p:nvSpPr>
            <p:cNvPr id="71" name="Rectangle 71"/>
            <p:cNvSpPr/>
            <p:nvPr/>
          </p:nvSpPr>
          <p:spPr>
            <a:xfrm>
              <a:off x="8572500" y="5124450"/>
              <a:ext cx="266700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23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09600" y="1028700"/>
            <a:ext cx="10668000" cy="4686300"/>
            <a:chOff x="609600" y="1028700"/>
            <a:chExt cx="10668000" cy="4686300"/>
          </a:xfrm>
        </p:grpSpPr>
        <p:sp>
          <p:nvSpPr>
            <p:cNvPr id="3" name="Rectangle 3"/>
            <p:cNvSpPr/>
            <p:nvPr/>
          </p:nvSpPr>
          <p:spPr>
            <a:xfrm>
              <a:off x="609600" y="1028700"/>
              <a:ext cx="10668000" cy="4686300"/>
            </a:xfrm>
            <a:prstGeom prst="roundRect">
              <a:avLst>
                <a:gd name="adj" fmla="val 10569"/>
              </a:avLst>
            </a:prstGeom>
            <a:solidFill>
              <a:srgbClr val="FFFFFF">
                <a:alpha val="92000"/>
              </a:srgbClr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3950" y="1266825"/>
              <a:ext cx="2137162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95700" y="2213610"/>
              <a:ext cx="297961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break 实战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42944" y="30089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答对口令就提前结束循环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752850" y="3638550"/>
              <a:ext cx="5715000" cy="114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752850" y="36385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22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57200" y="323850"/>
            <a:ext cx="11348902" cy="756475"/>
            <a:chOff x="457200" y="323850"/>
            <a:chExt cx="11348902" cy="756475"/>
          </a:xfrm>
        </p:grpSpPr>
        <p:sp>
          <p:nvSpPr>
            <p:cNvPr id="3" name="Rectangle 3"/>
            <p:cNvSpPr/>
            <p:nvPr/>
          </p:nvSpPr>
          <p:spPr>
            <a:xfrm>
              <a:off x="457200" y="323850"/>
              <a:ext cx="1143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7334" y="375285"/>
              <a:ext cx="44651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动手练习 B：答对就 break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74192" y="816292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体验“继续尝试”和“立刻成功”的差别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000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5781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104900"/>
            <a:ext cx="11277600" cy="8763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647700" y="1219200"/>
            <a:ext cx="5381625" cy="590550"/>
            <a:chOff x="647700" y="1219200"/>
            <a:chExt cx="5381625" cy="590550"/>
          </a:xfrm>
        </p:grpSpPr>
        <p:sp>
          <p:nvSpPr>
            <p:cNvPr id="10" name="Rectangle 10"/>
            <p:cNvSpPr/>
            <p:nvPr/>
          </p:nvSpPr>
          <p:spPr>
            <a:xfrm>
              <a:off x="647700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71525" y="131445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113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9111" y="1427321"/>
              <a:ext cx="15017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直接输入 python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62675" y="1219200"/>
            <a:ext cx="5381625" cy="590550"/>
            <a:chOff x="6162675" y="1219200"/>
            <a:chExt cx="5381625" cy="590550"/>
          </a:xfrm>
        </p:grpSpPr>
        <p:sp>
          <p:nvSpPr>
            <p:cNvPr id="15" name="Rectangle 15"/>
            <p:cNvSpPr/>
            <p:nvPr/>
          </p:nvSpPr>
          <p:spPr>
            <a:xfrm>
              <a:off x="6162675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286500" y="1314450"/>
              <a:ext cx="400050" cy="400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4088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4086" y="14273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先错两次再答对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" y="1219200"/>
            <a:ext cx="5381625" cy="590550"/>
            <a:chOff x="647700" y="1219200"/>
            <a:chExt cx="5381625" cy="590550"/>
          </a:xfrm>
        </p:grpSpPr>
        <p:sp>
          <p:nvSpPr>
            <p:cNvPr id="20" name="Rectangle 20"/>
            <p:cNvSpPr/>
            <p:nvPr/>
          </p:nvSpPr>
          <p:spPr>
            <a:xfrm>
              <a:off x="647700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162675" y="1219200"/>
            <a:ext cx="5381625" cy="590550"/>
            <a:chOff x="6162675" y="1219200"/>
            <a:chExt cx="5381625" cy="590550"/>
          </a:xfrm>
        </p:grpSpPr>
        <p:sp>
          <p:nvSpPr>
            <p:cNvPr id="22" name="Rectangle 22"/>
            <p:cNvSpPr/>
            <p:nvPr/>
          </p:nvSpPr>
          <p:spPr>
            <a:xfrm>
              <a:off x="6162675" y="1219200"/>
              <a:ext cx="5381625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57200" y="2114550"/>
            <a:ext cx="6667500" cy="4095750"/>
            <a:chOff x="457200" y="2114550"/>
            <a:chExt cx="6667500" cy="4095750"/>
          </a:xfrm>
        </p:grpSpPr>
        <p:sp>
          <p:nvSpPr>
            <p:cNvPr id="24" name="Rectangle 24"/>
            <p:cNvSpPr/>
            <p:nvPr/>
          </p:nvSpPr>
          <p:spPr>
            <a:xfrm>
              <a:off x="457200" y="2114550"/>
              <a:ext cx="6667500" cy="4095750"/>
            </a:xfrm>
            <a:prstGeom prst="roundRect">
              <a:avLst>
                <a:gd name="adj" fmla="val 790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04850" y="2343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52500" y="2343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200150" y="234315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49730" y="2333625"/>
              <a:ext cx="1397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编辑器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" y="2628900"/>
              <a:ext cx="6210300" cy="2800350"/>
            </a:xfrm>
            <a:prstGeom prst="roundRect">
              <a:avLst>
                <a:gd name="adj" fmla="val 7483"/>
              </a:avLst>
            </a:prstGeom>
            <a:solidFill>
              <a:srgbClr val="F8FBFF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353300" y="2114550"/>
            <a:ext cx="4381500" cy="4095750"/>
            <a:chOff x="7353300" y="2114550"/>
            <a:chExt cx="4381500" cy="4095750"/>
          </a:xfrm>
        </p:grpSpPr>
        <p:sp>
          <p:nvSpPr>
            <p:cNvPr id="31" name="Rectangle 31"/>
            <p:cNvSpPr/>
            <p:nvPr/>
          </p:nvSpPr>
          <p:spPr>
            <a:xfrm>
              <a:off x="7353300" y="2114550"/>
              <a:ext cx="4381500" cy="4095750"/>
            </a:xfrm>
            <a:prstGeom prst="roundRect">
              <a:avLst>
                <a:gd name="adj" fmla="val 79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87056" y="2301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81900" y="2628900"/>
              <a:ext cx="3924300" cy="2686050"/>
            </a:xfrm>
            <a:prstGeom prst="roundRect">
              <a:avLst>
                <a:gd name="adj" fmla="val 851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800975" y="28289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029575" y="28289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258175" y="2828925"/>
              <a:ext cx="133350" cy="133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6023" y="2815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5486400"/>
              <a:ext cx="3848100" cy="590550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88492" y="2845118"/>
            <a:ext cx="3103245" cy="1692783"/>
            <a:chOff x="888492" y="2845118"/>
            <a:chExt cx="3103245" cy="1692783"/>
          </a:xfrm>
        </p:grpSpPr>
        <p:sp>
          <p:nvSpPr>
            <p:cNvPr id="40" name="TextBox 40"/>
            <p:cNvSpPr txBox="1"/>
            <p:nvPr/>
          </p:nvSpPr>
          <p:spPr>
            <a:xfrm>
              <a:off x="888492" y="2845118"/>
              <a:ext cx="1120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True: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492" y="3130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input("请输入口令：")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8492" y="34166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"python":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8492" y="3702368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print("身份确认成功！")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492" y="39881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8492" y="42738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print("口令不对，请再试一次。")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8492" y="2845118"/>
            <a:ext cx="3103245" cy="1692783"/>
            <a:chOff x="888492" y="2845118"/>
            <a:chExt cx="3103245" cy="1692783"/>
          </a:xfrm>
        </p:grpSpPr>
        <p:sp>
          <p:nvSpPr>
            <p:cNvPr id="47" name="TextBox 47"/>
            <p:cNvSpPr txBox="1"/>
            <p:nvPr/>
          </p:nvSpPr>
          <p:spPr>
            <a:xfrm>
              <a:off x="888492" y="2845118"/>
              <a:ext cx="1120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True: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492" y="3130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input("请输入口令：")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8492" y="34166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"python":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492" y="3702368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print("身份确认成功！")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8492" y="39881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8492" y="42738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print("口令不对，请再试一次。")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8492" y="2845118"/>
            <a:ext cx="3103245" cy="1692783"/>
            <a:chOff x="888492" y="2845118"/>
            <a:chExt cx="3103245" cy="1692783"/>
          </a:xfrm>
        </p:grpSpPr>
        <p:sp>
          <p:nvSpPr>
            <p:cNvPr id="54" name="TextBox 54"/>
            <p:cNvSpPr txBox="1"/>
            <p:nvPr/>
          </p:nvSpPr>
          <p:spPr>
            <a:xfrm>
              <a:off x="888492" y="2845118"/>
              <a:ext cx="1120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True: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8492" y="3130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input("请输入口令：")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8492" y="34166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"python":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8492" y="3702368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print("身份确认成功！")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8492" y="39881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8492" y="42738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print("口令不对，请再试一次。")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70" name="Rectangle 70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72" name="Rectangle 72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74" name="Rectangle 74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446770" y="5712142"/>
            <a:ext cx="2194560" cy="264033"/>
            <a:chOff x="8446770" y="5712142"/>
            <a:chExt cx="2194560" cy="264033"/>
          </a:xfrm>
        </p:grpSpPr>
        <p:sp>
          <p:nvSpPr>
            <p:cNvPr id="76" name="TextBox 76"/>
            <p:cNvSpPr txBox="1"/>
            <p:nvPr/>
          </p:nvSpPr>
          <p:spPr>
            <a:xfrm>
              <a:off x="8446770" y="571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点击运行，终端才开始输出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265033" y="5712142"/>
            <a:ext cx="2558034" cy="264033"/>
            <a:chOff x="8265033" y="5712142"/>
            <a:chExt cx="2558034" cy="264033"/>
          </a:xfrm>
        </p:grpSpPr>
        <p:sp>
          <p:nvSpPr>
            <p:cNvPr id="78" name="TextBox 78"/>
            <p:cNvSpPr txBox="1"/>
            <p:nvPr/>
          </p:nvSpPr>
          <p:spPr>
            <a:xfrm>
              <a:off x="8265033" y="57121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已切换任务，点击运行查看结果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139675" y="5704046"/>
            <a:ext cx="808749" cy="278702"/>
            <a:chOff x="9139675" y="5704046"/>
            <a:chExt cx="808749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9139675" y="5704046"/>
              <a:ext cx="808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运行中……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24023" y="5704046"/>
            <a:ext cx="1040054" cy="278702"/>
            <a:chOff x="9024023" y="5704046"/>
            <a:chExt cx="1040054" cy="278702"/>
          </a:xfrm>
        </p:grpSpPr>
        <p:sp>
          <p:nvSpPr>
            <p:cNvPr id="82" name="TextBox 82"/>
            <p:cNvSpPr txBox="1"/>
            <p:nvPr/>
          </p:nvSpPr>
          <p:spPr>
            <a:xfrm>
              <a:off x="9024023" y="5704046"/>
              <a:ext cx="1040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验证完成 ✓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805115" y="3556159"/>
            <a:ext cx="315570" cy="425386"/>
            <a:chOff x="7805115" y="3556159"/>
            <a:chExt cx="315570" cy="425386"/>
          </a:xfrm>
        </p:grpSpPr>
        <p:sp>
          <p:nvSpPr>
            <p:cNvPr id="84" name="TextBox 84"/>
            <p:cNvSpPr txBox="1"/>
            <p:nvPr/>
          </p:nvSpPr>
          <p:spPr>
            <a:xfrm>
              <a:off x="78051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身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148015" y="3556159"/>
            <a:ext cx="315570" cy="425386"/>
            <a:chOff x="8148015" y="3556159"/>
            <a:chExt cx="315570" cy="425386"/>
          </a:xfrm>
        </p:grpSpPr>
        <p:sp>
          <p:nvSpPr>
            <p:cNvPr id="86" name="TextBox 86"/>
            <p:cNvSpPr txBox="1"/>
            <p:nvPr/>
          </p:nvSpPr>
          <p:spPr>
            <a:xfrm>
              <a:off x="81480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份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490915" y="3556159"/>
            <a:ext cx="315570" cy="425386"/>
            <a:chOff x="8490915" y="3556159"/>
            <a:chExt cx="315570" cy="425386"/>
          </a:xfrm>
        </p:grpSpPr>
        <p:sp>
          <p:nvSpPr>
            <p:cNvPr id="88" name="TextBox 88"/>
            <p:cNvSpPr txBox="1"/>
            <p:nvPr/>
          </p:nvSpPr>
          <p:spPr>
            <a:xfrm>
              <a:off x="84909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确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833815" y="3556159"/>
            <a:ext cx="315570" cy="425386"/>
            <a:chOff x="8833815" y="3556159"/>
            <a:chExt cx="315570" cy="425386"/>
          </a:xfrm>
        </p:grpSpPr>
        <p:sp>
          <p:nvSpPr>
            <p:cNvPr id="90" name="TextBox 90"/>
            <p:cNvSpPr txBox="1"/>
            <p:nvPr/>
          </p:nvSpPr>
          <p:spPr>
            <a:xfrm>
              <a:off x="88338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认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176715" y="3556159"/>
            <a:ext cx="315570" cy="425386"/>
            <a:chOff x="9176715" y="3556159"/>
            <a:chExt cx="315570" cy="425386"/>
          </a:xfrm>
        </p:grpSpPr>
        <p:sp>
          <p:nvSpPr>
            <p:cNvPr id="92" name="TextBox 92"/>
            <p:cNvSpPr txBox="1"/>
            <p:nvPr/>
          </p:nvSpPr>
          <p:spPr>
            <a:xfrm>
              <a:off x="91767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519615" y="3556159"/>
            <a:ext cx="315570" cy="425386"/>
            <a:chOff x="9519615" y="3556159"/>
            <a:chExt cx="315570" cy="425386"/>
          </a:xfrm>
        </p:grpSpPr>
        <p:sp>
          <p:nvSpPr>
            <p:cNvPr id="94" name="TextBox 94"/>
            <p:cNvSpPr txBox="1"/>
            <p:nvPr/>
          </p:nvSpPr>
          <p:spPr>
            <a:xfrm>
              <a:off x="95196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功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824415" y="3556159"/>
            <a:ext cx="315570" cy="425386"/>
            <a:chOff x="9824415" y="3556159"/>
            <a:chExt cx="315570" cy="425386"/>
          </a:xfrm>
        </p:grpSpPr>
        <p:sp>
          <p:nvSpPr>
            <p:cNvPr id="96" name="TextBox 96"/>
            <p:cNvSpPr txBox="1"/>
            <p:nvPr/>
          </p:nvSpPr>
          <p:spPr>
            <a:xfrm>
              <a:off x="9824415" y="3556159"/>
              <a:ext cx="31557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03642" y="3188018"/>
            <a:ext cx="2012823" cy="264033"/>
            <a:chOff x="7803642" y="3188018"/>
            <a:chExt cx="2012823" cy="264033"/>
          </a:xfrm>
        </p:grpSpPr>
        <p:sp>
          <p:nvSpPr>
            <p:cNvPr id="98" name="TextBox 98"/>
            <p:cNvSpPr txBox="1"/>
            <p:nvPr/>
          </p:nvSpPr>
          <p:spPr>
            <a:xfrm>
              <a:off x="7803642" y="3188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口令不对，请再试一次。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803642" y="3588068"/>
            <a:ext cx="2012823" cy="264033"/>
            <a:chOff x="7803642" y="3588068"/>
            <a:chExt cx="2012823" cy="264033"/>
          </a:xfrm>
        </p:grpSpPr>
        <p:sp>
          <p:nvSpPr>
            <p:cNvPr id="100" name="TextBox 100"/>
            <p:cNvSpPr txBox="1"/>
            <p:nvPr/>
          </p:nvSpPr>
          <p:spPr>
            <a:xfrm>
              <a:off x="7803642" y="3588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口令不对，请再试一次。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803642" y="3988118"/>
            <a:ext cx="1285875" cy="264033"/>
            <a:chOff x="7803642" y="3988118"/>
            <a:chExt cx="1285875" cy="264033"/>
          </a:xfrm>
        </p:grpSpPr>
        <p:sp>
          <p:nvSpPr>
            <p:cNvPr id="102" name="TextBox 102"/>
            <p:cNvSpPr txBox="1"/>
            <p:nvPr/>
          </p:nvSpPr>
          <p:spPr>
            <a:xfrm>
              <a:off x="7803642" y="39881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身份确认成功！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04" name="TextBox 104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23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ntr" presetSubtype="0" fill="hold" grpId="0" nodeType="clickEffect" restart="always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ntr" presetSubtype="0" fill="hold" grpId="0" nodeType="clickEffect" restart="always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ntr" presetSubtype="0" fill="hold" grpId="0" nodeType="clickEffect" restart="always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ntr" presetSubtype="0" fill="hold" grpId="0" nodeType="clickEffect" restart="always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ntr" presetSubtype="0" fill="hold" grpId="0" nodeType="clickEffect" restart="always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ntr" presetSubtype="0" fill="hold" grpId="0" nodeType="clickEffect" restart="always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ntr" presetSubtype="0" fill="hold" grpId="0" nodeType="clickEffect" restart="always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ntr" presetSubtype="0" fill="hold" grpId="0" nodeType="clickEffect" restart="always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xit" presetSubtype="0" fill="hold" grpId="0" nodeType="clickEffect" restart="always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xit" presetSubtype="0" fill="hold" grpId="0" nodeType="click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4252691" cy="727901"/>
            <a:chOff x="457200" y="342900"/>
            <a:chExt cx="425269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9433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break 发生在哪一刻？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从输入到离开循环，一步一步走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809750"/>
            <a:ext cx="2362200" cy="2476500"/>
            <a:chOff x="609600" y="1809750"/>
            <a:chExt cx="2362200" cy="2476500"/>
          </a:xfrm>
        </p:grpSpPr>
        <p:sp>
          <p:nvSpPr>
            <p:cNvPr id="6" name="Rectangle 6"/>
            <p:cNvSpPr/>
            <p:nvPr/>
          </p:nvSpPr>
          <p:spPr>
            <a:xfrm>
              <a:off x="609600" y="1809750"/>
              <a:ext cx="2362200" cy="2476500"/>
            </a:xfrm>
            <a:prstGeom prst="roundRect">
              <a:avLst>
                <a:gd name="adj" fmla="val 137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485900" y="205740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11587" y="22631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844" y="2918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输入口令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263" y="351710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password = input(...)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29000" y="1809750"/>
            <a:ext cx="2362200" cy="2476500"/>
            <a:chOff x="3429000" y="1809750"/>
            <a:chExt cx="2362200" cy="2476500"/>
          </a:xfrm>
        </p:grpSpPr>
        <p:sp>
          <p:nvSpPr>
            <p:cNvPr id="12" name="Rectangle 12"/>
            <p:cNvSpPr/>
            <p:nvPr/>
          </p:nvSpPr>
          <p:spPr>
            <a:xfrm>
              <a:off x="3429000" y="1809750"/>
              <a:ext cx="2362200" cy="2476500"/>
            </a:xfrm>
            <a:prstGeom prst="roundRect">
              <a:avLst>
                <a:gd name="adj" fmla="val 137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305300" y="205740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0987" y="22631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06698" y="29189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判断是否正确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75126" y="35171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password == "python"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48400" y="1809750"/>
            <a:ext cx="2362200" cy="2476500"/>
            <a:chOff x="6248400" y="1809750"/>
            <a:chExt cx="23622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809750"/>
              <a:ext cx="2362200" cy="2476500"/>
            </a:xfrm>
            <a:prstGeom prst="roundRect">
              <a:avLst>
                <a:gd name="adj" fmla="val 137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124700" y="205740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0387" y="22631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57644" y="2918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输出成功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22908" y="3517106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print("身份确认成功！")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67800" y="1809750"/>
            <a:ext cx="2362200" cy="2476500"/>
            <a:chOff x="9067800" y="1809750"/>
            <a:chExt cx="2362200" cy="2476500"/>
          </a:xfrm>
        </p:grpSpPr>
        <p:sp>
          <p:nvSpPr>
            <p:cNvPr id="24" name="Rectangle 24"/>
            <p:cNvSpPr/>
            <p:nvPr/>
          </p:nvSpPr>
          <p:spPr>
            <a:xfrm>
              <a:off x="9067800" y="1809750"/>
              <a:ext cx="2362200" cy="2476500"/>
            </a:xfrm>
            <a:prstGeom prst="roundRect">
              <a:avLst>
                <a:gd name="adj" fmla="val 137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944100" y="205740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69787" y="22631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77044" y="2918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立刻离开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35870" y="35171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</p:grpSp>
      <p:sp>
        <p:nvSpPr>
          <p:cNvPr id="30" name="Rectangle 30"/>
          <p:cNvSpPr/>
          <p:nvPr/>
        </p:nvSpPr>
        <p:spPr>
          <a:xfrm>
            <a:off x="3390900" y="4819650"/>
            <a:ext cx="5410200" cy="419100"/>
          </a:xfrm>
          <a:prstGeom prst="roundRect">
            <a:avLst>
              <a:gd name="adj" fmla="val 50000"/>
            </a:avLst>
          </a:prstGeom>
          <a:solidFill>
            <a:srgbClr val="E9FBE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325839" y="4950142"/>
            <a:ext cx="3540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break 后：整个 while 循环结束，不再询问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24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23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09600" y="1028700"/>
            <a:ext cx="10668000" cy="4686300"/>
            <a:chOff x="609600" y="1028700"/>
            <a:chExt cx="10668000" cy="4686300"/>
          </a:xfrm>
        </p:grpSpPr>
        <p:sp>
          <p:nvSpPr>
            <p:cNvPr id="3" name="Rectangle 3"/>
            <p:cNvSpPr/>
            <p:nvPr/>
          </p:nvSpPr>
          <p:spPr>
            <a:xfrm>
              <a:off x="609600" y="1028700"/>
              <a:ext cx="10668000" cy="4686300"/>
            </a:xfrm>
            <a:prstGeom prst="roundRect">
              <a:avLst>
                <a:gd name="adj" fmla="val 10569"/>
              </a:avLst>
            </a:prstGeom>
            <a:solidFill>
              <a:srgbClr val="FFFFFF">
                <a:alpha val="92000"/>
              </a:srgbClr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3950" y="1266825"/>
              <a:ext cx="2137162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95700" y="221361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微项目：三次口令门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42944" y="3008948"/>
              <a:ext cx="59000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 while + 计数 + break + continue 拼成完整作品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752850" y="3638550"/>
              <a:ext cx="5715000" cy="114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752850" y="36385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25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5709666" cy="727901"/>
            <a:chOff x="457200" y="342900"/>
            <a:chExt cx="5709666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完整代码：四块积木怎样配合？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重点不是背代码，而是看清顺序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76350"/>
            <a:ext cx="7143750" cy="4762500"/>
            <a:chOff x="457200" y="1276350"/>
            <a:chExt cx="714375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276350"/>
              <a:ext cx="7143750" cy="4762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00150" y="152400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31061" y="1522571"/>
              <a:ext cx="1322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编辑器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4573" y="19388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secret = "python"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3883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538889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27389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input("请输入特工口令：")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13896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"":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338989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print("不能输入空白！")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5390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393906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43391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secret: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539139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print("身份确认成功，欢迎特工！")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7391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3918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else: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513921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print("口令错误。还可尝试", 3 - tries, "次。")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55392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!= secret: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" y="5739289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print("三次机会已用完，任务暂停。")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24800" y="1485900"/>
            <a:ext cx="3505200" cy="781050"/>
            <a:chOff x="7924800" y="1485900"/>
            <a:chExt cx="3505200" cy="781050"/>
          </a:xfrm>
        </p:grpSpPr>
        <p:sp>
          <p:nvSpPr>
            <p:cNvPr id="27" name="Rectangle 27"/>
            <p:cNvSpPr/>
            <p:nvPr/>
          </p:nvSpPr>
          <p:spPr>
            <a:xfrm>
              <a:off x="7924800" y="1485900"/>
              <a:ext cx="3505200" cy="781050"/>
            </a:xfrm>
            <a:prstGeom prst="roundRect">
              <a:avLst>
                <a:gd name="adj" fmla="val 29268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83499" y="1620679"/>
              <a:ext cx="6312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4642" y="19307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&lt;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24800" y="2476500"/>
            <a:ext cx="3505200" cy="781050"/>
            <a:chOff x="7924800" y="2476500"/>
            <a:chExt cx="3505200" cy="781050"/>
          </a:xfrm>
        </p:grpSpPr>
        <p:sp>
          <p:nvSpPr>
            <p:cNvPr id="31" name="Rectangle 31"/>
            <p:cNvSpPr/>
            <p:nvPr/>
          </p:nvSpPr>
          <p:spPr>
            <a:xfrm>
              <a:off x="7924800" y="2476500"/>
              <a:ext cx="3505200" cy="781050"/>
            </a:xfrm>
            <a:prstGeom prst="roundRect">
              <a:avLst>
                <a:gd name="adj" fmla="val 2926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83499" y="2611279"/>
              <a:ext cx="6312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② 空白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4642" y="29213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24800" y="3467100"/>
            <a:ext cx="3505200" cy="781050"/>
            <a:chOff x="7924800" y="3467100"/>
            <a:chExt cx="3505200" cy="781050"/>
          </a:xfrm>
        </p:grpSpPr>
        <p:sp>
          <p:nvSpPr>
            <p:cNvPr id="35" name="Rectangle 35"/>
            <p:cNvSpPr/>
            <p:nvPr/>
          </p:nvSpPr>
          <p:spPr>
            <a:xfrm>
              <a:off x="7924800" y="3467100"/>
              <a:ext cx="3505200" cy="781050"/>
            </a:xfrm>
            <a:prstGeom prst="roundRect">
              <a:avLst>
                <a:gd name="adj" fmla="val 2926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83499" y="3601879"/>
              <a:ext cx="6312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计数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4642" y="39119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+ 1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24800" y="4457700"/>
            <a:ext cx="3505200" cy="781050"/>
            <a:chOff x="7924800" y="4457700"/>
            <a:chExt cx="3505200" cy="781050"/>
          </a:xfrm>
        </p:grpSpPr>
        <p:sp>
          <p:nvSpPr>
            <p:cNvPr id="39" name="Rectangle 39"/>
            <p:cNvSpPr/>
            <p:nvPr/>
          </p:nvSpPr>
          <p:spPr>
            <a:xfrm>
              <a:off x="7924800" y="4457700"/>
              <a:ext cx="3505200" cy="781050"/>
            </a:xfrm>
            <a:prstGeom prst="roundRect">
              <a:avLst>
                <a:gd name="adj" fmla="val 29268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83499" y="4592479"/>
              <a:ext cx="6312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④ 成功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4642" y="49025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26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57200" y="323850"/>
            <a:ext cx="11348902" cy="756475"/>
            <a:chOff x="457200" y="323850"/>
            <a:chExt cx="11348902" cy="756475"/>
          </a:xfrm>
        </p:grpSpPr>
        <p:sp>
          <p:nvSpPr>
            <p:cNvPr id="3" name="Rectangle 3"/>
            <p:cNvSpPr/>
            <p:nvPr/>
          </p:nvSpPr>
          <p:spPr>
            <a:xfrm>
              <a:off x="457200" y="323850"/>
              <a:ext cx="1143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7334" y="3752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运行验证：三类输入都要测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74192" y="81629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切换案例；只有点击运行后终端才开始打印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000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5781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104900"/>
            <a:ext cx="11277600" cy="87630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647700" y="1219200"/>
            <a:ext cx="3543300" cy="590550"/>
            <a:chOff x="647700" y="1219200"/>
            <a:chExt cx="3543300" cy="590550"/>
          </a:xfrm>
        </p:grpSpPr>
        <p:sp>
          <p:nvSpPr>
            <p:cNvPr id="10" name="Rectangle 10"/>
            <p:cNvSpPr/>
            <p:nvPr/>
          </p:nvSpPr>
          <p:spPr>
            <a:xfrm>
              <a:off x="64770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71525" y="131445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113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9111" y="14273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空白 → 正确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24350" y="1219200"/>
            <a:ext cx="3543300" cy="590550"/>
            <a:chOff x="4324350" y="1219200"/>
            <a:chExt cx="3543300" cy="590550"/>
          </a:xfrm>
        </p:grpSpPr>
        <p:sp>
          <p:nvSpPr>
            <p:cNvPr id="15" name="Rectangle 15"/>
            <p:cNvSpPr/>
            <p:nvPr/>
          </p:nvSpPr>
          <p:spPr>
            <a:xfrm>
              <a:off x="432435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448175" y="1314450"/>
              <a:ext cx="400050" cy="400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85763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5761" y="1427321"/>
              <a:ext cx="738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 × 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1219200"/>
            <a:ext cx="3543300" cy="590550"/>
            <a:chOff x="8001000" y="1219200"/>
            <a:chExt cx="3543300" cy="59055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FFE2ED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124825" y="1314450"/>
              <a:ext cx="400050" cy="400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62413" y="14273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2411" y="142732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 → 正确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700" y="1219200"/>
            <a:ext cx="3543300" cy="590550"/>
            <a:chOff x="647700" y="1219200"/>
            <a:chExt cx="3543300" cy="590550"/>
          </a:xfrm>
        </p:grpSpPr>
        <p:sp>
          <p:nvSpPr>
            <p:cNvPr id="25" name="Rectangle 25"/>
            <p:cNvSpPr/>
            <p:nvPr/>
          </p:nvSpPr>
          <p:spPr>
            <a:xfrm>
              <a:off x="64770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324350" y="1219200"/>
            <a:ext cx="3543300" cy="590550"/>
            <a:chOff x="4324350" y="1219200"/>
            <a:chExt cx="3543300" cy="590550"/>
          </a:xfrm>
        </p:grpSpPr>
        <p:sp>
          <p:nvSpPr>
            <p:cNvPr id="27" name="Rectangle 27"/>
            <p:cNvSpPr/>
            <p:nvPr/>
          </p:nvSpPr>
          <p:spPr>
            <a:xfrm>
              <a:off x="432435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01000" y="1219200"/>
            <a:ext cx="3543300" cy="590550"/>
            <a:chOff x="8001000" y="1219200"/>
            <a:chExt cx="3543300" cy="590550"/>
          </a:xfrm>
        </p:grpSpPr>
        <p:sp>
          <p:nvSpPr>
            <p:cNvPr id="29" name="Rectangle 29"/>
            <p:cNvSpPr/>
            <p:nvPr/>
          </p:nvSpPr>
          <p:spPr>
            <a:xfrm>
              <a:off x="8001000" y="12192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57200" y="2114550"/>
            <a:ext cx="6667500" cy="4095750"/>
            <a:chOff x="457200" y="2114550"/>
            <a:chExt cx="6667500" cy="4095750"/>
          </a:xfrm>
        </p:grpSpPr>
        <p:sp>
          <p:nvSpPr>
            <p:cNvPr id="31" name="Rectangle 31"/>
            <p:cNvSpPr/>
            <p:nvPr/>
          </p:nvSpPr>
          <p:spPr>
            <a:xfrm>
              <a:off x="457200" y="2114550"/>
              <a:ext cx="6667500" cy="4095750"/>
            </a:xfrm>
            <a:prstGeom prst="roundRect">
              <a:avLst>
                <a:gd name="adj" fmla="val 790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04850" y="2343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52500" y="2343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200150" y="234315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49730" y="2333625"/>
              <a:ext cx="1397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编辑器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5800" y="2628900"/>
              <a:ext cx="6210300" cy="2800350"/>
            </a:xfrm>
            <a:prstGeom prst="roundRect">
              <a:avLst>
                <a:gd name="adj" fmla="val 7483"/>
              </a:avLst>
            </a:prstGeom>
            <a:solidFill>
              <a:srgbClr val="F8FBFF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353300" y="2114550"/>
            <a:ext cx="4381500" cy="4095750"/>
            <a:chOff x="7353300" y="2114550"/>
            <a:chExt cx="4381500" cy="4095750"/>
          </a:xfrm>
        </p:grpSpPr>
        <p:sp>
          <p:nvSpPr>
            <p:cNvPr id="38" name="Rectangle 38"/>
            <p:cNvSpPr/>
            <p:nvPr/>
          </p:nvSpPr>
          <p:spPr>
            <a:xfrm>
              <a:off x="7353300" y="2114550"/>
              <a:ext cx="4381500" cy="4095750"/>
            </a:xfrm>
            <a:prstGeom prst="roundRect">
              <a:avLst>
                <a:gd name="adj" fmla="val 79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87056" y="2301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81900" y="2628900"/>
              <a:ext cx="3924300" cy="2686050"/>
            </a:xfrm>
            <a:prstGeom prst="roundRect">
              <a:avLst>
                <a:gd name="adj" fmla="val 851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800975" y="28289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029575" y="28289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258175" y="2828925"/>
              <a:ext cx="133350" cy="133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6023" y="2815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0" y="5486400"/>
              <a:ext cx="3848100" cy="590550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888873" y="2700814"/>
            <a:ext cx="4182943" cy="2649664"/>
            <a:chOff x="888873" y="2700814"/>
            <a:chExt cx="4182943" cy="2649664"/>
          </a:xfrm>
        </p:grpSpPr>
        <p:sp>
          <p:nvSpPr>
            <p:cNvPr id="47" name="TextBox 47"/>
            <p:cNvSpPr txBox="1"/>
            <p:nvPr/>
          </p:nvSpPr>
          <p:spPr>
            <a:xfrm>
              <a:off x="888873" y="27008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secret = "python"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73" y="287226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8873" y="304371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873" y="32151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input("请输入特工口令：")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8873" y="3386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"":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8873" y="3558064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print("不能输入空白！")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8873" y="3729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873" y="390096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8873" y="40724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secret: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8873" y="424386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print("身份确认成功，欢迎特工！")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8873" y="44153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8873" y="45867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else: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8873" y="475821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print("口令错误。还可尝试", 3 - tries, "次。")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8873" y="49296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!= secret: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8873" y="5101114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print("三次机会已用完，任务暂停。")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88873" y="2700814"/>
            <a:ext cx="4182943" cy="2649664"/>
            <a:chOff x="888873" y="2700814"/>
            <a:chExt cx="4182943" cy="2649664"/>
          </a:xfrm>
        </p:grpSpPr>
        <p:sp>
          <p:nvSpPr>
            <p:cNvPr id="63" name="TextBox 63"/>
            <p:cNvSpPr txBox="1"/>
            <p:nvPr/>
          </p:nvSpPr>
          <p:spPr>
            <a:xfrm>
              <a:off x="888873" y="27008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secret = "python"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8873" y="287226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8873" y="304371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8873" y="32151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input("请输入特工口令：")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8873" y="3386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"":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8873" y="3558064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print("不能输入空白！")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8873" y="3729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8873" y="390096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8873" y="40724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secret: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8873" y="424386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print("身份确认成功，欢迎特工！")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8873" y="44153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8873" y="45867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else: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8873" y="475821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print("口令错误。还可尝试", 3 - tries, "次。")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8873" y="49296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!= secret: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88873" y="5101114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print("三次机会已用完，任务暂停。")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88873" y="2700814"/>
            <a:ext cx="4182943" cy="2649664"/>
            <a:chOff x="888873" y="2700814"/>
            <a:chExt cx="4182943" cy="2649664"/>
          </a:xfrm>
        </p:grpSpPr>
        <p:sp>
          <p:nvSpPr>
            <p:cNvPr id="79" name="TextBox 79"/>
            <p:cNvSpPr txBox="1"/>
            <p:nvPr/>
          </p:nvSpPr>
          <p:spPr>
            <a:xfrm>
              <a:off x="888873" y="27008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secret = "python"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8873" y="287226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8873" y="304371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88873" y="32151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input("请输入特工口令：")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8873" y="3386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"":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8873" y="3558064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print("不能输入空白！")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8873" y="3729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8873" y="390096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88873" y="40724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secret: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88873" y="424386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print("身份确认成功，欢迎特工！")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88873" y="44153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8873" y="45867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else: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8873" y="475821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print("口令错误。还可尝试", 3 - tries, "次。")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8873" y="49296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!= secret: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88873" y="5101114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print("三次机会已用完，任务暂停。")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888873" y="2700814"/>
            <a:ext cx="4182943" cy="2649664"/>
            <a:chOff x="888873" y="2700814"/>
            <a:chExt cx="4182943" cy="2649664"/>
          </a:xfrm>
        </p:grpSpPr>
        <p:sp>
          <p:nvSpPr>
            <p:cNvPr id="95" name="TextBox 95"/>
            <p:cNvSpPr txBox="1"/>
            <p:nvPr/>
          </p:nvSpPr>
          <p:spPr>
            <a:xfrm>
              <a:off x="888873" y="27008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secret = "python"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8873" y="287226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88873" y="304371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 tries &lt; 3: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88873" y="32151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password = input("请输入特工口令：")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88873" y="3386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"":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88873" y="3558064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print("不能输入空白！")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88873" y="3729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88873" y="390096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tries = tries + 1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88873" y="40724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== secret: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88873" y="424386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print("身份确认成功，欢迎特工！")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88873" y="44153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88873" y="45867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else: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8873" y="475821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print("口令错误。还可尝试", 3 - tries, "次。")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88873" y="49296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if password != secret: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88873" y="5101114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print("三次机会已用完，任务暂停。")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11" name="Rectangle 111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14" name="Rectangle 114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17" name="Rectangle 117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20" name="Rectangle 120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358133" y="5725954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23" name="Rectangle 123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26" name="Group 126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25" name="Rectangle 125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28" name="Group 128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27" name="Rectangle 127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4876800" y="5562600"/>
            <a:ext cx="2019300" cy="514350"/>
            <a:chOff x="4876800" y="5562600"/>
            <a:chExt cx="2019300" cy="514350"/>
          </a:xfrm>
        </p:grpSpPr>
        <p:sp>
          <p:nvSpPr>
            <p:cNvPr id="129" name="Rectangle 129"/>
            <p:cNvSpPr/>
            <p:nvPr/>
          </p:nvSpPr>
          <p:spPr>
            <a:xfrm>
              <a:off x="4876800" y="5562600"/>
              <a:ext cx="2019300" cy="514350"/>
            </a:xfrm>
            <a:prstGeom prst="roundRect">
              <a:avLst>
                <a:gd name="adj" fmla="val 4074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32" name="Group 132"/>
          <p:cNvGrpSpPr/>
          <p:nvPr/>
        </p:nvGrpSpPr>
        <p:grpSpPr>
          <a:xfrm>
            <a:off x="8446770" y="5712142"/>
            <a:ext cx="2194560" cy="264033"/>
            <a:chOff x="8446770" y="5712142"/>
            <a:chExt cx="2194560" cy="264033"/>
          </a:xfrm>
        </p:grpSpPr>
        <p:sp>
          <p:nvSpPr>
            <p:cNvPr id="131" name="TextBox 131"/>
            <p:cNvSpPr txBox="1"/>
            <p:nvPr/>
          </p:nvSpPr>
          <p:spPr>
            <a:xfrm>
              <a:off x="8446770" y="571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点击运行，终端才开始输出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8265033" y="5712142"/>
            <a:ext cx="2558034" cy="264033"/>
            <a:chOff x="8265033" y="5712142"/>
            <a:chExt cx="2558034" cy="264033"/>
          </a:xfrm>
        </p:grpSpPr>
        <p:sp>
          <p:nvSpPr>
            <p:cNvPr id="133" name="TextBox 133"/>
            <p:cNvSpPr txBox="1"/>
            <p:nvPr/>
          </p:nvSpPr>
          <p:spPr>
            <a:xfrm>
              <a:off x="8265033" y="57121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已切换任务，点击运行查看结果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9139675" y="5704046"/>
            <a:ext cx="808749" cy="278702"/>
            <a:chOff x="9139675" y="5704046"/>
            <a:chExt cx="808749" cy="278702"/>
          </a:xfrm>
        </p:grpSpPr>
        <p:sp>
          <p:nvSpPr>
            <p:cNvPr id="135" name="TextBox 135"/>
            <p:cNvSpPr txBox="1"/>
            <p:nvPr/>
          </p:nvSpPr>
          <p:spPr>
            <a:xfrm>
              <a:off x="9139675" y="5704046"/>
              <a:ext cx="808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运行中……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9024023" y="5704046"/>
            <a:ext cx="1040054" cy="278702"/>
            <a:chOff x="9024023" y="5704046"/>
            <a:chExt cx="1040054" cy="278702"/>
          </a:xfrm>
        </p:grpSpPr>
        <p:sp>
          <p:nvSpPr>
            <p:cNvPr id="137" name="TextBox 137"/>
            <p:cNvSpPr txBox="1"/>
            <p:nvPr/>
          </p:nvSpPr>
          <p:spPr>
            <a:xfrm>
              <a:off x="9024023" y="5704046"/>
              <a:ext cx="1040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验证完成 ✓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7803642" y="3188018"/>
            <a:ext cx="1285875" cy="264033"/>
            <a:chOff x="7803642" y="3188018"/>
            <a:chExt cx="1285875" cy="264033"/>
          </a:xfrm>
        </p:grpSpPr>
        <p:sp>
          <p:nvSpPr>
            <p:cNvPr id="139" name="TextBox 139"/>
            <p:cNvSpPr txBox="1"/>
            <p:nvPr/>
          </p:nvSpPr>
          <p:spPr>
            <a:xfrm>
              <a:off x="7803642" y="3188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不能输入空白！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7803642" y="3588068"/>
            <a:ext cx="2194560" cy="264033"/>
            <a:chOff x="7803642" y="3588068"/>
            <a:chExt cx="2194560" cy="264033"/>
          </a:xfrm>
        </p:grpSpPr>
        <p:sp>
          <p:nvSpPr>
            <p:cNvPr id="141" name="TextBox 141"/>
            <p:cNvSpPr txBox="1"/>
            <p:nvPr/>
          </p:nvSpPr>
          <p:spPr>
            <a:xfrm>
              <a:off x="7803642" y="35880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身份确认成功，欢迎特工！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7803642" y="3188018"/>
            <a:ext cx="2312689" cy="264033"/>
            <a:chOff x="7803642" y="3188018"/>
            <a:chExt cx="2312689" cy="264033"/>
          </a:xfrm>
        </p:grpSpPr>
        <p:sp>
          <p:nvSpPr>
            <p:cNvPr id="143" name="TextBox 143"/>
            <p:cNvSpPr txBox="1"/>
            <p:nvPr/>
          </p:nvSpPr>
          <p:spPr>
            <a:xfrm>
              <a:off x="7803642" y="318801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口令错误。还可尝试 2 次。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7803642" y="3588068"/>
            <a:ext cx="2312689" cy="264033"/>
            <a:chOff x="7803642" y="3588068"/>
            <a:chExt cx="2312689" cy="264033"/>
          </a:xfrm>
        </p:grpSpPr>
        <p:sp>
          <p:nvSpPr>
            <p:cNvPr id="145" name="TextBox 145"/>
            <p:cNvSpPr txBox="1"/>
            <p:nvPr/>
          </p:nvSpPr>
          <p:spPr>
            <a:xfrm>
              <a:off x="7803642" y="358806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口令错误。还可尝试 1 次。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7803642" y="3988118"/>
            <a:ext cx="2312689" cy="264033"/>
            <a:chOff x="7803642" y="3988118"/>
            <a:chExt cx="2312689" cy="264033"/>
          </a:xfrm>
        </p:grpSpPr>
        <p:sp>
          <p:nvSpPr>
            <p:cNvPr id="147" name="TextBox 147"/>
            <p:cNvSpPr txBox="1"/>
            <p:nvPr/>
          </p:nvSpPr>
          <p:spPr>
            <a:xfrm>
              <a:off x="7803642" y="398811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口令错误。还可尝试 0 次。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7803642" y="4388168"/>
            <a:ext cx="2376297" cy="264033"/>
            <a:chOff x="7803642" y="4388168"/>
            <a:chExt cx="2376297" cy="264033"/>
          </a:xfrm>
        </p:grpSpPr>
        <p:sp>
          <p:nvSpPr>
            <p:cNvPr id="149" name="TextBox 149"/>
            <p:cNvSpPr txBox="1"/>
            <p:nvPr/>
          </p:nvSpPr>
          <p:spPr>
            <a:xfrm>
              <a:off x="7803642" y="4388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三次机会已用完，任务暂停。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7803642" y="3188018"/>
            <a:ext cx="2312689" cy="264033"/>
            <a:chOff x="7803642" y="3188018"/>
            <a:chExt cx="2312689" cy="264033"/>
          </a:xfrm>
        </p:grpSpPr>
        <p:sp>
          <p:nvSpPr>
            <p:cNvPr id="151" name="TextBox 151"/>
            <p:cNvSpPr txBox="1"/>
            <p:nvPr/>
          </p:nvSpPr>
          <p:spPr>
            <a:xfrm>
              <a:off x="7803642" y="318801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口令错误。还可尝试 2 次。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7803642" y="3588068"/>
            <a:ext cx="2194560" cy="264033"/>
            <a:chOff x="7803642" y="3588068"/>
            <a:chExt cx="2194560" cy="264033"/>
          </a:xfrm>
        </p:grpSpPr>
        <p:sp>
          <p:nvSpPr>
            <p:cNvPr id="153" name="TextBox 153"/>
            <p:cNvSpPr txBox="1"/>
            <p:nvPr/>
          </p:nvSpPr>
          <p:spPr>
            <a:xfrm>
              <a:off x="7803642" y="35880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身份确认成功，欢迎特工！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155" name="TextBox 155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27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6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6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6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6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1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49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6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1" presetID="1" presetClass="entr" presetSubtype="0" fill="hold" grpId="0" nodeType="click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6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1" presetID="1" presetClass="entr" presetSubtype="0" fill="hold" grpId="0" nodeType="clickEffect" restart="always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6" presetID="1" presetClass="exit" presetSubtype="0" fill="hold" grpId="0" nodeType="click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1" presetID="1" presetClass="exit" presetSubtype="0" fill="hold" grpId="0" nodeType="click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6" presetID="1" presetClass="exit" presetSubtype="0" fill="hold" grpId="0" nodeType="clickEffect" restart="always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1" presetID="1" presetClass="exit" presetSubtype="0" fill="hold" grpId="0" nodeType="click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6" presetID="1" presetClass="entr" presetSubtype="0" fill="hold" grpId="0" nodeType="clickEffect" restart="always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1" presetID="1" presetClass="entr" presetSubtype="0" fill="hold" grpId="0" nodeType="clickEffect" restart="always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6" presetID="1" presetClass="entr" presetSubtype="0" fill="hold" grpId="0" nodeType="click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1" presetID="1" presetClass="entr" presetSubtype="0" fill="hold" grpId="0" nodeType="clickEffect" restart="always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7118683" cy="727901"/>
            <a:chOff x="457200" y="342900"/>
            <a:chExt cx="7118683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68093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continue 放哪里，决定空白算不算一次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先比较两种顺序，再揭晓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257300"/>
            <a:ext cx="5372100" cy="4667250"/>
            <a:chOff x="457200" y="1257300"/>
            <a:chExt cx="5372100" cy="4667250"/>
          </a:xfrm>
        </p:grpSpPr>
        <p:sp>
          <p:nvSpPr>
            <p:cNvPr id="6" name="Rectangle 6"/>
            <p:cNvSpPr/>
            <p:nvPr/>
          </p:nvSpPr>
          <p:spPr>
            <a:xfrm>
              <a:off x="457200" y="1257300"/>
              <a:ext cx="5372100" cy="4667250"/>
            </a:xfrm>
            <a:prstGeom prst="roundRect">
              <a:avLst>
                <a:gd name="adj" fmla="val 693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382" y="1487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两种写法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71525" y="20193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037" y="1966436"/>
              <a:ext cx="431845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A：先判断空白 → continue → 再 tries + 1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1525" y="253365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037" y="2480786"/>
              <a:ext cx="431845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B：先 tries + 1 → 再判断空白 → continue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1525" y="30480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037" y="2995136"/>
              <a:ext cx="28192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目标：空白输入“不计次数”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57300"/>
            <a:ext cx="5638800" cy="4667250"/>
            <a:chOff x="6096000" y="1257300"/>
            <a:chExt cx="5638800" cy="46672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257300"/>
              <a:ext cx="5638800" cy="4667250"/>
            </a:xfrm>
            <a:prstGeom prst="roundRect">
              <a:avLst>
                <a:gd name="adj" fmla="val 6939"/>
              </a:avLst>
            </a:prstGeom>
            <a:solidFill>
              <a:srgbClr val="E9FBEF"/>
            </a:solidFill>
            <a:ln w="19050">
              <a:solidFill>
                <a:srgbClr val="BDECC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8232" y="1487805"/>
              <a:ext cx="17814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正确顺序是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1993582"/>
              <a:ext cx="3004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空白时应在计数之前 continue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2488882"/>
              <a:ext cx="2038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这样 tries 不会增加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9841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记忆：先过滤无效输入，再计数有效尝试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28 / 32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4" name="Rectangle 24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94595" y="5591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点击揭晓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5950" y="5429250"/>
            <a:ext cx="2000250" cy="495300"/>
            <a:chOff x="9505950" y="5429250"/>
            <a:chExt cx="2000250" cy="495300"/>
          </a:xfrm>
        </p:grpSpPr>
        <p:sp>
          <p:nvSpPr>
            <p:cNvPr id="27" name="Rectangle 27"/>
            <p:cNvSpPr/>
            <p:nvPr/>
          </p:nvSpPr>
          <p:spPr>
            <a:xfrm>
              <a:off x="9505950" y="5429250"/>
              <a:ext cx="2000250" cy="495300"/>
            </a:xfrm>
            <a:prstGeom prst="roundRect">
              <a:avLst>
                <a:gd name="adj" fmla="val 4230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5547567" cy="727901"/>
            <a:chOff x="457200" y="342900"/>
            <a:chExt cx="5547567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52381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项目实施：5步完成三次口令门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基础版先跑通，再做个性化修改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1352550"/>
            <a:ext cx="9906000" cy="704850"/>
            <a:chOff x="1143000" y="1352550"/>
            <a:chExt cx="9906000" cy="704850"/>
          </a:xfrm>
        </p:grpSpPr>
        <p:sp>
          <p:nvSpPr>
            <p:cNvPr id="6" name="Rectangle 6"/>
            <p:cNvSpPr/>
            <p:nvPr/>
          </p:nvSpPr>
          <p:spPr>
            <a:xfrm>
              <a:off x="1143000" y="1352550"/>
              <a:ext cx="9906000" cy="704850"/>
            </a:xfrm>
            <a:prstGeom prst="roundRect">
              <a:avLst>
                <a:gd name="adj" fmla="val 32432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43025" y="14668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5223" y="1619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9968" y="1479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口令游戏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31492" y="17592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说出“继续 / 停止”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" y="2247900"/>
            <a:ext cx="9906000" cy="704850"/>
            <a:chOff x="1143000" y="2247900"/>
            <a:chExt cx="9906000" cy="704850"/>
          </a:xfrm>
        </p:grpSpPr>
        <p:sp>
          <p:nvSpPr>
            <p:cNvPr id="12" name="Rectangle 12"/>
            <p:cNvSpPr/>
            <p:nvPr/>
          </p:nvSpPr>
          <p:spPr>
            <a:xfrm>
              <a:off x="1143000" y="2247900"/>
              <a:ext cx="9906000" cy="704850"/>
            </a:xfrm>
            <a:prstGeom prst="roundRect">
              <a:avLst>
                <a:gd name="adj" fmla="val 32432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343025" y="2362200"/>
              <a:ext cx="476250" cy="476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5223" y="2514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29968" y="2374582"/>
              <a:ext cx="811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数到3停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31492" y="2654618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确认 count 会变化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3143250"/>
            <a:ext cx="9906000" cy="704850"/>
            <a:chOff x="1143000" y="3143250"/>
            <a:chExt cx="9906000" cy="704850"/>
          </a:xfrm>
        </p:grpSpPr>
        <p:sp>
          <p:nvSpPr>
            <p:cNvPr id="18" name="Rectangle 18"/>
            <p:cNvSpPr/>
            <p:nvPr/>
          </p:nvSpPr>
          <p:spPr>
            <a:xfrm>
              <a:off x="1143000" y="3143250"/>
              <a:ext cx="9906000" cy="704850"/>
            </a:xfrm>
            <a:prstGeom prst="roundRect">
              <a:avLst>
                <a:gd name="adj" fmla="val 32432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343025" y="3257550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5223" y="3409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9968" y="3269932"/>
              <a:ext cx="1172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体验 break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1492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正确就提前结束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4038600"/>
            <a:ext cx="9906000" cy="704850"/>
            <a:chOff x="1143000" y="4038600"/>
            <a:chExt cx="9906000" cy="704850"/>
          </a:xfrm>
        </p:grpSpPr>
        <p:sp>
          <p:nvSpPr>
            <p:cNvPr id="24" name="Rectangle 24"/>
            <p:cNvSpPr/>
            <p:nvPr/>
          </p:nvSpPr>
          <p:spPr>
            <a:xfrm>
              <a:off x="1143000" y="4038600"/>
              <a:ext cx="9906000" cy="704850"/>
            </a:xfrm>
            <a:prstGeom prst="roundRect">
              <a:avLst>
                <a:gd name="adj" fmla="val 32432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343025" y="4152900"/>
              <a:ext cx="476250" cy="476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15223" y="43053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29968" y="4165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完成三次门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31492" y="44453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测试空白 / 错误 / 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4933950"/>
            <a:ext cx="9906000" cy="704850"/>
            <a:chOff x="1143000" y="4933950"/>
            <a:chExt cx="9906000" cy="704850"/>
          </a:xfrm>
        </p:grpSpPr>
        <p:sp>
          <p:nvSpPr>
            <p:cNvPr id="30" name="Rectangle 30"/>
            <p:cNvSpPr/>
            <p:nvPr/>
          </p:nvSpPr>
          <p:spPr>
            <a:xfrm>
              <a:off x="1143000" y="4933950"/>
              <a:ext cx="9906000" cy="704850"/>
            </a:xfrm>
            <a:prstGeom prst="roundRect">
              <a:avLst>
                <a:gd name="adj" fmla="val 32432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343025" y="50482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15223" y="5200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29968" y="5060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同桌解释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31492" y="534066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说清 break 与 continue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29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3791331" cy="727901"/>
            <a:chOff x="457200" y="342900"/>
            <a:chExt cx="3791331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作品验收与同伴展示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能运行，还要能解释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2500" y="1581150"/>
            <a:ext cx="6191250" cy="685800"/>
            <a:chOff x="952500" y="1581150"/>
            <a:chExt cx="6191250" cy="685800"/>
          </a:xfrm>
        </p:grpSpPr>
        <p:sp>
          <p:nvSpPr>
            <p:cNvPr id="6" name="Rectangle 6"/>
            <p:cNvSpPr/>
            <p:nvPr/>
          </p:nvSpPr>
          <p:spPr>
            <a:xfrm>
              <a:off x="952500" y="1581150"/>
              <a:ext cx="6191250" cy="6858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62050" y="173355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8917" y="18288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4599" y="1830229"/>
              <a:ext cx="29937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错误输入不会超过三次有效尝试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500" y="2495550"/>
            <a:ext cx="6191250" cy="685800"/>
            <a:chOff x="952500" y="2495550"/>
            <a:chExt cx="6191250" cy="685800"/>
          </a:xfrm>
        </p:grpSpPr>
        <p:sp>
          <p:nvSpPr>
            <p:cNvPr id="11" name="Rectangle 11"/>
            <p:cNvSpPr/>
            <p:nvPr/>
          </p:nvSpPr>
          <p:spPr>
            <a:xfrm>
              <a:off x="952500" y="2495550"/>
              <a:ext cx="6191250" cy="6858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264795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8917" y="27432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4599" y="2744629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正确口令能够提前结束循环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3409950"/>
            <a:ext cx="6191250" cy="685800"/>
            <a:chOff x="952500" y="3409950"/>
            <a:chExt cx="6191250" cy="685800"/>
          </a:xfrm>
        </p:grpSpPr>
        <p:sp>
          <p:nvSpPr>
            <p:cNvPr id="16" name="Rectangle 16"/>
            <p:cNvSpPr/>
            <p:nvPr/>
          </p:nvSpPr>
          <p:spPr>
            <a:xfrm>
              <a:off x="952500" y="3409950"/>
              <a:ext cx="6191250" cy="6858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62050" y="356235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38917" y="36576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4599" y="365902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能够解释计数为什么必须增加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4750" y="1581150"/>
            <a:ext cx="3714750" cy="3429000"/>
            <a:chOff x="7524750" y="1581150"/>
            <a:chExt cx="3714750" cy="3429000"/>
          </a:xfrm>
        </p:grpSpPr>
        <p:sp>
          <p:nvSpPr>
            <p:cNvPr id="21" name="Rectangle 21"/>
            <p:cNvSpPr/>
            <p:nvPr/>
          </p:nvSpPr>
          <p:spPr>
            <a:xfrm>
              <a:off x="7524750" y="1581150"/>
              <a:ext cx="3714750" cy="3429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6225" y="18930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展示句式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7749" y="2477929"/>
              <a:ext cx="13134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我的作品是……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97749" y="2935129"/>
              <a:ext cx="15261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我使用了……命令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97749" y="3392329"/>
              <a:ext cx="11007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我修改了……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7749" y="3849529"/>
              <a:ext cx="13134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下一次我想……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98892" y="44834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B"/>
                  </a:solidFill>
                  <a:latin typeface="+mn-lt"/>
                  <a:ea typeface="+mn-ea"/>
                  <a:cs typeface="+mn-cs"/>
                </a:rPr>
                <a:t>同伴只提 1 条友善建议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42900"/>
            <a:ext cx="5709666" cy="727901"/>
            <a:chOff x="457200" y="342900"/>
            <a:chExt cx="5709666" cy="727901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572" y="35909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常见问题：先判断是哪一类错误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4192" y="80676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停止、顺序、变量——三类问题三种检查法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676400"/>
            <a:ext cx="3390900" cy="3429000"/>
            <a:chOff x="666750" y="1676400"/>
            <a:chExt cx="3390900" cy="3429000"/>
          </a:xfrm>
        </p:grpSpPr>
        <p:sp>
          <p:nvSpPr>
            <p:cNvPr id="6" name="Rectangle 6"/>
            <p:cNvSpPr/>
            <p:nvPr/>
          </p:nvSpPr>
          <p:spPr>
            <a:xfrm>
              <a:off x="666750" y="1676400"/>
              <a:ext cx="3390900" cy="3429000"/>
            </a:xfrm>
            <a:prstGeom prst="roundRect">
              <a:avLst>
                <a:gd name="adj" fmla="val 10112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95350" y="19050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584" y="2031682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6187" y="202358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循环停不下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可能原因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980" y="3076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漏掉计数增加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3721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处理方法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4083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先停止，再检查计数是否变化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57700" y="1676400"/>
            <a:ext cx="3390900" cy="3429000"/>
            <a:chOff x="4457700" y="1676400"/>
            <a:chExt cx="3390900" cy="3429000"/>
          </a:xfrm>
        </p:grpSpPr>
        <p:sp>
          <p:nvSpPr>
            <p:cNvPr id="15" name="Rectangle 15"/>
            <p:cNvSpPr/>
            <p:nvPr/>
          </p:nvSpPr>
          <p:spPr>
            <a:xfrm>
              <a:off x="4457700" y="1676400"/>
              <a:ext cx="3390900" cy="3429000"/>
            </a:xfrm>
            <a:prstGeom prst="roundRect">
              <a:avLst>
                <a:gd name="adj" fmla="val 1011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86300" y="1905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71534" y="2031682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7137" y="20235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空白也被计次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469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可能原因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3930" y="30765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continue 放在计数后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4692" y="3721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处理方法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4692" y="4083368"/>
              <a:ext cx="2285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先过滤空白，再做 tries + 1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48650" y="1676400"/>
            <a:ext cx="3390900" cy="3429000"/>
            <a:chOff x="8248650" y="1676400"/>
            <a:chExt cx="3390900" cy="3429000"/>
          </a:xfrm>
        </p:grpSpPr>
        <p:sp>
          <p:nvSpPr>
            <p:cNvPr id="24" name="Rectangle 24"/>
            <p:cNvSpPr/>
            <p:nvPr/>
          </p:nvSpPr>
          <p:spPr>
            <a:xfrm>
              <a:off x="8248650" y="1676400"/>
              <a:ext cx="3390900" cy="3429000"/>
            </a:xfrm>
            <a:prstGeom prst="roundRect">
              <a:avLst>
                <a:gd name="adj" fmla="val 10112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477250" y="1905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62484" y="2031682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8087" y="2023586"/>
              <a:ext cx="24395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担心 password 未赋值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6564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可能原因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4880" y="30765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循环后使用 password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65642" y="3721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处理方法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5642" y="4083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本模板循环至少执行一次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31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342900"/>
            <a:ext cx="5709666" cy="727901"/>
            <a:chOff x="457200" y="342900"/>
            <a:chExt cx="5709666" cy="727901"/>
          </a:xfrm>
        </p:grpSpPr>
        <p:sp>
          <p:nvSpPr>
            <p:cNvPr id="3" name="Rectangle 3"/>
            <p:cNvSpPr/>
            <p:nvPr/>
          </p:nvSpPr>
          <p:spPr>
            <a:xfrm>
              <a:off x="457200" y="342900"/>
              <a:ext cx="114300" cy="533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6572" y="35909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任务完成：特工身份确认成功！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74192" y="8067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离堂前，用自己的话说出今天会用的命令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" y="1676400"/>
            <a:ext cx="3238500" cy="1809750"/>
            <a:chOff x="723900" y="1676400"/>
            <a:chExt cx="3238500" cy="1809750"/>
          </a:xfrm>
        </p:grpSpPr>
        <p:sp>
          <p:nvSpPr>
            <p:cNvPr id="7" name="Rectangle 7"/>
            <p:cNvSpPr/>
            <p:nvPr/>
          </p:nvSpPr>
          <p:spPr>
            <a:xfrm>
              <a:off x="723900" y="1676400"/>
              <a:ext cx="3238500" cy="1809750"/>
            </a:xfrm>
            <a:prstGeom prst="roundRect">
              <a:avLst>
                <a:gd name="adj" fmla="val 18947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01130" y="2073592"/>
              <a:ext cx="10840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while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0700" y="278272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条件成立就重复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00550" y="1676400"/>
            <a:ext cx="3238500" cy="1809750"/>
            <a:chOff x="4400550" y="1676400"/>
            <a:chExt cx="3238500" cy="1809750"/>
          </a:xfrm>
        </p:grpSpPr>
        <p:sp>
          <p:nvSpPr>
            <p:cNvPr id="11" name="Rectangle 11"/>
            <p:cNvSpPr/>
            <p:nvPr/>
          </p:nvSpPr>
          <p:spPr>
            <a:xfrm>
              <a:off x="4400550" y="1676400"/>
              <a:ext cx="3238500" cy="1809750"/>
            </a:xfrm>
            <a:prstGeom prst="roundRect">
              <a:avLst>
                <a:gd name="adj" fmla="val 18947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77780" y="2073592"/>
              <a:ext cx="10840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61001" y="27827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立刻结束整个循环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77200" y="1676400"/>
            <a:ext cx="3238500" cy="1809750"/>
            <a:chOff x="8077200" y="1676400"/>
            <a:chExt cx="3238500" cy="1809750"/>
          </a:xfrm>
        </p:grpSpPr>
        <p:sp>
          <p:nvSpPr>
            <p:cNvPr id="15" name="Rectangle 15"/>
            <p:cNvSpPr/>
            <p:nvPr/>
          </p:nvSpPr>
          <p:spPr>
            <a:xfrm>
              <a:off x="8077200" y="1676400"/>
              <a:ext cx="3238500" cy="1809750"/>
            </a:xfrm>
            <a:prstGeom prst="roundRect">
              <a:avLst>
                <a:gd name="adj" fmla="val 18947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37905" y="2073592"/>
              <a:ext cx="1717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continue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37651" y="27827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跳过本轮剩余代码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09750" y="3943350"/>
            <a:ext cx="8572500" cy="1524000"/>
            <a:chOff x="1809750" y="3943350"/>
            <a:chExt cx="8572500" cy="1524000"/>
          </a:xfrm>
        </p:grpSpPr>
        <p:sp>
          <p:nvSpPr>
            <p:cNvPr id="19" name="Rectangle 19"/>
            <p:cNvSpPr/>
            <p:nvPr/>
          </p:nvSpPr>
          <p:spPr>
            <a:xfrm>
              <a:off x="1809750" y="3943350"/>
              <a:ext cx="8572500" cy="1524000"/>
            </a:xfrm>
            <a:prstGeom prst="roundRect">
              <a:avLst>
                <a:gd name="adj" fmla="val 237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39137" y="42333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离堂小结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39899" y="4687729"/>
              <a:ext cx="70776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我学会了“条件循环”；我完成了“最多三次、会跳过空输入”的口令验证器。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9899" y="5068729"/>
              <a:ext cx="4057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下次遇到报错：先检查拼写、符号和缩进。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1866" y="6458902"/>
            <a:ext cx="11288268" cy="205359"/>
            <a:chOff x="451866" y="6458902"/>
            <a:chExt cx="112882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451866" y="645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小小特工任务中心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559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32 / 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</p:sld>
</file>

<file path=ppt/theme/theme1.xml><?xml version="1.0" encoding="utf-8"?>
<a:theme xmlns:a="http://schemas.openxmlformats.org/drawingml/2006/main" name="第12课_特工身份确认_阳光积木乐园">
  <a:themeElements>
    <a:clrScheme name="第12课_特工身份确认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22C55E"/>
      </a:accent5>
      <a:accent6>
        <a:srgbClr val="7A8A9B"/>
      </a:accent6>
      <a:hlink>
        <a:srgbClr val="FF9F1C"/>
      </a:hlink>
      <a:folHlink>
        <a:srgbClr val="FF6FA5"/>
      </a:folHlink>
    </a:clrScheme>
    <a:fontScheme name="第12课_特工身份确认_阳光积木乐园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第12课_特工身份确认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2026-09-05T21:47:16Z</dcterms:created>
  <dcterms:modified xsi:type="dcterms:W3CDTF">2026-09-05T21:47:16Z</dcterms:modified>
  <cp:category/>
  <cp:contentStatus/>
</cp:coreProperties>
</file>